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362" r:id="rId4"/>
    <p:sldId id="363" r:id="rId5"/>
    <p:sldId id="272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64" r:id="rId18"/>
    <p:sldId id="339" r:id="rId19"/>
    <p:sldId id="345" r:id="rId20"/>
    <p:sldId id="346" r:id="rId21"/>
    <p:sldId id="347" r:id="rId22"/>
    <p:sldId id="348" r:id="rId23"/>
    <p:sldId id="349" r:id="rId24"/>
    <p:sldId id="350" r:id="rId25"/>
  </p:sldIdLst>
  <p:sldSz cx="12192000" cy="6858000"/>
  <p:notesSz cx="6858000" cy="9144000"/>
  <p:embeddedFontLst>
    <p:embeddedFont>
      <p:font typeface="Trebuchet MS" pitchFamily="34" charset="0"/>
      <p:regular r:id="rId27"/>
      <p:bold r:id="rId28"/>
      <p:italic r:id="rId29"/>
      <p:boldItalic r:id="rId30"/>
    </p:embeddedFont>
    <p:embeddedFont>
      <p:font typeface="Calibri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4" roundtripDataSignature="AMtx7mgn9m3Ypkq6/mA8640CExNBO6x/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78EC6E8E-6F0B-4602-9BB8-4EB90E122BEA}">
  <a:tblStyle styleId="{78EC6E8E-6F0B-4602-9BB8-4EB90E122B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-3144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124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12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3e1e5d1a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3e1e5d1a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9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Google Shape;28;p59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59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" name="Google Shape;30;p59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31" name="Google Shape;31;p59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2" name="Google Shape;32;p59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9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4" name="Google Shape;34;p59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5" name="Google Shape;35;p5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6" name="Google Shape;36;p59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9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59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9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0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6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1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1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6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62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9" name="Google Shape;59;p6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3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63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6" name="Google Shape;66;p63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63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6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6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6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66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6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7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7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7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6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6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8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8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9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9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3" name="Google Shape;103;p69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6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7" name="Google Shape;107;p6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69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0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0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7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1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1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71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7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7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22" name="Google Shape;122;p71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7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2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72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7" name="Google Shape;127;p72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7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3"/>
          <p:cNvSpPr txBox="1">
            <a:spLocks noGrp="1"/>
          </p:cNvSpPr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7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4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74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7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7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7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5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58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58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4" name="Google Shape;14;p58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58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58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7" name="Google Shape;17;p5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8" name="Google Shape;18;p58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9" name="Google Shape;19;p58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5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5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5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5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5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25927c979305fa02&amp;cs=0&amp;sxsrf=AE3TifMsnQO0gfXHloczTGp_q0vd5Lk40w:1752912838300&amp;q=Neural+Networks&amp;sa=X&amp;ved=2ahUKEwizhI2YvciOAxVkfGwGHSP5DBAQxccNegQIQBAB&amp;mstk=AUtExfDXnuvw7fwM2gyYN6GiJPMFk_pRn0jaD2X6wJMKDZ0xSjPdLDX8GuIoETmUWeFGghhKAEQ_2GwYBLcseuomAjeGxtp8B1YjNAHGfBwUP9AI1GJOp4pptHSC32jyH77PI_3VnPvloYfb3nJltZynbUEi-vIOOBco2H1g6OPs5nLRCXuKKwt4eUAUR_gkPtag-a1OG3lJBCmU9x_b0X-s5xw418Q_DGXniBhmpijvXV1i68CuHsY7orN24H4YGhUaHfKhZ6Bb818pBhd_dkwXNzYz&amp;csui=3" TargetMode="External"/><Relationship Id="rId2" Type="http://schemas.openxmlformats.org/officeDocument/2006/relationships/hyperlink" Target="https://www.google.com/search?sca_esv=25927c979305fa02&amp;cs=0&amp;sxsrf=AE3TifMsnQO0gfXHloczTGp_q0vd5Lk40w:1752912838300&amp;q=Decision+Trees&amp;sa=X&amp;ved=2ahUKEwizhI2YvciOAxVkfGwGHSP5DBAQxccNegQIPRAB&amp;mstk=AUtExfDXnuvw7fwM2gyYN6GiJPMFk_pRn0jaD2X6wJMKDZ0xSjPdLDX8GuIoETmUWeFGghhKAEQ_2GwYBLcseuomAjeGxtp8B1YjNAHGfBwUP9AI1GJOp4pptHSC32jyH77PI_3VnPvloYfb3nJltZynbUEi-vIOOBco2H1g6OPs5nLRCXuKKwt4eUAUR_gkPtag-a1OG3lJBCmU9x_b0X-s5xw418Q_DGXniBhmpijvXV1i68CuHsY7orN24H4YGhUaHfKhZ6Bb818pBhd_dkwXNzYz&amp;csui=3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US"/>
              <a:t>Machine Learning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Ideal Situation</a:t>
            </a:r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The machine is only fed with (raw) data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And minimal (or Zero) amount of pre-built models and hypothesis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It won’t happen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Inductive biases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Set of assumptions, hypothesis will always be there in some measure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Inductive biases are necessary since learning is an ill-posed problem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training data is never sufficient to find a unique solution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multiple hypotheses can agree with the data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simplest consistent hypothesis is the best one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buClr>
                <a:schemeClr val="accent1"/>
              </a:buClr>
              <a:buSzPts val="3600"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Multiple hypotheses can agree with the data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6712" y="1857364"/>
            <a:ext cx="8596668" cy="3880773"/>
          </a:xfrm>
        </p:spPr>
        <p:txBody>
          <a:bodyPr/>
          <a:lstStyle/>
          <a:p>
            <a:r>
              <a:rPr lang="en-US" dirty="0" smtClean="0"/>
              <a:t>You are given this dataset: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You want to learn a function h(x) that maps input x to output y, where y∈{0,1}</a:t>
            </a:r>
          </a:p>
          <a:p>
            <a:r>
              <a:rPr lang="en-US" dirty="0" smtClean="0"/>
              <a:t>Multiple Hypotheses Fit the Data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52662" y="2500306"/>
          <a:ext cx="3421058" cy="1219200"/>
        </p:xfrm>
        <a:graphic>
          <a:graphicData uri="http://schemas.openxmlformats.org/drawingml/2006/table">
            <a:tbl>
              <a:tblPr/>
              <a:tblGrid>
                <a:gridCol w="1710529"/>
                <a:gridCol w="1710529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Hypotheses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150" y="1643050"/>
            <a:ext cx="8596668" cy="3880773"/>
          </a:xfrm>
        </p:spPr>
        <p:txBody>
          <a:bodyPr/>
          <a:lstStyle/>
          <a:p>
            <a:r>
              <a:rPr lang="en-US" dirty="0" smtClean="0"/>
              <a:t>Hypothesis A (piecewise rule):</a:t>
            </a:r>
          </a:p>
          <a:p>
            <a:endParaRPr lang="en-US" dirty="0" smtClean="0"/>
          </a:p>
          <a:p>
            <a:r>
              <a:rPr lang="en-US" dirty="0" smtClean="0"/>
              <a:t>Hypothesis B (polynomial):</a:t>
            </a:r>
            <a:br>
              <a:rPr lang="en-US" dirty="0" smtClean="0"/>
            </a:br>
            <a:r>
              <a:rPr lang="en-US" dirty="0" smtClean="0"/>
              <a:t>Fit a quadratic:</a:t>
            </a:r>
          </a:p>
          <a:p>
            <a:r>
              <a:rPr lang="en-US" dirty="0" smtClean="0"/>
              <a:t>h(x)=−x</a:t>
            </a:r>
            <a:r>
              <a:rPr lang="en-US" baseline="30000" dirty="0" smtClean="0"/>
              <a:t>2</a:t>
            </a:r>
            <a:r>
              <a:rPr lang="en-US" dirty="0" smtClean="0"/>
              <a:t>+2x</a:t>
            </a:r>
          </a:p>
          <a:p>
            <a:r>
              <a:rPr lang="pt-BR" dirty="0" smtClean="0"/>
              <a:t>This gives h(0)=0,h(1)=1,h(2)=0h(0)=0, h(1)=1, h(2)=0h(0)=0,h(1)=1,h(2)=0 — fits all 3 points.</a:t>
            </a:r>
          </a:p>
          <a:p>
            <a:r>
              <a:rPr lang="en-US" dirty="0" smtClean="0"/>
              <a:t>Hypothesis C (neural network):</a:t>
            </a:r>
          </a:p>
          <a:p>
            <a:r>
              <a:rPr lang="en-US" dirty="0" smtClean="0"/>
              <a:t>A neural net with nonlinear activations could also learn a function that outputs the same labels for these 3 inputs.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67174" y="2071678"/>
            <a:ext cx="18790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h(x)=   0 if x=0 or x=2</a:t>
            </a:r>
          </a:p>
          <a:p>
            <a:r>
              <a:rPr lang="en-US" dirty="0" smtClean="0"/>
              <a:t>           1 if x=1​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Types of ML systems</a:t>
            </a:r>
            <a:endParaRPr/>
          </a:p>
        </p:txBody>
      </p:sp>
      <p:sp>
        <p:nvSpPr>
          <p:cNvPr id="245" name="Google Shape;245;p19"/>
          <p:cNvSpPr txBox="1">
            <a:spLocks noGrp="1"/>
          </p:cNvSpPr>
          <p:nvPr>
            <p:ph type="body" idx="1"/>
          </p:nvPr>
        </p:nvSpPr>
        <p:spPr>
          <a:xfrm>
            <a:off x="677334" y="1364567"/>
            <a:ext cx="8596668" cy="467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Can be classified in broad categories based on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Whether or not they are trained with human supervision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Supervised</a:t>
            </a:r>
            <a:r>
              <a:rPr lang="en-US" sz="1800"/>
              <a:t>,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unsupervised</a:t>
            </a:r>
            <a:r>
              <a:rPr lang="en-US" sz="1800"/>
              <a:t>, semi-supervised, sequential learning  and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reinforcement learning</a:t>
            </a:r>
            <a:endParaRPr sz="180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Whether or not they can learn incrementally from a stream of incoming data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online versus batch learning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sz="2000"/>
              <a:t>Whether they work by simply comparing new data points to known data points or instead detect patterns in the training data and build a predictive model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Instance based versus model-based learning</a:t>
            </a:r>
            <a:endParaRPr/>
          </a:p>
          <a:p>
            <a:pPr marL="742950" lvl="1" indent="-204469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 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Supervised Learning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dirty="0" smtClean="0"/>
              <a:t>classes </a:t>
            </a:r>
            <a:r>
              <a:rPr lang="en-IN" dirty="0"/>
              <a:t>or labels are available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Model is built based on training data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Model performance can be evaluated based on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how many </a:t>
            </a:r>
            <a:r>
              <a:rPr lang="en-IN" dirty="0" err="1" smtClean="0"/>
              <a:t>mispredictions</a:t>
            </a:r>
            <a:r>
              <a:rPr lang="en-IN" dirty="0" smtClean="0"/>
              <a:t> </a:t>
            </a:r>
            <a:r>
              <a:rPr lang="en-IN" dirty="0"/>
              <a:t>have been done based on predicted and actual values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Types of Supervised Learning problems </a:t>
            </a:r>
            <a:endParaRPr/>
          </a:p>
        </p:txBody>
      </p:sp>
      <p:sp>
        <p:nvSpPr>
          <p:cNvPr id="150" name="Google Shape;150;p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56616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Classification</a:t>
            </a:r>
            <a:endParaRPr/>
          </a:p>
          <a:p>
            <a:pPr marL="742950" lvl="1" indent="-297942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When we are trying to predict categorical or nominal variable (no numeric values)</a:t>
            </a:r>
            <a:endParaRPr/>
          </a:p>
          <a:p>
            <a:pPr marL="1143000" lvl="2" indent="-239267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IN" dirty="0"/>
              <a:t>Predicting whether a </a:t>
            </a:r>
            <a:r>
              <a:rPr lang="en-IN" dirty="0" err="1"/>
              <a:t>tumor</a:t>
            </a:r>
            <a:r>
              <a:rPr lang="en-IN" dirty="0"/>
              <a:t> is malignant or benign</a:t>
            </a:r>
            <a:endParaRPr/>
          </a:p>
          <a:p>
            <a:pPr marL="1143000" lvl="2" indent="-239267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IN" dirty="0"/>
              <a:t>Classifying texts such as classifying a set of emails as spam or non-spam/ham</a:t>
            </a:r>
            <a:endParaRPr/>
          </a:p>
          <a:p>
            <a:pPr marL="342900" lvl="0" indent="-356616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Regression</a:t>
            </a:r>
            <a:endParaRPr/>
          </a:p>
          <a:p>
            <a:pPr marL="742950" lvl="1" indent="-297942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When we are trying to predict a real-valued variable like (numeric)</a:t>
            </a:r>
            <a:endParaRPr/>
          </a:p>
          <a:p>
            <a:pPr marL="1143000" lvl="2" indent="-239267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IN" dirty="0"/>
              <a:t>Real estate, stock price, temperature, marks in an examination etc</a:t>
            </a:r>
            <a:r>
              <a:rPr lang="en-IN" dirty="0" smtClean="0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3e1e5d1a3_0_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Types of Supervised Learning problems</a:t>
            </a:r>
            <a:endParaRPr/>
          </a:p>
        </p:txBody>
      </p:sp>
      <p:sp>
        <p:nvSpPr>
          <p:cNvPr id="156" name="Google Shape;156;g273e1e5d1a3_0_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Given examples (</a:t>
            </a:r>
            <a:r>
              <a:rPr lang="en-IN" dirty="0" err="1"/>
              <a:t>x,y</a:t>
            </a:r>
            <a:r>
              <a:rPr lang="en-IN" dirty="0"/>
              <a:t>), we can construct/learn a prediction rule, an estimator f: X🡪 Y </a:t>
            </a:r>
            <a:endParaRPr/>
          </a:p>
          <a:p>
            <a:pPr marL="914400" lvl="1" indent="-309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In case of classification f(x) is discrete</a:t>
            </a:r>
            <a:endParaRPr/>
          </a:p>
          <a:p>
            <a:pPr marL="914400" lvl="1" indent="-309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In case of regression f(x) is continuous</a:t>
            </a:r>
            <a:endParaRPr/>
          </a:p>
          <a:p>
            <a:pPr marL="914400" lvl="1" indent="-30988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In case of probability estimation f(x) is the probability of x</a:t>
            </a:r>
            <a:endParaRPr/>
          </a:p>
          <a:p>
            <a: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This is the type of inductive learning </a:t>
            </a:r>
            <a:r>
              <a:rPr lang="en-IN" dirty="0" smtClean="0"/>
              <a:t>problem</a:t>
            </a:r>
          </a:p>
          <a:p>
            <a:pPr lvl="1"/>
            <a:r>
              <a:rPr lang="en-IN" dirty="0" smtClean="0"/>
              <a:t>Learning from some examples</a:t>
            </a:r>
            <a:endParaRPr/>
          </a:p>
          <a:p>
            <a:pPr marL="457200" lvl="0" indent="-326390" algn="l" rtl="0">
              <a:spcBef>
                <a:spcPts val="0"/>
              </a:spcBef>
              <a:spcAft>
                <a:spcPts val="0"/>
              </a:spcAft>
              <a:buSzPts val="1540"/>
              <a:buChar char="►"/>
            </a:pP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</a:pPr>
            <a:r>
              <a:rPr lang="en-IN" i="0" dirty="0"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</p:txBody>
      </p:sp>
      <p:sp>
        <p:nvSpPr>
          <p:cNvPr id="168" name="Google Shape;168;p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b="0" i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Data objects are described by a number of </a:t>
            </a:r>
            <a:r>
              <a:rPr lang="en-IN" b="0" i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lang="en-IN" b="0" i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, that capture the basic characteristics of an object, such as the mass of a physical object or the time at which an event occurred, etc.	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b="0" i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Features are often called as variables, characteristics, fields, attributes, or dimensions.</a:t>
            </a:r>
            <a:endParaRPr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i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Features can be:</a:t>
            </a:r>
            <a:endParaRPr i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i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i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Numerical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Often we have multiple features so we have feature vector.</a:t>
            </a:r>
            <a:endParaRPr/>
          </a:p>
          <a:p>
            <a:pPr marL="457200" lvl="1" indent="0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Feature space</a:t>
            </a:r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For n features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They define n-dimensional space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For simplicity we can assume there are 2 features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These features define a two dimensional space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If we take a particular instance d</a:t>
            </a:r>
            <a:r>
              <a:rPr lang="en-IN" baseline="-25000"/>
              <a:t>1</a:t>
            </a:r>
            <a:r>
              <a:rPr lang="en-IN"/>
              <a:t>, lets x1=2, x2=5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So d1 can be thought of as a point in this 2-dimensional or as a vector in this space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So each instance is a point in the feature space</a:t>
            </a:r>
            <a:endParaRPr/>
          </a:p>
        </p:txBody>
      </p:sp>
      <p:cxnSp>
        <p:nvCxnSpPr>
          <p:cNvPr id="175" name="Google Shape;175;p5"/>
          <p:cNvCxnSpPr/>
          <p:nvPr/>
        </p:nvCxnSpPr>
        <p:spPr>
          <a:xfrm>
            <a:off x="9158067" y="6024160"/>
            <a:ext cx="1856936" cy="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5"/>
          <p:cNvCxnSpPr/>
          <p:nvPr/>
        </p:nvCxnSpPr>
        <p:spPr>
          <a:xfrm rot="10800000">
            <a:off x="9172135" y="4742060"/>
            <a:ext cx="0" cy="1266092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7" name="Google Shape;177;p5"/>
          <p:cNvSpPr txBox="1"/>
          <p:nvPr/>
        </p:nvSpPr>
        <p:spPr>
          <a:xfrm>
            <a:off x="9485133" y="6038228"/>
            <a:ext cx="858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x1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8607083" y="5190440"/>
            <a:ext cx="5509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x2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625821" y="5073132"/>
            <a:ext cx="45719" cy="45719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664500" y="4829381"/>
            <a:ext cx="4993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</a:t>
            </a:r>
            <a:r>
              <a:rPr lang="en-IN" sz="18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In case of classification problem</a:t>
            </a:r>
            <a:endParaRPr/>
          </a:p>
        </p:txBody>
      </p:sp>
      <p:cxnSp>
        <p:nvCxnSpPr>
          <p:cNvPr id="186" name="Google Shape;186;p6"/>
          <p:cNvCxnSpPr/>
          <p:nvPr/>
        </p:nvCxnSpPr>
        <p:spPr>
          <a:xfrm>
            <a:off x="9931789" y="2858928"/>
            <a:ext cx="1856936" cy="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6"/>
          <p:cNvCxnSpPr/>
          <p:nvPr/>
        </p:nvCxnSpPr>
        <p:spPr>
          <a:xfrm rot="10800000">
            <a:off x="9945857" y="1576828"/>
            <a:ext cx="0" cy="1266092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8" name="Google Shape;188;p6"/>
          <p:cNvSpPr txBox="1"/>
          <p:nvPr/>
        </p:nvSpPr>
        <p:spPr>
          <a:xfrm>
            <a:off x="10258855" y="2872996"/>
            <a:ext cx="858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x1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9380805" y="2025208"/>
            <a:ext cx="5509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x2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0213136" y="1800662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367890" y="2152279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1015011" y="2114083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0860257" y="1804673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1200224" y="1828515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0644542" y="1941678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091214" y="2086919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117006" y="2492539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396014" y="2391719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0464006" y="2628526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700814" y="2513639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0811010" y="2201807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0853214" y="2666039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0267061" y="2628527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6"/>
          <p:cNvSpPr txBox="1">
            <a:spLocks noGrp="1"/>
          </p:cNvSpPr>
          <p:nvPr>
            <p:ph type="body" idx="1"/>
          </p:nvPr>
        </p:nvSpPr>
        <p:spPr>
          <a:xfrm>
            <a:off x="838199" y="1741218"/>
            <a:ext cx="854495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Lets it is a two class problem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We have some points in this feature space which are positives and others are negative.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For a given new point, we want to know is it a positive or negative point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So for that we want to learn a function, that will separate these positive and negative points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it could be a curve or a line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So this is what inductive learning is about.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Suppose, this red line is the function that we have come up with 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So this is the hypothesis or function that we used to do our prediction.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10100603" y="3587266"/>
            <a:ext cx="8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cxnSp>
        <p:nvCxnSpPr>
          <p:cNvPr id="206" name="Google Shape;206;p6"/>
          <p:cNvCxnSpPr/>
          <p:nvPr/>
        </p:nvCxnSpPr>
        <p:spPr>
          <a:xfrm>
            <a:off x="9901307" y="4347763"/>
            <a:ext cx="1856936" cy="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6"/>
          <p:cNvCxnSpPr/>
          <p:nvPr/>
        </p:nvCxnSpPr>
        <p:spPr>
          <a:xfrm rot="10800000">
            <a:off x="9915375" y="3065663"/>
            <a:ext cx="0" cy="1266092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8" name="Google Shape;208;p6"/>
          <p:cNvSpPr txBox="1"/>
          <p:nvPr/>
        </p:nvSpPr>
        <p:spPr>
          <a:xfrm>
            <a:off x="10228373" y="4361831"/>
            <a:ext cx="858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x1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9350323" y="3514043"/>
            <a:ext cx="5509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x2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10182654" y="3289497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0337408" y="3641114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0984529" y="3602918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0829775" y="3293508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1169742" y="3317350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0614060" y="3430513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0060732" y="3575754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086524" y="3981374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365532" y="3880554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0433524" y="4117361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0670332" y="4002474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0780528" y="3690642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10822732" y="4154874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0236579" y="4117362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10646896" y="3711527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10799296" y="3413758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10951696" y="3833445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10112326" y="5385585"/>
            <a:ext cx="8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cxnSp>
        <p:nvCxnSpPr>
          <p:cNvPr id="228" name="Google Shape;228;p6"/>
          <p:cNvCxnSpPr/>
          <p:nvPr/>
        </p:nvCxnSpPr>
        <p:spPr>
          <a:xfrm>
            <a:off x="9913030" y="6146082"/>
            <a:ext cx="1856936" cy="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9" name="Google Shape;229;p6"/>
          <p:cNvCxnSpPr/>
          <p:nvPr/>
        </p:nvCxnSpPr>
        <p:spPr>
          <a:xfrm rot="10800000">
            <a:off x="9927098" y="4863982"/>
            <a:ext cx="0" cy="1266092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0" name="Google Shape;230;p6"/>
          <p:cNvSpPr txBox="1"/>
          <p:nvPr/>
        </p:nvSpPr>
        <p:spPr>
          <a:xfrm>
            <a:off x="10240096" y="6160150"/>
            <a:ext cx="858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x1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9362046" y="5312362"/>
            <a:ext cx="5509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x2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10194377" y="5087816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10349131" y="5439433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10996252" y="5401237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0841498" y="5091827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11181465" y="5115669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10625783" y="5228832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0072455" y="5374073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0098247" y="5779693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0377255" y="5678873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0445247" y="5915680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0682055" y="5800793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0792251" y="5488961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0834455" y="5953193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0248302" y="5915681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10658619" y="5509846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10811019" y="5212077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10963419" y="5631764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cxnSp>
        <p:nvCxnSpPr>
          <p:cNvPr id="249" name="Google Shape;249;p6"/>
          <p:cNvCxnSpPr/>
          <p:nvPr/>
        </p:nvCxnSpPr>
        <p:spPr>
          <a:xfrm>
            <a:off x="9959927" y="5051833"/>
            <a:ext cx="1298915" cy="1078241"/>
          </a:xfrm>
          <a:prstGeom prst="straightConnector1">
            <a:avLst/>
          </a:prstGeom>
          <a:noFill/>
          <a:ln w="127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Hypothesis space (H)</a:t>
            </a:r>
            <a:endParaRPr/>
          </a:p>
        </p:txBody>
      </p:sp>
      <p:sp>
        <p:nvSpPr>
          <p:cNvPr id="255" name="Google Shape;25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53674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Instead of this particular line, we could have hypothesized other functions.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So set of all these possible functions that we could have come up with, they define the hypothesis space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In a particular learning problem,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we first define the hypothesis space that is the class of functions that you are going to consider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then given the data points and restrictions or biases that we impose, the algorithm try to come up with the best hypothesis.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This is a set from which the learning algorithm will pick a hypothesis (h) that will be the output of the algorithm.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So we can think supervised learning as a device which explores (searches) the hypothesis space in order to find out one of the hypothesis which satisfies certain criteria.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10112326" y="3134754"/>
            <a:ext cx="8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cxnSp>
        <p:nvCxnSpPr>
          <p:cNvPr id="257" name="Google Shape;257;p7"/>
          <p:cNvCxnSpPr/>
          <p:nvPr/>
        </p:nvCxnSpPr>
        <p:spPr>
          <a:xfrm>
            <a:off x="9913030" y="3895251"/>
            <a:ext cx="1856936" cy="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8" name="Google Shape;258;p7"/>
          <p:cNvCxnSpPr/>
          <p:nvPr/>
        </p:nvCxnSpPr>
        <p:spPr>
          <a:xfrm rot="10800000">
            <a:off x="9927098" y="2613151"/>
            <a:ext cx="0" cy="1266092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9" name="Google Shape;259;p7"/>
          <p:cNvSpPr txBox="1"/>
          <p:nvPr/>
        </p:nvSpPr>
        <p:spPr>
          <a:xfrm>
            <a:off x="10240096" y="3909319"/>
            <a:ext cx="858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x1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9362046" y="3061531"/>
            <a:ext cx="5509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x2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10194377" y="2836985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0349131" y="3188602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0996252" y="3150406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0841498" y="2840996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1181465" y="2864838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0625783" y="2978001"/>
            <a:ext cx="154754" cy="191581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0072455" y="3123242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10098247" y="3528862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0377255" y="3428042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0445247" y="3664849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0682055" y="3549962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0792251" y="3238130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0834455" y="3702362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10248302" y="3664850"/>
            <a:ext cx="220401" cy="45719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10658619" y="3259015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10811019" y="2961246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10963419" y="3380933"/>
            <a:ext cx="147698" cy="3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</p:txBody>
      </p:sp>
      <p:cxnSp>
        <p:nvCxnSpPr>
          <p:cNvPr id="278" name="Google Shape;278;p7"/>
          <p:cNvCxnSpPr/>
          <p:nvPr/>
        </p:nvCxnSpPr>
        <p:spPr>
          <a:xfrm>
            <a:off x="9766495" y="2724774"/>
            <a:ext cx="1492347" cy="1154469"/>
          </a:xfrm>
          <a:prstGeom prst="straightConnector1">
            <a:avLst/>
          </a:prstGeom>
          <a:noFill/>
          <a:ln w="127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9" name="Google Shape;279;p7"/>
          <p:cNvCxnSpPr/>
          <p:nvPr/>
        </p:nvCxnSpPr>
        <p:spPr>
          <a:xfrm>
            <a:off x="10328027" y="2719156"/>
            <a:ext cx="444294" cy="1282138"/>
          </a:xfrm>
          <a:prstGeom prst="straightConnector1">
            <a:avLst/>
          </a:prstGeom>
          <a:noFill/>
          <a:ln w="127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0" name="Google Shape;280;p7"/>
          <p:cNvCxnSpPr>
            <a:stCxn id="260" idx="2"/>
          </p:cNvCxnSpPr>
          <p:nvPr/>
        </p:nvCxnSpPr>
        <p:spPr>
          <a:xfrm rot="10800000" flipH="1">
            <a:off x="9637538" y="3394263"/>
            <a:ext cx="1787700" cy="36600"/>
          </a:xfrm>
          <a:prstGeom prst="straightConnector1">
            <a:avLst/>
          </a:prstGeom>
          <a:noFill/>
          <a:ln w="127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1" name="Google Shape;281;p7"/>
          <p:cNvCxnSpPr/>
          <p:nvPr/>
        </p:nvCxnSpPr>
        <p:spPr>
          <a:xfrm flipH="1">
            <a:off x="9941167" y="2684265"/>
            <a:ext cx="1484156" cy="1078241"/>
          </a:xfrm>
          <a:prstGeom prst="straightConnector1">
            <a:avLst/>
          </a:prstGeom>
          <a:noFill/>
          <a:ln w="127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Function representation</a:t>
            </a:r>
            <a:endParaRPr/>
          </a:p>
        </p:txBody>
      </p:sp>
      <p:sp>
        <p:nvSpPr>
          <p:cNvPr id="287" name="Google Shape;287;p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en-IN"/>
              <a:t>A function is represented  in terms of features.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IN"/>
              <a:t>In order to describe a function, we need two things to decide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/>
              <a:t>Features of the vocabulary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/>
              <a:t>Function class or the type of the function or the language of the function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IN"/>
              <a:t>So based on the features and the language we can define our hypothesis space.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IN"/>
              <a:t>To make predictions various types of representations are considered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/>
              <a:t>Linear function to act as a discriminator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/>
              <a:t>Decision tree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/>
              <a:t>Multivariate linear function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/>
              <a:t>Single layer perceptron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IN"/>
              <a:t>Multi-layer neural networks</a:t>
            </a:r>
            <a:endParaRPr/>
          </a:p>
          <a:p>
            <a:pPr marL="742950" lvl="1" indent="-210566" algn="l" rtl="0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endParaRPr/>
          </a:p>
          <a:p>
            <a:pPr marL="742950" lvl="1" indent="-210566" algn="l" rtl="0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Terminology</a:t>
            </a:r>
            <a:endParaRPr/>
          </a:p>
        </p:txBody>
      </p:sp>
      <p:sp>
        <p:nvSpPr>
          <p:cNvPr id="293" name="Google Shape;293;p9"/>
          <p:cNvSpPr txBox="1">
            <a:spLocks noGrp="1"/>
          </p:cNvSpPr>
          <p:nvPr>
            <p:ph type="body" idx="1"/>
          </p:nvPr>
        </p:nvSpPr>
        <p:spPr>
          <a:xfrm>
            <a:off x="677333" y="1434905"/>
            <a:ext cx="9423269" cy="4606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Instance (example) - (x,y)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Training data – set of examples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Instance space (X)–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Which describe all possible instances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set of all possible objects that can be described by the features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Concept (c)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We are trying to learn a concept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In a classification problem where we want to learn a particular class (in case of two class classification problem positive classes we can think of the positive examples (that we want to learn) as the concept)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so out of all possible instances in the instance space, positive examples belong to the concept.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IN" b="0" i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∈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 is unknown and what we are trying to find.</a:t>
            </a:r>
            <a:endParaRPr/>
          </a:p>
          <a:p>
            <a:pPr marL="742950" lvl="1" indent="-204469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For classification problem</a:t>
            </a:r>
            <a:endParaRPr/>
          </a:p>
        </p:txBody>
      </p:sp>
      <p:sp>
        <p:nvSpPr>
          <p:cNvPr id="299" name="Google Shape;299;p10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Input: training set S</a:t>
            </a:r>
            <a:r>
              <a:rPr lang="en-IN" i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⊆ X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Output: a hypothesis h</a:t>
            </a:r>
            <a:r>
              <a:rPr lang="en-IN" i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⊆H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Size of the Hypothesis Space</a:t>
            </a:r>
            <a:endParaRPr/>
          </a:p>
        </p:txBody>
      </p:sp>
      <p:sp>
        <p:nvSpPr>
          <p:cNvPr id="305" name="Google Shape;305;p1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If 4 Boolean features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2</a:t>
            </a:r>
            <a:r>
              <a:rPr lang="en-IN" baseline="30000" dirty="0"/>
              <a:t>4</a:t>
            </a:r>
            <a:r>
              <a:rPr lang="en-IN" dirty="0"/>
              <a:t> total possible instance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2</a:t>
            </a:r>
            <a:r>
              <a:rPr lang="en-IN" baseline="30000" dirty="0"/>
              <a:t>16</a:t>
            </a:r>
            <a:r>
              <a:rPr lang="en-IN" dirty="0"/>
              <a:t> total Boolean functions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The Hypothesis space is very large and it is not possible to look every hypothesis individually to select the best hypothesis that we want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So we put some restrictions on the hypothesis space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 dirty="0"/>
              <a:t>So you select a hypothesis language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This hypothesis language may be an unrestricted hypothesis language, for e.g. all possible Boolean functions or may be a restricted language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dirty="0"/>
              <a:t>If you restrict hypothesis language, it reflects an inductive bias of the learner.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Unrestricted hypothesis language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hlinkClick r:id="rId2"/>
              </a:rPr>
              <a:t>Decision Trees</a:t>
            </a:r>
            <a:r>
              <a:rPr lang="en-US" b="1" dirty="0" smtClean="0"/>
              <a:t> (with high depth):</a:t>
            </a:r>
            <a:endParaRPr lang="en-US" dirty="0" smtClean="0"/>
          </a:p>
          <a:p>
            <a:pPr lvl="1" fontAlgn="ctr"/>
            <a:r>
              <a:rPr lang="en-US" dirty="0" smtClean="0"/>
              <a:t>While decision trees can be restricted by depth, allowing them to be relatively simple, they can also be trained with high depth, allowing them to fit complex, non-linear patterns in the data. </a:t>
            </a:r>
          </a:p>
          <a:p>
            <a:r>
              <a:rPr lang="en-US" b="1" dirty="0" smtClean="0">
                <a:hlinkClick r:id="rId3"/>
              </a:rPr>
              <a:t>Neural Networks</a:t>
            </a:r>
            <a:r>
              <a:rPr lang="en-US" b="1" dirty="0" smtClean="0"/>
              <a:t> (with many layers and nodes):</a:t>
            </a:r>
            <a:endParaRPr lang="en-US" dirty="0" smtClean="0"/>
          </a:p>
          <a:p>
            <a:pPr lvl="1"/>
            <a:r>
              <a:rPr lang="en-US" dirty="0" smtClean="0"/>
              <a:t>Neural networks, particularly deep neural networks, have a very large hypothesis space and can learn highly complex relationships within data.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Inductive Bias</a:t>
            </a:r>
            <a:endParaRPr/>
          </a:p>
        </p:txBody>
      </p:sp>
      <p:sp>
        <p:nvSpPr>
          <p:cNvPr id="311" name="Google Shape;311;p1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When we choose a hypothesis space we need to make some assumptions: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Two types of assumptions that we can make/bias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Put Restrictions on the type of functions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IN"/>
              <a:t>Example instead of considering all the Boolean formulas we will consider only conjunctive Boolean formulas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IN"/>
              <a:t>For regression problem, we can say we are looking at linear functions or we can looking at 4</a:t>
            </a:r>
            <a:r>
              <a:rPr lang="en-IN" baseline="30000"/>
              <a:t>th</a:t>
            </a:r>
            <a:r>
              <a:rPr lang="en-IN"/>
              <a:t> degree polynomials, or n-degree polynomials or any polynomials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IN"/>
              <a:t>Preference</a:t>
            </a: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Char char="►"/>
            </a:pPr>
            <a:r>
              <a:rPr lang="en-IN"/>
              <a:t>Given a particular language that you have chosen you say that </a:t>
            </a:r>
            <a:endParaRPr/>
          </a:p>
          <a:p>
            <a:pPr marL="1600200" lvl="3" indent="-228600" algn="l" rtl="0">
              <a:spcBef>
                <a:spcPts val="1000"/>
              </a:spcBef>
              <a:spcAft>
                <a:spcPts val="0"/>
              </a:spcAft>
              <a:buSzPts val="960"/>
              <a:buChar char="►"/>
            </a:pPr>
            <a:r>
              <a:rPr lang="en-IN"/>
              <a:t>I am considering all the possible polynomials but I will prefer polynomials of lower degree </a:t>
            </a:r>
            <a:endParaRPr/>
          </a:p>
          <a:p>
            <a:pPr marL="1600200" lvl="3" indent="-228600" algn="l" rtl="0">
              <a:spcBef>
                <a:spcPts val="1000"/>
              </a:spcBef>
              <a:spcAft>
                <a:spcPts val="0"/>
              </a:spcAft>
              <a:buSzPts val="960"/>
              <a:buChar char="►"/>
            </a:pPr>
            <a:r>
              <a:rPr lang="en-IN"/>
              <a:t>I am considering all possible Boolean functions but I will prefer Boolean functions which can be described in small size.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Most Important Supervised Learning Algorithms</a:t>
            </a:r>
            <a:endParaRPr/>
          </a:p>
        </p:txBody>
      </p:sp>
      <p:sp>
        <p:nvSpPr>
          <p:cNvPr id="347" name="Google Shape;347;p1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Naïve Bayes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K-nearest Neighbors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Linear Regression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Logistic Regression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Support Vector Machine (SVMs)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Decision Trees and Random Forests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Neural networks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Practical Applications</a:t>
            </a:r>
            <a:endParaRPr/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Handwriting recognition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Stock market prediction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Disease prediction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Fraud detection, etc.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Unsupervised learning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Is used when there is no idea about the class or label of a particular data.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 model has to find patterns in the data.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Unlabeled dataset is given to the model and Input is grouped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Difficult to measure whether the model did something useful or interesting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Homogeneity of records grouped together is the only measure.</a:t>
            </a:r>
            <a:endParaRPr/>
          </a:p>
          <a:p>
            <a:pPr marL="742950" lvl="1" indent="-204469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Types of Unsupervised Learning problems</a:t>
            </a:r>
            <a:endParaRPr/>
          </a:p>
        </p:txBody>
      </p:sp>
      <p:sp>
        <p:nvSpPr>
          <p:cNvPr id="150" name="Google Shape;150;p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Clustering 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Association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representation learning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How to represent data points in a best possible way so that the task (whatever in our hand) can become easier.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example we may learn a better way to represent an image in place of a bunch of pixel values.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Dimensionality reduction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Unsupervised density estimation</a:t>
            </a:r>
            <a:endParaRPr/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Most Important unsupervised Learning Algorithms</a:t>
            </a:r>
            <a:endParaRPr/>
          </a:p>
        </p:txBody>
      </p:sp>
      <p:sp>
        <p:nvSpPr>
          <p:cNvPr id="156" name="Google Shape;156;p3"/>
          <p:cNvSpPr txBox="1">
            <a:spLocks noGrp="1"/>
          </p:cNvSpPr>
          <p:nvPr>
            <p:ph type="body" idx="1"/>
          </p:nvPr>
        </p:nvSpPr>
        <p:spPr>
          <a:xfrm>
            <a:off x="677334" y="1828801"/>
            <a:ext cx="8596668" cy="421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en-US"/>
              <a:t>Clustering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K-means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Hierarchical Cluster Analysis (HCA)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Expectation maximization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US"/>
              <a:t>Visualization and dimensionality reduction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Principal Component Analysis (PCA)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Kernel PCA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Locally-Linear Embedding (LLE)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T-distributed Stochastic Neighbor Embedding (t-SNE)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US"/>
              <a:t>Association rule learning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Apriori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Eclat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Practical Applications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Market basket analysis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Recommender system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Customer segmentation, 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1387</Words>
  <PresentationFormat>Custom</PresentationFormat>
  <Paragraphs>217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Trebuchet MS</vt:lpstr>
      <vt:lpstr>Noto Sans Symbols</vt:lpstr>
      <vt:lpstr>Times New Roman</vt:lpstr>
      <vt:lpstr>Calibri</vt:lpstr>
      <vt:lpstr>Facet</vt:lpstr>
      <vt:lpstr>Machine Learning</vt:lpstr>
      <vt:lpstr>Ideal Situation</vt:lpstr>
      <vt:lpstr> Multiple hypotheses can agree with the data</vt:lpstr>
      <vt:lpstr>Multiple Hypotheses</vt:lpstr>
      <vt:lpstr>Types of ML systems</vt:lpstr>
      <vt:lpstr>Supervised Learning</vt:lpstr>
      <vt:lpstr>Types of Supervised Learning problems </vt:lpstr>
      <vt:lpstr>Types of Supervised Learning problems</vt:lpstr>
      <vt:lpstr>Features</vt:lpstr>
      <vt:lpstr>Feature space</vt:lpstr>
      <vt:lpstr>In case of classification problem</vt:lpstr>
      <vt:lpstr>Hypothesis space (H)</vt:lpstr>
      <vt:lpstr>Function representation</vt:lpstr>
      <vt:lpstr>Terminology</vt:lpstr>
      <vt:lpstr>For classification problem</vt:lpstr>
      <vt:lpstr>Size of the Hypothesis Space</vt:lpstr>
      <vt:lpstr>Unrestricted hypothesis language</vt:lpstr>
      <vt:lpstr>Inductive Bias</vt:lpstr>
      <vt:lpstr>Most Important Supervised Learning Algorithms</vt:lpstr>
      <vt:lpstr>Practical Applications</vt:lpstr>
      <vt:lpstr>Unsupervised learning</vt:lpstr>
      <vt:lpstr>Types of Unsupervised Learning problems</vt:lpstr>
      <vt:lpstr>Most Important unsupervised Learning Algorithms</vt:lpstr>
      <vt:lpstr>Practical Applications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hpp</dc:creator>
  <cp:lastModifiedBy>Student</cp:lastModifiedBy>
  <cp:revision>4</cp:revision>
  <dcterms:created xsi:type="dcterms:W3CDTF">2021-02-23T02:12:11Z</dcterms:created>
  <dcterms:modified xsi:type="dcterms:W3CDTF">2025-07-19T12:35:40Z</dcterms:modified>
</cp:coreProperties>
</file>