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embeddedFontLst>
    <p:embeddedFont>
      <p:font typeface="Calibri" pitchFamily="34" charset="0"/>
      <p:regular r:id="rId36"/>
      <p:bold r:id="rId37"/>
      <p:italic r:id="rId38"/>
      <p:boldItalic r:id="rId39"/>
    </p:embeddedFont>
    <p:embeddedFont>
      <p:font typeface="Roboto"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gbTW5Hn4RRQfpykNwhOzYiwBuTgw=="/>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AFAA0F92-C0F2-4B92-86BC-F8EBB58A3E90}">
  <a:tblStyle styleId="{AFAA0F92-C0F2-4B92-86BC-F8EBB58A3E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56" d="100"/>
          <a:sy n="156" d="100"/>
        </p:scale>
        <p:origin x="-3144"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6"/>
          <p:cNvSpPr>
            <a:spLocks noGrp="1"/>
          </p:cNvSpPr>
          <p:nvPr>
            <p:ph type="pic" idx="2"/>
          </p:nvPr>
        </p:nvSpPr>
        <p:spPr>
          <a:xfrm>
            <a:off x="5183188" y="987425"/>
            <a:ext cx="6172200" cy="4873625"/>
          </a:xfrm>
          <a:prstGeom prst="rect">
            <a:avLst/>
          </a:prstGeom>
          <a:noFill/>
          <a:ln>
            <a:noFill/>
          </a:ln>
        </p:spPr>
      </p:sp>
      <p:sp>
        <p:nvSpPr>
          <p:cNvPr id="68" name="Google Shape;68;p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Simple Linear Regression</a:t>
            </a:r>
            <a:br>
              <a:rPr lang="en-US"/>
            </a:br>
            <a:endParaR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
          <p:cNvPicPr preferRelativeResize="0"/>
          <p:nvPr/>
        </p:nvPicPr>
        <p:blipFill rotWithShape="1">
          <a:blip r:embed="rId3">
            <a:alphaModFix/>
          </a:blip>
          <a:srcRect/>
          <a:stretch/>
        </p:blipFill>
        <p:spPr>
          <a:xfrm>
            <a:off x="2642161" y="1083433"/>
            <a:ext cx="6429375" cy="4333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00" name="Google Shape;100;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0" i="0">
                <a:solidFill>
                  <a:srgbClr val="333333"/>
                </a:solidFill>
                <a:latin typeface="Arial"/>
                <a:ea typeface="Arial"/>
                <a:cs typeface="Arial"/>
                <a:sym typeface="Arial"/>
              </a:rPr>
              <a:t>Regression models are built for 2 reasons:</a:t>
            </a:r>
            <a:endParaRPr/>
          </a:p>
          <a:p>
            <a:pPr marL="685800" lvl="1" indent="-228600" algn="l" rtl="0">
              <a:lnSpc>
                <a:spcPct val="90000"/>
              </a:lnSpc>
              <a:spcBef>
                <a:spcPts val="500"/>
              </a:spcBef>
              <a:spcAft>
                <a:spcPts val="0"/>
              </a:spcAft>
              <a:buClr>
                <a:srgbClr val="333333"/>
              </a:buClr>
              <a:buSzPts val="2400"/>
              <a:buFont typeface="Calibri"/>
              <a:buAutoNum type="arabicPeriod"/>
            </a:pPr>
            <a:r>
              <a:rPr lang="en-US" b="0" i="0">
                <a:solidFill>
                  <a:srgbClr val="333333"/>
                </a:solidFill>
                <a:latin typeface="Arial"/>
                <a:ea typeface="Arial"/>
                <a:cs typeface="Arial"/>
                <a:sym typeface="Arial"/>
              </a:rPr>
              <a:t>either to explain the relationship between an exposure and an outcome — We will refer to these as </a:t>
            </a:r>
            <a:r>
              <a:rPr lang="en-US" b="0" i="1">
                <a:solidFill>
                  <a:srgbClr val="333333"/>
                </a:solidFill>
                <a:latin typeface="Arial"/>
                <a:ea typeface="Arial"/>
                <a:cs typeface="Arial"/>
                <a:sym typeface="Arial"/>
              </a:rPr>
              <a:t>explanatory models</a:t>
            </a:r>
            <a:endParaRPr b="0" i="0">
              <a:solidFill>
                <a:srgbClr val="333333"/>
              </a:solidFill>
              <a:latin typeface="Arial"/>
              <a:ea typeface="Arial"/>
              <a:cs typeface="Arial"/>
              <a:sym typeface="Arial"/>
            </a:endParaRPr>
          </a:p>
          <a:p>
            <a:pPr marL="685800" lvl="1" indent="-228600" algn="l" rtl="0">
              <a:lnSpc>
                <a:spcPct val="90000"/>
              </a:lnSpc>
              <a:spcBef>
                <a:spcPts val="500"/>
              </a:spcBef>
              <a:spcAft>
                <a:spcPts val="0"/>
              </a:spcAft>
              <a:buClr>
                <a:srgbClr val="333333"/>
              </a:buClr>
              <a:buSzPts val="2400"/>
              <a:buFont typeface="Calibri"/>
              <a:buAutoNum type="arabicPeriod"/>
            </a:pPr>
            <a:r>
              <a:rPr lang="en-US" b="0" i="0">
                <a:solidFill>
                  <a:srgbClr val="333333"/>
                </a:solidFill>
                <a:latin typeface="Arial"/>
                <a:ea typeface="Arial"/>
                <a:cs typeface="Arial"/>
                <a:sym typeface="Arial"/>
              </a:rPr>
              <a:t>or to predict the outcome based on a set of independent variables — We will refer to these as </a:t>
            </a:r>
            <a:r>
              <a:rPr lang="en-US" b="0" i="1">
                <a:solidFill>
                  <a:srgbClr val="333333"/>
                </a:solidFill>
                <a:latin typeface="Arial"/>
                <a:ea typeface="Arial"/>
                <a:cs typeface="Arial"/>
                <a:sym typeface="Arial"/>
              </a:rPr>
              <a:t>prediction models</a:t>
            </a:r>
            <a:endParaRPr b="0" i="0">
              <a:solidFill>
                <a:srgbClr val="333333"/>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Simple Linear Regression</a:t>
            </a:r>
            <a:endParaRPr/>
          </a:p>
        </p:txBody>
      </p:sp>
      <p:sp>
        <p:nvSpPr>
          <p:cNvPr id="106" name="Google Shape;106;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is a statistical method that allows us to summarize and study relationships between two continuous (quantitative) variables</a:t>
            </a:r>
            <a:endParaRPr/>
          </a:p>
          <a:p>
            <a:pPr marL="228600" lvl="0" indent="-228600" algn="l" rtl="0">
              <a:lnSpc>
                <a:spcPct val="90000"/>
              </a:lnSpc>
              <a:spcBef>
                <a:spcPts val="1000"/>
              </a:spcBef>
              <a:spcAft>
                <a:spcPts val="0"/>
              </a:spcAft>
              <a:buClr>
                <a:schemeClr val="dk1"/>
              </a:buClr>
              <a:buSzPct val="100000"/>
              <a:buChar char="•"/>
            </a:pPr>
            <a:r>
              <a:rPr lang="en-US"/>
              <a:t>One variable, denoted x, is regarded as the </a:t>
            </a:r>
            <a:r>
              <a:rPr lang="en-US" b="1"/>
              <a:t>predictor</a:t>
            </a:r>
            <a:r>
              <a:rPr lang="en-US"/>
              <a:t>, </a:t>
            </a:r>
            <a:r>
              <a:rPr lang="en-US" b="1"/>
              <a:t>explanatory</a:t>
            </a:r>
            <a:r>
              <a:rPr lang="en-US"/>
              <a:t>, or </a:t>
            </a:r>
            <a:r>
              <a:rPr lang="en-US" b="1"/>
              <a:t>independent</a:t>
            </a:r>
            <a:r>
              <a:rPr lang="en-US"/>
              <a:t> variable.</a:t>
            </a:r>
            <a:endParaRPr/>
          </a:p>
          <a:p>
            <a:pPr marL="228600" lvl="0" indent="-228600" algn="l" rtl="0">
              <a:lnSpc>
                <a:spcPct val="90000"/>
              </a:lnSpc>
              <a:spcBef>
                <a:spcPts val="1000"/>
              </a:spcBef>
              <a:spcAft>
                <a:spcPts val="0"/>
              </a:spcAft>
              <a:buClr>
                <a:schemeClr val="dk1"/>
              </a:buClr>
              <a:buSzPct val="100000"/>
              <a:buChar char="•"/>
            </a:pPr>
            <a:r>
              <a:rPr lang="en-US"/>
              <a:t>The other variable, denoted y, is regarded as the </a:t>
            </a:r>
            <a:r>
              <a:rPr lang="en-US" b="1"/>
              <a:t>response</a:t>
            </a:r>
            <a:r>
              <a:rPr lang="en-US"/>
              <a:t>, </a:t>
            </a:r>
            <a:r>
              <a:rPr lang="en-US" b="1"/>
              <a:t>outcome</a:t>
            </a:r>
            <a:r>
              <a:rPr lang="en-US"/>
              <a:t>, or </a:t>
            </a:r>
            <a:r>
              <a:rPr lang="en-US" b="1"/>
              <a:t>dependent</a:t>
            </a:r>
            <a:r>
              <a:rPr lang="en-US"/>
              <a:t> variable.</a:t>
            </a:r>
            <a:endParaRPr/>
          </a:p>
          <a:p>
            <a:pPr marL="228600" lvl="0" indent="-228600" algn="l" rtl="0">
              <a:lnSpc>
                <a:spcPct val="90000"/>
              </a:lnSpc>
              <a:spcBef>
                <a:spcPts val="1000"/>
              </a:spcBef>
              <a:spcAft>
                <a:spcPts val="0"/>
              </a:spcAft>
              <a:buClr>
                <a:schemeClr val="dk1"/>
              </a:buClr>
              <a:buSzPct val="100000"/>
              <a:buChar char="•"/>
            </a:pPr>
            <a:r>
              <a:rPr lang="en-US"/>
              <a:t>Not used to study deterministic relationship</a:t>
            </a:r>
            <a:endParaRPr/>
          </a:p>
          <a:p>
            <a:pPr marL="685800" lvl="1" indent="-228600" algn="l" rtl="0">
              <a:lnSpc>
                <a:spcPct val="90000"/>
              </a:lnSpc>
              <a:spcBef>
                <a:spcPts val="500"/>
              </a:spcBef>
              <a:spcAft>
                <a:spcPts val="0"/>
              </a:spcAft>
              <a:buClr>
                <a:schemeClr val="dk1"/>
              </a:buClr>
              <a:buSzPct val="100000"/>
              <a:buChar char="•"/>
            </a:pPr>
            <a:r>
              <a:rPr lang="en-US"/>
              <a:t>Circumference = π × diameter</a:t>
            </a:r>
            <a:endParaRPr/>
          </a:p>
          <a:p>
            <a:pPr marL="685800" lvl="1" indent="-228600" algn="l" rtl="0">
              <a:lnSpc>
                <a:spcPct val="90000"/>
              </a:lnSpc>
              <a:spcBef>
                <a:spcPts val="500"/>
              </a:spcBef>
              <a:spcAft>
                <a:spcPts val="0"/>
              </a:spcAft>
              <a:buClr>
                <a:schemeClr val="dk1"/>
              </a:buClr>
              <a:buSzPct val="100000"/>
              <a:buChar char="•"/>
            </a:pPr>
            <a:r>
              <a:rPr lang="en-US"/>
              <a:t>Fahr = 9/5 Cels  + 32</a:t>
            </a:r>
            <a:endParaRPr/>
          </a:p>
          <a:p>
            <a:pPr marL="228600" lvl="0" indent="-228600" algn="l" rtl="0">
              <a:lnSpc>
                <a:spcPct val="90000"/>
              </a:lnSpc>
              <a:spcBef>
                <a:spcPts val="1000"/>
              </a:spcBef>
              <a:spcAft>
                <a:spcPts val="0"/>
              </a:spcAft>
              <a:buClr>
                <a:schemeClr val="dk1"/>
              </a:buClr>
              <a:buSzPct val="100000"/>
              <a:buChar char="•"/>
            </a:pPr>
            <a:r>
              <a:rPr lang="en-US"/>
              <a:t>Used to study </a:t>
            </a:r>
            <a:r>
              <a:rPr lang="en-US" b="1"/>
              <a:t>statistical relationships</a:t>
            </a:r>
            <a:r>
              <a:rPr lang="en-US"/>
              <a:t>, in which the relationship between the variables is not perfect.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Simple linear regression</a:t>
            </a:r>
            <a:endParaRPr/>
          </a:p>
        </p:txBody>
      </p:sp>
      <p:sp>
        <p:nvSpPr>
          <p:cNvPr id="112" name="Google Shape;11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01930" algn="l" rtl="0">
              <a:lnSpc>
                <a:spcPct val="90000"/>
              </a:lnSpc>
              <a:spcBef>
                <a:spcPts val="0"/>
              </a:spcBef>
              <a:spcAft>
                <a:spcPts val="0"/>
              </a:spcAft>
              <a:buClr>
                <a:schemeClr val="dk1"/>
              </a:buClr>
              <a:buSzPct val="100000"/>
              <a:buChar char="•"/>
            </a:pPr>
            <a:r>
              <a:rPr lang="en-US"/>
              <a:t>we want to model our data as follows:</a:t>
            </a:r>
            <a:endParaRPr/>
          </a:p>
          <a:p>
            <a:pPr marL="685800" lvl="1" indent="-205740" algn="l" rtl="0">
              <a:lnSpc>
                <a:spcPct val="90000"/>
              </a:lnSpc>
              <a:spcBef>
                <a:spcPts val="500"/>
              </a:spcBef>
              <a:spcAft>
                <a:spcPts val="0"/>
              </a:spcAft>
              <a:buClr>
                <a:schemeClr val="dk1"/>
              </a:buClr>
              <a:buSzPct val="100000"/>
              <a:buChar char="•"/>
            </a:pPr>
            <a:r>
              <a:rPr lang="en-US"/>
              <a:t>y = b</a:t>
            </a:r>
            <a:r>
              <a:rPr lang="en-US" baseline="-25000"/>
              <a:t>0</a:t>
            </a:r>
            <a:r>
              <a:rPr lang="en-US"/>
              <a:t> + b</a:t>
            </a:r>
            <a:r>
              <a:rPr lang="en-US" baseline="-25000"/>
              <a:t>1</a:t>
            </a:r>
            <a:r>
              <a:rPr lang="en-US"/>
              <a:t>*x</a:t>
            </a:r>
            <a:endParaRPr baseline="-25000"/>
          </a:p>
          <a:p>
            <a:pPr marL="228600" lvl="0" indent="-201930" algn="l" rtl="0">
              <a:lnSpc>
                <a:spcPct val="90000"/>
              </a:lnSpc>
              <a:spcBef>
                <a:spcPts val="1000"/>
              </a:spcBef>
              <a:spcAft>
                <a:spcPts val="0"/>
              </a:spcAft>
              <a:buClr>
                <a:schemeClr val="dk1"/>
              </a:buClr>
              <a:buSzPct val="100000"/>
              <a:buChar char="•"/>
            </a:pPr>
            <a:r>
              <a:rPr lang="en-US"/>
              <a:t>y- dependent var</a:t>
            </a:r>
            <a:endParaRPr/>
          </a:p>
          <a:p>
            <a:pPr marL="228600" lvl="0" indent="-201930" algn="l" rtl="0">
              <a:lnSpc>
                <a:spcPct val="90000"/>
              </a:lnSpc>
              <a:spcBef>
                <a:spcPts val="1000"/>
              </a:spcBef>
              <a:spcAft>
                <a:spcPts val="0"/>
              </a:spcAft>
              <a:buClr>
                <a:schemeClr val="dk1"/>
              </a:buClr>
              <a:buSzPct val="100000"/>
              <a:buChar char="•"/>
            </a:pPr>
            <a:r>
              <a:rPr lang="en-US"/>
              <a:t>x- independent var</a:t>
            </a:r>
            <a:endParaRPr/>
          </a:p>
          <a:p>
            <a:pPr marL="228600" lvl="0" indent="-201930" algn="l" rtl="0">
              <a:lnSpc>
                <a:spcPct val="90000"/>
              </a:lnSpc>
              <a:spcBef>
                <a:spcPts val="1000"/>
              </a:spcBef>
              <a:spcAft>
                <a:spcPts val="0"/>
              </a:spcAft>
              <a:buClr>
                <a:schemeClr val="dk1"/>
              </a:buClr>
              <a:buSzPct val="100000"/>
              <a:buChar char="•"/>
            </a:pPr>
            <a:r>
              <a:rPr lang="en-US"/>
              <a:t>b</a:t>
            </a:r>
            <a:r>
              <a:rPr lang="en-US" baseline="-25000"/>
              <a:t>1</a:t>
            </a:r>
            <a:r>
              <a:rPr lang="en-US"/>
              <a:t>- coefficient (feature weights)</a:t>
            </a:r>
            <a:endParaRPr/>
          </a:p>
          <a:p>
            <a:pPr marL="685800" lvl="1" indent="-205740" algn="l" rtl="0">
              <a:lnSpc>
                <a:spcPct val="90000"/>
              </a:lnSpc>
              <a:spcBef>
                <a:spcPts val="500"/>
              </a:spcBef>
              <a:spcAft>
                <a:spcPts val="0"/>
              </a:spcAft>
              <a:buClr>
                <a:schemeClr val="dk1"/>
              </a:buClr>
              <a:buSzPct val="100000"/>
              <a:buChar char="•"/>
            </a:pPr>
            <a:r>
              <a:rPr lang="en-US"/>
              <a:t>need to estimate </a:t>
            </a:r>
            <a:endParaRPr/>
          </a:p>
          <a:p>
            <a:pPr marL="685800" lvl="1" indent="-205740" algn="l" rtl="0">
              <a:lnSpc>
                <a:spcPct val="90000"/>
              </a:lnSpc>
              <a:spcBef>
                <a:spcPts val="500"/>
              </a:spcBef>
              <a:spcAft>
                <a:spcPts val="0"/>
              </a:spcAft>
              <a:buClr>
                <a:schemeClr val="dk1"/>
              </a:buClr>
              <a:buSzPct val="100000"/>
              <a:buChar char="•"/>
            </a:pPr>
            <a:r>
              <a:rPr lang="en-US"/>
              <a:t>Population slope</a:t>
            </a:r>
            <a:endParaRPr/>
          </a:p>
          <a:p>
            <a:pPr marL="228600" lvl="0" indent="-201930" algn="l" rtl="0">
              <a:lnSpc>
                <a:spcPct val="90000"/>
              </a:lnSpc>
              <a:spcBef>
                <a:spcPts val="1000"/>
              </a:spcBef>
              <a:spcAft>
                <a:spcPts val="0"/>
              </a:spcAft>
              <a:buClr>
                <a:schemeClr val="dk1"/>
              </a:buClr>
              <a:buSzPct val="100000"/>
              <a:buChar char="•"/>
            </a:pPr>
            <a:r>
              <a:rPr lang="en-US"/>
              <a:t>b</a:t>
            </a:r>
            <a:r>
              <a:rPr lang="en-US" baseline="-25000"/>
              <a:t>0</a:t>
            </a:r>
            <a:r>
              <a:rPr lang="en-US"/>
              <a:t>- constant-</a:t>
            </a:r>
            <a:endParaRPr/>
          </a:p>
          <a:p>
            <a:pPr marL="685800" lvl="1" indent="-265430" algn="l" rtl="0">
              <a:lnSpc>
                <a:spcPct val="90000"/>
              </a:lnSpc>
              <a:spcBef>
                <a:spcPts val="1000"/>
              </a:spcBef>
              <a:spcAft>
                <a:spcPts val="0"/>
              </a:spcAft>
              <a:buClr>
                <a:schemeClr val="dk1"/>
              </a:buClr>
              <a:buSzPct val="116666"/>
              <a:buChar char="•"/>
            </a:pPr>
            <a:r>
              <a:rPr lang="en-US"/>
              <a:t>need to estimate</a:t>
            </a:r>
            <a:endParaRPr/>
          </a:p>
          <a:p>
            <a:pPr marL="685800" lvl="1" indent="-205740" algn="l" rtl="0">
              <a:lnSpc>
                <a:spcPct val="90000"/>
              </a:lnSpc>
              <a:spcBef>
                <a:spcPts val="500"/>
              </a:spcBef>
              <a:spcAft>
                <a:spcPts val="0"/>
              </a:spcAft>
              <a:buClr>
                <a:schemeClr val="dk1"/>
              </a:buClr>
              <a:buSzPct val="100000"/>
              <a:buChar char="•"/>
            </a:pPr>
            <a:r>
              <a:rPr lang="en-US"/>
              <a:t>b</a:t>
            </a:r>
            <a:r>
              <a:rPr lang="en-US" baseline="-25000"/>
              <a:t>0</a:t>
            </a:r>
            <a:r>
              <a:rPr lang="en-US"/>
              <a:t> is called the intercept</a:t>
            </a:r>
            <a:endParaRPr/>
          </a:p>
          <a:p>
            <a:pPr marL="228600" lvl="0" indent="-201930" algn="l" rtl="0">
              <a:lnSpc>
                <a:spcPct val="90000"/>
              </a:lnSpc>
              <a:spcBef>
                <a:spcPts val="1000"/>
              </a:spcBef>
              <a:spcAft>
                <a:spcPts val="0"/>
              </a:spcAft>
              <a:buClr>
                <a:schemeClr val="dk1"/>
              </a:buClr>
              <a:buSzPct val="100000"/>
              <a:buChar char="•"/>
            </a:pPr>
            <a:r>
              <a:rPr lang="en-US"/>
              <a:t>b</a:t>
            </a:r>
            <a:r>
              <a:rPr lang="en-US" baseline="-25000"/>
              <a:t>0</a:t>
            </a:r>
            <a:r>
              <a:rPr lang="en-US"/>
              <a:t> &amp; b</a:t>
            </a:r>
            <a:r>
              <a:rPr lang="en-US" baseline="-25000"/>
              <a:t>1</a:t>
            </a:r>
            <a:r>
              <a:rPr lang="en-US"/>
              <a:t> are model’s parameters</a:t>
            </a:r>
            <a:endParaRPr/>
          </a:p>
          <a:p>
            <a:pPr marL="228600" lvl="0" indent="-50800" algn="l" rtl="0">
              <a:lnSpc>
                <a:spcPct val="90000"/>
              </a:lnSpc>
              <a:spcBef>
                <a:spcPts val="1000"/>
              </a:spcBef>
              <a:spcAft>
                <a:spcPts val="0"/>
              </a:spcAft>
              <a:buClr>
                <a:schemeClr val="dk1"/>
              </a:buClr>
              <a:buSzPct val="100000"/>
              <a:buNone/>
            </a:pPr>
            <a:endParaRPr baseline="-25000"/>
          </a:p>
        </p:txBody>
      </p:sp>
      <p:pic>
        <p:nvPicPr>
          <p:cNvPr id="113" name="Google Shape;113;p5" descr="Plot of the Dataset for Simple Linear Regression"/>
          <p:cNvPicPr preferRelativeResize="0"/>
          <p:nvPr/>
        </p:nvPicPr>
        <p:blipFill rotWithShape="1">
          <a:blip r:embed="rId3">
            <a:alphaModFix/>
          </a:blip>
          <a:srcRect/>
          <a:stretch/>
        </p:blipFill>
        <p:spPr>
          <a:xfrm>
            <a:off x="6335151" y="2390115"/>
            <a:ext cx="5715000" cy="3533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Constant &amp; Coefficient meaning</a:t>
            </a:r>
            <a:endParaRPr/>
          </a:p>
        </p:txBody>
      </p:sp>
      <p:sp>
        <p:nvSpPr>
          <p:cNvPr id="119" name="Google Shape;119;p6"/>
          <p:cNvSpPr txBox="1">
            <a:spLocks noGrp="1"/>
          </p:cNvSpPr>
          <p:nvPr>
            <p:ph type="body" idx="1"/>
          </p:nvPr>
        </p:nvSpPr>
        <p:spPr>
          <a:xfrm>
            <a:off x="5359790" y="1825625"/>
            <a:ext cx="5994009"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Salary- dependent var</a:t>
            </a:r>
            <a:endParaRPr/>
          </a:p>
          <a:p>
            <a:pPr marL="228600" lvl="0" indent="-228600" algn="l" rtl="0">
              <a:lnSpc>
                <a:spcPct val="90000"/>
              </a:lnSpc>
              <a:spcBef>
                <a:spcPts val="1000"/>
              </a:spcBef>
              <a:spcAft>
                <a:spcPts val="0"/>
              </a:spcAft>
              <a:buClr>
                <a:schemeClr val="dk1"/>
              </a:buClr>
              <a:buSzPts val="2800"/>
              <a:buChar char="•"/>
            </a:pPr>
            <a:r>
              <a:rPr lang="en-US"/>
              <a:t>No of experience- independent var</a:t>
            </a:r>
            <a:endParaRPr/>
          </a:p>
          <a:p>
            <a:pPr marL="228600" lvl="0" indent="-228600" algn="l" rtl="0">
              <a:lnSpc>
                <a:spcPct val="90000"/>
              </a:lnSpc>
              <a:spcBef>
                <a:spcPts val="1000"/>
              </a:spcBef>
              <a:spcAft>
                <a:spcPts val="0"/>
              </a:spcAft>
              <a:buClr>
                <a:schemeClr val="dk1"/>
              </a:buClr>
              <a:buSzPts val="2800"/>
              <a:buChar char="•"/>
            </a:pPr>
            <a:r>
              <a:rPr lang="en-US"/>
              <a:t>Constant-  if no of experience is 0, it tells about salary , sometimes may not be valid for the problem i.e. x=0 may not be relevant for the problem like if x is height and y is weight.</a:t>
            </a:r>
            <a:endParaRPr/>
          </a:p>
          <a:p>
            <a:pPr marL="228600" lvl="0" indent="-228600" algn="l" rtl="0">
              <a:lnSpc>
                <a:spcPct val="90000"/>
              </a:lnSpc>
              <a:spcBef>
                <a:spcPts val="1000"/>
              </a:spcBef>
              <a:spcAft>
                <a:spcPts val="0"/>
              </a:spcAft>
              <a:buClr>
                <a:schemeClr val="dk1"/>
              </a:buClr>
              <a:buSzPts val="2800"/>
              <a:buChar char="•"/>
            </a:pPr>
            <a:r>
              <a:rPr lang="en-US"/>
              <a:t>Coefficient (slope)- as the experience grows how fast salary will increase</a:t>
            </a:r>
            <a:endParaRPr/>
          </a:p>
        </p:txBody>
      </p:sp>
      <p:pic>
        <p:nvPicPr>
          <p:cNvPr id="120" name="Google Shape;120;p6" descr="Linear regression - Wikipedia"/>
          <p:cNvPicPr preferRelativeResize="0"/>
          <p:nvPr/>
        </p:nvPicPr>
        <p:blipFill rotWithShape="1">
          <a:blip r:embed="rId3">
            <a:alphaModFix/>
          </a:blip>
          <a:srcRect/>
          <a:stretch/>
        </p:blipFill>
        <p:spPr>
          <a:xfrm>
            <a:off x="1218893" y="3429000"/>
            <a:ext cx="3420222" cy="22677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26" name="Google Shape;126;p7"/>
          <p:cNvSpPr txBox="1">
            <a:spLocks noGrp="1"/>
          </p:cNvSpPr>
          <p:nvPr>
            <p:ph type="body" idx="1"/>
          </p:nvPr>
        </p:nvSpPr>
        <p:spPr>
          <a:xfrm>
            <a:off x="838200" y="1839693"/>
            <a:ext cx="10515600" cy="4653182"/>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en-US"/>
              <a:t>The goal is to find the best estimates for the coefficients to minimize the errors in predicting y from x.</a:t>
            </a:r>
            <a:endParaRPr/>
          </a:p>
          <a:p>
            <a:pPr marL="228600" lvl="0" indent="-228600" algn="l" rtl="0">
              <a:lnSpc>
                <a:spcPct val="90000"/>
              </a:lnSpc>
              <a:spcBef>
                <a:spcPts val="1000"/>
              </a:spcBef>
              <a:spcAft>
                <a:spcPts val="0"/>
              </a:spcAft>
              <a:buClr>
                <a:schemeClr val="dk1"/>
              </a:buClr>
              <a:buSzPct val="100000"/>
              <a:buChar char="•"/>
            </a:pPr>
            <a:r>
              <a:rPr lang="en-US"/>
              <a:t>There may not exists the complete fit to a straight line so we can assume that there is an error (noise) in the data</a:t>
            </a:r>
            <a:endParaRPr/>
          </a:p>
          <a:p>
            <a:pPr marL="685800" lvl="1" indent="-228600" algn="l" rtl="0">
              <a:lnSpc>
                <a:spcPct val="90000"/>
              </a:lnSpc>
              <a:spcBef>
                <a:spcPts val="500"/>
              </a:spcBef>
              <a:spcAft>
                <a:spcPts val="0"/>
              </a:spcAft>
              <a:buClr>
                <a:schemeClr val="dk1"/>
              </a:buClr>
              <a:buSzPct val="100000"/>
              <a:buChar char="•"/>
            </a:pPr>
            <a:r>
              <a:rPr lang="en-US"/>
              <a:t>y = b</a:t>
            </a:r>
            <a:r>
              <a:rPr lang="en-US" baseline="-25000"/>
              <a:t>0</a:t>
            </a:r>
            <a:r>
              <a:rPr lang="en-US"/>
              <a:t> + b</a:t>
            </a:r>
            <a:r>
              <a:rPr lang="en-US" baseline="-25000"/>
              <a:t>1</a:t>
            </a:r>
            <a:r>
              <a:rPr lang="en-US"/>
              <a:t>*x+ </a:t>
            </a:r>
            <a:r>
              <a:rPr lang="en-US">
                <a:latin typeface="Times New Roman"/>
                <a:ea typeface="Times New Roman"/>
                <a:cs typeface="Times New Roman"/>
                <a:sym typeface="Times New Roman"/>
              </a:rPr>
              <a:t>ϵ🡪 random error</a:t>
            </a: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ct val="100000"/>
              <a:buChar char="•"/>
            </a:pPr>
            <a:r>
              <a:rPr lang="en-US"/>
              <a:t>We assume that this is the function from which the points are generated so we can think of there is an underlying line from which these points are generated after accounting for some error.</a:t>
            </a:r>
            <a:endParaRPr/>
          </a:p>
          <a:p>
            <a:pPr marL="228600" lvl="0" indent="-228600" algn="l" rtl="0">
              <a:lnSpc>
                <a:spcPct val="90000"/>
              </a:lnSpc>
              <a:spcBef>
                <a:spcPts val="1000"/>
              </a:spcBef>
              <a:spcAft>
                <a:spcPts val="0"/>
              </a:spcAft>
              <a:buClr>
                <a:schemeClr val="dk1"/>
              </a:buClr>
              <a:buSzPct val="100000"/>
              <a:buChar char="•"/>
            </a:pPr>
            <a:r>
              <a:rPr lang="en-US"/>
              <a:t>We are assuming Expected value of E(Y|X) follows this equation. This equation is the equation of the population line i.e. from which examples are actually drawn. So E(Y|X) = b</a:t>
            </a:r>
            <a:r>
              <a:rPr lang="en-US" baseline="-25000"/>
              <a:t>0</a:t>
            </a:r>
            <a:r>
              <a:rPr lang="en-US"/>
              <a:t> + b</a:t>
            </a:r>
            <a:r>
              <a:rPr lang="en-US" baseline="-25000"/>
              <a:t>1</a:t>
            </a:r>
            <a:r>
              <a:rPr lang="en-US"/>
              <a:t>*x</a:t>
            </a:r>
            <a:endParaRPr/>
          </a:p>
          <a:p>
            <a:pPr marL="228600" lvl="0" indent="-228600" algn="l" rtl="0">
              <a:lnSpc>
                <a:spcPct val="90000"/>
              </a:lnSpc>
              <a:spcBef>
                <a:spcPts val="1000"/>
              </a:spcBef>
              <a:spcAft>
                <a:spcPts val="0"/>
              </a:spcAft>
              <a:buClr>
                <a:schemeClr val="dk1"/>
              </a:buClr>
              <a:buSzPct val="100000"/>
              <a:buChar char="•"/>
            </a:pPr>
            <a:r>
              <a:rPr lang="en-US"/>
              <a:t>And we assume this error has mean of 0 and some standard deviation.</a:t>
            </a:r>
            <a:endParaRPr/>
          </a:p>
          <a:p>
            <a:pPr marL="228600" lvl="0" indent="-228600" algn="l" rtl="0">
              <a:lnSpc>
                <a:spcPct val="90000"/>
              </a:lnSpc>
              <a:spcBef>
                <a:spcPts val="1000"/>
              </a:spcBef>
              <a:spcAft>
                <a:spcPts val="0"/>
              </a:spcAft>
              <a:buClr>
                <a:schemeClr val="dk1"/>
              </a:buClr>
              <a:buSzPct val="100000"/>
              <a:buChar char="•"/>
            </a:pPr>
            <a:r>
              <a:rPr lang="en-US"/>
              <a:t>and given the data points we are trying to find out b</a:t>
            </a:r>
            <a:r>
              <a:rPr lang="en-US" baseline="-25000"/>
              <a:t>0</a:t>
            </a:r>
            <a:r>
              <a:rPr lang="en-US"/>
              <a:t> and b</a:t>
            </a:r>
            <a:r>
              <a:rPr lang="en-US" baseline="-25000"/>
              <a:t>1</a:t>
            </a:r>
            <a:r>
              <a:rPr lang="en-US"/>
              <a:t>that is b</a:t>
            </a:r>
            <a:r>
              <a:rPr lang="en-US" baseline="-25000"/>
              <a:t>0</a:t>
            </a:r>
            <a:r>
              <a:rPr lang="en-US"/>
              <a:t> Hat and b</a:t>
            </a:r>
            <a:r>
              <a:rPr lang="en-US" baseline="-25000"/>
              <a:t>1</a:t>
            </a:r>
            <a:r>
              <a:rPr lang="en-US"/>
              <a:t> hat so y= b</a:t>
            </a:r>
            <a:r>
              <a:rPr lang="en-US" baseline="-25000"/>
              <a:t>0 </a:t>
            </a:r>
            <a:r>
              <a:rPr lang="en-US"/>
              <a:t>hat + b</a:t>
            </a:r>
            <a:r>
              <a:rPr lang="en-US" baseline="-25000"/>
              <a:t>1</a:t>
            </a:r>
            <a:r>
              <a:rPr lang="en-US"/>
              <a:t>hat*x is the equation that we are trying to come up with that is the estimate for actual target function (y = b</a:t>
            </a:r>
            <a:r>
              <a:rPr lang="en-US" baseline="-25000"/>
              <a:t>0</a:t>
            </a:r>
            <a:r>
              <a:rPr lang="en-US"/>
              <a:t> + b</a:t>
            </a:r>
            <a:r>
              <a:rPr lang="en-US" baseline="-25000"/>
              <a:t>1</a:t>
            </a:r>
            <a:r>
              <a:rPr lang="en-US"/>
              <a:t>*x+ </a:t>
            </a:r>
            <a:r>
              <a:rPr lang="en-US">
                <a:latin typeface="Times New Roman"/>
                <a:ea typeface="Times New Roman"/>
                <a:cs typeface="Times New Roman"/>
                <a:sym typeface="Times New Roman"/>
              </a:rPr>
              <a:t>ϵ)</a:t>
            </a:r>
            <a:r>
              <a:rPr lang="en-US"/>
              <a:t>.</a:t>
            </a:r>
            <a:endParaRPr/>
          </a:p>
          <a:p>
            <a:pPr marL="228600" lvl="0" indent="-228600" algn="l" rtl="0">
              <a:lnSpc>
                <a:spcPct val="90000"/>
              </a:lnSpc>
              <a:spcBef>
                <a:spcPts val="1000"/>
              </a:spcBef>
              <a:spcAft>
                <a:spcPts val="0"/>
              </a:spcAft>
              <a:buClr>
                <a:schemeClr val="dk1"/>
              </a:buClr>
              <a:buSzPct val="100000"/>
              <a:buChar char="•"/>
            </a:pPr>
            <a:r>
              <a:rPr lang="en-US"/>
              <a:t>We will optimize certain things to get this estimate w.r.t the training examples.</a:t>
            </a:r>
            <a:endParaRPr/>
          </a:p>
          <a:p>
            <a:pPr marL="685800" lvl="1" indent="-228600" algn="l" rtl="0">
              <a:lnSpc>
                <a:spcPct val="90000"/>
              </a:lnSpc>
              <a:spcBef>
                <a:spcPts val="500"/>
              </a:spcBef>
              <a:spcAft>
                <a:spcPts val="0"/>
              </a:spcAft>
              <a:buClr>
                <a:schemeClr val="dk1"/>
              </a:buClr>
              <a:buSzPct val="100000"/>
              <a:buChar char="•"/>
            </a:pPr>
            <a:r>
              <a:rPr lang="en-US"/>
              <a:t>We try to get the values of b</a:t>
            </a:r>
            <a:r>
              <a:rPr lang="en-US" baseline="-25000"/>
              <a:t>0</a:t>
            </a:r>
            <a:r>
              <a:rPr lang="en-US"/>
              <a:t> hat and b</a:t>
            </a:r>
            <a:r>
              <a:rPr lang="en-US" baseline="-25000"/>
              <a:t>1</a:t>
            </a:r>
            <a:r>
              <a:rPr lang="en-US"/>
              <a:t> hat so that the sum of squared error is minimized and then the equation y= b</a:t>
            </a:r>
            <a:r>
              <a:rPr lang="en-US" baseline="-25000"/>
              <a:t>0 </a:t>
            </a:r>
            <a:r>
              <a:rPr lang="en-US"/>
              <a:t>hat + b</a:t>
            </a:r>
            <a:r>
              <a:rPr lang="en-US" baseline="-25000"/>
              <a:t>1</a:t>
            </a:r>
            <a:r>
              <a:rPr lang="en-US"/>
              <a:t>hat*x is called least squares line.</a:t>
            </a:r>
            <a:endParaRPr/>
          </a:p>
          <a:p>
            <a:pPr marL="228600" lvl="0" indent="-228600" algn="l" rtl="0">
              <a:lnSpc>
                <a:spcPct val="90000"/>
              </a:lnSpc>
              <a:spcBef>
                <a:spcPts val="1000"/>
              </a:spcBef>
              <a:spcAft>
                <a:spcPts val="0"/>
              </a:spcAft>
              <a:buClr>
                <a:schemeClr val="dk1"/>
              </a:buClr>
              <a:buSzPct val="100000"/>
              <a:buChar char="•"/>
            </a:pPr>
            <a:r>
              <a:rPr lang="en-US"/>
              <a:t>So we will see how for the given points we will come up with the least square line.</a:t>
            </a:r>
            <a:endParaRPr/>
          </a:p>
          <a:p>
            <a:pPr marL="685800" lvl="1" indent="-121919" algn="l" rtl="0">
              <a:lnSpc>
                <a:spcPct val="90000"/>
              </a:lnSpc>
              <a:spcBef>
                <a:spcPts val="500"/>
              </a:spcBef>
              <a:spcAft>
                <a:spcPts val="0"/>
              </a:spcAft>
              <a:buClr>
                <a:schemeClr val="dk1"/>
              </a:buClr>
              <a:buSzPct val="100000"/>
              <a:buNone/>
            </a:pPr>
            <a:endParaRPr/>
          </a:p>
          <a:p>
            <a:pPr marL="685800" lvl="1" indent="-121919" algn="l" rtl="0">
              <a:lnSpc>
                <a:spcPct val="90000"/>
              </a:lnSpc>
              <a:spcBef>
                <a:spcPts val="500"/>
              </a:spcBef>
              <a:spcAft>
                <a:spcPts val="0"/>
              </a:spcAft>
              <a:buClr>
                <a:schemeClr val="dk1"/>
              </a:buClr>
              <a:buSzPct val="100000"/>
              <a:buNone/>
            </a:pPr>
            <a:endParaRPr/>
          </a:p>
          <a:p>
            <a:pPr marL="685800" lvl="1" indent="-121919" algn="l" rtl="0">
              <a:lnSpc>
                <a:spcPct val="90000"/>
              </a:lnSpc>
              <a:spcBef>
                <a:spcPts val="500"/>
              </a:spcBef>
              <a:spcAft>
                <a:spcPts val="0"/>
              </a:spcAft>
              <a:buClr>
                <a:schemeClr val="dk1"/>
              </a:buClr>
              <a:buSzPct val="1000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Assumptions about the error</a:t>
            </a:r>
            <a:endParaRPr/>
          </a:p>
        </p:txBody>
      </p:sp>
      <p:sp>
        <p:nvSpPr>
          <p:cNvPr id="132" name="Google Shape;132;p8"/>
          <p:cNvSpPr txBox="1">
            <a:spLocks noGrp="1"/>
          </p:cNvSpPr>
          <p:nvPr>
            <p:ph type="body" idx="1"/>
          </p:nvPr>
        </p:nvSpPr>
        <p:spPr>
          <a:xfrm>
            <a:off x="1077351" y="1811557"/>
            <a:ext cx="7489874"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en-US"/>
              <a:t>The given data points may not form a perfect line so</a:t>
            </a:r>
            <a:endParaRPr/>
          </a:p>
          <a:p>
            <a:pPr marL="228600" lvl="0" indent="-228600" algn="l" rtl="0">
              <a:lnSpc>
                <a:spcPct val="90000"/>
              </a:lnSpc>
              <a:spcBef>
                <a:spcPts val="1000"/>
              </a:spcBef>
              <a:spcAft>
                <a:spcPts val="0"/>
              </a:spcAft>
              <a:buClr>
                <a:schemeClr val="dk1"/>
              </a:buClr>
              <a:buSzPct val="100000"/>
              <a:buChar char="•"/>
            </a:pPr>
            <a:r>
              <a:rPr lang="en-US"/>
              <a:t>w.r.t. every example there is the value of the error</a:t>
            </a:r>
            <a:endParaRPr/>
          </a:p>
          <a:p>
            <a:pPr marL="228600" lvl="0" indent="-228600" algn="l" rtl="0">
              <a:lnSpc>
                <a:spcPct val="90000"/>
              </a:lnSpc>
              <a:spcBef>
                <a:spcPts val="1000"/>
              </a:spcBef>
              <a:spcAft>
                <a:spcPts val="0"/>
              </a:spcAft>
              <a:buClr>
                <a:schemeClr val="dk1"/>
              </a:buClr>
              <a:buSzPct val="100000"/>
              <a:buChar char="•"/>
            </a:pPr>
            <a:r>
              <a:rPr lang="en-US"/>
              <a:t>We will make some assumptions about the error</a:t>
            </a:r>
            <a:endParaRPr/>
          </a:p>
          <a:p>
            <a:pPr marL="685800" lvl="1" indent="-228600" algn="l" rtl="0">
              <a:lnSpc>
                <a:spcPct val="90000"/>
              </a:lnSpc>
              <a:spcBef>
                <a:spcPts val="500"/>
              </a:spcBef>
              <a:spcAft>
                <a:spcPts val="0"/>
              </a:spcAft>
              <a:buClr>
                <a:schemeClr val="dk1"/>
              </a:buClr>
              <a:buSzPct val="100000"/>
              <a:buChar char="•"/>
            </a:pP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  </a:t>
            </a:r>
            <a:r>
              <a:rPr lang="en-US">
                <a:latin typeface="Times New Roman"/>
                <a:ea typeface="Times New Roman"/>
                <a:cs typeface="Times New Roman"/>
                <a:sym typeface="Times New Roman"/>
              </a:rPr>
              <a:t>is a normally distributed random var, with mean zero and variance </a:t>
            </a:r>
            <a:r>
              <a:rPr lang="en-US" b="0" i="0">
                <a:solidFill>
                  <a:srgbClr val="202124"/>
                </a:solidFill>
                <a:latin typeface="arial"/>
                <a:ea typeface="arial"/>
                <a:cs typeface="arial"/>
                <a:sym typeface="arial"/>
              </a:rPr>
              <a:t>σ</a:t>
            </a:r>
            <a:r>
              <a:rPr lang="en-US" b="0" i="0" baseline="30000">
                <a:solidFill>
                  <a:srgbClr val="202124"/>
                </a:solidFill>
                <a:latin typeface="arial"/>
                <a:ea typeface="arial"/>
                <a:cs typeface="arial"/>
                <a:sym typeface="arial"/>
              </a:rPr>
              <a:t>2 </a:t>
            </a:r>
            <a:r>
              <a:rPr lang="en-US">
                <a:latin typeface="Times New Roman"/>
                <a:ea typeface="Times New Roman"/>
                <a:cs typeface="Times New Roman"/>
                <a:sym typeface="Times New Roman"/>
              </a:rPr>
              <a:t>so this type of noise is Gaussian noise.</a:t>
            </a:r>
            <a:endParaRPr baseline="30000">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ct val="100000"/>
              <a:buChar char="•"/>
            </a:pPr>
            <a:r>
              <a:rPr lang="en-US"/>
              <a:t>E(</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)=0.</a:t>
            </a:r>
            <a:endParaRPr/>
          </a:p>
          <a:p>
            <a:pPr marL="685800" lvl="1" indent="-228600" algn="l" rtl="0">
              <a:lnSpc>
                <a:spcPct val="90000"/>
              </a:lnSpc>
              <a:spcBef>
                <a:spcPts val="500"/>
              </a:spcBef>
              <a:spcAft>
                <a:spcPts val="0"/>
              </a:spcAft>
              <a:buClr>
                <a:srgbClr val="202124"/>
              </a:buClr>
              <a:buSzPct val="100000"/>
              <a:buChar char="•"/>
            </a:pPr>
            <a:r>
              <a:rPr lang="en-US" b="0" i="0">
                <a:solidFill>
                  <a:srgbClr val="202124"/>
                </a:solidFill>
                <a:latin typeface="arial"/>
                <a:ea typeface="arial"/>
                <a:cs typeface="arial"/>
                <a:sym typeface="arial"/>
              </a:rPr>
              <a:t>σ</a:t>
            </a:r>
            <a:r>
              <a:rPr lang="en-US"/>
              <a:t>(</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a:t>
            </a:r>
            <a:r>
              <a:rPr lang="en-US" b="0" i="0">
                <a:solidFill>
                  <a:srgbClr val="202124"/>
                </a:solidFill>
                <a:latin typeface="arial"/>
                <a:ea typeface="arial"/>
                <a:cs typeface="arial"/>
                <a:sym typeface="arial"/>
              </a:rPr>
              <a:t>σ</a:t>
            </a:r>
            <a:endParaRPr baseline="-25000">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ct val="100000"/>
              <a:buChar char="•"/>
            </a:pPr>
            <a:r>
              <a:rPr lang="en-US">
                <a:latin typeface="Times New Roman"/>
                <a:ea typeface="Times New Roman"/>
                <a:cs typeface="Times New Roman"/>
                <a:sym typeface="Times New Roman"/>
              </a:rPr>
              <a:t>Errors (ϵ1, ϵ2, ϵ3…) are uncorrelated and independent. </a:t>
            </a:r>
            <a:endParaRPr/>
          </a:p>
          <a:p>
            <a:pPr marL="228600" lvl="0" indent="-64135" algn="l" rtl="0">
              <a:lnSpc>
                <a:spcPct val="90000"/>
              </a:lnSpc>
              <a:spcBef>
                <a:spcPts val="1000"/>
              </a:spcBef>
              <a:spcAft>
                <a:spcPts val="0"/>
              </a:spcAft>
              <a:buClr>
                <a:schemeClr val="dk1"/>
              </a:buClr>
              <a:buSzPct val="100000"/>
              <a:buNone/>
            </a:pPr>
            <a:endParaRPr/>
          </a:p>
        </p:txBody>
      </p:sp>
      <p:sp>
        <p:nvSpPr>
          <p:cNvPr id="133" name="Google Shape;133;p8"/>
          <p:cNvSpPr txBox="1"/>
          <p:nvPr/>
        </p:nvSpPr>
        <p:spPr>
          <a:xfrm>
            <a:off x="8637563" y="2124222"/>
            <a:ext cx="2363372"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d1 y1 = b</a:t>
            </a:r>
            <a:r>
              <a:rPr lang="en-US" sz="1800" b="0" i="0" u="none" strike="noStrike" cap="none" baseline="-25000">
                <a:solidFill>
                  <a:schemeClr val="dk1"/>
                </a:solidFill>
                <a:latin typeface="Calibri"/>
                <a:ea typeface="Calibri"/>
                <a:cs typeface="Calibri"/>
                <a:sym typeface="Calibri"/>
              </a:rPr>
              <a:t>0</a:t>
            </a:r>
            <a:r>
              <a:rPr lang="en-US" sz="1800" b="0" i="0" u="none" strike="noStrike" cap="none">
                <a:solidFill>
                  <a:schemeClr val="dk1"/>
                </a:solidFill>
                <a:latin typeface="Calibri"/>
                <a:ea typeface="Calibri"/>
                <a:cs typeface="Calibri"/>
                <a:sym typeface="Calibri"/>
              </a:rPr>
              <a:t> + b</a:t>
            </a:r>
            <a:r>
              <a:rPr lang="en-US" sz="1800" b="0" i="0" u="none" strike="noStrike" cap="none" baseline="-25000">
                <a:solidFill>
                  <a:schemeClr val="dk1"/>
                </a:solidFill>
                <a:latin typeface="Calibri"/>
                <a:ea typeface="Calibri"/>
                <a:cs typeface="Calibri"/>
                <a:sym typeface="Calibri"/>
              </a:rPr>
              <a:t>1</a:t>
            </a:r>
            <a:r>
              <a:rPr lang="en-US" sz="1800" b="0" i="0" u="none" strike="noStrike" cap="none">
                <a:solidFill>
                  <a:schemeClr val="dk1"/>
                </a:solidFill>
                <a:latin typeface="Calibri"/>
                <a:ea typeface="Calibri"/>
                <a:cs typeface="Calibri"/>
                <a:sym typeface="Calibri"/>
              </a:rPr>
              <a:t>*x1+ </a:t>
            </a:r>
            <a:r>
              <a:rPr lang="en-US" sz="1800" b="0" i="0" u="none" strike="noStrike" cap="none">
                <a:solidFill>
                  <a:schemeClr val="dk1"/>
                </a:solidFill>
                <a:latin typeface="Times New Roman"/>
                <a:ea typeface="Times New Roman"/>
                <a:cs typeface="Times New Roman"/>
                <a:sym typeface="Times New Roman"/>
              </a:rPr>
              <a:t>ϵ1</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d2 y2 = </a:t>
            </a:r>
            <a:r>
              <a:rPr lang="en-US" sz="1800">
                <a:solidFill>
                  <a:schemeClr val="dk1"/>
                </a:solidFill>
                <a:latin typeface="Calibri"/>
                <a:ea typeface="Calibri"/>
                <a:cs typeface="Calibri"/>
                <a:sym typeface="Calibri"/>
              </a:rPr>
              <a:t>b</a:t>
            </a:r>
            <a:r>
              <a:rPr lang="en-US" sz="1800" baseline="-25000">
                <a:solidFill>
                  <a:schemeClr val="dk1"/>
                </a:solidFill>
                <a:latin typeface="Calibri"/>
                <a:ea typeface="Calibri"/>
                <a:cs typeface="Calibri"/>
                <a:sym typeface="Calibri"/>
              </a:rPr>
              <a:t>0</a:t>
            </a:r>
            <a:r>
              <a:rPr lang="en-US" sz="1800">
                <a:solidFill>
                  <a:schemeClr val="dk1"/>
                </a:solidFill>
                <a:latin typeface="Calibri"/>
                <a:ea typeface="Calibri"/>
                <a:cs typeface="Calibri"/>
                <a:sym typeface="Calibri"/>
              </a:rPr>
              <a:t> + b</a:t>
            </a:r>
            <a:r>
              <a:rPr lang="en-US" sz="1800" baseline="-250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*x2+ </a:t>
            </a:r>
            <a:r>
              <a:rPr lang="en-US" sz="1800">
                <a:solidFill>
                  <a:schemeClr val="dk1"/>
                </a:solidFill>
                <a:latin typeface="Times New Roman"/>
                <a:ea typeface="Times New Roman"/>
                <a:cs typeface="Times New Roman"/>
                <a:sym typeface="Times New Roman"/>
              </a:rPr>
              <a:t>ϵ2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d3 y3 = b</a:t>
            </a:r>
            <a:r>
              <a:rPr lang="en-US" sz="1800" baseline="-25000">
                <a:solidFill>
                  <a:schemeClr val="dk1"/>
                </a:solidFill>
                <a:latin typeface="Calibri"/>
                <a:ea typeface="Calibri"/>
                <a:cs typeface="Calibri"/>
                <a:sym typeface="Calibri"/>
              </a:rPr>
              <a:t>0</a:t>
            </a:r>
            <a:r>
              <a:rPr lang="en-US" sz="1800">
                <a:solidFill>
                  <a:schemeClr val="dk1"/>
                </a:solidFill>
                <a:latin typeface="Calibri"/>
                <a:ea typeface="Calibri"/>
                <a:cs typeface="Calibri"/>
                <a:sym typeface="Calibri"/>
              </a:rPr>
              <a:t> + b</a:t>
            </a:r>
            <a:r>
              <a:rPr lang="en-US" sz="1800" baseline="-250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*x3+ </a:t>
            </a:r>
            <a:r>
              <a:rPr lang="en-US" sz="1800">
                <a:solidFill>
                  <a:schemeClr val="dk1"/>
                </a:solidFill>
                <a:latin typeface="Times New Roman"/>
                <a:ea typeface="Times New Roman"/>
                <a:cs typeface="Times New Roman"/>
                <a:sym typeface="Times New Roman"/>
              </a:rPr>
              <a:t>ϵ3</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Consequence of assumptions on error on y</a:t>
            </a:r>
            <a:endParaRPr/>
          </a:p>
        </p:txBody>
      </p:sp>
      <p:sp>
        <p:nvSpPr>
          <p:cNvPr id="139" name="Google Shape;139;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01930" algn="l" rtl="0">
              <a:lnSpc>
                <a:spcPct val="90000"/>
              </a:lnSpc>
              <a:spcBef>
                <a:spcPts val="0"/>
              </a:spcBef>
              <a:spcAft>
                <a:spcPts val="0"/>
              </a:spcAft>
              <a:buClr>
                <a:schemeClr val="dk1"/>
              </a:buClr>
              <a:buSzPct val="100000"/>
              <a:buChar char="•"/>
            </a:pPr>
            <a:r>
              <a:rPr lang="en-US"/>
              <a:t>y</a:t>
            </a:r>
            <a:r>
              <a:rPr lang="en-US" baseline="-25000"/>
              <a:t>i</a:t>
            </a:r>
            <a:r>
              <a:rPr lang="en-US"/>
              <a:t> = b</a:t>
            </a:r>
            <a:r>
              <a:rPr lang="en-US" baseline="-25000"/>
              <a:t>0</a:t>
            </a:r>
            <a:r>
              <a:rPr lang="en-US"/>
              <a:t> + b</a:t>
            </a:r>
            <a:r>
              <a:rPr lang="en-US" baseline="-25000"/>
              <a:t>1</a:t>
            </a:r>
            <a:r>
              <a:rPr lang="en-US"/>
              <a:t>*x</a:t>
            </a:r>
            <a:r>
              <a:rPr lang="en-US" baseline="-25000"/>
              <a:t>i</a:t>
            </a:r>
            <a:r>
              <a:rPr lang="en-US"/>
              <a:t>+ </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endParaRPr/>
          </a:p>
          <a:p>
            <a:pPr marL="228600" lvl="0" indent="-20193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E(y</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 E(</a:t>
            </a:r>
            <a:r>
              <a:rPr lang="en-US"/>
              <a:t>b</a:t>
            </a:r>
            <a:r>
              <a:rPr lang="en-US" baseline="-25000"/>
              <a:t>0</a:t>
            </a:r>
            <a:r>
              <a:rPr lang="en-US"/>
              <a:t> + b</a:t>
            </a:r>
            <a:r>
              <a:rPr lang="en-US" baseline="-25000"/>
              <a:t>1</a:t>
            </a:r>
            <a:r>
              <a:rPr lang="en-US"/>
              <a:t>*x</a:t>
            </a:r>
            <a:r>
              <a:rPr lang="en-US" baseline="-25000"/>
              <a:t>i</a:t>
            </a:r>
            <a:r>
              <a:rPr lang="en-US"/>
              <a:t>+ </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 </a:t>
            </a:r>
            <a:r>
              <a:rPr lang="en-US"/>
              <a:t>b</a:t>
            </a:r>
            <a:r>
              <a:rPr lang="en-US" baseline="-25000"/>
              <a:t>0</a:t>
            </a:r>
            <a:r>
              <a:rPr lang="en-US"/>
              <a:t> + b</a:t>
            </a:r>
            <a:r>
              <a:rPr lang="en-US" baseline="-25000"/>
              <a:t>1</a:t>
            </a:r>
            <a:r>
              <a:rPr lang="en-US"/>
              <a:t>*x</a:t>
            </a:r>
            <a:r>
              <a:rPr lang="en-US" baseline="-25000"/>
              <a:t>i</a:t>
            </a:r>
            <a:endParaRPr/>
          </a:p>
          <a:p>
            <a:pPr marL="228600" lvl="0" indent="-20193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V(y</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v(</a:t>
            </a:r>
            <a:r>
              <a:rPr lang="en-US"/>
              <a:t>b</a:t>
            </a:r>
            <a:r>
              <a:rPr lang="en-US" baseline="-25000"/>
              <a:t>0</a:t>
            </a:r>
            <a:r>
              <a:rPr lang="en-US"/>
              <a:t> + b</a:t>
            </a:r>
            <a:r>
              <a:rPr lang="en-US" baseline="-25000"/>
              <a:t>1</a:t>
            </a:r>
            <a:r>
              <a:rPr lang="en-US"/>
              <a:t>*x</a:t>
            </a:r>
            <a:r>
              <a:rPr lang="en-US" baseline="-25000"/>
              <a:t>i</a:t>
            </a:r>
            <a:r>
              <a:rPr lang="en-US"/>
              <a:t>+ </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v(ϵ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a:t>
            </a:r>
            <a:r>
              <a:rPr lang="en-US" b="0" i="0">
                <a:solidFill>
                  <a:srgbClr val="202124"/>
                </a:solidFill>
                <a:latin typeface="arial"/>
                <a:ea typeface="arial"/>
                <a:cs typeface="arial"/>
                <a:sym typeface="arial"/>
              </a:rPr>
              <a:t> σ</a:t>
            </a:r>
            <a:r>
              <a:rPr lang="en-US" b="0" i="0" baseline="30000">
                <a:solidFill>
                  <a:srgbClr val="202124"/>
                </a:solidFill>
                <a:latin typeface="arial"/>
                <a:ea typeface="arial"/>
                <a:cs typeface="arial"/>
                <a:sym typeface="arial"/>
              </a:rPr>
              <a:t>2</a:t>
            </a:r>
            <a:endParaRPr/>
          </a:p>
          <a:p>
            <a:pPr marL="228600" lvl="0" indent="-20193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  </a:t>
            </a:r>
            <a:r>
              <a:rPr lang="en-US">
                <a:latin typeface="Times New Roman"/>
                <a:ea typeface="Times New Roman"/>
                <a:cs typeface="Times New Roman"/>
                <a:sym typeface="Times New Roman"/>
              </a:rPr>
              <a:t>is a normally distributed random var, with mean zero and variance </a:t>
            </a:r>
            <a:r>
              <a:rPr lang="en-US" b="0" i="0">
                <a:solidFill>
                  <a:srgbClr val="202124"/>
                </a:solidFill>
                <a:latin typeface="arial"/>
                <a:ea typeface="arial"/>
                <a:cs typeface="arial"/>
                <a:sym typeface="arial"/>
              </a:rPr>
              <a:t>σ</a:t>
            </a:r>
            <a:r>
              <a:rPr lang="en-US" b="0" i="0" baseline="30000">
                <a:solidFill>
                  <a:srgbClr val="202124"/>
                </a:solidFill>
                <a:latin typeface="arial"/>
                <a:ea typeface="arial"/>
                <a:cs typeface="arial"/>
                <a:sym typeface="arial"/>
              </a:rPr>
              <a:t>2 </a:t>
            </a:r>
            <a:r>
              <a:rPr lang="en-US" b="0" i="0">
                <a:solidFill>
                  <a:srgbClr val="202124"/>
                </a:solidFill>
                <a:latin typeface="arial"/>
                <a:ea typeface="arial"/>
                <a:cs typeface="arial"/>
                <a:sym typeface="arial"/>
              </a:rPr>
              <a:t>and all </a:t>
            </a:r>
            <a:r>
              <a:rPr lang="en-US">
                <a:latin typeface="Times New Roman"/>
                <a:ea typeface="Times New Roman"/>
                <a:cs typeface="Times New Roman"/>
                <a:sym typeface="Times New Roman"/>
              </a:rPr>
              <a:t>ϵ</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are independent.</a:t>
            </a:r>
            <a:endParaRPr/>
          </a:p>
          <a:p>
            <a:pPr marL="228600" lvl="0" indent="-20193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y</a:t>
            </a:r>
            <a:r>
              <a:rPr lang="en-US" baseline="-25000">
                <a:latin typeface="Times New Roman"/>
                <a:ea typeface="Times New Roman"/>
                <a:cs typeface="Times New Roman"/>
                <a:sym typeface="Times New Roman"/>
              </a:rPr>
              <a:t>i  </a:t>
            </a:r>
            <a:r>
              <a:rPr lang="en-US">
                <a:latin typeface="Times New Roman"/>
                <a:ea typeface="Times New Roman"/>
                <a:cs typeface="Times New Roman"/>
                <a:sym typeface="Times New Roman"/>
              </a:rPr>
              <a:t>is a normally distributed random var, with mean </a:t>
            </a:r>
            <a:r>
              <a:rPr lang="en-US"/>
              <a:t>b</a:t>
            </a:r>
            <a:r>
              <a:rPr lang="en-US" baseline="-25000"/>
              <a:t>0</a:t>
            </a:r>
            <a:r>
              <a:rPr lang="en-US"/>
              <a:t> + b</a:t>
            </a:r>
            <a:r>
              <a:rPr lang="en-US" baseline="-25000"/>
              <a:t>1</a:t>
            </a:r>
            <a:r>
              <a:rPr lang="en-US"/>
              <a:t>*x</a:t>
            </a:r>
            <a:r>
              <a:rPr lang="en-US" baseline="-25000"/>
              <a:t>i</a:t>
            </a:r>
            <a:r>
              <a:rPr lang="en-US"/>
              <a:t> </a:t>
            </a:r>
            <a:r>
              <a:rPr lang="en-US">
                <a:latin typeface="Times New Roman"/>
                <a:ea typeface="Times New Roman"/>
                <a:cs typeface="Times New Roman"/>
                <a:sym typeface="Times New Roman"/>
              </a:rPr>
              <a:t> and variance </a:t>
            </a:r>
            <a:r>
              <a:rPr lang="en-US" b="0" i="0">
                <a:solidFill>
                  <a:srgbClr val="202124"/>
                </a:solidFill>
                <a:latin typeface="arial"/>
                <a:ea typeface="arial"/>
                <a:cs typeface="arial"/>
                <a:sym typeface="arial"/>
              </a:rPr>
              <a:t>σ</a:t>
            </a:r>
            <a:r>
              <a:rPr lang="en-US" b="0" i="0" baseline="30000">
                <a:solidFill>
                  <a:srgbClr val="202124"/>
                </a:solidFill>
                <a:latin typeface="arial"/>
                <a:ea typeface="arial"/>
                <a:cs typeface="arial"/>
                <a:sym typeface="arial"/>
              </a:rPr>
              <a:t>2 </a:t>
            </a:r>
            <a:r>
              <a:rPr lang="en-US" b="0" i="0">
                <a:solidFill>
                  <a:srgbClr val="202124"/>
                </a:solidFill>
                <a:latin typeface="arial"/>
                <a:ea typeface="arial"/>
                <a:cs typeface="arial"/>
                <a:sym typeface="arial"/>
              </a:rPr>
              <a:t>and all y</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are independent.</a:t>
            </a:r>
            <a:endParaRPr/>
          </a:p>
          <a:p>
            <a:pPr marL="228600" lvl="0" indent="-20193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Given a dataset, while fitting a simple linear regression model, how to check if the dataset is satisfying basic assumptions- </a:t>
            </a:r>
            <a:r>
              <a:rPr lang="en-US" b="1">
                <a:latin typeface="Times New Roman"/>
                <a:ea typeface="Times New Roman"/>
                <a:cs typeface="Times New Roman"/>
                <a:sym typeface="Times New Roman"/>
              </a:rPr>
              <a:t>model adequacy checking</a:t>
            </a:r>
            <a:r>
              <a:rPr lang="en-US">
                <a:latin typeface="Times New Roman"/>
                <a:ea typeface="Times New Roman"/>
                <a:cs typeface="Times New Roman"/>
                <a:sym typeface="Times New Roman"/>
              </a:rPr>
              <a:t> </a:t>
            </a:r>
            <a:endParaRPr/>
          </a:p>
          <a:p>
            <a:pPr marL="228600" lvl="0" indent="-50800" algn="l" rtl="0">
              <a:lnSpc>
                <a:spcPct val="90000"/>
              </a:lnSpc>
              <a:spcBef>
                <a:spcPts val="1000"/>
              </a:spcBef>
              <a:spcAft>
                <a:spcPts val="0"/>
              </a:spcAft>
              <a:buClr>
                <a:schemeClr val="dk1"/>
              </a:buClr>
              <a:buSzPct val="100000"/>
              <a:buNone/>
            </a:pPr>
            <a:endParaRPr b="0" i="0" baseline="30000">
              <a:solidFill>
                <a:srgbClr val="202124"/>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ct val="100000"/>
              <a:buNone/>
            </a:pP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Least squares estimation of parameters</a:t>
            </a:r>
            <a:endParaRPr/>
          </a:p>
        </p:txBody>
      </p:sp>
      <p:sp>
        <p:nvSpPr>
          <p:cNvPr id="145" name="Google Shape;145;p10"/>
          <p:cNvSpPr txBox="1">
            <a:spLocks noGrp="1"/>
          </p:cNvSpPr>
          <p:nvPr>
            <p:ph type="body" idx="1"/>
          </p:nvPr>
        </p:nvSpPr>
        <p:spPr>
          <a:xfrm>
            <a:off x="5472332" y="1825625"/>
            <a:ext cx="5881468"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en-US"/>
              <a:t>prediction error/residual error </a:t>
            </a:r>
            <a:endParaRPr/>
          </a:p>
          <a:p>
            <a:pPr marL="685800" lvl="1" indent="-228600" algn="l" rtl="0">
              <a:lnSpc>
                <a:spcPct val="90000"/>
              </a:lnSpc>
              <a:spcBef>
                <a:spcPts val="500"/>
              </a:spcBef>
              <a:spcAft>
                <a:spcPts val="0"/>
              </a:spcAft>
              <a:buClr>
                <a:schemeClr val="dk1"/>
              </a:buClr>
              <a:buSzPct val="100000"/>
              <a:buChar char="•"/>
            </a:pPr>
            <a:r>
              <a:rPr lang="en-US"/>
              <a:t>y</a:t>
            </a:r>
            <a:r>
              <a:rPr lang="en-US" baseline="-25000"/>
              <a:t>i</a:t>
            </a:r>
            <a:r>
              <a:rPr lang="en-US"/>
              <a:t>-y</a:t>
            </a:r>
            <a:r>
              <a:rPr lang="en-US" baseline="-25000"/>
              <a:t>i</a:t>
            </a:r>
            <a:r>
              <a:rPr lang="en-US"/>
              <a:t>’</a:t>
            </a:r>
            <a:endParaRPr/>
          </a:p>
          <a:p>
            <a:pPr marL="228600" lvl="0" indent="-228600" algn="l" rtl="0">
              <a:lnSpc>
                <a:spcPct val="90000"/>
              </a:lnSpc>
              <a:spcBef>
                <a:spcPts val="1000"/>
              </a:spcBef>
              <a:spcAft>
                <a:spcPts val="0"/>
              </a:spcAft>
              <a:buClr>
                <a:schemeClr val="dk1"/>
              </a:buClr>
              <a:buSzPct val="100000"/>
              <a:buChar char="•"/>
            </a:pPr>
            <a:r>
              <a:rPr lang="en-US"/>
              <a:t>Finds a line which has smallest sum of square🡪 least square regression line</a:t>
            </a:r>
            <a:endParaRPr/>
          </a:p>
          <a:p>
            <a:pPr marL="685800" lvl="1" indent="-228600" algn="l" rtl="0">
              <a:lnSpc>
                <a:spcPct val="90000"/>
              </a:lnSpc>
              <a:spcBef>
                <a:spcPts val="500"/>
              </a:spcBef>
              <a:spcAft>
                <a:spcPts val="0"/>
              </a:spcAft>
              <a:buClr>
                <a:schemeClr val="dk1"/>
              </a:buClr>
              <a:buSzPct val="100000"/>
              <a:buChar char="•"/>
            </a:pPr>
            <a:r>
              <a:rPr lang="en-US"/>
              <a:t>Sum (y</a:t>
            </a:r>
            <a:r>
              <a:rPr lang="en-US" baseline="-25000"/>
              <a:t>i</a:t>
            </a:r>
            <a:r>
              <a:rPr lang="en-US"/>
              <a:t>-y</a:t>
            </a:r>
            <a:r>
              <a:rPr lang="en-US" baseline="-25000"/>
              <a:t>i</a:t>
            </a:r>
            <a:r>
              <a:rPr lang="en-US"/>
              <a:t>’)</a:t>
            </a:r>
            <a:r>
              <a:rPr lang="en-US" baseline="30000"/>
              <a:t>2</a:t>
            </a:r>
            <a:endParaRPr/>
          </a:p>
          <a:p>
            <a:pPr marL="228600" lvl="0" indent="-228600" algn="l" rtl="0">
              <a:lnSpc>
                <a:spcPct val="90000"/>
              </a:lnSpc>
              <a:spcBef>
                <a:spcPts val="1000"/>
              </a:spcBef>
              <a:spcAft>
                <a:spcPts val="0"/>
              </a:spcAft>
              <a:buClr>
                <a:schemeClr val="dk1"/>
              </a:buClr>
              <a:buSzPct val="100000"/>
              <a:buChar char="•"/>
            </a:pPr>
            <a:r>
              <a:rPr lang="en-US"/>
              <a:t>Goal</a:t>
            </a:r>
            <a:endParaRPr/>
          </a:p>
          <a:p>
            <a:pPr marL="685800" lvl="1" indent="-228600" algn="l" rtl="0">
              <a:lnSpc>
                <a:spcPct val="90000"/>
              </a:lnSpc>
              <a:spcBef>
                <a:spcPts val="500"/>
              </a:spcBef>
              <a:spcAft>
                <a:spcPts val="0"/>
              </a:spcAft>
              <a:buClr>
                <a:schemeClr val="dk1"/>
              </a:buClr>
              <a:buSzPct val="100000"/>
              <a:buChar char="•"/>
            </a:pPr>
            <a:r>
              <a:rPr lang="en-US"/>
              <a:t>minimize the sum of the squared prediction errors</a:t>
            </a:r>
            <a:endParaRPr/>
          </a:p>
          <a:p>
            <a:pPr marL="228600" lvl="0" indent="-228600" algn="l" rtl="0">
              <a:lnSpc>
                <a:spcPct val="90000"/>
              </a:lnSpc>
              <a:spcBef>
                <a:spcPts val="1000"/>
              </a:spcBef>
              <a:spcAft>
                <a:spcPts val="0"/>
              </a:spcAft>
              <a:buClr>
                <a:schemeClr val="dk1"/>
              </a:buClr>
              <a:buSzPct val="100000"/>
              <a:buChar char="•"/>
            </a:pPr>
            <a:r>
              <a:rPr lang="en-US"/>
              <a:t>Why square?</a:t>
            </a:r>
            <a:endParaRPr/>
          </a:p>
          <a:p>
            <a:pPr marL="685800" lvl="1" indent="-228600" algn="l" rtl="0">
              <a:lnSpc>
                <a:spcPct val="90000"/>
              </a:lnSpc>
              <a:spcBef>
                <a:spcPts val="500"/>
              </a:spcBef>
              <a:spcAft>
                <a:spcPts val="0"/>
              </a:spcAft>
              <a:buClr>
                <a:schemeClr val="dk1"/>
              </a:buClr>
              <a:buSzPct val="100000"/>
              <a:buChar char="•"/>
            </a:pPr>
            <a:r>
              <a:rPr lang="en-US" b="0" i="0">
                <a:latin typeface="Arial"/>
                <a:ea typeface="Arial"/>
                <a:cs typeface="Arial"/>
                <a:sym typeface="Arial"/>
              </a:rPr>
              <a:t>if we didn't square the prediction error to get the positive and negative prediction errors would cancel each other out when summed, always yielding 0.</a:t>
            </a:r>
            <a:endParaRPr/>
          </a:p>
          <a:p>
            <a:pPr marL="228600" lvl="0" indent="-228600" algn="l" rtl="0">
              <a:lnSpc>
                <a:spcPct val="90000"/>
              </a:lnSpc>
              <a:spcBef>
                <a:spcPts val="1000"/>
              </a:spcBef>
              <a:spcAft>
                <a:spcPts val="0"/>
              </a:spcAft>
              <a:buClr>
                <a:schemeClr val="dk1"/>
              </a:buClr>
              <a:buSzPct val="100000"/>
              <a:buChar char="•"/>
            </a:pPr>
            <a:r>
              <a:rPr lang="en-US"/>
              <a:t>Line fitted by least square is the one that makes the sum of squares of all vertical discrepancies as small as possible.</a:t>
            </a:r>
            <a:endParaRPr/>
          </a:p>
        </p:txBody>
      </p:sp>
      <p:pic>
        <p:nvPicPr>
          <p:cNvPr id="146" name="Google Shape;146;p10" descr="Simple Linear Regression in R - Articles - STHDA"/>
          <p:cNvPicPr preferRelativeResize="0"/>
          <p:nvPr/>
        </p:nvPicPr>
        <p:blipFill rotWithShape="1">
          <a:blip r:embed="rId3">
            <a:alphaModFix/>
          </a:blip>
          <a:srcRect/>
          <a:stretch/>
        </p:blipFill>
        <p:spPr>
          <a:xfrm>
            <a:off x="838200" y="2987259"/>
            <a:ext cx="4050781" cy="31861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Infinite possible lines- Solution?</a:t>
            </a:r>
            <a:endParaRPr/>
          </a:p>
        </p:txBody>
      </p:sp>
      <p:sp>
        <p:nvSpPr>
          <p:cNvPr id="152" name="Google Shape;152;p11"/>
          <p:cNvSpPr txBox="1">
            <a:spLocks noGrp="1"/>
          </p:cNvSpPr>
          <p:nvPr>
            <p:ph type="body" idx="1"/>
          </p:nvPr>
        </p:nvSpPr>
        <p:spPr>
          <a:xfrm>
            <a:off x="838200" y="1825625"/>
            <a:ext cx="10515600" cy="4351338"/>
          </a:xfrm>
          <a:prstGeom prst="rect">
            <a:avLst/>
          </a:prstGeom>
          <a:blipFill rotWithShape="1">
            <a:blip r:embed="rId3">
              <a:alphaModFix/>
            </a:blip>
            <a:stretch>
              <a:fillRect l="-926" t="-2099" r="-811" b="-1820"/>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153" name="Google Shape;153;p11"/>
          <p:cNvSpPr/>
          <p:nvPr/>
        </p:nvSpPr>
        <p:spPr>
          <a:xfrm>
            <a:off x="0" y="90100"/>
            <a:ext cx="65" cy="27699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Normal Method</a:t>
            </a:r>
            <a:endParaRPr/>
          </a:p>
        </p:txBody>
      </p:sp>
      <p:sp>
        <p:nvSpPr>
          <p:cNvPr id="159" name="Google Shape;159;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least square estimator of </a:t>
            </a:r>
            <a:r>
              <a:rPr lang="en-US" sz="2800" b="0" i="0" u="none" strike="noStrike" cap="none">
                <a:solidFill>
                  <a:schemeClr val="dk1"/>
                </a:solidFill>
                <a:latin typeface="Arial"/>
                <a:ea typeface="Arial"/>
                <a:cs typeface="Arial"/>
                <a:sym typeface="Arial"/>
              </a:rPr>
              <a:t>b</a:t>
            </a:r>
            <a:r>
              <a:rPr lang="en-US" sz="2800" b="0" i="0" u="none" strike="noStrike" cap="none" baseline="-25000">
                <a:solidFill>
                  <a:schemeClr val="dk1"/>
                </a:solidFill>
                <a:latin typeface="Arial"/>
                <a:ea typeface="Arial"/>
                <a:cs typeface="Arial"/>
                <a:sym typeface="Arial"/>
              </a:rPr>
              <a:t>0</a:t>
            </a:r>
            <a:r>
              <a:rPr lang="en-US" sz="2800" b="0" i="0" u="none" strike="noStrike" cap="none">
                <a:solidFill>
                  <a:schemeClr val="dk1"/>
                </a:solidFill>
                <a:latin typeface="Arial"/>
                <a:ea typeface="Arial"/>
                <a:cs typeface="Arial"/>
                <a:sym typeface="Arial"/>
              </a:rPr>
              <a:t> and b</a:t>
            </a:r>
            <a:r>
              <a:rPr lang="en-US" sz="2800" b="0" i="0" u="none" strike="noStrike" cap="none" baseline="-25000">
                <a:solidFill>
                  <a:schemeClr val="dk1"/>
                </a:solidFill>
                <a:latin typeface="Arial"/>
                <a:ea typeface="Arial"/>
                <a:cs typeface="Arial"/>
                <a:sym typeface="Arial"/>
              </a:rPr>
              <a:t>1</a:t>
            </a:r>
            <a:r>
              <a:rPr lang="en-US" sz="2800" b="0" i="0" u="none" strike="noStrike" cap="none">
                <a:solidFill>
                  <a:schemeClr val="dk1"/>
                </a:solidFill>
                <a:latin typeface="Arial"/>
                <a:ea typeface="Arial"/>
                <a:cs typeface="Arial"/>
                <a:sym typeface="Arial"/>
              </a:rPr>
              <a:t> i.e. b</a:t>
            </a:r>
            <a:r>
              <a:rPr lang="en-US" sz="2800" b="0" i="0" u="none" strike="noStrike" cap="none" baseline="-25000">
                <a:solidFill>
                  <a:schemeClr val="dk1"/>
                </a:solidFill>
                <a:latin typeface="Arial"/>
                <a:ea typeface="Arial"/>
                <a:cs typeface="Arial"/>
                <a:sym typeface="Arial"/>
              </a:rPr>
              <a:t>0</a:t>
            </a:r>
            <a:r>
              <a:rPr lang="en-US" sz="2800" b="0" i="0" u="none" strike="noStrike" cap="none">
                <a:solidFill>
                  <a:schemeClr val="dk1"/>
                </a:solidFill>
                <a:latin typeface="Arial"/>
                <a:ea typeface="Arial"/>
                <a:cs typeface="Arial"/>
                <a:sym typeface="Arial"/>
              </a:rPr>
              <a:t> hat and b</a:t>
            </a:r>
            <a:r>
              <a:rPr lang="en-US" sz="2800" b="0" i="0" u="none" strike="noStrike" cap="none" baseline="-25000">
                <a:solidFill>
                  <a:schemeClr val="dk1"/>
                </a:solidFill>
                <a:latin typeface="Arial"/>
                <a:ea typeface="Arial"/>
                <a:cs typeface="Arial"/>
                <a:sym typeface="Arial"/>
              </a:rPr>
              <a:t>1</a:t>
            </a:r>
            <a:r>
              <a:rPr lang="en-US" sz="2800" b="0" i="0" u="none" strike="noStrike" cap="none">
                <a:solidFill>
                  <a:schemeClr val="dk1"/>
                </a:solidFill>
                <a:latin typeface="Arial"/>
                <a:ea typeface="Arial"/>
                <a:cs typeface="Arial"/>
                <a:sym typeface="Arial"/>
              </a:rPr>
              <a:t> hat must satisfy normal equations: </a:t>
            </a:r>
            <a:r>
              <a:rPr lang="en-US" b="0" i="0" u="none" strike="noStrike" cap="none">
                <a:solidFill>
                  <a:schemeClr val="dk1"/>
                </a:solidFill>
                <a:latin typeface="Arial"/>
                <a:ea typeface="Arial"/>
                <a:cs typeface="Arial"/>
                <a:sym typeface="Arial"/>
              </a:rPr>
              <a:t>S= Sum(y</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-b</a:t>
            </a:r>
            <a:r>
              <a:rPr lang="en-US" b="0" i="0" u="none" strike="noStrike" cap="none" baseline="-25000">
                <a:solidFill>
                  <a:schemeClr val="dk1"/>
                </a:solidFill>
                <a:latin typeface="Arial"/>
                <a:ea typeface="Arial"/>
                <a:cs typeface="Arial"/>
                <a:sym typeface="Arial"/>
              </a:rPr>
              <a:t>0</a:t>
            </a:r>
            <a:r>
              <a:rPr lang="en-US" b="0" i="0" u="none" strike="noStrike" cap="none">
                <a:solidFill>
                  <a:schemeClr val="dk1"/>
                </a:solidFill>
                <a:latin typeface="Arial"/>
                <a:ea typeface="Arial"/>
                <a:cs typeface="Arial"/>
                <a:sym typeface="Arial"/>
              </a:rPr>
              <a:t> hat-b</a:t>
            </a:r>
            <a:r>
              <a:rPr lang="en-US" b="0" i="0" u="none" strike="noStrike" cap="none" baseline="-25000">
                <a:solidFill>
                  <a:schemeClr val="dk1"/>
                </a:solidFill>
                <a:latin typeface="Arial"/>
                <a:ea typeface="Arial"/>
                <a:cs typeface="Arial"/>
                <a:sym typeface="Arial"/>
              </a:rPr>
              <a:t>1</a:t>
            </a:r>
            <a:r>
              <a:rPr lang="en-US" b="0" i="0" u="none" strike="noStrike" cap="none">
                <a:solidFill>
                  <a:schemeClr val="dk1"/>
                </a:solidFill>
                <a:latin typeface="Arial"/>
                <a:ea typeface="Arial"/>
                <a:cs typeface="Arial"/>
                <a:sym typeface="Arial"/>
              </a:rPr>
              <a:t> hat x</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a:t>
            </a:r>
            <a:r>
              <a:rPr lang="en-US" b="0" i="0" u="none" strike="noStrike" cap="none" baseline="30000">
                <a:solidFill>
                  <a:schemeClr val="dk1"/>
                </a:solidFill>
                <a:latin typeface="Arial"/>
                <a:ea typeface="Arial"/>
                <a:cs typeface="Arial"/>
                <a:sym typeface="Arial"/>
              </a:rPr>
              <a:t>2</a:t>
            </a:r>
            <a:endParaRPr sz="2800" b="0" i="0" u="none" strike="noStrike" cap="none">
              <a:solidFill>
                <a:schemeClr val="dk1"/>
              </a:solidFill>
              <a:latin typeface="Arial"/>
              <a:ea typeface="Arial"/>
              <a:cs typeface="Arial"/>
              <a:sym typeface="Arial"/>
            </a:endParaRPr>
          </a:p>
          <a:p>
            <a:pPr marL="685800" lvl="1" indent="-228600" algn="l" rtl="0">
              <a:lnSpc>
                <a:spcPct val="90000"/>
              </a:lnSpc>
              <a:spcBef>
                <a:spcPts val="500"/>
              </a:spcBef>
              <a:spcAft>
                <a:spcPts val="0"/>
              </a:spcAft>
              <a:buClr>
                <a:srgbClr val="202124"/>
              </a:buClr>
              <a:buSzPts val="2400"/>
              <a:buChar char="•"/>
            </a:pPr>
            <a:r>
              <a:rPr lang="en-US" b="0" i="0">
                <a:solidFill>
                  <a:srgbClr val="202124"/>
                </a:solidFill>
                <a:latin typeface="arial"/>
                <a:ea typeface="arial"/>
                <a:cs typeface="arial"/>
                <a:sym typeface="arial"/>
              </a:rPr>
              <a:t>∂S/ ∂b</a:t>
            </a:r>
            <a:r>
              <a:rPr lang="en-US" b="0" i="0" baseline="-25000">
                <a:solidFill>
                  <a:srgbClr val="202124"/>
                </a:solidFill>
                <a:latin typeface="arial"/>
                <a:ea typeface="arial"/>
                <a:cs typeface="arial"/>
                <a:sym typeface="arial"/>
              </a:rPr>
              <a:t>0</a:t>
            </a:r>
            <a:r>
              <a:rPr lang="en-US" b="0" i="0">
                <a:solidFill>
                  <a:srgbClr val="202124"/>
                </a:solidFill>
                <a:latin typeface="arial"/>
                <a:ea typeface="arial"/>
                <a:cs typeface="arial"/>
                <a:sym typeface="arial"/>
              </a:rPr>
              <a:t>= -2 </a:t>
            </a:r>
            <a:r>
              <a:rPr lang="en-US" b="0" i="0" u="none" strike="noStrike" cap="none">
                <a:solidFill>
                  <a:schemeClr val="dk1"/>
                </a:solidFill>
                <a:latin typeface="Arial"/>
                <a:ea typeface="Arial"/>
                <a:cs typeface="Arial"/>
                <a:sym typeface="Arial"/>
              </a:rPr>
              <a:t>(y</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-b</a:t>
            </a:r>
            <a:r>
              <a:rPr lang="en-US" b="0" i="0" u="none" strike="noStrike" cap="none" baseline="-25000">
                <a:solidFill>
                  <a:schemeClr val="dk1"/>
                </a:solidFill>
                <a:latin typeface="Arial"/>
                <a:ea typeface="Arial"/>
                <a:cs typeface="Arial"/>
                <a:sym typeface="Arial"/>
              </a:rPr>
              <a:t>0</a:t>
            </a:r>
            <a:r>
              <a:rPr lang="en-US" b="0" i="0" u="none" strike="noStrike" cap="none">
                <a:solidFill>
                  <a:schemeClr val="dk1"/>
                </a:solidFill>
                <a:latin typeface="Arial"/>
                <a:ea typeface="Arial"/>
                <a:cs typeface="Arial"/>
                <a:sym typeface="Arial"/>
              </a:rPr>
              <a:t> hat-b</a:t>
            </a:r>
            <a:r>
              <a:rPr lang="en-US" b="0" i="0" u="none" strike="noStrike" cap="none" baseline="-25000">
                <a:solidFill>
                  <a:schemeClr val="dk1"/>
                </a:solidFill>
                <a:latin typeface="Arial"/>
                <a:ea typeface="Arial"/>
                <a:cs typeface="Arial"/>
                <a:sym typeface="Arial"/>
              </a:rPr>
              <a:t>1</a:t>
            </a:r>
            <a:r>
              <a:rPr lang="en-US" b="0" i="0" u="none" strike="noStrike" cap="none">
                <a:solidFill>
                  <a:schemeClr val="dk1"/>
                </a:solidFill>
                <a:latin typeface="Arial"/>
                <a:ea typeface="Arial"/>
                <a:cs typeface="Arial"/>
                <a:sym typeface="Arial"/>
              </a:rPr>
              <a:t> hat x</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 </a:t>
            </a:r>
            <a:r>
              <a:rPr lang="en-US">
                <a:latin typeface="Arial"/>
                <a:ea typeface="Arial"/>
                <a:cs typeface="Arial"/>
                <a:sym typeface="Arial"/>
              </a:rPr>
              <a:t>= </a:t>
            </a:r>
            <a:r>
              <a:rPr lang="en-US" b="0" i="0" u="none" strike="noStrike" cap="none">
                <a:solidFill>
                  <a:schemeClr val="dk1"/>
                </a:solidFill>
                <a:latin typeface="Arial"/>
                <a:ea typeface="Arial"/>
                <a:cs typeface="Arial"/>
                <a:sym typeface="Arial"/>
              </a:rPr>
              <a:t>0</a:t>
            </a:r>
            <a:endParaRPr/>
          </a:p>
          <a:p>
            <a:pPr marL="685800" lvl="1" indent="-228600" algn="l" rtl="0">
              <a:lnSpc>
                <a:spcPct val="90000"/>
              </a:lnSpc>
              <a:spcBef>
                <a:spcPts val="500"/>
              </a:spcBef>
              <a:spcAft>
                <a:spcPts val="0"/>
              </a:spcAft>
              <a:buClr>
                <a:srgbClr val="202124"/>
              </a:buClr>
              <a:buSzPts val="2400"/>
              <a:buChar char="•"/>
            </a:pPr>
            <a:r>
              <a:rPr lang="en-US" b="0" i="0">
                <a:solidFill>
                  <a:srgbClr val="202124"/>
                </a:solidFill>
                <a:latin typeface="arial"/>
                <a:ea typeface="arial"/>
                <a:cs typeface="arial"/>
                <a:sym typeface="arial"/>
              </a:rPr>
              <a:t>∂S/ ∂b</a:t>
            </a:r>
            <a:r>
              <a:rPr lang="en-US" b="0" i="0" baseline="-25000">
                <a:solidFill>
                  <a:srgbClr val="202124"/>
                </a:solidFill>
                <a:latin typeface="arial"/>
                <a:ea typeface="arial"/>
                <a:cs typeface="arial"/>
                <a:sym typeface="arial"/>
              </a:rPr>
              <a:t>1</a:t>
            </a:r>
            <a:r>
              <a:rPr lang="en-US" b="0" i="0">
                <a:solidFill>
                  <a:srgbClr val="202124"/>
                </a:solidFill>
                <a:latin typeface="arial"/>
                <a:ea typeface="arial"/>
                <a:cs typeface="arial"/>
                <a:sym typeface="arial"/>
              </a:rPr>
              <a:t>= -2 x</a:t>
            </a:r>
            <a:r>
              <a:rPr lang="en-US" b="0" i="0" baseline="-25000">
                <a:solidFill>
                  <a:srgbClr val="202124"/>
                </a:solidFill>
                <a:latin typeface="arial"/>
                <a:ea typeface="arial"/>
                <a:cs typeface="arial"/>
                <a:sym typeface="arial"/>
              </a:rPr>
              <a:t>i</a:t>
            </a:r>
            <a:r>
              <a:rPr lang="en-US" b="0" i="0" u="none" strike="noStrike" cap="none">
                <a:solidFill>
                  <a:schemeClr val="dk1"/>
                </a:solidFill>
                <a:latin typeface="Arial"/>
                <a:ea typeface="Arial"/>
                <a:cs typeface="Arial"/>
                <a:sym typeface="Arial"/>
              </a:rPr>
              <a:t>(y</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-b</a:t>
            </a:r>
            <a:r>
              <a:rPr lang="en-US" b="0" i="0" u="none" strike="noStrike" cap="none" baseline="-25000">
                <a:solidFill>
                  <a:schemeClr val="dk1"/>
                </a:solidFill>
                <a:latin typeface="Arial"/>
                <a:ea typeface="Arial"/>
                <a:cs typeface="Arial"/>
                <a:sym typeface="Arial"/>
              </a:rPr>
              <a:t>0</a:t>
            </a:r>
            <a:r>
              <a:rPr lang="en-US" b="0" i="0" u="none" strike="noStrike" cap="none">
                <a:solidFill>
                  <a:schemeClr val="dk1"/>
                </a:solidFill>
                <a:latin typeface="Arial"/>
                <a:ea typeface="Arial"/>
                <a:cs typeface="Arial"/>
                <a:sym typeface="Arial"/>
              </a:rPr>
              <a:t> hat-b</a:t>
            </a:r>
            <a:r>
              <a:rPr lang="en-US" b="0" i="0" u="none" strike="noStrike" cap="none" baseline="-25000">
                <a:solidFill>
                  <a:schemeClr val="dk1"/>
                </a:solidFill>
                <a:latin typeface="Arial"/>
                <a:ea typeface="Arial"/>
                <a:cs typeface="Arial"/>
                <a:sym typeface="Arial"/>
              </a:rPr>
              <a:t>1</a:t>
            </a:r>
            <a:r>
              <a:rPr lang="en-US" b="0" i="0" u="none" strike="noStrike" cap="none">
                <a:solidFill>
                  <a:schemeClr val="dk1"/>
                </a:solidFill>
                <a:latin typeface="Arial"/>
                <a:ea typeface="Arial"/>
                <a:cs typeface="Arial"/>
                <a:sym typeface="Arial"/>
              </a:rPr>
              <a:t> hat x</a:t>
            </a:r>
            <a:r>
              <a:rPr lang="en-US" b="0" i="0" u="none" strike="noStrike" cap="none" baseline="-25000">
                <a:solidFill>
                  <a:schemeClr val="dk1"/>
                </a:solidFill>
                <a:latin typeface="Arial"/>
                <a:ea typeface="Arial"/>
                <a:cs typeface="Arial"/>
                <a:sym typeface="Arial"/>
              </a:rPr>
              <a:t>i</a:t>
            </a:r>
            <a:r>
              <a:rPr lang="en-US" b="0" i="0" u="none" strike="noStrike" cap="none">
                <a:solidFill>
                  <a:schemeClr val="dk1"/>
                </a:solidFill>
                <a:latin typeface="Arial"/>
                <a:ea typeface="Arial"/>
                <a:cs typeface="Arial"/>
                <a:sym typeface="Arial"/>
              </a:rPr>
              <a:t>) = 0</a:t>
            </a:r>
            <a:endParaRPr/>
          </a:p>
          <a:p>
            <a:pPr marL="228600" lvl="0" indent="-228600" algn="l" rtl="0">
              <a:lnSpc>
                <a:spcPct val="90000"/>
              </a:lnSpc>
              <a:spcBef>
                <a:spcPts val="1000"/>
              </a:spcBef>
              <a:spcAft>
                <a:spcPts val="0"/>
              </a:spcAft>
              <a:buClr>
                <a:schemeClr val="dk1"/>
              </a:buClr>
              <a:buSzPts val="2800"/>
              <a:buChar char="•"/>
            </a:pPr>
            <a:r>
              <a:rPr lang="en-US" b="0" i="0" u="none" strike="noStrike" cap="none">
                <a:solidFill>
                  <a:schemeClr val="dk1"/>
                </a:solidFill>
                <a:latin typeface="Arial"/>
                <a:ea typeface="Arial"/>
                <a:cs typeface="Arial"/>
                <a:sym typeface="Arial"/>
              </a:rPr>
              <a:t>So the estimator </a:t>
            </a:r>
            <a:r>
              <a:rPr lang="en-US" sz="2800" b="0" i="0" u="none" strike="noStrike" cap="none">
                <a:solidFill>
                  <a:schemeClr val="dk1"/>
                </a:solidFill>
                <a:latin typeface="Arial"/>
                <a:ea typeface="Arial"/>
                <a:cs typeface="Arial"/>
                <a:sym typeface="Arial"/>
              </a:rPr>
              <a:t>b</a:t>
            </a:r>
            <a:r>
              <a:rPr lang="en-US" sz="2800" b="0" i="0" u="none" strike="noStrike" cap="none" baseline="-25000">
                <a:solidFill>
                  <a:schemeClr val="dk1"/>
                </a:solidFill>
                <a:latin typeface="Arial"/>
                <a:ea typeface="Arial"/>
                <a:cs typeface="Arial"/>
                <a:sym typeface="Arial"/>
              </a:rPr>
              <a:t>0</a:t>
            </a:r>
            <a:r>
              <a:rPr lang="en-US" sz="2800" b="0" i="0" u="none" strike="noStrike" cap="none">
                <a:solidFill>
                  <a:schemeClr val="dk1"/>
                </a:solidFill>
                <a:latin typeface="Arial"/>
                <a:ea typeface="Arial"/>
                <a:cs typeface="Arial"/>
                <a:sym typeface="Arial"/>
              </a:rPr>
              <a:t> hat and b</a:t>
            </a:r>
            <a:r>
              <a:rPr lang="en-US" sz="2800" b="0" i="0" u="none" strike="noStrike" cap="none" baseline="-25000">
                <a:solidFill>
                  <a:schemeClr val="dk1"/>
                </a:solidFill>
                <a:latin typeface="Arial"/>
                <a:ea typeface="Arial"/>
                <a:cs typeface="Arial"/>
                <a:sym typeface="Arial"/>
              </a:rPr>
              <a:t>1</a:t>
            </a:r>
            <a:r>
              <a:rPr lang="en-US" sz="2800" b="0" i="0" u="none" strike="noStrike" cap="none">
                <a:solidFill>
                  <a:schemeClr val="dk1"/>
                </a:solidFill>
                <a:latin typeface="Arial"/>
                <a:ea typeface="Arial"/>
                <a:cs typeface="Arial"/>
                <a:sym typeface="Arial"/>
              </a:rPr>
              <a:t> hat  are solutions of the equations</a:t>
            </a:r>
            <a:endParaRPr b="0" i="0" u="none" strike="noStrike" cap="none">
              <a:solidFill>
                <a:schemeClr val="dk1"/>
              </a:solidFill>
              <a:latin typeface="Arial"/>
              <a:ea typeface="Arial"/>
              <a:cs typeface="Arial"/>
              <a:sym typeface="Arial"/>
            </a:endParaRPr>
          </a:p>
          <a:p>
            <a:pPr marL="685800" lvl="1" indent="-76200" algn="l" rtl="0">
              <a:lnSpc>
                <a:spcPct val="90000"/>
              </a:lnSpc>
              <a:spcBef>
                <a:spcPts val="500"/>
              </a:spcBef>
              <a:spcAft>
                <a:spcPts val="0"/>
              </a:spcAft>
              <a:buClr>
                <a:schemeClr val="dk1"/>
              </a:buClr>
              <a:buSzPts val="2400"/>
              <a:buNone/>
            </a:pPr>
            <a:endParaRPr>
              <a:latin typeface="Arial"/>
              <a:ea typeface="Arial"/>
              <a:cs typeface="Arial"/>
              <a:sym typeface="Arial"/>
            </a:endParaRPr>
          </a:p>
          <a:p>
            <a:pPr marL="685800" lvl="1" indent="-76200" algn="l" rtl="0">
              <a:lnSpc>
                <a:spcPct val="90000"/>
              </a:lnSpc>
              <a:spcBef>
                <a:spcPts val="500"/>
              </a:spcBef>
              <a:spcAft>
                <a:spcPts val="0"/>
              </a:spcAft>
              <a:buClr>
                <a:schemeClr val="dk1"/>
              </a:buClr>
              <a:buSzPts val="2400"/>
              <a:buNone/>
            </a:pPr>
            <a:endParaRPr b="0" i="0" u="none" strike="noStrike" cap="none">
              <a:solidFill>
                <a:schemeClr val="dk1"/>
              </a:solidFill>
              <a:latin typeface="Arial"/>
              <a:ea typeface="Arial"/>
              <a:cs typeface="Arial"/>
              <a:sym typeface="Arial"/>
            </a:endParaRPr>
          </a:p>
          <a:p>
            <a:pPr marL="685800" lvl="1" indent="-76200" algn="l" rtl="0">
              <a:lnSpc>
                <a:spcPct val="90000"/>
              </a:lnSpc>
              <a:spcBef>
                <a:spcPts val="500"/>
              </a:spcBef>
              <a:spcAft>
                <a:spcPts val="0"/>
              </a:spcAft>
              <a:buClr>
                <a:schemeClr val="dk1"/>
              </a:buClr>
              <a:buSzPts val="2400"/>
              <a:buNone/>
            </a:pPr>
            <a:endParaRPr b="0" i="0" u="none" strike="noStrike" cap="none">
              <a:solidFill>
                <a:schemeClr val="dk1"/>
              </a:solidFill>
              <a:latin typeface="Arial"/>
              <a:ea typeface="Arial"/>
              <a:cs typeface="Arial"/>
              <a:sym typeface="Arial"/>
            </a:endParaRPr>
          </a:p>
          <a:p>
            <a:pPr marL="685800" lvl="1" indent="-76200" algn="l" rtl="0">
              <a:lnSpc>
                <a:spcPct val="90000"/>
              </a:lnSpc>
              <a:spcBef>
                <a:spcPts val="500"/>
              </a:spcBef>
              <a:spcAft>
                <a:spcPts val="0"/>
              </a:spcAft>
              <a:buClr>
                <a:schemeClr val="dk1"/>
              </a:buClr>
              <a:buSzPts val="2400"/>
              <a:buNone/>
            </a:pPr>
            <a:endParaRPr baseline="30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Normal Method</a:t>
            </a:r>
            <a:endParaRPr/>
          </a:p>
        </p:txBody>
      </p:sp>
      <p:sp>
        <p:nvSpPr>
          <p:cNvPr id="165" name="Google Shape;165;p13"/>
          <p:cNvSpPr txBox="1">
            <a:spLocks noGrp="1"/>
          </p:cNvSpPr>
          <p:nvPr>
            <p:ph type="body" idx="1"/>
          </p:nvPr>
        </p:nvSpPr>
        <p:spPr>
          <a:xfrm>
            <a:off x="838200" y="1825625"/>
            <a:ext cx="10515600" cy="4351338"/>
          </a:xfrm>
          <a:prstGeom prst="rect">
            <a:avLst/>
          </a:prstGeom>
          <a:blipFill rotWithShape="1">
            <a:blip r:embed="rId3">
              <a:alphaModFix/>
            </a:blip>
            <a:stretch>
              <a:fillRect l="-927" t="-2800" r="-984"/>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Slope </a:t>
            </a:r>
            <a:endParaRPr/>
          </a:p>
        </p:txBody>
      </p:sp>
      <p:sp>
        <p:nvSpPr>
          <p:cNvPr id="171" name="Google Shape;17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0" i="0">
                <a:latin typeface="Arial"/>
                <a:ea typeface="Arial"/>
                <a:cs typeface="Arial"/>
                <a:sym typeface="Arial"/>
              </a:rPr>
              <a:t>Denominator of slope equation is necessarily positive since </a:t>
            </a:r>
            <a:endParaRPr/>
          </a:p>
          <a:p>
            <a:pPr marL="685800" lvl="1" indent="-228600" algn="l" rtl="0">
              <a:lnSpc>
                <a:spcPct val="90000"/>
              </a:lnSpc>
              <a:spcBef>
                <a:spcPts val="500"/>
              </a:spcBef>
              <a:spcAft>
                <a:spcPts val="0"/>
              </a:spcAft>
              <a:buClr>
                <a:schemeClr val="dk1"/>
              </a:buClr>
              <a:buSzPts val="2400"/>
              <a:buChar char="•"/>
            </a:pPr>
            <a:r>
              <a:rPr lang="en-US" b="0" i="0">
                <a:latin typeface="Arial"/>
                <a:ea typeface="Arial"/>
                <a:cs typeface="Arial"/>
                <a:sym typeface="Arial"/>
              </a:rPr>
              <a:t>it only involves summing positive terms. </a:t>
            </a:r>
            <a:endParaRPr/>
          </a:p>
          <a:p>
            <a:pPr marL="228600" lvl="0" indent="-228600" algn="l" rtl="0">
              <a:lnSpc>
                <a:spcPct val="90000"/>
              </a:lnSpc>
              <a:spcBef>
                <a:spcPts val="1000"/>
              </a:spcBef>
              <a:spcAft>
                <a:spcPts val="0"/>
              </a:spcAft>
              <a:buClr>
                <a:schemeClr val="dk1"/>
              </a:buClr>
              <a:buSzPts val="2800"/>
              <a:buChar char="•"/>
            </a:pPr>
            <a:r>
              <a:rPr lang="en-US" b="0" i="0">
                <a:latin typeface="Arial"/>
                <a:ea typeface="Arial"/>
                <a:cs typeface="Arial"/>
                <a:sym typeface="Arial"/>
              </a:rPr>
              <a:t>Therefore, the sign of the slope </a:t>
            </a:r>
            <a:r>
              <a:rPr lang="en-US"/>
              <a:t>b1</a:t>
            </a:r>
            <a:r>
              <a:rPr lang="en-US" b="0" i="0">
                <a:latin typeface="Arial"/>
                <a:ea typeface="Arial"/>
                <a:cs typeface="Arial"/>
                <a:sym typeface="Arial"/>
              </a:rPr>
              <a:t> is solely determined by the numerator. </a:t>
            </a:r>
            <a:endParaRPr/>
          </a:p>
          <a:p>
            <a:pPr marL="228600" lvl="0" indent="-228600" algn="l" rtl="0">
              <a:lnSpc>
                <a:spcPct val="90000"/>
              </a:lnSpc>
              <a:spcBef>
                <a:spcPts val="1000"/>
              </a:spcBef>
              <a:spcAft>
                <a:spcPts val="0"/>
              </a:spcAft>
              <a:buClr>
                <a:schemeClr val="dk1"/>
              </a:buClr>
              <a:buSzPts val="2800"/>
              <a:buChar char="•"/>
            </a:pPr>
            <a:r>
              <a:rPr lang="en-US" b="0" i="0">
                <a:latin typeface="Arial"/>
                <a:ea typeface="Arial"/>
                <a:cs typeface="Arial"/>
                <a:sym typeface="Arial"/>
              </a:rPr>
              <a:t>The numerator tells us, for each data point, to sum up the product of two distances</a:t>
            </a:r>
            <a:endParaRPr/>
          </a:p>
          <a:p>
            <a:pPr marL="685800" lvl="1" indent="-228600" algn="l" rtl="0">
              <a:lnSpc>
                <a:spcPct val="90000"/>
              </a:lnSpc>
              <a:spcBef>
                <a:spcPts val="500"/>
              </a:spcBef>
              <a:spcAft>
                <a:spcPts val="0"/>
              </a:spcAft>
              <a:buClr>
                <a:schemeClr val="dk1"/>
              </a:buClr>
              <a:buSzPts val="2400"/>
              <a:buChar char="•"/>
            </a:pPr>
            <a:r>
              <a:rPr lang="en-US" b="0" i="0">
                <a:latin typeface="Arial"/>
                <a:ea typeface="Arial"/>
                <a:cs typeface="Arial"/>
                <a:sym typeface="Arial"/>
              </a:rPr>
              <a:t>the distance of the </a:t>
            </a:r>
            <a:r>
              <a:rPr lang="en-US" b="0" i="1">
                <a:latin typeface="Arial"/>
                <a:ea typeface="Arial"/>
                <a:cs typeface="Arial"/>
                <a:sym typeface="Arial"/>
              </a:rPr>
              <a:t>x</a:t>
            </a:r>
            <a:r>
              <a:rPr lang="en-US" b="0" i="0">
                <a:latin typeface="Arial"/>
                <a:ea typeface="Arial"/>
                <a:cs typeface="Arial"/>
                <a:sym typeface="Arial"/>
              </a:rPr>
              <a:t>-value from the mean of all of the </a:t>
            </a:r>
            <a:r>
              <a:rPr lang="en-US" b="0" i="1">
                <a:latin typeface="Arial"/>
                <a:ea typeface="Arial"/>
                <a:cs typeface="Arial"/>
                <a:sym typeface="Arial"/>
              </a:rPr>
              <a:t>x</a:t>
            </a:r>
            <a:r>
              <a:rPr lang="en-US" b="0" i="0">
                <a:latin typeface="Arial"/>
                <a:ea typeface="Arial"/>
                <a:cs typeface="Arial"/>
                <a:sym typeface="Arial"/>
              </a:rPr>
              <a:t>-values and </a:t>
            </a:r>
            <a:endParaRPr/>
          </a:p>
          <a:p>
            <a:pPr marL="685800" lvl="1" indent="-228600" algn="l" rtl="0">
              <a:lnSpc>
                <a:spcPct val="90000"/>
              </a:lnSpc>
              <a:spcBef>
                <a:spcPts val="500"/>
              </a:spcBef>
              <a:spcAft>
                <a:spcPts val="0"/>
              </a:spcAft>
              <a:buClr>
                <a:schemeClr val="dk1"/>
              </a:buClr>
              <a:buSzPts val="2400"/>
              <a:buChar char="•"/>
            </a:pPr>
            <a:r>
              <a:rPr lang="en-US" b="0" i="0">
                <a:latin typeface="Arial"/>
                <a:ea typeface="Arial"/>
                <a:cs typeface="Arial"/>
                <a:sym typeface="Arial"/>
              </a:rPr>
              <a:t>the distance of the </a:t>
            </a:r>
            <a:r>
              <a:rPr lang="en-US" b="0" i="1">
                <a:latin typeface="Arial"/>
                <a:ea typeface="Arial"/>
                <a:cs typeface="Arial"/>
                <a:sym typeface="Arial"/>
              </a:rPr>
              <a:t>y</a:t>
            </a:r>
            <a:r>
              <a:rPr lang="en-US" b="0" i="0">
                <a:latin typeface="Arial"/>
                <a:ea typeface="Arial"/>
                <a:cs typeface="Arial"/>
                <a:sym typeface="Arial"/>
              </a:rPr>
              <a:t>-value from the mean of all of the </a:t>
            </a:r>
            <a:r>
              <a:rPr lang="en-US" b="0" i="1">
                <a:latin typeface="Arial"/>
                <a:ea typeface="Arial"/>
                <a:cs typeface="Arial"/>
                <a:sym typeface="Arial"/>
              </a:rPr>
              <a:t>y</a:t>
            </a:r>
            <a:r>
              <a:rPr lang="en-US" b="0" i="0">
                <a:latin typeface="Arial"/>
                <a:ea typeface="Arial"/>
                <a:cs typeface="Arial"/>
                <a:sym typeface="Arial"/>
              </a:rPr>
              <a:t>-values.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838200" y="365126"/>
            <a:ext cx="10515600" cy="746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B444F"/>
              </a:buClr>
              <a:buSzPts val="4400"/>
              <a:buFont typeface="Arial"/>
              <a:buNone/>
            </a:pPr>
            <a:r>
              <a:rPr lang="en-US" b="0" i="0">
                <a:solidFill>
                  <a:srgbClr val="3B444F"/>
                </a:solidFill>
                <a:latin typeface="Arial"/>
                <a:ea typeface="Arial"/>
                <a:cs typeface="Arial"/>
                <a:sym typeface="Arial"/>
              </a:rPr>
              <a:t>Numerator- Positive and Negative cases</a:t>
            </a:r>
            <a:endParaRPr/>
          </a:p>
        </p:txBody>
      </p:sp>
      <p:cxnSp>
        <p:nvCxnSpPr>
          <p:cNvPr id="177" name="Google Shape;177;p15"/>
          <p:cNvCxnSpPr/>
          <p:nvPr/>
        </p:nvCxnSpPr>
        <p:spPr>
          <a:xfrm>
            <a:off x="1772528" y="3742008"/>
            <a:ext cx="3094893"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78" name="Google Shape;178;p15"/>
          <p:cNvCxnSpPr/>
          <p:nvPr/>
        </p:nvCxnSpPr>
        <p:spPr>
          <a:xfrm rot="10800000">
            <a:off x="1772529" y="1575583"/>
            <a:ext cx="0" cy="2166425"/>
          </a:xfrm>
          <a:prstGeom prst="straightConnector1">
            <a:avLst/>
          </a:prstGeom>
          <a:noFill/>
          <a:ln w="9525" cap="flat" cmpd="sng">
            <a:solidFill>
              <a:schemeClr val="accent1"/>
            </a:solidFill>
            <a:prstDash val="solid"/>
            <a:miter lim="800000"/>
            <a:headEnd type="none" w="sm" len="sm"/>
            <a:tailEnd type="triangle" w="med" len="med"/>
          </a:ln>
        </p:spPr>
      </p:cxnSp>
      <p:cxnSp>
        <p:nvCxnSpPr>
          <p:cNvPr id="179" name="Google Shape;179;p15"/>
          <p:cNvCxnSpPr/>
          <p:nvPr/>
        </p:nvCxnSpPr>
        <p:spPr>
          <a:xfrm>
            <a:off x="3516923" y="1702192"/>
            <a:ext cx="0" cy="2025748"/>
          </a:xfrm>
          <a:prstGeom prst="straightConnector1">
            <a:avLst/>
          </a:prstGeom>
          <a:noFill/>
          <a:ln w="9525" cap="flat" cmpd="sng">
            <a:solidFill>
              <a:schemeClr val="accent1"/>
            </a:solidFill>
            <a:prstDash val="solid"/>
            <a:miter lim="800000"/>
            <a:headEnd type="none" w="sm" len="sm"/>
            <a:tailEnd type="none" w="sm" len="sm"/>
          </a:ln>
        </p:spPr>
      </p:cxnSp>
      <p:cxnSp>
        <p:nvCxnSpPr>
          <p:cNvPr id="180" name="Google Shape;180;p15"/>
          <p:cNvCxnSpPr/>
          <p:nvPr/>
        </p:nvCxnSpPr>
        <p:spPr>
          <a:xfrm>
            <a:off x="1772529" y="2588457"/>
            <a:ext cx="3137096" cy="0"/>
          </a:xfrm>
          <a:prstGeom prst="straightConnector1">
            <a:avLst/>
          </a:prstGeom>
          <a:noFill/>
          <a:ln w="9525" cap="flat" cmpd="sng">
            <a:solidFill>
              <a:schemeClr val="accent1"/>
            </a:solidFill>
            <a:prstDash val="solid"/>
            <a:miter lim="800000"/>
            <a:headEnd type="none" w="sm" len="sm"/>
            <a:tailEnd type="none" w="sm" len="sm"/>
          </a:ln>
        </p:spPr>
      </p:cxnSp>
      <p:sp>
        <p:nvSpPr>
          <p:cNvPr id="181" name="Google Shape;181;p15"/>
          <p:cNvSpPr/>
          <p:nvPr/>
        </p:nvSpPr>
        <p:spPr>
          <a:xfrm>
            <a:off x="2067951" y="3263706"/>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15"/>
          <p:cNvSpPr/>
          <p:nvPr/>
        </p:nvSpPr>
        <p:spPr>
          <a:xfrm>
            <a:off x="2220351" y="3303563"/>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15"/>
          <p:cNvSpPr/>
          <p:nvPr/>
        </p:nvSpPr>
        <p:spPr>
          <a:xfrm>
            <a:off x="2372751" y="3188678"/>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15"/>
          <p:cNvSpPr/>
          <p:nvPr/>
        </p:nvSpPr>
        <p:spPr>
          <a:xfrm>
            <a:off x="2525151" y="3214469"/>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5"/>
          <p:cNvSpPr/>
          <p:nvPr/>
        </p:nvSpPr>
        <p:spPr>
          <a:xfrm>
            <a:off x="2677551" y="2972978"/>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15"/>
          <p:cNvSpPr/>
          <p:nvPr/>
        </p:nvSpPr>
        <p:spPr>
          <a:xfrm>
            <a:off x="2829951" y="2984700"/>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15"/>
          <p:cNvSpPr/>
          <p:nvPr/>
        </p:nvSpPr>
        <p:spPr>
          <a:xfrm>
            <a:off x="3040968" y="2886223"/>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15"/>
          <p:cNvSpPr/>
          <p:nvPr/>
        </p:nvSpPr>
        <p:spPr>
          <a:xfrm>
            <a:off x="3334043" y="2670055"/>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9" name="Google Shape;189;p15"/>
          <p:cNvSpPr/>
          <p:nvPr/>
        </p:nvSpPr>
        <p:spPr>
          <a:xfrm>
            <a:off x="3191020" y="2810023"/>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5"/>
          <p:cNvSpPr/>
          <p:nvPr/>
        </p:nvSpPr>
        <p:spPr>
          <a:xfrm>
            <a:off x="3514578" y="2459502"/>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5"/>
          <p:cNvSpPr/>
          <p:nvPr/>
        </p:nvSpPr>
        <p:spPr>
          <a:xfrm>
            <a:off x="3666978" y="2499359"/>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5"/>
          <p:cNvSpPr/>
          <p:nvPr/>
        </p:nvSpPr>
        <p:spPr>
          <a:xfrm>
            <a:off x="3819378" y="2384474"/>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5"/>
          <p:cNvSpPr/>
          <p:nvPr/>
        </p:nvSpPr>
        <p:spPr>
          <a:xfrm>
            <a:off x="3971778" y="2410265"/>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15"/>
          <p:cNvSpPr/>
          <p:nvPr/>
        </p:nvSpPr>
        <p:spPr>
          <a:xfrm>
            <a:off x="4124178" y="2168774"/>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15"/>
          <p:cNvSpPr/>
          <p:nvPr/>
        </p:nvSpPr>
        <p:spPr>
          <a:xfrm>
            <a:off x="4276578" y="2180496"/>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15"/>
          <p:cNvSpPr/>
          <p:nvPr/>
        </p:nvSpPr>
        <p:spPr>
          <a:xfrm>
            <a:off x="4487595" y="2082019"/>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15"/>
          <p:cNvSpPr/>
          <p:nvPr/>
        </p:nvSpPr>
        <p:spPr>
          <a:xfrm>
            <a:off x="4780670" y="1865851"/>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15"/>
          <p:cNvSpPr/>
          <p:nvPr/>
        </p:nvSpPr>
        <p:spPr>
          <a:xfrm>
            <a:off x="4637647" y="2005819"/>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15"/>
          <p:cNvSpPr txBox="1"/>
          <p:nvPr/>
        </p:nvSpPr>
        <p:spPr>
          <a:xfrm>
            <a:off x="3760760" y="2887985"/>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404040"/>
                </a:solidFill>
                <a:latin typeface="Arial"/>
                <a:ea typeface="Arial"/>
                <a:cs typeface="Arial"/>
                <a:sym typeface="Arial"/>
              </a:rPr>
              <a:t>ȳ = 11.7</a:t>
            </a:r>
            <a:endParaRPr sz="1800">
              <a:solidFill>
                <a:schemeClr val="dk1"/>
              </a:solidFill>
              <a:latin typeface="Calibri"/>
              <a:ea typeface="Calibri"/>
              <a:cs typeface="Calibri"/>
              <a:sym typeface="Calibri"/>
            </a:endParaRPr>
          </a:p>
        </p:txBody>
      </p:sp>
      <p:sp>
        <p:nvSpPr>
          <p:cNvPr id="200" name="Google Shape;200;p15"/>
          <p:cNvSpPr txBox="1"/>
          <p:nvPr/>
        </p:nvSpPr>
        <p:spPr>
          <a:xfrm>
            <a:off x="2154698" y="180243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404040"/>
                </a:solidFill>
                <a:latin typeface="Arial"/>
                <a:ea typeface="Arial"/>
                <a:cs typeface="Arial"/>
                <a:sym typeface="Arial"/>
              </a:rPr>
              <a:t>x̄ = 6.5</a:t>
            </a:r>
            <a:endParaRPr sz="1800">
              <a:solidFill>
                <a:schemeClr val="dk1"/>
              </a:solidFill>
              <a:latin typeface="Calibri"/>
              <a:ea typeface="Calibri"/>
              <a:cs typeface="Calibri"/>
              <a:sym typeface="Calibri"/>
            </a:endParaRPr>
          </a:p>
        </p:txBody>
      </p:sp>
      <p:cxnSp>
        <p:nvCxnSpPr>
          <p:cNvPr id="201" name="Google Shape;201;p15"/>
          <p:cNvCxnSpPr>
            <a:stCxn id="200" idx="3"/>
          </p:cNvCxnSpPr>
          <p:nvPr/>
        </p:nvCxnSpPr>
        <p:spPr>
          <a:xfrm>
            <a:off x="3069098" y="1987096"/>
            <a:ext cx="473700" cy="18600"/>
          </a:xfrm>
          <a:prstGeom prst="straightConnector1">
            <a:avLst/>
          </a:prstGeom>
          <a:noFill/>
          <a:ln w="9525" cap="flat" cmpd="sng">
            <a:solidFill>
              <a:schemeClr val="accent1"/>
            </a:solidFill>
            <a:prstDash val="solid"/>
            <a:miter lim="800000"/>
            <a:headEnd type="none" w="sm" len="sm"/>
            <a:tailEnd type="triangle" w="med" len="med"/>
          </a:ln>
        </p:spPr>
      </p:cxnSp>
      <p:cxnSp>
        <p:nvCxnSpPr>
          <p:cNvPr id="202" name="Google Shape;202;p15"/>
          <p:cNvCxnSpPr/>
          <p:nvPr/>
        </p:nvCxnSpPr>
        <p:spPr>
          <a:xfrm rot="10800000" flipH="1">
            <a:off x="3999912" y="2586819"/>
            <a:ext cx="1" cy="360364"/>
          </a:xfrm>
          <a:prstGeom prst="straightConnector1">
            <a:avLst/>
          </a:prstGeom>
          <a:noFill/>
          <a:ln w="9525" cap="flat" cmpd="sng">
            <a:solidFill>
              <a:schemeClr val="accent1"/>
            </a:solidFill>
            <a:prstDash val="solid"/>
            <a:miter lim="800000"/>
            <a:headEnd type="none" w="sm" len="sm"/>
            <a:tailEnd type="triangle" w="med" len="med"/>
          </a:ln>
        </p:spPr>
      </p:cxnSp>
      <p:cxnSp>
        <p:nvCxnSpPr>
          <p:cNvPr id="203" name="Google Shape;203;p15"/>
          <p:cNvCxnSpPr/>
          <p:nvPr/>
        </p:nvCxnSpPr>
        <p:spPr>
          <a:xfrm rot="10800000">
            <a:off x="3502856" y="2166426"/>
            <a:ext cx="715104" cy="570"/>
          </a:xfrm>
          <a:prstGeom prst="straightConnector1">
            <a:avLst/>
          </a:prstGeom>
          <a:noFill/>
          <a:ln w="9525" cap="flat" cmpd="sng">
            <a:solidFill>
              <a:schemeClr val="accent1"/>
            </a:solidFill>
            <a:prstDash val="solid"/>
            <a:miter lim="800000"/>
            <a:headEnd type="none" w="sm" len="sm"/>
            <a:tailEnd type="none" w="sm" len="sm"/>
          </a:ln>
        </p:spPr>
      </p:cxnSp>
      <p:cxnSp>
        <p:nvCxnSpPr>
          <p:cNvPr id="204" name="Google Shape;204;p15"/>
          <p:cNvCxnSpPr>
            <a:endCxn id="194" idx="0"/>
          </p:cNvCxnSpPr>
          <p:nvPr/>
        </p:nvCxnSpPr>
        <p:spPr>
          <a:xfrm rot="10800000">
            <a:off x="4152313" y="2168774"/>
            <a:ext cx="0" cy="435900"/>
          </a:xfrm>
          <a:prstGeom prst="straightConnector1">
            <a:avLst/>
          </a:prstGeom>
          <a:noFill/>
          <a:ln w="9525" cap="flat" cmpd="sng">
            <a:solidFill>
              <a:schemeClr val="accent1"/>
            </a:solidFill>
            <a:prstDash val="solid"/>
            <a:miter lim="800000"/>
            <a:headEnd type="none" w="sm" len="sm"/>
            <a:tailEnd type="none" w="sm" len="sm"/>
          </a:ln>
        </p:spPr>
      </p:cxnSp>
      <p:sp>
        <p:nvSpPr>
          <p:cNvPr id="205" name="Google Shape;205;p15"/>
          <p:cNvSpPr txBox="1"/>
          <p:nvPr/>
        </p:nvSpPr>
        <p:spPr>
          <a:xfrm>
            <a:off x="3542707" y="1688057"/>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06" name="Google Shape;206;p15"/>
          <p:cNvSpPr txBox="1"/>
          <p:nvPr/>
        </p:nvSpPr>
        <p:spPr>
          <a:xfrm>
            <a:off x="4159342" y="2220295"/>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cxnSp>
        <p:nvCxnSpPr>
          <p:cNvPr id="207" name="Google Shape;207;p15"/>
          <p:cNvCxnSpPr/>
          <p:nvPr/>
        </p:nvCxnSpPr>
        <p:spPr>
          <a:xfrm>
            <a:off x="2526324" y="2574039"/>
            <a:ext cx="0" cy="660358"/>
          </a:xfrm>
          <a:prstGeom prst="straightConnector1">
            <a:avLst/>
          </a:prstGeom>
          <a:noFill/>
          <a:ln w="9525" cap="flat" cmpd="sng">
            <a:solidFill>
              <a:schemeClr val="accent1"/>
            </a:solidFill>
            <a:prstDash val="solid"/>
            <a:miter lim="800000"/>
            <a:headEnd type="none" w="sm" len="sm"/>
            <a:tailEnd type="none" w="sm" len="sm"/>
          </a:ln>
        </p:spPr>
      </p:cxnSp>
      <p:cxnSp>
        <p:nvCxnSpPr>
          <p:cNvPr id="208" name="Google Shape;208;p15"/>
          <p:cNvCxnSpPr>
            <a:stCxn id="184" idx="2"/>
          </p:cNvCxnSpPr>
          <p:nvPr/>
        </p:nvCxnSpPr>
        <p:spPr>
          <a:xfrm>
            <a:off x="2535897" y="3260188"/>
            <a:ext cx="1006800" cy="3600"/>
          </a:xfrm>
          <a:prstGeom prst="straightConnector1">
            <a:avLst/>
          </a:prstGeom>
          <a:noFill/>
          <a:ln w="9525" cap="flat" cmpd="sng">
            <a:solidFill>
              <a:schemeClr val="accent1"/>
            </a:solidFill>
            <a:prstDash val="solid"/>
            <a:miter lim="800000"/>
            <a:headEnd type="none" w="sm" len="sm"/>
            <a:tailEnd type="none" w="sm" len="sm"/>
          </a:ln>
        </p:spPr>
      </p:cxnSp>
      <p:sp>
        <p:nvSpPr>
          <p:cNvPr id="209" name="Google Shape;209;p15"/>
          <p:cNvSpPr txBox="1"/>
          <p:nvPr/>
        </p:nvSpPr>
        <p:spPr>
          <a:xfrm>
            <a:off x="1247333" y="2754427"/>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10" name="Google Shape;210;p15"/>
          <p:cNvSpPr txBox="1"/>
          <p:nvPr/>
        </p:nvSpPr>
        <p:spPr>
          <a:xfrm>
            <a:off x="2434880" y="3399407"/>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11" name="Google Shape;211;p15"/>
          <p:cNvSpPr txBox="1"/>
          <p:nvPr/>
        </p:nvSpPr>
        <p:spPr>
          <a:xfrm>
            <a:off x="6058487" y="2463610"/>
            <a:ext cx="497996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 multiplication of  x</a:t>
            </a:r>
            <a:r>
              <a:rPr lang="en-US" sz="1800" baseline="-250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a:t>
            </a:r>
            <a:r>
              <a:rPr lang="en-US" sz="1800" b="0" i="0">
                <a:solidFill>
                  <a:srgbClr val="404040"/>
                </a:solidFill>
                <a:latin typeface="Arial"/>
                <a:ea typeface="Arial"/>
                <a:cs typeface="Arial"/>
                <a:sym typeface="Arial"/>
              </a:rPr>
              <a:t>x̄ and y</a:t>
            </a:r>
            <a:r>
              <a:rPr lang="en-US" sz="1800" b="0" i="0" baseline="-25000">
                <a:solidFill>
                  <a:srgbClr val="404040"/>
                </a:solidFill>
                <a:latin typeface="Arial"/>
                <a:ea typeface="Arial"/>
                <a:cs typeface="Arial"/>
                <a:sym typeface="Arial"/>
              </a:rPr>
              <a:t>i</a:t>
            </a:r>
            <a:r>
              <a:rPr lang="en-US" sz="1800" b="0" i="0">
                <a:solidFill>
                  <a:srgbClr val="404040"/>
                </a:solidFill>
                <a:latin typeface="Arial"/>
                <a:ea typeface="Arial"/>
                <a:cs typeface="Arial"/>
                <a:sym typeface="Arial"/>
              </a:rPr>
              <a:t>- ȳ will always be positive.</a:t>
            </a:r>
            <a:endParaRPr sz="1800">
              <a:solidFill>
                <a:schemeClr val="dk1"/>
              </a:solidFill>
              <a:latin typeface="Calibri"/>
              <a:ea typeface="Calibri"/>
              <a:cs typeface="Calibri"/>
              <a:sym typeface="Calibri"/>
            </a:endParaRPr>
          </a:p>
        </p:txBody>
      </p:sp>
      <p:cxnSp>
        <p:nvCxnSpPr>
          <p:cNvPr id="212" name="Google Shape;212;p15"/>
          <p:cNvCxnSpPr/>
          <p:nvPr/>
        </p:nvCxnSpPr>
        <p:spPr>
          <a:xfrm>
            <a:off x="1756115" y="6285917"/>
            <a:ext cx="3094893"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213" name="Google Shape;213;p15"/>
          <p:cNvCxnSpPr/>
          <p:nvPr/>
        </p:nvCxnSpPr>
        <p:spPr>
          <a:xfrm rot="10800000">
            <a:off x="1756116" y="4119492"/>
            <a:ext cx="0" cy="2166425"/>
          </a:xfrm>
          <a:prstGeom prst="straightConnector1">
            <a:avLst/>
          </a:prstGeom>
          <a:noFill/>
          <a:ln w="9525" cap="flat" cmpd="sng">
            <a:solidFill>
              <a:schemeClr val="accent1"/>
            </a:solidFill>
            <a:prstDash val="solid"/>
            <a:miter lim="800000"/>
            <a:headEnd type="none" w="sm" len="sm"/>
            <a:tailEnd type="triangle" w="med" len="med"/>
          </a:ln>
        </p:spPr>
      </p:cxnSp>
      <p:cxnSp>
        <p:nvCxnSpPr>
          <p:cNvPr id="214" name="Google Shape;214;p15"/>
          <p:cNvCxnSpPr/>
          <p:nvPr/>
        </p:nvCxnSpPr>
        <p:spPr>
          <a:xfrm>
            <a:off x="3500510" y="4246101"/>
            <a:ext cx="0" cy="2025748"/>
          </a:xfrm>
          <a:prstGeom prst="straightConnector1">
            <a:avLst/>
          </a:prstGeom>
          <a:noFill/>
          <a:ln w="9525" cap="flat" cmpd="sng">
            <a:solidFill>
              <a:schemeClr val="accent1"/>
            </a:solidFill>
            <a:prstDash val="solid"/>
            <a:miter lim="800000"/>
            <a:headEnd type="none" w="sm" len="sm"/>
            <a:tailEnd type="none" w="sm" len="sm"/>
          </a:ln>
        </p:spPr>
      </p:cxnSp>
      <p:cxnSp>
        <p:nvCxnSpPr>
          <p:cNvPr id="215" name="Google Shape;215;p15"/>
          <p:cNvCxnSpPr/>
          <p:nvPr/>
        </p:nvCxnSpPr>
        <p:spPr>
          <a:xfrm>
            <a:off x="1756116" y="5132366"/>
            <a:ext cx="3137096" cy="0"/>
          </a:xfrm>
          <a:prstGeom prst="straightConnector1">
            <a:avLst/>
          </a:prstGeom>
          <a:noFill/>
          <a:ln w="9525" cap="flat" cmpd="sng">
            <a:solidFill>
              <a:schemeClr val="accent1"/>
            </a:solidFill>
            <a:prstDash val="solid"/>
            <a:miter lim="800000"/>
            <a:headEnd type="none" w="sm" len="sm"/>
            <a:tailEnd type="none" w="sm" len="sm"/>
          </a:ln>
        </p:spPr>
      </p:cxnSp>
      <p:sp>
        <p:nvSpPr>
          <p:cNvPr id="216" name="Google Shape;216;p15"/>
          <p:cNvSpPr/>
          <p:nvPr/>
        </p:nvSpPr>
        <p:spPr>
          <a:xfrm>
            <a:off x="2499362" y="4528925"/>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15"/>
          <p:cNvSpPr/>
          <p:nvPr/>
        </p:nvSpPr>
        <p:spPr>
          <a:xfrm>
            <a:off x="3650565" y="5341775"/>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5"/>
          <p:cNvSpPr/>
          <p:nvPr/>
        </p:nvSpPr>
        <p:spPr>
          <a:xfrm>
            <a:off x="2668759" y="4735894"/>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5"/>
          <p:cNvSpPr/>
          <p:nvPr/>
        </p:nvSpPr>
        <p:spPr>
          <a:xfrm>
            <a:off x="3185161" y="4901451"/>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15"/>
          <p:cNvSpPr/>
          <p:nvPr/>
        </p:nvSpPr>
        <p:spPr>
          <a:xfrm>
            <a:off x="2647071" y="4533316"/>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5"/>
          <p:cNvSpPr/>
          <p:nvPr/>
        </p:nvSpPr>
        <p:spPr>
          <a:xfrm>
            <a:off x="2446021" y="4234234"/>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5"/>
          <p:cNvSpPr/>
          <p:nvPr/>
        </p:nvSpPr>
        <p:spPr>
          <a:xfrm>
            <a:off x="2982349" y="4839143"/>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5"/>
          <p:cNvSpPr/>
          <p:nvPr/>
        </p:nvSpPr>
        <p:spPr>
          <a:xfrm>
            <a:off x="3227363" y="5071786"/>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15"/>
          <p:cNvSpPr/>
          <p:nvPr/>
        </p:nvSpPr>
        <p:spPr>
          <a:xfrm>
            <a:off x="2961253" y="4637359"/>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15"/>
          <p:cNvSpPr/>
          <p:nvPr/>
        </p:nvSpPr>
        <p:spPr>
          <a:xfrm>
            <a:off x="3540369" y="5200360"/>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5"/>
          <p:cNvSpPr/>
          <p:nvPr/>
        </p:nvSpPr>
        <p:spPr>
          <a:xfrm>
            <a:off x="3650565" y="5282420"/>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5"/>
          <p:cNvSpPr/>
          <p:nvPr/>
        </p:nvSpPr>
        <p:spPr>
          <a:xfrm>
            <a:off x="3860408" y="5491092"/>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5"/>
          <p:cNvSpPr/>
          <p:nvPr/>
        </p:nvSpPr>
        <p:spPr>
          <a:xfrm>
            <a:off x="3955365" y="5559087"/>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15"/>
          <p:cNvSpPr/>
          <p:nvPr/>
        </p:nvSpPr>
        <p:spPr>
          <a:xfrm>
            <a:off x="4107765" y="5613014"/>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5"/>
          <p:cNvSpPr/>
          <p:nvPr/>
        </p:nvSpPr>
        <p:spPr>
          <a:xfrm>
            <a:off x="4260165" y="5962362"/>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15"/>
          <p:cNvSpPr/>
          <p:nvPr/>
        </p:nvSpPr>
        <p:spPr>
          <a:xfrm>
            <a:off x="4205067" y="5817567"/>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5"/>
          <p:cNvSpPr/>
          <p:nvPr/>
        </p:nvSpPr>
        <p:spPr>
          <a:xfrm>
            <a:off x="4384429" y="5760258"/>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p15"/>
          <p:cNvSpPr/>
          <p:nvPr/>
        </p:nvSpPr>
        <p:spPr>
          <a:xfrm>
            <a:off x="4621234" y="5858023"/>
            <a:ext cx="56269" cy="45719"/>
          </a:xfrm>
          <a:prstGeom prst="star5">
            <a:avLst>
              <a:gd name="adj" fmla="val 19098"/>
              <a:gd name="hf" fmla="val 105146"/>
              <a:gd name="vf" fmla="val 11055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5"/>
          <p:cNvSpPr txBox="1"/>
          <p:nvPr/>
        </p:nvSpPr>
        <p:spPr>
          <a:xfrm>
            <a:off x="2096085" y="5403649"/>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404040"/>
                </a:solidFill>
                <a:latin typeface="Arial"/>
                <a:ea typeface="Arial"/>
                <a:cs typeface="Arial"/>
                <a:sym typeface="Arial"/>
              </a:rPr>
              <a:t>ȳ = 8.5</a:t>
            </a:r>
            <a:endParaRPr sz="1800">
              <a:solidFill>
                <a:schemeClr val="dk1"/>
              </a:solidFill>
              <a:latin typeface="Calibri"/>
              <a:ea typeface="Calibri"/>
              <a:cs typeface="Calibri"/>
              <a:sym typeface="Calibri"/>
            </a:endParaRPr>
          </a:p>
        </p:txBody>
      </p:sp>
      <p:sp>
        <p:nvSpPr>
          <p:cNvPr id="235" name="Google Shape;235;p15"/>
          <p:cNvSpPr txBox="1"/>
          <p:nvPr/>
        </p:nvSpPr>
        <p:spPr>
          <a:xfrm>
            <a:off x="3666978" y="433229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404040"/>
                </a:solidFill>
                <a:latin typeface="Arial"/>
                <a:ea typeface="Arial"/>
                <a:cs typeface="Arial"/>
                <a:sym typeface="Arial"/>
              </a:rPr>
              <a:t>x̄ = 6.5</a:t>
            </a:r>
            <a:endParaRPr sz="1800">
              <a:solidFill>
                <a:schemeClr val="dk1"/>
              </a:solidFill>
              <a:latin typeface="Calibri"/>
              <a:ea typeface="Calibri"/>
              <a:cs typeface="Calibri"/>
              <a:sym typeface="Calibri"/>
            </a:endParaRPr>
          </a:p>
        </p:txBody>
      </p:sp>
      <p:cxnSp>
        <p:nvCxnSpPr>
          <p:cNvPr id="236" name="Google Shape;236;p15"/>
          <p:cNvCxnSpPr>
            <a:stCxn id="235" idx="3"/>
          </p:cNvCxnSpPr>
          <p:nvPr/>
        </p:nvCxnSpPr>
        <p:spPr>
          <a:xfrm>
            <a:off x="4581378" y="4516956"/>
            <a:ext cx="473700" cy="18600"/>
          </a:xfrm>
          <a:prstGeom prst="straightConnector1">
            <a:avLst/>
          </a:prstGeom>
          <a:noFill/>
          <a:ln w="9525" cap="flat" cmpd="sng">
            <a:solidFill>
              <a:schemeClr val="accent1"/>
            </a:solidFill>
            <a:prstDash val="solid"/>
            <a:miter lim="800000"/>
            <a:headEnd type="none" w="sm" len="sm"/>
            <a:tailEnd type="triangle" w="med" len="med"/>
          </a:ln>
        </p:spPr>
      </p:cxnSp>
      <p:cxnSp>
        <p:nvCxnSpPr>
          <p:cNvPr id="237" name="Google Shape;237;p15"/>
          <p:cNvCxnSpPr/>
          <p:nvPr/>
        </p:nvCxnSpPr>
        <p:spPr>
          <a:xfrm rot="10800000" flipH="1">
            <a:off x="3983499" y="5130728"/>
            <a:ext cx="1" cy="360364"/>
          </a:xfrm>
          <a:prstGeom prst="straightConnector1">
            <a:avLst/>
          </a:prstGeom>
          <a:noFill/>
          <a:ln w="9525" cap="flat" cmpd="sng">
            <a:solidFill>
              <a:schemeClr val="accent1"/>
            </a:solidFill>
            <a:prstDash val="solid"/>
            <a:miter lim="800000"/>
            <a:headEnd type="none" w="sm" len="sm"/>
            <a:tailEnd type="triangle" w="med" len="med"/>
          </a:ln>
        </p:spPr>
      </p:cxnSp>
      <p:cxnSp>
        <p:nvCxnSpPr>
          <p:cNvPr id="238" name="Google Shape;238;p15"/>
          <p:cNvCxnSpPr/>
          <p:nvPr/>
        </p:nvCxnSpPr>
        <p:spPr>
          <a:xfrm rot="10800000">
            <a:off x="3486443" y="5835752"/>
            <a:ext cx="715104" cy="570"/>
          </a:xfrm>
          <a:prstGeom prst="straightConnector1">
            <a:avLst/>
          </a:prstGeom>
          <a:noFill/>
          <a:ln w="9525" cap="flat" cmpd="sng">
            <a:solidFill>
              <a:schemeClr val="accent1"/>
            </a:solidFill>
            <a:prstDash val="solid"/>
            <a:miter lim="800000"/>
            <a:headEnd type="none" w="sm" len="sm"/>
            <a:tailEnd type="none" w="sm" len="sm"/>
          </a:ln>
        </p:spPr>
      </p:cxnSp>
      <p:cxnSp>
        <p:nvCxnSpPr>
          <p:cNvPr id="239" name="Google Shape;239;p15"/>
          <p:cNvCxnSpPr/>
          <p:nvPr/>
        </p:nvCxnSpPr>
        <p:spPr>
          <a:xfrm rot="10800000">
            <a:off x="4248440" y="5130728"/>
            <a:ext cx="0" cy="749280"/>
          </a:xfrm>
          <a:prstGeom prst="straightConnector1">
            <a:avLst/>
          </a:prstGeom>
          <a:noFill/>
          <a:ln w="9525" cap="flat" cmpd="sng">
            <a:solidFill>
              <a:schemeClr val="accent1"/>
            </a:solidFill>
            <a:prstDash val="solid"/>
            <a:miter lim="800000"/>
            <a:headEnd type="none" w="sm" len="sm"/>
            <a:tailEnd type="none" w="sm" len="sm"/>
          </a:ln>
        </p:spPr>
      </p:cxnSp>
      <p:sp>
        <p:nvSpPr>
          <p:cNvPr id="240" name="Google Shape;240;p15"/>
          <p:cNvSpPr txBox="1"/>
          <p:nvPr/>
        </p:nvSpPr>
        <p:spPr>
          <a:xfrm>
            <a:off x="1064750" y="4655991"/>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41" name="Google Shape;241;p15"/>
          <p:cNvSpPr txBox="1"/>
          <p:nvPr/>
        </p:nvSpPr>
        <p:spPr>
          <a:xfrm>
            <a:off x="3706834" y="5849817"/>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cxnSp>
        <p:nvCxnSpPr>
          <p:cNvPr id="242" name="Google Shape;242;p15"/>
          <p:cNvCxnSpPr/>
          <p:nvPr/>
        </p:nvCxnSpPr>
        <p:spPr>
          <a:xfrm>
            <a:off x="2502291" y="4531823"/>
            <a:ext cx="0" cy="660358"/>
          </a:xfrm>
          <a:prstGeom prst="straightConnector1">
            <a:avLst/>
          </a:prstGeom>
          <a:noFill/>
          <a:ln w="9525" cap="flat" cmpd="sng">
            <a:solidFill>
              <a:schemeClr val="accent1"/>
            </a:solidFill>
            <a:prstDash val="solid"/>
            <a:miter lim="800000"/>
            <a:headEnd type="none" w="sm" len="sm"/>
            <a:tailEnd type="none" w="sm" len="sm"/>
          </a:ln>
        </p:spPr>
      </p:cxnSp>
      <p:cxnSp>
        <p:nvCxnSpPr>
          <p:cNvPr id="243" name="Google Shape;243;p15"/>
          <p:cNvCxnSpPr/>
          <p:nvPr/>
        </p:nvCxnSpPr>
        <p:spPr>
          <a:xfrm>
            <a:off x="2492524" y="4536225"/>
            <a:ext cx="1006810" cy="3518"/>
          </a:xfrm>
          <a:prstGeom prst="straightConnector1">
            <a:avLst/>
          </a:prstGeom>
          <a:noFill/>
          <a:ln w="9525" cap="flat" cmpd="sng">
            <a:solidFill>
              <a:schemeClr val="accent1"/>
            </a:solidFill>
            <a:prstDash val="solid"/>
            <a:miter lim="800000"/>
            <a:headEnd type="none" w="sm" len="sm"/>
            <a:tailEnd type="none" w="sm" len="sm"/>
          </a:ln>
        </p:spPr>
      </p:cxnSp>
      <p:sp>
        <p:nvSpPr>
          <p:cNvPr id="244" name="Google Shape;244;p15"/>
          <p:cNvSpPr txBox="1"/>
          <p:nvPr/>
        </p:nvSpPr>
        <p:spPr>
          <a:xfrm>
            <a:off x="4339885" y="5227499"/>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45" name="Google Shape;245;p15"/>
          <p:cNvSpPr txBox="1"/>
          <p:nvPr/>
        </p:nvSpPr>
        <p:spPr>
          <a:xfrm>
            <a:off x="2171110" y="4129050"/>
            <a:ext cx="13973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404040"/>
                </a:solidFill>
                <a:latin typeface="Arial"/>
                <a:ea typeface="Arial"/>
                <a:cs typeface="Arial"/>
                <a:sym typeface="Arial"/>
              </a:rPr>
              <a:t>-ve distance</a:t>
            </a:r>
            <a:endParaRPr sz="1800">
              <a:solidFill>
                <a:schemeClr val="dk1"/>
              </a:solidFill>
              <a:latin typeface="Calibri"/>
              <a:ea typeface="Calibri"/>
              <a:cs typeface="Calibri"/>
              <a:sym typeface="Calibri"/>
            </a:endParaRPr>
          </a:p>
        </p:txBody>
      </p:sp>
      <p:sp>
        <p:nvSpPr>
          <p:cNvPr id="246" name="Google Shape;246;p15"/>
          <p:cNvSpPr txBox="1"/>
          <p:nvPr/>
        </p:nvSpPr>
        <p:spPr>
          <a:xfrm>
            <a:off x="6210887" y="4810570"/>
            <a:ext cx="497996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 multiplication of  x</a:t>
            </a:r>
            <a:r>
              <a:rPr lang="en-US" sz="1800" baseline="-250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a:t>
            </a:r>
            <a:r>
              <a:rPr lang="en-US" sz="1800" b="0" i="0">
                <a:solidFill>
                  <a:srgbClr val="404040"/>
                </a:solidFill>
                <a:latin typeface="Arial"/>
                <a:ea typeface="Arial"/>
                <a:cs typeface="Arial"/>
                <a:sym typeface="Arial"/>
              </a:rPr>
              <a:t>x̄ and y</a:t>
            </a:r>
            <a:r>
              <a:rPr lang="en-US" sz="1800" b="0" i="0" baseline="-25000">
                <a:solidFill>
                  <a:srgbClr val="404040"/>
                </a:solidFill>
                <a:latin typeface="Arial"/>
                <a:ea typeface="Arial"/>
                <a:cs typeface="Arial"/>
                <a:sym typeface="Arial"/>
              </a:rPr>
              <a:t>i</a:t>
            </a:r>
            <a:r>
              <a:rPr lang="en-US" sz="1800" b="0" i="0">
                <a:solidFill>
                  <a:srgbClr val="404040"/>
                </a:solidFill>
                <a:latin typeface="Arial"/>
                <a:ea typeface="Arial"/>
                <a:cs typeface="Arial"/>
                <a:sym typeface="Arial"/>
              </a:rPr>
              <a:t>- ȳ will always be negative.</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Assumptions of a linear regression</a:t>
            </a:r>
            <a:endParaRPr/>
          </a:p>
        </p:txBody>
      </p:sp>
      <p:sp>
        <p:nvSpPr>
          <p:cNvPr id="252" name="Google Shape;25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Linearity</a:t>
            </a:r>
            <a:endParaRPr/>
          </a:p>
          <a:p>
            <a:pPr marL="685800" lvl="1" indent="-228600" algn="l" rtl="0">
              <a:lnSpc>
                <a:spcPct val="90000"/>
              </a:lnSpc>
              <a:spcBef>
                <a:spcPts val="500"/>
              </a:spcBef>
              <a:spcAft>
                <a:spcPts val="0"/>
              </a:spcAft>
              <a:buClr>
                <a:schemeClr val="dk1"/>
              </a:buClr>
              <a:buSzPct val="100000"/>
              <a:buChar char="•"/>
            </a:pPr>
            <a:r>
              <a:rPr lang="en-US" i="0">
                <a:latin typeface="Roboto"/>
                <a:ea typeface="Roboto"/>
                <a:cs typeface="Roboto"/>
                <a:sym typeface="Roboto"/>
              </a:rPr>
              <a:t>There must be a linear relationship between the outcome variable and the independent variables.  </a:t>
            </a:r>
            <a:endParaRPr/>
          </a:p>
          <a:p>
            <a:pPr marL="228600" lvl="0" indent="-228600" algn="l" rtl="0">
              <a:lnSpc>
                <a:spcPct val="90000"/>
              </a:lnSpc>
              <a:spcBef>
                <a:spcPts val="1000"/>
              </a:spcBef>
              <a:spcAft>
                <a:spcPts val="0"/>
              </a:spcAft>
              <a:buClr>
                <a:schemeClr val="dk1"/>
              </a:buClr>
              <a:buSzPct val="100000"/>
              <a:buChar char="•"/>
            </a:pPr>
            <a:r>
              <a:rPr lang="en-US"/>
              <a:t>Homoscedasticity</a:t>
            </a:r>
            <a:endParaRPr/>
          </a:p>
          <a:p>
            <a:pPr marL="685800" lvl="1" indent="-228600" algn="l" rtl="0">
              <a:lnSpc>
                <a:spcPct val="90000"/>
              </a:lnSpc>
              <a:spcBef>
                <a:spcPts val="500"/>
              </a:spcBef>
              <a:spcAft>
                <a:spcPts val="0"/>
              </a:spcAft>
              <a:buClr>
                <a:schemeClr val="dk1"/>
              </a:buClr>
              <a:buSzPct val="100000"/>
              <a:buChar char="•"/>
            </a:pPr>
            <a:r>
              <a:rPr lang="en-US" i="0">
                <a:latin typeface="arial"/>
                <a:ea typeface="arial"/>
                <a:cs typeface="arial"/>
                <a:sym typeface="arial"/>
              </a:rPr>
              <a:t>refers to a condition in which the variance of the residual, or error term, in a regression model is constant. </a:t>
            </a:r>
            <a:endParaRPr>
              <a:latin typeface="arial"/>
              <a:ea typeface="arial"/>
              <a:cs typeface="arial"/>
              <a:sym typeface="arial"/>
            </a:endParaRPr>
          </a:p>
          <a:p>
            <a:pPr marL="685800" lvl="1" indent="-228600" algn="l" rtl="0">
              <a:lnSpc>
                <a:spcPct val="90000"/>
              </a:lnSpc>
              <a:spcBef>
                <a:spcPts val="500"/>
              </a:spcBef>
              <a:spcAft>
                <a:spcPts val="0"/>
              </a:spcAft>
              <a:buClr>
                <a:schemeClr val="dk1"/>
              </a:buClr>
              <a:buSzPct val="100000"/>
              <a:buChar char="•"/>
            </a:pPr>
            <a:r>
              <a:rPr lang="en-US" i="0">
                <a:latin typeface="arial"/>
                <a:ea typeface="arial"/>
                <a:cs typeface="arial"/>
                <a:sym typeface="arial"/>
              </a:rPr>
              <a:t>That is, the error term does not vary much as the value of the predictor variable changes.</a:t>
            </a:r>
            <a:endParaRPr/>
          </a:p>
          <a:p>
            <a:pPr marL="228600" lvl="0" indent="-228600" algn="l" rtl="0">
              <a:lnSpc>
                <a:spcPct val="90000"/>
              </a:lnSpc>
              <a:spcBef>
                <a:spcPts val="1000"/>
              </a:spcBef>
              <a:spcAft>
                <a:spcPts val="0"/>
              </a:spcAft>
              <a:buClr>
                <a:schemeClr val="dk1"/>
              </a:buClr>
              <a:buSzPct val="100000"/>
              <a:buChar char="•"/>
            </a:pPr>
            <a:r>
              <a:rPr lang="en-US"/>
              <a:t>Multivariate normality</a:t>
            </a:r>
            <a:endParaRPr/>
          </a:p>
          <a:p>
            <a:pPr marL="685800" lvl="1" indent="-228600" algn="l" rtl="0">
              <a:lnSpc>
                <a:spcPct val="90000"/>
              </a:lnSpc>
              <a:spcBef>
                <a:spcPts val="500"/>
              </a:spcBef>
              <a:spcAft>
                <a:spcPts val="0"/>
              </a:spcAft>
              <a:buClr>
                <a:schemeClr val="dk1"/>
              </a:buClr>
              <a:buSzPct val="100000"/>
              <a:buChar char="•"/>
            </a:pPr>
            <a:r>
              <a:rPr lang="en-US" i="0">
                <a:latin typeface="Roboto"/>
                <a:ea typeface="Roboto"/>
                <a:cs typeface="Roboto"/>
                <a:sym typeface="Roboto"/>
              </a:rPr>
              <a:t>Multiple regression assumes that the residuals are normally distributed.</a:t>
            </a:r>
            <a:endParaRPr/>
          </a:p>
          <a:p>
            <a:pPr marL="228600" lvl="0" indent="-228600" algn="l" rtl="0">
              <a:lnSpc>
                <a:spcPct val="90000"/>
              </a:lnSpc>
              <a:spcBef>
                <a:spcPts val="1000"/>
              </a:spcBef>
              <a:spcAft>
                <a:spcPts val="0"/>
              </a:spcAft>
              <a:buClr>
                <a:schemeClr val="dk1"/>
              </a:buClr>
              <a:buSzPct val="100000"/>
              <a:buChar char="•"/>
            </a:pPr>
            <a:r>
              <a:rPr lang="en-US"/>
              <a:t>Independence of errors</a:t>
            </a:r>
            <a:endParaRPr/>
          </a:p>
          <a:p>
            <a:pPr marL="228600" lvl="0" indent="-228600" algn="l" rtl="0">
              <a:lnSpc>
                <a:spcPct val="90000"/>
              </a:lnSpc>
              <a:spcBef>
                <a:spcPts val="1000"/>
              </a:spcBef>
              <a:spcAft>
                <a:spcPts val="0"/>
              </a:spcAft>
              <a:buClr>
                <a:schemeClr val="dk1"/>
              </a:buClr>
              <a:buSzPct val="100000"/>
              <a:buChar char="•"/>
            </a:pPr>
            <a:r>
              <a:rPr lang="en-US"/>
              <a:t>Lack of (No) multicollinearity</a:t>
            </a:r>
            <a:endParaRPr/>
          </a:p>
          <a:p>
            <a:pPr marL="685800" lvl="1" indent="-228600" algn="l" rtl="0">
              <a:lnSpc>
                <a:spcPct val="90000"/>
              </a:lnSpc>
              <a:spcBef>
                <a:spcPts val="500"/>
              </a:spcBef>
              <a:spcAft>
                <a:spcPts val="0"/>
              </a:spcAft>
              <a:buClr>
                <a:schemeClr val="dk1"/>
              </a:buClr>
              <a:buSzPct val="100000"/>
              <a:buChar char="•"/>
            </a:pPr>
            <a:r>
              <a:rPr lang="en-US" i="0">
                <a:latin typeface="Roboto"/>
                <a:ea typeface="Roboto"/>
                <a:cs typeface="Roboto"/>
                <a:sym typeface="Roboto"/>
              </a:rPr>
              <a:t>Multiple regression assumes that the independent variables are not highly correlated with each other.  This assumption is tested using Variance Inflation Factor (VIF) values.</a:t>
            </a: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Pros and Cons</a:t>
            </a:r>
            <a:endParaRPr/>
          </a:p>
        </p:txBody>
      </p:sp>
      <p:sp>
        <p:nvSpPr>
          <p:cNvPr id="258" name="Google Shape;258;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Works on any size of dataset, gives information about relevance of features</a:t>
            </a:r>
            <a:endParaRPr/>
          </a:p>
          <a:p>
            <a:pPr marL="228600" lvl="0" indent="-228600" algn="l" rtl="0">
              <a:lnSpc>
                <a:spcPct val="90000"/>
              </a:lnSpc>
              <a:spcBef>
                <a:spcPts val="1000"/>
              </a:spcBef>
              <a:spcAft>
                <a:spcPts val="0"/>
              </a:spcAft>
              <a:buClr>
                <a:schemeClr val="dk1"/>
              </a:buClr>
              <a:buSzPts val="2800"/>
              <a:buChar char="•"/>
            </a:pPr>
            <a:r>
              <a:rPr lang="en-US"/>
              <a:t>The Linear Regression Assumptions need to be checked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Linear Regression</a:t>
            </a:r>
            <a:endParaRPr/>
          </a:p>
        </p:txBody>
      </p:sp>
      <p:sp>
        <p:nvSpPr>
          <p:cNvPr id="265" name="Google Shape;265;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5080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To avoid over-fitting, a regularization term can be introduced (minimize a magnitude of w)</a:t>
            </a:r>
            <a:endParaRPr/>
          </a:p>
          <a:p>
            <a:pPr marL="228600" lvl="0" indent="-228600" algn="l" rtl="0">
              <a:lnSpc>
                <a:spcPct val="90000"/>
              </a:lnSpc>
              <a:spcBef>
                <a:spcPts val="1000"/>
              </a:spcBef>
              <a:spcAft>
                <a:spcPts val="0"/>
              </a:spcAft>
              <a:buClr>
                <a:schemeClr val="dk1"/>
              </a:buClr>
              <a:buSzPts val="2800"/>
              <a:buChar char="•"/>
            </a:pPr>
            <a:r>
              <a:rPr lang="en-US"/>
              <a:t>Lasso</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Ridge Regresssion </a:t>
            </a:r>
            <a:endParaRPr/>
          </a:p>
        </p:txBody>
      </p:sp>
      <p:pic>
        <p:nvPicPr>
          <p:cNvPr id="266" name="Google Shape;266;p18"/>
          <p:cNvPicPr preferRelativeResize="0"/>
          <p:nvPr/>
        </p:nvPicPr>
        <p:blipFill rotWithShape="1">
          <a:blip r:embed="rId3">
            <a:alphaModFix/>
          </a:blip>
          <a:srcRect/>
          <a:stretch/>
        </p:blipFill>
        <p:spPr>
          <a:xfrm>
            <a:off x="5310752" y="2095500"/>
            <a:ext cx="5286375" cy="1333500"/>
          </a:xfrm>
          <a:prstGeom prst="rect">
            <a:avLst/>
          </a:prstGeom>
          <a:noFill/>
          <a:ln>
            <a:noFill/>
          </a:ln>
        </p:spPr>
      </p:pic>
      <p:pic>
        <p:nvPicPr>
          <p:cNvPr id="267" name="Google Shape;267;p18"/>
          <p:cNvPicPr preferRelativeResize="0"/>
          <p:nvPr/>
        </p:nvPicPr>
        <p:blipFill rotWithShape="1">
          <a:blip r:embed="rId4">
            <a:alphaModFix/>
          </a:blip>
          <a:srcRect/>
          <a:stretch/>
        </p:blipFill>
        <p:spPr>
          <a:xfrm>
            <a:off x="680205" y="2278380"/>
            <a:ext cx="4470691" cy="760242"/>
          </a:xfrm>
          <a:prstGeom prst="rect">
            <a:avLst/>
          </a:prstGeom>
          <a:noFill/>
          <a:ln>
            <a:noFill/>
          </a:ln>
        </p:spPr>
      </p:pic>
      <p:pic>
        <p:nvPicPr>
          <p:cNvPr id="268" name="Google Shape;268;p18"/>
          <p:cNvPicPr preferRelativeResize="0"/>
          <p:nvPr/>
        </p:nvPicPr>
        <p:blipFill rotWithShape="1">
          <a:blip r:embed="rId5">
            <a:alphaModFix/>
          </a:blip>
          <a:srcRect/>
          <a:stretch/>
        </p:blipFill>
        <p:spPr>
          <a:xfrm>
            <a:off x="2365277" y="4794433"/>
            <a:ext cx="3533775" cy="609600"/>
          </a:xfrm>
          <a:prstGeom prst="rect">
            <a:avLst/>
          </a:prstGeom>
          <a:noFill/>
          <a:ln>
            <a:noFill/>
          </a:ln>
        </p:spPr>
      </p:pic>
      <p:pic>
        <p:nvPicPr>
          <p:cNvPr id="269" name="Google Shape;269;p18"/>
          <p:cNvPicPr preferRelativeResize="0"/>
          <p:nvPr/>
        </p:nvPicPr>
        <p:blipFill rotWithShape="1">
          <a:blip r:embed="rId6">
            <a:alphaModFix/>
          </a:blip>
          <a:srcRect/>
          <a:stretch/>
        </p:blipFill>
        <p:spPr>
          <a:xfrm>
            <a:off x="3962472" y="5473999"/>
            <a:ext cx="3648075" cy="638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275" name="Google Shape;275;p19"/>
          <p:cNvPicPr preferRelativeResize="0"/>
          <p:nvPr/>
        </p:nvPicPr>
        <p:blipFill rotWithShape="1">
          <a:blip r:embed="rId3">
            <a:alphaModFix/>
          </a:blip>
          <a:srcRect/>
          <a:stretch/>
        </p:blipFill>
        <p:spPr>
          <a:xfrm>
            <a:off x="1390650" y="1963175"/>
            <a:ext cx="2076450" cy="1581150"/>
          </a:xfrm>
          <a:prstGeom prst="rect">
            <a:avLst/>
          </a:prstGeom>
          <a:noFill/>
          <a:ln>
            <a:noFill/>
          </a:ln>
        </p:spPr>
      </p:pic>
      <p:pic>
        <p:nvPicPr>
          <p:cNvPr id="276" name="Google Shape;276;p19"/>
          <p:cNvPicPr preferRelativeResize="0">
            <a:picLocks noGrp="1"/>
          </p:cNvPicPr>
          <p:nvPr>
            <p:ph type="body" idx="1"/>
          </p:nvPr>
        </p:nvPicPr>
        <p:blipFill rotWithShape="1">
          <a:blip r:embed="rId4">
            <a:alphaModFix/>
          </a:blip>
          <a:srcRect/>
          <a:stretch/>
        </p:blipFill>
        <p:spPr>
          <a:xfrm>
            <a:off x="6096000" y="1512411"/>
            <a:ext cx="4352925" cy="3514725"/>
          </a:xfrm>
          <a:prstGeom prst="rect">
            <a:avLst/>
          </a:prstGeom>
          <a:noFill/>
          <a:ln>
            <a:noFill/>
          </a:ln>
        </p:spPr>
      </p:pic>
      <p:sp>
        <p:nvSpPr>
          <p:cNvPr id="277" name="Google Shape;277;p19"/>
          <p:cNvSpPr txBox="1"/>
          <p:nvPr/>
        </p:nvSpPr>
        <p:spPr>
          <a:xfrm>
            <a:off x="942325" y="5540700"/>
            <a:ext cx="96981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292929"/>
                </a:solidFill>
                <a:latin typeface="Arial"/>
                <a:ea typeface="Arial"/>
                <a:cs typeface="Arial"/>
                <a:sym typeface="Arial"/>
              </a:rPr>
              <a:t>The sum of squared errors SSE output is </a:t>
            </a:r>
            <a:r>
              <a:rPr lang="en-US" sz="1800" b="0" i="1">
                <a:solidFill>
                  <a:srgbClr val="292929"/>
                </a:solidFill>
                <a:latin typeface="Arial"/>
                <a:ea typeface="Arial"/>
                <a:cs typeface="Arial"/>
                <a:sym typeface="Arial"/>
              </a:rPr>
              <a:t>5226.19</a:t>
            </a:r>
            <a:r>
              <a:rPr lang="en-US" sz="1800" b="0" i="0">
                <a:solidFill>
                  <a:srgbClr val="292929"/>
                </a:solidFill>
                <a:latin typeface="Arial"/>
                <a:ea typeface="Arial"/>
                <a:cs typeface="Arial"/>
                <a:sym typeface="Arial"/>
              </a:rPr>
              <a:t>. To do the best fit of line intercept, we need to apply a linear regression model to reduce the SSE value at minimum as possible.</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83" name="Google Shape;283;p20"/>
          <p:cNvSpPr txBox="1">
            <a:spLocks noGrp="1"/>
          </p:cNvSpPr>
          <p:nvPr>
            <p:ph type="body" idx="1"/>
          </p:nvPr>
        </p:nvSpPr>
        <p:spPr>
          <a:xfrm>
            <a:off x="655320" y="1825624"/>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92929"/>
              </a:buClr>
              <a:buSzPts val="2800"/>
              <a:buChar char="•"/>
            </a:pPr>
            <a:r>
              <a:rPr lang="en-US" b="0" i="0">
                <a:solidFill>
                  <a:srgbClr val="292929"/>
                </a:solidFill>
                <a:latin typeface="Arial"/>
                <a:ea typeface="Arial"/>
                <a:cs typeface="Arial"/>
                <a:sym typeface="Arial"/>
              </a:rPr>
              <a:t>To identify a slope intercept, we use the equation</a:t>
            </a:r>
            <a:endParaRPr/>
          </a:p>
          <a:p>
            <a:pPr marL="228600" lvl="0" indent="-228600" algn="l" rtl="0">
              <a:lnSpc>
                <a:spcPct val="90000"/>
              </a:lnSpc>
              <a:spcBef>
                <a:spcPts val="1000"/>
              </a:spcBef>
              <a:spcAft>
                <a:spcPts val="0"/>
              </a:spcAft>
              <a:buClr>
                <a:srgbClr val="292929"/>
              </a:buClr>
              <a:buSzPts val="2800"/>
              <a:buChar char="•"/>
            </a:pPr>
            <a:r>
              <a:rPr lang="en-US" b="1" i="0">
                <a:solidFill>
                  <a:srgbClr val="292929"/>
                </a:solidFill>
                <a:latin typeface="Arial"/>
                <a:ea typeface="Arial"/>
                <a:cs typeface="Arial"/>
                <a:sym typeface="Arial"/>
              </a:rPr>
              <a:t>y = m</a:t>
            </a:r>
            <a:r>
              <a:rPr lang="en-US" b="1" i="1">
                <a:solidFill>
                  <a:srgbClr val="292929"/>
                </a:solidFill>
                <a:latin typeface="Arial"/>
                <a:ea typeface="Arial"/>
                <a:cs typeface="Arial"/>
                <a:sym typeface="Arial"/>
              </a:rPr>
              <a:t>x</a:t>
            </a:r>
            <a:r>
              <a:rPr lang="en-US" b="1" i="0">
                <a:solidFill>
                  <a:srgbClr val="292929"/>
                </a:solidFill>
                <a:latin typeface="Arial"/>
                <a:ea typeface="Arial"/>
                <a:cs typeface="Arial"/>
                <a:sym typeface="Arial"/>
              </a:rPr>
              <a:t> + b,</a:t>
            </a:r>
            <a:endParaRPr b="0" i="0">
              <a:solidFill>
                <a:srgbClr val="292929"/>
              </a:solidFill>
              <a:latin typeface="Arial"/>
              <a:ea typeface="Arial"/>
              <a:cs typeface="Arial"/>
              <a:sym typeface="Arial"/>
            </a:endParaRPr>
          </a:p>
          <a:p>
            <a:pPr marL="228600" lvl="0" indent="-228600" algn="l" rtl="0">
              <a:lnSpc>
                <a:spcPct val="90000"/>
              </a:lnSpc>
              <a:spcBef>
                <a:spcPts val="1000"/>
              </a:spcBef>
              <a:spcAft>
                <a:spcPts val="0"/>
              </a:spcAft>
              <a:buClr>
                <a:srgbClr val="292929"/>
              </a:buClr>
              <a:buSzPts val="2800"/>
              <a:buFont typeface="Arial"/>
              <a:buChar char="•"/>
            </a:pPr>
            <a:r>
              <a:rPr lang="en-US" b="0" i="0">
                <a:solidFill>
                  <a:srgbClr val="292929"/>
                </a:solidFill>
                <a:latin typeface="Arial"/>
                <a:ea typeface="Arial"/>
                <a:cs typeface="Arial"/>
                <a:sym typeface="Arial"/>
              </a:rPr>
              <a:t>‘m’ is the slope</a:t>
            </a:r>
            <a:endParaRPr/>
          </a:p>
          <a:p>
            <a:pPr marL="228600" lvl="0" indent="-228600" algn="l" rtl="0">
              <a:lnSpc>
                <a:spcPct val="90000"/>
              </a:lnSpc>
              <a:spcBef>
                <a:spcPts val="1000"/>
              </a:spcBef>
              <a:spcAft>
                <a:spcPts val="0"/>
              </a:spcAft>
              <a:buClr>
                <a:srgbClr val="292929"/>
              </a:buClr>
              <a:buSzPts val="2800"/>
              <a:buFont typeface="Arial"/>
              <a:buChar char="•"/>
            </a:pPr>
            <a:r>
              <a:rPr lang="en-US" b="0" i="0">
                <a:solidFill>
                  <a:srgbClr val="292929"/>
                </a:solidFill>
                <a:latin typeface="Arial"/>
                <a:ea typeface="Arial"/>
                <a:cs typeface="Arial"/>
                <a:sym typeface="Arial"/>
              </a:rPr>
              <a:t>‘x’ → independent variables</a:t>
            </a:r>
            <a:endParaRPr/>
          </a:p>
          <a:p>
            <a:pPr marL="228600" lvl="0" indent="-228600" algn="l" rtl="0">
              <a:lnSpc>
                <a:spcPct val="90000"/>
              </a:lnSpc>
              <a:spcBef>
                <a:spcPts val="1000"/>
              </a:spcBef>
              <a:spcAft>
                <a:spcPts val="0"/>
              </a:spcAft>
              <a:buClr>
                <a:srgbClr val="292929"/>
              </a:buClr>
              <a:buSzPts val="2800"/>
              <a:buFont typeface="Arial"/>
              <a:buChar char="•"/>
            </a:pPr>
            <a:r>
              <a:rPr lang="en-US" b="0" i="0">
                <a:solidFill>
                  <a:srgbClr val="292929"/>
                </a:solidFill>
                <a:latin typeface="Arial"/>
                <a:ea typeface="Arial"/>
                <a:cs typeface="Arial"/>
                <a:sym typeface="Arial"/>
              </a:rPr>
              <a:t>‘b’ is intercept</a:t>
            </a:r>
            <a:endParaRPr/>
          </a:p>
          <a:p>
            <a:pPr marL="228600" lvl="0" indent="-228600" algn="l" rtl="0">
              <a:lnSpc>
                <a:spcPct val="90000"/>
              </a:lnSpc>
              <a:spcBef>
                <a:spcPts val="1000"/>
              </a:spcBef>
              <a:spcAft>
                <a:spcPts val="0"/>
              </a:spcAft>
              <a:buClr>
                <a:srgbClr val="292929"/>
              </a:buClr>
              <a:buSzPts val="2800"/>
              <a:buChar char="•"/>
            </a:pPr>
            <a:r>
              <a:rPr lang="en-US" b="0" i="0">
                <a:solidFill>
                  <a:srgbClr val="292929"/>
                </a:solidFill>
                <a:latin typeface="Arial"/>
                <a:ea typeface="Arial"/>
                <a:cs typeface="Arial"/>
                <a:sym typeface="Arial"/>
              </a:rPr>
              <a:t>We will use Ordinary Least Squares method to find the best line intercept (b) slope (m)</a:t>
            </a:r>
            <a:endParaRPr/>
          </a:p>
          <a:p>
            <a:pPr marL="228600" lvl="0" indent="-50800" algn="l" rtl="0">
              <a:lnSpc>
                <a:spcPct val="90000"/>
              </a:lnSpc>
              <a:spcBef>
                <a:spcPts val="1000"/>
              </a:spcBef>
              <a:spcAft>
                <a:spcPts val="0"/>
              </a:spcAft>
              <a:buClr>
                <a:schemeClr val="dk1"/>
              </a:buClr>
              <a:buSzPts val="2800"/>
              <a:buNone/>
            </a:pPr>
            <a:endParaRPr/>
          </a:p>
        </p:txBody>
      </p:sp>
      <p:pic>
        <p:nvPicPr>
          <p:cNvPr id="284" name="Google Shape;284;p20"/>
          <p:cNvPicPr preferRelativeResize="0"/>
          <p:nvPr/>
        </p:nvPicPr>
        <p:blipFill rotWithShape="1">
          <a:blip r:embed="rId3">
            <a:alphaModFix/>
          </a:blip>
          <a:srcRect/>
          <a:stretch/>
        </p:blipFill>
        <p:spPr>
          <a:xfrm>
            <a:off x="1161757" y="5504397"/>
            <a:ext cx="1781175" cy="752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90" name="Google Shape;290;p21"/>
          <p:cNvSpPr txBox="1">
            <a:spLocks noGrp="1"/>
          </p:cNvSpPr>
          <p:nvPr>
            <p:ph type="body" idx="1"/>
          </p:nvPr>
        </p:nvSpPr>
        <p:spPr>
          <a:xfrm>
            <a:off x="838200" y="140359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92929"/>
              </a:buClr>
              <a:buSzPts val="2800"/>
              <a:buChar char="•"/>
            </a:pPr>
            <a:r>
              <a:rPr lang="en-US" b="0" i="0">
                <a:solidFill>
                  <a:srgbClr val="292929"/>
                </a:solidFill>
                <a:latin typeface="Arial"/>
                <a:ea typeface="Arial"/>
                <a:cs typeface="Arial"/>
                <a:sym typeface="Arial"/>
              </a:rPr>
              <a:t>We need to calculate slope ‘m’ and line intercept ‘b’. Below is the simpler table to calculate those values.</a:t>
            </a:r>
            <a:endParaRPr/>
          </a:p>
        </p:txBody>
      </p:sp>
      <p:pic>
        <p:nvPicPr>
          <p:cNvPr id="291" name="Google Shape;291;p21"/>
          <p:cNvPicPr preferRelativeResize="0"/>
          <p:nvPr/>
        </p:nvPicPr>
        <p:blipFill rotWithShape="1">
          <a:blip r:embed="rId3">
            <a:alphaModFix/>
          </a:blip>
          <a:srcRect/>
          <a:stretch/>
        </p:blipFill>
        <p:spPr>
          <a:xfrm>
            <a:off x="1940462" y="2482850"/>
            <a:ext cx="4991100" cy="4010025"/>
          </a:xfrm>
          <a:prstGeom prst="rect">
            <a:avLst/>
          </a:prstGeom>
          <a:noFill/>
          <a:ln>
            <a:noFill/>
          </a:ln>
        </p:spPr>
      </p:pic>
      <p:sp>
        <p:nvSpPr>
          <p:cNvPr id="292" name="Google Shape;292;p21"/>
          <p:cNvSpPr txBox="1"/>
          <p:nvPr/>
        </p:nvSpPr>
        <p:spPr>
          <a:xfrm>
            <a:off x="7053630" y="2840600"/>
            <a:ext cx="388722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292929"/>
                </a:solidFill>
                <a:latin typeface="Arial"/>
                <a:ea typeface="Arial"/>
                <a:cs typeface="Arial"/>
                <a:sym typeface="Arial"/>
              </a:rPr>
              <a:t>m = 1037.8 / 216.19</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292929"/>
                </a:solidFill>
                <a:latin typeface="Arial"/>
                <a:ea typeface="Arial"/>
                <a:cs typeface="Arial"/>
                <a:sym typeface="Arial"/>
              </a:rPr>
              <a:t>m = 4.80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292929"/>
                </a:solidFill>
                <a:latin typeface="Arial"/>
                <a:ea typeface="Arial"/>
                <a:cs typeface="Arial"/>
                <a:sym typeface="Arial"/>
              </a:rPr>
              <a:t>b = 45.44 - 4.80 * 7.56 = 9.15</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292929"/>
                </a:solidFill>
                <a:latin typeface="Arial"/>
                <a:ea typeface="Arial"/>
                <a:cs typeface="Arial"/>
                <a:sym typeface="Arial"/>
              </a:rPr>
              <a:t>Hence, </a:t>
            </a:r>
            <a:r>
              <a:rPr lang="en-US" sz="1800" b="1" i="0">
                <a:solidFill>
                  <a:srgbClr val="292929"/>
                </a:solidFill>
                <a:latin typeface="Arial"/>
                <a:ea typeface="Arial"/>
                <a:cs typeface="Arial"/>
                <a:sym typeface="Arial"/>
              </a:rPr>
              <a:t>y = m</a:t>
            </a:r>
            <a:r>
              <a:rPr lang="en-US" sz="1800" b="1" i="1">
                <a:solidFill>
                  <a:srgbClr val="292929"/>
                </a:solidFill>
                <a:latin typeface="Arial"/>
                <a:ea typeface="Arial"/>
                <a:cs typeface="Arial"/>
                <a:sym typeface="Arial"/>
              </a:rPr>
              <a:t>x + b → 4.80x + 9.15</a:t>
            </a:r>
            <a:br>
              <a:rPr lang="en-US" sz="1800" b="1" i="1">
                <a:solidFill>
                  <a:srgbClr val="292929"/>
                </a:solidFill>
                <a:latin typeface="Arial"/>
                <a:ea typeface="Arial"/>
                <a:cs typeface="Arial"/>
                <a:sym typeface="Arial"/>
              </a:rPr>
            </a:br>
            <a:r>
              <a:rPr lang="en-US" sz="1800" b="1" i="1">
                <a:solidFill>
                  <a:srgbClr val="292929"/>
                </a:solidFill>
                <a:latin typeface="Arial"/>
                <a:ea typeface="Arial"/>
                <a:cs typeface="Arial"/>
                <a:sym typeface="Arial"/>
              </a:rPr>
              <a:t>y = 4.80x + 9.15</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98" name="Google Shape;298;p22"/>
          <p:cNvSpPr txBox="1">
            <a:spLocks noGrp="1"/>
          </p:cNvSpPr>
          <p:nvPr>
            <p:ph type="body" idx="1"/>
          </p:nvPr>
        </p:nvSpPr>
        <p:spPr>
          <a:xfrm>
            <a:off x="387006" y="1825625"/>
            <a:ext cx="5520397"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92929"/>
              </a:buClr>
              <a:buSzPts val="2800"/>
              <a:buChar char="•"/>
            </a:pPr>
            <a:r>
              <a:rPr lang="en-US" b="0" i="0">
                <a:solidFill>
                  <a:srgbClr val="292929"/>
                </a:solidFill>
                <a:latin typeface="Arial"/>
                <a:ea typeface="Arial"/>
                <a:cs typeface="Arial"/>
                <a:sym typeface="Arial"/>
              </a:rPr>
              <a:t>Let us calculate SSE again by using our output equation.</a:t>
            </a:r>
            <a:endParaRPr/>
          </a:p>
          <a:p>
            <a:pPr marL="228600" lvl="0" indent="-228600" algn="l" rtl="0">
              <a:lnSpc>
                <a:spcPct val="90000"/>
              </a:lnSpc>
              <a:spcBef>
                <a:spcPts val="1000"/>
              </a:spcBef>
              <a:spcAft>
                <a:spcPts val="0"/>
              </a:spcAft>
              <a:buClr>
                <a:srgbClr val="292929"/>
              </a:buClr>
              <a:buSzPts val="2800"/>
              <a:buChar char="•"/>
            </a:pPr>
            <a:r>
              <a:rPr lang="en-US" b="0" i="0">
                <a:solidFill>
                  <a:srgbClr val="292929"/>
                </a:solidFill>
                <a:latin typeface="Arial"/>
                <a:ea typeface="Arial"/>
                <a:cs typeface="Arial"/>
                <a:sym typeface="Arial"/>
              </a:rPr>
              <a:t>Now Sum of Squared Error got reduced significantly from 5226.19 to 245.38.</a:t>
            </a:r>
            <a:r>
              <a:rPr lang="en-US"/>
              <a:t/>
            </a:r>
            <a:br>
              <a:rPr lang="en-US"/>
            </a:br>
            <a:endParaRPr/>
          </a:p>
        </p:txBody>
      </p:sp>
      <p:pic>
        <p:nvPicPr>
          <p:cNvPr id="299" name="Google Shape;299;p22"/>
          <p:cNvPicPr preferRelativeResize="0"/>
          <p:nvPr/>
        </p:nvPicPr>
        <p:blipFill rotWithShape="1">
          <a:blip r:embed="rId3">
            <a:alphaModFix/>
          </a:blip>
          <a:srcRect/>
          <a:stretch/>
        </p:blipFill>
        <p:spPr>
          <a:xfrm>
            <a:off x="6102787" y="1825625"/>
            <a:ext cx="5752616" cy="38577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1" i="0">
                <a:solidFill>
                  <a:srgbClr val="333333"/>
                </a:solidFill>
                <a:latin typeface="Arial"/>
                <a:ea typeface="Arial"/>
                <a:cs typeface="Arial"/>
                <a:sym typeface="Arial"/>
              </a:rPr>
              <a:t> Low variability</a:t>
            </a:r>
            <a:endParaRPr/>
          </a:p>
        </p:txBody>
      </p:sp>
      <p:sp>
        <p:nvSpPr>
          <p:cNvPr id="305" name="Google Shape;305;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0" i="0">
                <a:solidFill>
                  <a:srgbClr val="333333"/>
                </a:solidFill>
                <a:latin typeface="Arial"/>
                <a:ea typeface="Arial"/>
                <a:cs typeface="Arial"/>
                <a:sym typeface="Arial"/>
              </a:rPr>
              <a:t>In general, independent variables need some variability in order to be good predictors in a model.</a:t>
            </a:r>
            <a:endParaRPr/>
          </a:p>
          <a:p>
            <a:pPr marL="228600" lvl="0" indent="-228600" algn="l" rtl="0">
              <a:lnSpc>
                <a:spcPct val="90000"/>
              </a:lnSpc>
              <a:spcBef>
                <a:spcPts val="1000"/>
              </a:spcBef>
              <a:spcAft>
                <a:spcPts val="0"/>
              </a:spcAft>
              <a:buClr>
                <a:srgbClr val="333333"/>
              </a:buClr>
              <a:buSzPts val="2800"/>
              <a:buChar char="•"/>
            </a:pPr>
            <a:r>
              <a:rPr lang="en-US" b="0" i="0">
                <a:solidFill>
                  <a:srgbClr val="333333"/>
                </a:solidFill>
                <a:latin typeface="Arial"/>
                <a:ea typeface="Arial"/>
                <a:cs typeface="Arial"/>
                <a:sym typeface="Arial"/>
              </a:rPr>
              <a:t>For instance, an underrepresented category in a variable (for example 195 non-smokers versus 5 smokers) is, in most cases, a good reason to remove the variable from the model. Although sometimes these variables can still be useful, for instance, when the outcome is lung cancer, even a highly skewed </a:t>
            </a:r>
            <a:r>
              <a:rPr lang="en-US" b="0" i="1">
                <a:solidFill>
                  <a:srgbClr val="333333"/>
                </a:solidFill>
                <a:latin typeface="Arial"/>
                <a:ea typeface="Arial"/>
                <a:cs typeface="Arial"/>
                <a:sym typeface="Arial"/>
              </a:rPr>
              <a:t>smoking</a:t>
            </a:r>
            <a:r>
              <a:rPr lang="en-US" b="0" i="0">
                <a:solidFill>
                  <a:srgbClr val="333333"/>
                </a:solidFill>
                <a:latin typeface="Arial"/>
                <a:ea typeface="Arial"/>
                <a:cs typeface="Arial"/>
                <a:sym typeface="Arial"/>
              </a:rPr>
              <a:t> variable may still be a good predictor.</a:t>
            </a:r>
            <a:endParaRPr/>
          </a:p>
          <a:p>
            <a:pPr marL="228600" lvl="0" indent="-228600" algn="l" rtl="0">
              <a:lnSpc>
                <a:spcPct val="90000"/>
              </a:lnSpc>
              <a:spcBef>
                <a:spcPts val="1000"/>
              </a:spcBef>
              <a:spcAft>
                <a:spcPts val="0"/>
              </a:spcAft>
              <a:buClr>
                <a:srgbClr val="333333"/>
              </a:buClr>
              <a:buSzPts val="2800"/>
              <a:buChar char="•"/>
            </a:pPr>
            <a:r>
              <a:rPr lang="en-US" sz="2800" b="0" i="0" u="none" strike="noStrike" cap="none">
                <a:solidFill>
                  <a:srgbClr val="333333"/>
                </a:solidFill>
                <a:latin typeface="Arial"/>
                <a:ea typeface="Arial"/>
                <a:cs typeface="Arial"/>
                <a:sym typeface="Arial"/>
              </a:rPr>
              <a:t>Variability should be considered together with the importance of the variable to decide whether to exclude it or not from the model.</a:t>
            </a:r>
            <a:r>
              <a:rPr lang="en-US" sz="2000" b="0" i="0" u="none" strike="noStrike" cap="none">
                <a:solidFill>
                  <a:schemeClr val="dk1"/>
                </a:solidFill>
              </a:rPr>
              <a:t> </a:t>
            </a:r>
            <a:endParaRPr sz="3600" b="0" i="0" u="none" strike="noStrike" cap="none">
              <a:solidFill>
                <a:schemeClr val="dk1"/>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solidFill>
                <a:srgbClr val="333333"/>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
        <p:nvSpPr>
          <p:cNvPr id="306" name="Google Shape;306;p23"/>
          <p:cNvSpPr/>
          <p:nvPr/>
        </p:nvSpPr>
        <p:spPr>
          <a:xfrm>
            <a:off x="0" y="-38099"/>
            <a:ext cx="65" cy="533399"/>
          </a:xfrm>
          <a:prstGeom prst="rect">
            <a:avLst/>
          </a:prstGeom>
          <a:noFill/>
          <a:ln>
            <a:noFill/>
          </a:ln>
        </p:spPr>
        <p:txBody>
          <a:bodyPr spcFirstLastPara="1" wrap="square" lIns="0" tIns="0" rIns="0" bIns="2539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12" name="Google Shape;312;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Importing the libraries</a:t>
            </a:r>
            <a:endParaRPr/>
          </a:p>
          <a:p>
            <a:pPr marL="228600" lvl="0" indent="-228600" algn="l" rtl="0">
              <a:lnSpc>
                <a:spcPct val="90000"/>
              </a:lnSpc>
              <a:spcBef>
                <a:spcPts val="1000"/>
              </a:spcBef>
              <a:spcAft>
                <a:spcPts val="0"/>
              </a:spcAft>
              <a:buClr>
                <a:schemeClr val="dk1"/>
              </a:buClr>
              <a:buSzPct val="100000"/>
              <a:buChar char="•"/>
            </a:pPr>
            <a:r>
              <a:rPr lang="en-US"/>
              <a:t>Importing the dataset</a:t>
            </a:r>
            <a:endParaRPr/>
          </a:p>
          <a:p>
            <a:pPr marL="228600" lvl="0" indent="-228600" algn="l" rtl="0">
              <a:lnSpc>
                <a:spcPct val="90000"/>
              </a:lnSpc>
              <a:spcBef>
                <a:spcPts val="1000"/>
              </a:spcBef>
              <a:spcAft>
                <a:spcPts val="0"/>
              </a:spcAft>
              <a:buClr>
                <a:schemeClr val="dk1"/>
              </a:buClr>
              <a:buSzPct val="100000"/>
              <a:buChar char="•"/>
            </a:pPr>
            <a:r>
              <a:rPr lang="en-US"/>
              <a:t>Splitting the dataset into the Training set and Test set</a:t>
            </a:r>
            <a:endParaRPr/>
          </a:p>
          <a:p>
            <a:pPr marL="228600" lvl="0" indent="-228600" algn="l" rtl="0">
              <a:lnSpc>
                <a:spcPct val="90000"/>
              </a:lnSpc>
              <a:spcBef>
                <a:spcPts val="1000"/>
              </a:spcBef>
              <a:spcAft>
                <a:spcPts val="0"/>
              </a:spcAft>
              <a:buClr>
                <a:schemeClr val="dk1"/>
              </a:buClr>
              <a:buSzPct val="100000"/>
              <a:buChar char="•"/>
            </a:pPr>
            <a:r>
              <a:rPr lang="en-US"/>
              <a:t>Training the Simple Linear Regression model on the Training set</a:t>
            </a:r>
            <a:endParaRPr/>
          </a:p>
          <a:p>
            <a:pPr marL="228600" lvl="0" indent="-228600" algn="l" rtl="0">
              <a:lnSpc>
                <a:spcPct val="90000"/>
              </a:lnSpc>
              <a:spcBef>
                <a:spcPts val="1000"/>
              </a:spcBef>
              <a:spcAft>
                <a:spcPts val="0"/>
              </a:spcAft>
              <a:buClr>
                <a:schemeClr val="dk1"/>
              </a:buClr>
              <a:buSzPct val="100000"/>
              <a:buChar char="•"/>
            </a:pPr>
            <a:r>
              <a:rPr lang="en-US"/>
              <a:t>Predicting the Test set results</a:t>
            </a:r>
            <a:endParaRPr/>
          </a:p>
          <a:p>
            <a:pPr marL="228600" lvl="0" indent="-228600" algn="l" rtl="0">
              <a:lnSpc>
                <a:spcPct val="90000"/>
              </a:lnSpc>
              <a:spcBef>
                <a:spcPts val="1000"/>
              </a:spcBef>
              <a:spcAft>
                <a:spcPts val="0"/>
              </a:spcAft>
              <a:buClr>
                <a:schemeClr val="dk1"/>
              </a:buClr>
              <a:buSzPct val="100000"/>
              <a:buChar char="•"/>
            </a:pPr>
            <a:r>
              <a:rPr lang="en-US"/>
              <a:t>Visualising the Training set results</a:t>
            </a:r>
            <a:endParaRPr/>
          </a:p>
          <a:p>
            <a:pPr marL="228600" lvl="0" indent="-228600" algn="l" rtl="0">
              <a:lnSpc>
                <a:spcPct val="90000"/>
              </a:lnSpc>
              <a:spcBef>
                <a:spcPts val="1000"/>
              </a:spcBef>
              <a:spcAft>
                <a:spcPts val="0"/>
              </a:spcAft>
              <a:buClr>
                <a:schemeClr val="dk1"/>
              </a:buClr>
              <a:buSzPct val="100000"/>
              <a:buChar char="•"/>
            </a:pPr>
            <a:r>
              <a:rPr lang="en-US"/>
              <a:t>Visualising the Test set results</a:t>
            </a:r>
            <a:endParaRPr/>
          </a:p>
          <a:p>
            <a:pPr marL="228600" lvl="0" indent="-228600" algn="l" rtl="0">
              <a:lnSpc>
                <a:spcPct val="90000"/>
              </a:lnSpc>
              <a:spcBef>
                <a:spcPts val="1000"/>
              </a:spcBef>
              <a:spcAft>
                <a:spcPts val="0"/>
              </a:spcAft>
              <a:buClr>
                <a:schemeClr val="dk1"/>
              </a:buClr>
              <a:buSzPct val="100000"/>
              <a:buChar char="•"/>
            </a:pPr>
            <a:r>
              <a:rPr lang="en-US"/>
              <a:t>Making a single prediction (for example the salary of an employee with 12 years of experience)</a:t>
            </a:r>
            <a:endParaRPr/>
          </a:p>
          <a:p>
            <a:pPr marL="228600" lvl="0" indent="-228600" algn="l" rtl="0">
              <a:lnSpc>
                <a:spcPct val="90000"/>
              </a:lnSpc>
              <a:spcBef>
                <a:spcPts val="1000"/>
              </a:spcBef>
              <a:spcAft>
                <a:spcPts val="0"/>
              </a:spcAft>
              <a:buClr>
                <a:schemeClr val="dk1"/>
              </a:buClr>
              <a:buSzPct val="100000"/>
              <a:buChar char="•"/>
            </a:pPr>
            <a:r>
              <a:rPr lang="en-US"/>
              <a:t>Getting the final linear regression equation with the values of the coefficients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Importing the libraries</a:t>
            </a:r>
            <a:br>
              <a:rPr lang="en-US"/>
            </a:br>
            <a:endParaRPr/>
          </a:p>
        </p:txBody>
      </p:sp>
      <p:sp>
        <p:nvSpPr>
          <p:cNvPr id="318" name="Google Shape;318;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import numpy as np</a:t>
            </a:r>
            <a:endParaRPr/>
          </a:p>
          <a:p>
            <a:pPr marL="228600" lvl="0" indent="-228600" algn="l" rtl="0">
              <a:lnSpc>
                <a:spcPct val="90000"/>
              </a:lnSpc>
              <a:spcBef>
                <a:spcPts val="1000"/>
              </a:spcBef>
              <a:spcAft>
                <a:spcPts val="0"/>
              </a:spcAft>
              <a:buClr>
                <a:schemeClr val="dk1"/>
              </a:buClr>
              <a:buSzPts val="2800"/>
              <a:buChar char="•"/>
            </a:pPr>
            <a:r>
              <a:rPr lang="en-US"/>
              <a:t>import matplotlib.pyplot as plt</a:t>
            </a:r>
            <a:endParaRPr/>
          </a:p>
          <a:p>
            <a:pPr marL="228600" lvl="0" indent="-228600" algn="l" rtl="0">
              <a:lnSpc>
                <a:spcPct val="90000"/>
              </a:lnSpc>
              <a:spcBef>
                <a:spcPts val="1000"/>
              </a:spcBef>
              <a:spcAft>
                <a:spcPts val="0"/>
              </a:spcAft>
              <a:buClr>
                <a:schemeClr val="dk1"/>
              </a:buClr>
              <a:buSzPts val="2800"/>
              <a:buChar char="•"/>
            </a:pPr>
            <a:r>
              <a:rPr lang="en-US"/>
              <a:t>import pandas as pd</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Importing the dataset</a:t>
            </a:r>
            <a:br>
              <a:rPr lang="en-US"/>
            </a:br>
            <a:endParaRPr/>
          </a:p>
        </p:txBody>
      </p:sp>
      <p:sp>
        <p:nvSpPr>
          <p:cNvPr id="324" name="Google Shape;324;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dataset = pd.read_csv('Salary_Data.csv')</a:t>
            </a:r>
            <a:endParaRPr/>
          </a:p>
          <a:p>
            <a:pPr marL="228600" lvl="0" indent="-228600" algn="l" rtl="0">
              <a:lnSpc>
                <a:spcPct val="90000"/>
              </a:lnSpc>
              <a:spcBef>
                <a:spcPts val="1000"/>
              </a:spcBef>
              <a:spcAft>
                <a:spcPts val="0"/>
              </a:spcAft>
              <a:buClr>
                <a:schemeClr val="dk1"/>
              </a:buClr>
              <a:buSzPts val="2800"/>
              <a:buChar char="•"/>
            </a:pPr>
            <a:r>
              <a:rPr lang="en-US"/>
              <a:t>X = dataset.iloc[:, :-1].values</a:t>
            </a:r>
            <a:endParaRPr/>
          </a:p>
          <a:p>
            <a:pPr marL="228600" lvl="0" indent="-228600" algn="l" rtl="0">
              <a:lnSpc>
                <a:spcPct val="90000"/>
              </a:lnSpc>
              <a:spcBef>
                <a:spcPts val="1000"/>
              </a:spcBef>
              <a:spcAft>
                <a:spcPts val="0"/>
              </a:spcAft>
              <a:buClr>
                <a:schemeClr val="dk1"/>
              </a:buClr>
              <a:buSzPts val="2800"/>
              <a:buChar char="•"/>
            </a:pPr>
            <a:r>
              <a:rPr lang="en-US"/>
              <a:t>y = dataset.iloc[:, -1].values</a:t>
            </a:r>
            <a:endParaRPr/>
          </a:p>
          <a:p>
            <a:pPr marL="228600" lvl="0" indent="-50800" algn="l" rtl="0">
              <a:lnSpc>
                <a:spcPct val="90000"/>
              </a:lnSpc>
              <a:spcBef>
                <a:spcPts val="1000"/>
              </a:spcBef>
              <a:spcAft>
                <a:spcPts val="0"/>
              </a:spcAft>
              <a:buClr>
                <a:schemeClr val="dk1"/>
              </a:buClr>
              <a:buSzPts val="2800"/>
              <a:buNone/>
            </a:pPr>
            <a:endParaRPr/>
          </a:p>
        </p:txBody>
      </p:sp>
      <p:graphicFrame>
        <p:nvGraphicFramePr>
          <p:cNvPr id="325" name="Google Shape;325;p26"/>
          <p:cNvGraphicFramePr/>
          <p:nvPr/>
        </p:nvGraphicFramePr>
        <p:xfrm>
          <a:off x="6918960" y="2564846"/>
          <a:ext cx="4084300" cy="2872800"/>
        </p:xfrm>
        <a:graphic>
          <a:graphicData uri="http://schemas.openxmlformats.org/drawingml/2006/table">
            <a:tbl>
              <a:tblPr>
                <a:noFill/>
                <a:tableStyleId>{AFAA0F92-C0F2-4B92-86BC-F8EBB58A3E90}</a:tableStyleId>
              </a:tblPr>
              <a:tblGrid>
                <a:gridCol w="2042150"/>
                <a:gridCol w="2042150"/>
              </a:tblGrid>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YearsExperience</a:t>
                      </a:r>
                      <a:endParaRPr sz="2000" b="0" i="0" u="none" strike="noStrike" cap="none">
                        <a:solidFill>
                          <a:srgbClr val="000000"/>
                        </a:solidFill>
                        <a:latin typeface="Calibri"/>
                        <a:ea typeface="Calibri"/>
                        <a:cs typeface="Calibri"/>
                        <a:sym typeface="Calibri"/>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Salary</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1.1</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39343</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1.3</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46205</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1.5</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37731</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2</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43525</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2.2</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39891</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2.9</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56642</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9100">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3</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i="0" u="none" strike="noStrike" cap="none">
                          <a:solidFill>
                            <a:srgbClr val="000000"/>
                          </a:solidFill>
                          <a:latin typeface="Calibri"/>
                          <a:ea typeface="Calibri"/>
                          <a:cs typeface="Calibri"/>
                          <a:sym typeface="Calibri"/>
                        </a:rPr>
                        <a:t>60150</a:t>
                      </a:r>
                      <a:endParaRPr/>
                    </a:p>
                  </a:txBody>
                  <a:tcPr marL="9525" marR="9525" marT="95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326" name="Google Shape;326;p26"/>
          <p:cNvSpPr txBox="1"/>
          <p:nvPr/>
        </p:nvSpPr>
        <p:spPr>
          <a:xfrm>
            <a:off x="7909560" y="5654040"/>
            <a:ext cx="24841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Total -30 Rows…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Splitting the dataset into the Training set and Test set</a:t>
            </a:r>
            <a:br>
              <a:rPr lang="en-US"/>
            </a:br>
            <a:endParaRPr/>
          </a:p>
        </p:txBody>
      </p:sp>
      <p:sp>
        <p:nvSpPr>
          <p:cNvPr id="332" name="Google Shape;332;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from sklearn.model_selection import train_test_split</a:t>
            </a:r>
            <a:endParaRPr/>
          </a:p>
          <a:p>
            <a:pPr marL="228600" lvl="0" indent="-228600" algn="l" rtl="0">
              <a:lnSpc>
                <a:spcPct val="90000"/>
              </a:lnSpc>
              <a:spcBef>
                <a:spcPts val="1000"/>
              </a:spcBef>
              <a:spcAft>
                <a:spcPts val="0"/>
              </a:spcAft>
              <a:buClr>
                <a:schemeClr val="dk1"/>
              </a:buClr>
              <a:buSzPts val="2800"/>
              <a:buChar char="•"/>
            </a:pPr>
            <a:r>
              <a:rPr lang="en-US"/>
              <a:t>X_train, X_test, y_train, y_test = train_test_split(X, y, test_size = 1/3, random_state = 0)</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Training the Simple Linear Regression model on the Training set</a:t>
            </a:r>
            <a:endParaRPr/>
          </a:p>
        </p:txBody>
      </p:sp>
      <p:sp>
        <p:nvSpPr>
          <p:cNvPr id="338" name="Google Shape;338;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from sklearn.linear_model import LinearRegression</a:t>
            </a:r>
            <a:endParaRPr/>
          </a:p>
          <a:p>
            <a:pPr marL="228600" lvl="0" indent="-228600" algn="l" rtl="0">
              <a:lnSpc>
                <a:spcPct val="90000"/>
              </a:lnSpc>
              <a:spcBef>
                <a:spcPts val="1000"/>
              </a:spcBef>
              <a:spcAft>
                <a:spcPts val="0"/>
              </a:spcAft>
              <a:buClr>
                <a:schemeClr val="dk1"/>
              </a:buClr>
              <a:buSzPts val="2800"/>
              <a:buChar char="•"/>
            </a:pPr>
            <a:r>
              <a:rPr lang="en-US"/>
              <a:t>regressor = LinearRegression()</a:t>
            </a:r>
            <a:endParaRPr/>
          </a:p>
          <a:p>
            <a:pPr marL="228600" lvl="0" indent="-228600" algn="l" rtl="0">
              <a:lnSpc>
                <a:spcPct val="90000"/>
              </a:lnSpc>
              <a:spcBef>
                <a:spcPts val="1000"/>
              </a:spcBef>
              <a:spcAft>
                <a:spcPts val="0"/>
              </a:spcAft>
              <a:buClr>
                <a:schemeClr val="dk1"/>
              </a:buClr>
              <a:buSzPts val="2800"/>
              <a:buChar char="•"/>
            </a:pPr>
            <a:r>
              <a:rPr lang="en-US"/>
              <a:t>regressor.fit(X_train, y_train)</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Predicting the Test set results</a:t>
            </a:r>
            <a:br>
              <a:rPr lang="en-US"/>
            </a:br>
            <a:endParaRPr/>
          </a:p>
        </p:txBody>
      </p:sp>
      <p:sp>
        <p:nvSpPr>
          <p:cNvPr id="344" name="Google Shape;344;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y_pred = regressor.predict(X_test)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Visualizing the Training set results</a:t>
            </a:r>
            <a:br>
              <a:rPr lang="en-US"/>
            </a:br>
            <a:endParaRPr/>
          </a:p>
        </p:txBody>
      </p:sp>
      <p:sp>
        <p:nvSpPr>
          <p:cNvPr id="350" name="Google Shape;350;p30"/>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plt.scatter(X_train, y_train, color = 'red')</a:t>
            </a:r>
            <a:endParaRPr/>
          </a:p>
          <a:p>
            <a:pPr marL="228600" lvl="0" indent="-228600" algn="l" rtl="0">
              <a:lnSpc>
                <a:spcPct val="90000"/>
              </a:lnSpc>
              <a:spcBef>
                <a:spcPts val="1000"/>
              </a:spcBef>
              <a:spcAft>
                <a:spcPts val="0"/>
              </a:spcAft>
              <a:buClr>
                <a:schemeClr val="dk1"/>
              </a:buClr>
              <a:buSzPts val="2800"/>
              <a:buChar char="•"/>
            </a:pPr>
            <a:r>
              <a:rPr lang="en-US"/>
              <a:t>plt.plot(X_train, regressor.predict(X_train), color = 'blue')</a:t>
            </a:r>
            <a:endParaRPr/>
          </a:p>
          <a:p>
            <a:pPr marL="228600" lvl="0" indent="-228600" algn="l" rtl="0">
              <a:lnSpc>
                <a:spcPct val="90000"/>
              </a:lnSpc>
              <a:spcBef>
                <a:spcPts val="1000"/>
              </a:spcBef>
              <a:spcAft>
                <a:spcPts val="0"/>
              </a:spcAft>
              <a:buClr>
                <a:schemeClr val="dk1"/>
              </a:buClr>
              <a:buSzPts val="2800"/>
              <a:buChar char="•"/>
            </a:pPr>
            <a:r>
              <a:rPr lang="en-US"/>
              <a:t>plt.title('Salary vs Experience (Training set)')</a:t>
            </a:r>
            <a:endParaRPr/>
          </a:p>
          <a:p>
            <a:pPr marL="228600" lvl="0" indent="-228600" algn="l" rtl="0">
              <a:lnSpc>
                <a:spcPct val="90000"/>
              </a:lnSpc>
              <a:spcBef>
                <a:spcPts val="1000"/>
              </a:spcBef>
              <a:spcAft>
                <a:spcPts val="0"/>
              </a:spcAft>
              <a:buClr>
                <a:schemeClr val="dk1"/>
              </a:buClr>
              <a:buSzPts val="2800"/>
              <a:buChar char="•"/>
            </a:pPr>
            <a:r>
              <a:rPr lang="en-US"/>
              <a:t>plt.xlabel('Years of Experience')</a:t>
            </a:r>
            <a:endParaRPr/>
          </a:p>
          <a:p>
            <a:pPr marL="228600" lvl="0" indent="-228600" algn="l" rtl="0">
              <a:lnSpc>
                <a:spcPct val="90000"/>
              </a:lnSpc>
              <a:spcBef>
                <a:spcPts val="1000"/>
              </a:spcBef>
              <a:spcAft>
                <a:spcPts val="0"/>
              </a:spcAft>
              <a:buClr>
                <a:schemeClr val="dk1"/>
              </a:buClr>
              <a:buSzPts val="2800"/>
              <a:buChar char="•"/>
            </a:pPr>
            <a:r>
              <a:rPr lang="en-US"/>
              <a:t>plt.ylabel('Salary')</a:t>
            </a:r>
            <a:endParaRPr/>
          </a:p>
          <a:p>
            <a:pPr marL="228600" lvl="0" indent="-228600" algn="l" rtl="0">
              <a:lnSpc>
                <a:spcPct val="90000"/>
              </a:lnSpc>
              <a:spcBef>
                <a:spcPts val="1000"/>
              </a:spcBef>
              <a:spcAft>
                <a:spcPts val="0"/>
              </a:spcAft>
              <a:buClr>
                <a:schemeClr val="dk1"/>
              </a:buClr>
              <a:buSzPts val="2800"/>
              <a:buChar char="•"/>
            </a:pPr>
            <a:r>
              <a:rPr lang="en-US"/>
              <a:t>plt.show()</a:t>
            </a:r>
            <a:endParaRPr/>
          </a:p>
          <a:p>
            <a:pPr marL="228600" lvl="0" indent="-50800" algn="l" rtl="0">
              <a:lnSpc>
                <a:spcPct val="90000"/>
              </a:lnSpc>
              <a:spcBef>
                <a:spcPts val="1000"/>
              </a:spcBef>
              <a:spcAft>
                <a:spcPts val="0"/>
              </a:spcAft>
              <a:buClr>
                <a:schemeClr val="dk1"/>
              </a:buClr>
              <a:buSzPts val="2800"/>
              <a:buNone/>
            </a:pPr>
            <a:endParaRPr/>
          </a:p>
        </p:txBody>
      </p:sp>
      <p:pic>
        <p:nvPicPr>
          <p:cNvPr id="351" name="Google Shape;351;p30"/>
          <p:cNvPicPr preferRelativeResize="0"/>
          <p:nvPr/>
        </p:nvPicPr>
        <p:blipFill rotWithShape="1">
          <a:blip r:embed="rId3">
            <a:alphaModFix/>
          </a:blip>
          <a:srcRect/>
          <a:stretch/>
        </p:blipFill>
        <p:spPr>
          <a:xfrm>
            <a:off x="6406023" y="3305908"/>
            <a:ext cx="4496439" cy="307127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Visualising the Test set results</a:t>
            </a:r>
            <a:endParaRPr/>
          </a:p>
        </p:txBody>
      </p:sp>
      <p:sp>
        <p:nvSpPr>
          <p:cNvPr id="357" name="Google Shape;357;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plt.scatter(X_test, y_test, color = 'red')</a:t>
            </a:r>
            <a:endParaRPr/>
          </a:p>
          <a:p>
            <a:pPr marL="228600" lvl="0" indent="-228600" algn="l" rtl="0">
              <a:lnSpc>
                <a:spcPct val="90000"/>
              </a:lnSpc>
              <a:spcBef>
                <a:spcPts val="1000"/>
              </a:spcBef>
              <a:spcAft>
                <a:spcPts val="0"/>
              </a:spcAft>
              <a:buClr>
                <a:schemeClr val="dk1"/>
              </a:buClr>
              <a:buSzPts val="2800"/>
              <a:buChar char="•"/>
            </a:pPr>
            <a:r>
              <a:rPr lang="en-US"/>
              <a:t>plt.plot(X_test, regressor.predict(X_test), color = 'blue')</a:t>
            </a:r>
            <a:endParaRPr/>
          </a:p>
          <a:p>
            <a:pPr marL="228600" lvl="0" indent="-228600" algn="l" rtl="0">
              <a:lnSpc>
                <a:spcPct val="90000"/>
              </a:lnSpc>
              <a:spcBef>
                <a:spcPts val="1000"/>
              </a:spcBef>
              <a:spcAft>
                <a:spcPts val="0"/>
              </a:spcAft>
              <a:buClr>
                <a:schemeClr val="dk1"/>
              </a:buClr>
              <a:buSzPts val="2800"/>
              <a:buChar char="•"/>
            </a:pPr>
            <a:r>
              <a:rPr lang="en-US"/>
              <a:t>plt.title('Salary vs Experience (Test set)')</a:t>
            </a:r>
            <a:endParaRPr/>
          </a:p>
          <a:p>
            <a:pPr marL="228600" lvl="0" indent="-228600" algn="l" rtl="0">
              <a:lnSpc>
                <a:spcPct val="90000"/>
              </a:lnSpc>
              <a:spcBef>
                <a:spcPts val="1000"/>
              </a:spcBef>
              <a:spcAft>
                <a:spcPts val="0"/>
              </a:spcAft>
              <a:buClr>
                <a:schemeClr val="dk1"/>
              </a:buClr>
              <a:buSzPts val="2800"/>
              <a:buChar char="•"/>
            </a:pPr>
            <a:r>
              <a:rPr lang="en-US"/>
              <a:t>plt.xlabel('Years of Experience')</a:t>
            </a:r>
            <a:endParaRPr/>
          </a:p>
          <a:p>
            <a:pPr marL="228600" lvl="0" indent="-228600" algn="l" rtl="0">
              <a:lnSpc>
                <a:spcPct val="90000"/>
              </a:lnSpc>
              <a:spcBef>
                <a:spcPts val="1000"/>
              </a:spcBef>
              <a:spcAft>
                <a:spcPts val="0"/>
              </a:spcAft>
              <a:buClr>
                <a:schemeClr val="dk1"/>
              </a:buClr>
              <a:buSzPts val="2800"/>
              <a:buChar char="•"/>
            </a:pPr>
            <a:r>
              <a:rPr lang="en-US"/>
              <a:t>plt.ylabel('Salary')</a:t>
            </a:r>
            <a:endParaRPr/>
          </a:p>
          <a:p>
            <a:pPr marL="228600" lvl="0" indent="-228600" algn="l" rtl="0">
              <a:lnSpc>
                <a:spcPct val="90000"/>
              </a:lnSpc>
              <a:spcBef>
                <a:spcPts val="1000"/>
              </a:spcBef>
              <a:spcAft>
                <a:spcPts val="0"/>
              </a:spcAft>
              <a:buClr>
                <a:schemeClr val="dk1"/>
              </a:buClr>
              <a:buSzPts val="2800"/>
              <a:buChar char="•"/>
            </a:pPr>
            <a:r>
              <a:rPr lang="en-US"/>
              <a:t>plt.show()</a:t>
            </a:r>
            <a:endParaRPr/>
          </a:p>
          <a:p>
            <a:pPr marL="228600" lvl="0" indent="-50800" algn="l" rtl="0">
              <a:lnSpc>
                <a:spcPct val="90000"/>
              </a:lnSpc>
              <a:spcBef>
                <a:spcPts val="1000"/>
              </a:spcBef>
              <a:spcAft>
                <a:spcPts val="0"/>
              </a:spcAft>
              <a:buClr>
                <a:schemeClr val="dk1"/>
              </a:buClr>
              <a:buSzPts val="2800"/>
              <a:buNone/>
            </a:pPr>
            <a:endParaRPr/>
          </a:p>
        </p:txBody>
      </p:sp>
      <p:pic>
        <p:nvPicPr>
          <p:cNvPr id="358" name="Google Shape;358;p31"/>
          <p:cNvPicPr preferRelativeResize="0"/>
          <p:nvPr/>
        </p:nvPicPr>
        <p:blipFill rotWithShape="1">
          <a:blip r:embed="rId3">
            <a:alphaModFix/>
          </a:blip>
          <a:srcRect/>
          <a:stretch/>
        </p:blipFill>
        <p:spPr>
          <a:xfrm>
            <a:off x="6096001" y="3188237"/>
            <a:ext cx="4695606" cy="320731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Making a single prediction (for example the salary of an employee with 12 years of experience)</a:t>
            </a:r>
            <a:endParaRPr/>
          </a:p>
        </p:txBody>
      </p:sp>
      <p:sp>
        <p:nvSpPr>
          <p:cNvPr id="364" name="Google Shape;364;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print(regressor.predict([[12]]))</a:t>
            </a:r>
            <a:endParaRPr/>
          </a:p>
          <a:p>
            <a:pPr marL="228600" lvl="0" indent="-228600" algn="l" rtl="0">
              <a:lnSpc>
                <a:spcPct val="90000"/>
              </a:lnSpc>
              <a:spcBef>
                <a:spcPts val="1000"/>
              </a:spcBef>
              <a:spcAft>
                <a:spcPts val="0"/>
              </a:spcAft>
              <a:buClr>
                <a:schemeClr val="dk1"/>
              </a:buClr>
              <a:buSzPts val="2800"/>
              <a:buChar char="•"/>
            </a:pPr>
            <a:r>
              <a:rPr lang="en-US"/>
              <a:t>output</a:t>
            </a:r>
            <a:endParaRPr/>
          </a:p>
          <a:p>
            <a:pPr marL="685800" lvl="1" indent="-228600" algn="l" rtl="0">
              <a:lnSpc>
                <a:spcPct val="90000"/>
              </a:lnSpc>
              <a:spcBef>
                <a:spcPts val="500"/>
              </a:spcBef>
              <a:spcAft>
                <a:spcPts val="0"/>
              </a:spcAft>
              <a:buClr>
                <a:schemeClr val="dk1"/>
              </a:buClr>
              <a:buSzPts val="2400"/>
              <a:buChar char="•"/>
            </a:pPr>
            <a:r>
              <a:rPr lang="en-US"/>
              <a:t>[138967.5015615]</a:t>
            </a:r>
            <a:endParaRPr/>
          </a:p>
          <a:p>
            <a:pPr marL="228600" lvl="0" indent="-228600" algn="l" rtl="0">
              <a:lnSpc>
                <a:spcPct val="90000"/>
              </a:lnSpc>
              <a:spcBef>
                <a:spcPts val="1000"/>
              </a:spcBef>
              <a:spcAft>
                <a:spcPts val="0"/>
              </a:spcAft>
              <a:buClr>
                <a:schemeClr val="dk1"/>
              </a:buClr>
              <a:buSzPts val="2800"/>
              <a:buChar char="•"/>
            </a:pPr>
            <a:r>
              <a:rPr lang="en-US"/>
              <a:t>Note:</a:t>
            </a:r>
            <a:endParaRPr/>
          </a:p>
          <a:p>
            <a:pPr marL="685800" lvl="1" indent="-228600" algn="l" rtl="0">
              <a:lnSpc>
                <a:spcPct val="90000"/>
              </a:lnSpc>
              <a:spcBef>
                <a:spcPts val="500"/>
              </a:spcBef>
              <a:spcAft>
                <a:spcPts val="0"/>
              </a:spcAft>
              <a:buClr>
                <a:schemeClr val="dk1"/>
              </a:buClr>
              <a:buSzPts val="2400"/>
              <a:buChar char="•"/>
            </a:pPr>
            <a:r>
              <a:rPr lang="en-US"/>
              <a:t>12- scalar</a:t>
            </a:r>
            <a:endParaRPr/>
          </a:p>
          <a:p>
            <a:pPr marL="685800" lvl="1" indent="-228600" algn="l" rtl="0">
              <a:lnSpc>
                <a:spcPct val="90000"/>
              </a:lnSpc>
              <a:spcBef>
                <a:spcPts val="500"/>
              </a:spcBef>
              <a:spcAft>
                <a:spcPts val="0"/>
              </a:spcAft>
              <a:buClr>
                <a:schemeClr val="dk1"/>
              </a:buClr>
              <a:buSzPts val="2400"/>
              <a:buChar char="•"/>
            </a:pPr>
            <a:r>
              <a:rPr lang="en-US"/>
              <a:t>[12]- 1D Array</a:t>
            </a:r>
            <a:endParaRPr/>
          </a:p>
          <a:p>
            <a:pPr marL="685800" lvl="1" indent="-228600" algn="l" rtl="0">
              <a:lnSpc>
                <a:spcPct val="90000"/>
              </a:lnSpc>
              <a:spcBef>
                <a:spcPts val="500"/>
              </a:spcBef>
              <a:spcAft>
                <a:spcPts val="0"/>
              </a:spcAft>
              <a:buClr>
                <a:schemeClr val="dk1"/>
              </a:buClr>
              <a:buSzPts val="2400"/>
              <a:buChar char="•"/>
            </a:pPr>
            <a:r>
              <a:rPr lang="en-US"/>
              <a:t>[[12]]- 2D Array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Getting the final linear regression equation with the values of the coefficients</a:t>
            </a:r>
            <a:endParaRPr/>
          </a:p>
        </p:txBody>
      </p:sp>
      <p:sp>
        <p:nvSpPr>
          <p:cNvPr id="370" name="Google Shape;370;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print(regressor.coef_)</a:t>
            </a:r>
            <a:endParaRPr/>
          </a:p>
          <a:p>
            <a:pPr marL="228600" lvl="0" indent="-228600" algn="l" rtl="0">
              <a:lnSpc>
                <a:spcPct val="90000"/>
              </a:lnSpc>
              <a:spcBef>
                <a:spcPts val="1000"/>
              </a:spcBef>
              <a:spcAft>
                <a:spcPts val="0"/>
              </a:spcAft>
              <a:buClr>
                <a:schemeClr val="dk1"/>
              </a:buClr>
              <a:buSzPts val="2800"/>
              <a:buChar char="•"/>
            </a:pPr>
            <a:r>
              <a:rPr lang="en-US"/>
              <a:t>print(regressor.intercept_)</a:t>
            </a:r>
            <a:endParaRPr/>
          </a:p>
          <a:p>
            <a:pPr marL="228600" lvl="0" indent="-228600" algn="l" rtl="0">
              <a:lnSpc>
                <a:spcPct val="90000"/>
              </a:lnSpc>
              <a:spcBef>
                <a:spcPts val="1000"/>
              </a:spcBef>
              <a:spcAft>
                <a:spcPts val="0"/>
              </a:spcAft>
              <a:buClr>
                <a:schemeClr val="dk1"/>
              </a:buClr>
              <a:buSzPts val="2800"/>
              <a:buChar char="•"/>
            </a:pPr>
            <a:r>
              <a:rPr lang="en-US"/>
              <a:t>Output</a:t>
            </a:r>
            <a:endParaRPr/>
          </a:p>
          <a:p>
            <a:pPr marL="685800" lvl="1" indent="-228600" algn="l" rtl="0">
              <a:lnSpc>
                <a:spcPct val="90000"/>
              </a:lnSpc>
              <a:spcBef>
                <a:spcPts val="500"/>
              </a:spcBef>
              <a:spcAft>
                <a:spcPts val="0"/>
              </a:spcAft>
              <a:buClr>
                <a:schemeClr val="dk1"/>
              </a:buClr>
              <a:buSzPts val="2400"/>
              <a:buChar char="•"/>
            </a:pPr>
            <a:r>
              <a:rPr lang="en-US"/>
              <a:t>[9345.94244312] </a:t>
            </a:r>
            <a:endParaRPr/>
          </a:p>
          <a:p>
            <a:pPr marL="685800" lvl="1" indent="-228600" algn="l" rtl="0">
              <a:lnSpc>
                <a:spcPct val="90000"/>
              </a:lnSpc>
              <a:spcBef>
                <a:spcPts val="500"/>
              </a:spcBef>
              <a:spcAft>
                <a:spcPts val="0"/>
              </a:spcAft>
              <a:buClr>
                <a:schemeClr val="dk1"/>
              </a:buClr>
              <a:buSzPts val="2400"/>
              <a:buChar char="•"/>
            </a:pPr>
            <a:r>
              <a:rPr lang="en-US"/>
              <a:t>26816.192244031183</a:t>
            </a:r>
            <a:endParaRPr/>
          </a:p>
          <a:p>
            <a:pPr marL="228600" lvl="0" indent="-228600" algn="l" rtl="0">
              <a:lnSpc>
                <a:spcPct val="90000"/>
              </a:lnSpc>
              <a:spcBef>
                <a:spcPts val="1000"/>
              </a:spcBef>
              <a:spcAft>
                <a:spcPts val="0"/>
              </a:spcAft>
              <a:buClr>
                <a:schemeClr val="dk1"/>
              </a:buClr>
              <a:buSzPts val="2800"/>
              <a:buChar char="•"/>
            </a:pPr>
            <a:r>
              <a:rPr lang="en-US"/>
              <a:t>Thus,</a:t>
            </a:r>
            <a:endParaRPr/>
          </a:p>
          <a:p>
            <a:pPr marL="685800" lvl="1" indent="-228600" algn="l" rtl="0">
              <a:lnSpc>
                <a:spcPct val="90000"/>
              </a:lnSpc>
              <a:spcBef>
                <a:spcPts val="500"/>
              </a:spcBef>
              <a:spcAft>
                <a:spcPts val="0"/>
              </a:spcAft>
              <a:buClr>
                <a:schemeClr val="dk1"/>
              </a:buClr>
              <a:buSzPts val="2400"/>
              <a:buChar char="•"/>
            </a:pPr>
            <a:r>
              <a:rPr lang="en-US"/>
              <a:t>Salary=9345.94×YearsExperience+26816.19</a:t>
            </a:r>
            <a:endParaRPr/>
          </a:p>
          <a:p>
            <a:pPr marL="228600" lvl="0" indent="-228600" algn="l" rtl="0">
              <a:lnSpc>
                <a:spcPct val="90000"/>
              </a:lnSpc>
              <a:spcBef>
                <a:spcPts val="1000"/>
              </a:spcBef>
              <a:spcAft>
                <a:spcPts val="0"/>
              </a:spcAft>
              <a:buClr>
                <a:schemeClr val="dk1"/>
              </a:buClr>
              <a:buSzPts val="2800"/>
              <a:buChar char="•"/>
            </a:pPr>
            <a:r>
              <a:rPr lang="en-US"/>
              <a:t>Note: coef_ and intercept_ are attributes of LinearRegression.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1299</Words>
  <PresentationFormat>Custom</PresentationFormat>
  <Paragraphs>218</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Times New Roman</vt:lpstr>
      <vt:lpstr>Roboto</vt:lpstr>
      <vt:lpstr>Office Theme</vt:lpstr>
      <vt:lpstr>Simple Linear Regression </vt:lpstr>
      <vt:lpstr>Slide 2</vt:lpstr>
      <vt:lpstr>Slide 3</vt:lpstr>
      <vt:lpstr>Simple Linear Regression</vt:lpstr>
      <vt:lpstr>Simple linear regression</vt:lpstr>
      <vt:lpstr>Constant &amp; Coefficient meaning</vt:lpstr>
      <vt:lpstr>Slide 7</vt:lpstr>
      <vt:lpstr>Assumptions about the error</vt:lpstr>
      <vt:lpstr>Consequence of assumptions on error on y</vt:lpstr>
      <vt:lpstr>Least squares estimation of parameters</vt:lpstr>
      <vt:lpstr>Infinite possible lines- Solution?</vt:lpstr>
      <vt:lpstr>Normal Method</vt:lpstr>
      <vt:lpstr>Normal Method</vt:lpstr>
      <vt:lpstr>Slope </vt:lpstr>
      <vt:lpstr>Numerator- Positive and Negative cases</vt:lpstr>
      <vt:lpstr>Assumptions of a linear regression</vt:lpstr>
      <vt:lpstr>Pros and Cons</vt:lpstr>
      <vt:lpstr>Linear Regression</vt:lpstr>
      <vt:lpstr>Slide 19</vt:lpstr>
      <vt:lpstr>Slide 20</vt:lpstr>
      <vt:lpstr>Slide 21</vt:lpstr>
      <vt:lpstr>Slide 22</vt:lpstr>
      <vt:lpstr> Low variability</vt:lpstr>
      <vt:lpstr>Slide 24</vt:lpstr>
      <vt:lpstr>Importing the libraries </vt:lpstr>
      <vt:lpstr>Importing the dataset </vt:lpstr>
      <vt:lpstr>Splitting the dataset into the Training set and Test set </vt:lpstr>
      <vt:lpstr>Training the Simple Linear Regression model on the Training set</vt:lpstr>
      <vt:lpstr>Predicting the Test set results </vt:lpstr>
      <vt:lpstr>Visualizing the Training set results </vt:lpstr>
      <vt:lpstr>Visualising the Test set results</vt:lpstr>
      <vt:lpstr>Making a single prediction (for example the salary of an employee with 12 years of experience)</vt:lpstr>
      <vt:lpstr>Getting the final linear regression equation with the values of the coefficients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 </dc:title>
  <dc:creator>Lenovo</dc:creator>
  <cp:lastModifiedBy>Student</cp:lastModifiedBy>
  <cp:revision>1</cp:revision>
  <dcterms:created xsi:type="dcterms:W3CDTF">2021-03-19T06:18:17Z</dcterms:created>
  <dcterms:modified xsi:type="dcterms:W3CDTF">2025-08-25T06:33:34Z</dcterms:modified>
</cp:coreProperties>
</file>