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86" r:id="rId4"/>
    <p:sldId id="287" r:id="rId5"/>
    <p:sldId id="288" r:id="rId6"/>
    <p:sldId id="29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CA9AB-E2A4-4138-9AAD-920A42449E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CA45CB-7294-453C-9042-FD8328A1F0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2C2262-9231-4AA2-B983-05E0AA64BCA6}"/>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5" name="Footer Placeholder 4">
            <a:extLst>
              <a:ext uri="{FF2B5EF4-FFF2-40B4-BE49-F238E27FC236}">
                <a16:creationId xmlns:a16="http://schemas.microsoft.com/office/drawing/2014/main" id="{B4B42DA1-5F35-4D24-B3FA-BDB31D20B1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EA825A-0FFA-4E9D-B384-7B23F755968F}"/>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2190717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2DD3D-AB6B-4A28-8617-42B92F3EE0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1AF918-F394-44CF-97EF-E3B83DE49E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FDB99-964E-4F30-8225-DE3FF664C466}"/>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5" name="Footer Placeholder 4">
            <a:extLst>
              <a:ext uri="{FF2B5EF4-FFF2-40B4-BE49-F238E27FC236}">
                <a16:creationId xmlns:a16="http://schemas.microsoft.com/office/drawing/2014/main" id="{7B9B31B0-D69D-407C-B4E7-C0B9399011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4F47D3-567A-4363-BD13-2DB35F94C8A8}"/>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1092659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93023-2943-4345-8DDD-57463C640B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4BA516-1EA1-428A-9B48-D66F872585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02956B-F32D-4169-BCED-8F226FA24F8A}"/>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5" name="Footer Placeholder 4">
            <a:extLst>
              <a:ext uri="{FF2B5EF4-FFF2-40B4-BE49-F238E27FC236}">
                <a16:creationId xmlns:a16="http://schemas.microsoft.com/office/drawing/2014/main" id="{973AAB6E-9160-4DE4-B3D2-76EDA97985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AAB6A4-FC00-43B6-A459-26EF4A625A38}"/>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574260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180F9-4785-481F-B35F-686E763672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FA9C0A-744D-4D85-A3B2-3EC867E3E7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DE4674-0FF6-47F5-92BC-2667E57EAC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175AEC-476C-447A-9214-82476A936164}"/>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6" name="Footer Placeholder 5">
            <a:extLst>
              <a:ext uri="{FF2B5EF4-FFF2-40B4-BE49-F238E27FC236}">
                <a16:creationId xmlns:a16="http://schemas.microsoft.com/office/drawing/2014/main" id="{1FC69ECA-6279-4E0F-B172-15DBB219A9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4CBC7-F471-4D7A-B467-CF8D2B414736}"/>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3237905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04EE0-81BB-48B2-BAE6-1D6CB8A182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864143-8904-4364-9CE5-FC46B12DB4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3B76F2-5789-4988-8665-DC178A8949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11E5DE-253D-477E-9D48-D39A77B6AE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759731-7114-4123-9E27-275F622DC2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15C918-0935-4BF0-9016-75F496BFE07E}"/>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8" name="Footer Placeholder 7">
            <a:extLst>
              <a:ext uri="{FF2B5EF4-FFF2-40B4-BE49-F238E27FC236}">
                <a16:creationId xmlns:a16="http://schemas.microsoft.com/office/drawing/2014/main" id="{B9FC2E4E-CF7E-4C88-9AB2-427D281693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2ED13F-B1BD-44A8-A754-0D6BE3F8C9E5}"/>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1697804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789A-BC5B-4836-A5FF-38C67E1506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C2BBEE-4B49-4D36-AC0E-1B42C487C3DD}"/>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4" name="Footer Placeholder 3">
            <a:extLst>
              <a:ext uri="{FF2B5EF4-FFF2-40B4-BE49-F238E27FC236}">
                <a16:creationId xmlns:a16="http://schemas.microsoft.com/office/drawing/2014/main" id="{0F616437-7780-499F-BA02-E57D6F17EC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CE60A3-6A59-4E6A-B801-6711A8A8502C}"/>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3485293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D223ED-1BD6-4784-8209-AA05A7AE0591}"/>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3" name="Footer Placeholder 2">
            <a:extLst>
              <a:ext uri="{FF2B5EF4-FFF2-40B4-BE49-F238E27FC236}">
                <a16:creationId xmlns:a16="http://schemas.microsoft.com/office/drawing/2014/main" id="{93196B11-ECB4-452A-A189-6F26DF85E0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5BE91C-1BDC-4837-90BA-0B97CA8DBE60}"/>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651771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6EA39-1512-418C-8713-A0A1467BC3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117040-1F33-488B-8398-C998AF8E1B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CD512D-A6F0-4483-9EA3-162A1D7FDF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B5AD79-4E0A-48D5-A0F6-5790A8CDF9B7}"/>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6" name="Footer Placeholder 5">
            <a:extLst>
              <a:ext uri="{FF2B5EF4-FFF2-40B4-BE49-F238E27FC236}">
                <a16:creationId xmlns:a16="http://schemas.microsoft.com/office/drawing/2014/main" id="{E2325030-2B69-4E9D-8B8F-E49EB4ED0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1938E5-33E5-4808-9926-B0C0975BF399}"/>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1551196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9799-C4B9-4CA8-919B-27102EC6B1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343244-A5C6-4316-83F6-F363673528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444854-CDCF-49C6-8C57-C568599B86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EB617E-59F6-4AB9-AA44-B0C0BD06A752}"/>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6" name="Footer Placeholder 5">
            <a:extLst>
              <a:ext uri="{FF2B5EF4-FFF2-40B4-BE49-F238E27FC236}">
                <a16:creationId xmlns:a16="http://schemas.microsoft.com/office/drawing/2014/main" id="{BB04B1D0-C0B6-42FC-870C-C91234F7C7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D2E1F-B265-4358-845C-6DE9D67438AB}"/>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3431759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A3F3D-CA80-4053-A5D3-2650451390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5A5E10-47BF-4D01-9DCE-FED837933A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5D8D9-E167-46A7-A65A-DFC0B7A26B8A}"/>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5" name="Footer Placeholder 4">
            <a:extLst>
              <a:ext uri="{FF2B5EF4-FFF2-40B4-BE49-F238E27FC236}">
                <a16:creationId xmlns:a16="http://schemas.microsoft.com/office/drawing/2014/main" id="{821C369D-6A77-439B-83B4-C46B62687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579A0-DCAF-4158-B3D7-A2153EB7C0B3}"/>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3800866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ABCB38-F8EF-489F-B1A3-22CBE79D39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51A426-4831-4F46-BE41-5DE4E72304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F14AAF-E4C5-4406-A175-F3D6C43019DA}"/>
              </a:ext>
            </a:extLst>
          </p:cNvPr>
          <p:cNvSpPr>
            <a:spLocks noGrp="1"/>
          </p:cNvSpPr>
          <p:nvPr>
            <p:ph type="dt" sz="half" idx="10"/>
          </p:nvPr>
        </p:nvSpPr>
        <p:spPr/>
        <p:txBody>
          <a:bodyPr/>
          <a:lstStyle/>
          <a:p>
            <a:fld id="{3A520157-74C1-49D8-B506-1D4E37F066DA}" type="datetimeFigureOut">
              <a:rPr lang="en-US" smtClean="0"/>
              <a:t>4/5/2023</a:t>
            </a:fld>
            <a:endParaRPr lang="en-US"/>
          </a:p>
        </p:txBody>
      </p:sp>
      <p:sp>
        <p:nvSpPr>
          <p:cNvPr id="5" name="Footer Placeholder 4">
            <a:extLst>
              <a:ext uri="{FF2B5EF4-FFF2-40B4-BE49-F238E27FC236}">
                <a16:creationId xmlns:a16="http://schemas.microsoft.com/office/drawing/2014/main" id="{9299E409-B2DB-4D33-BC91-9A7293AA9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41F9D5-BCDA-4ECC-8FF7-957AC318ABFC}"/>
              </a:ext>
            </a:extLst>
          </p:cNvPr>
          <p:cNvSpPr>
            <a:spLocks noGrp="1"/>
          </p:cNvSpPr>
          <p:nvPr>
            <p:ph type="sldNum" sz="quarter" idx="12"/>
          </p:nvPr>
        </p:nvSpPr>
        <p:spPr/>
        <p:txBody>
          <a:bodyPr/>
          <a:lstStyle/>
          <a:p>
            <a:fld id="{10723F8E-4A58-417B-983A-3A47D2237C37}" type="slidenum">
              <a:rPr lang="en-US" smtClean="0"/>
              <a:t>‹#›</a:t>
            </a:fld>
            <a:endParaRPr lang="en-US"/>
          </a:p>
        </p:txBody>
      </p:sp>
    </p:spTree>
    <p:extLst>
      <p:ext uri="{BB962C8B-B14F-4D97-AF65-F5344CB8AC3E}">
        <p14:creationId xmlns:p14="http://schemas.microsoft.com/office/powerpoint/2010/main" val="1310361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5AC4AD-460F-46B4-961F-6B92DFA6E7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FABFFC-5EDD-40B5-8C37-A3DDE745A0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75593D-209C-4FB7-9960-9838AE0B7C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520157-74C1-49D8-B506-1D4E37F066DA}" type="datetimeFigureOut">
              <a:rPr lang="en-US" smtClean="0"/>
              <a:t>4/5/2023</a:t>
            </a:fld>
            <a:endParaRPr lang="en-US"/>
          </a:p>
        </p:txBody>
      </p:sp>
      <p:sp>
        <p:nvSpPr>
          <p:cNvPr id="5" name="Footer Placeholder 4">
            <a:extLst>
              <a:ext uri="{FF2B5EF4-FFF2-40B4-BE49-F238E27FC236}">
                <a16:creationId xmlns:a16="http://schemas.microsoft.com/office/drawing/2014/main" id="{CA30433B-A558-4878-8F76-7BDC2BA843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1CACBF-8995-4CB0-B2B5-37E2A82BA5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23F8E-4A58-417B-983A-3A47D2237C37}" type="slidenum">
              <a:rPr lang="en-US" smtClean="0"/>
              <a:t>‹#›</a:t>
            </a:fld>
            <a:endParaRPr lang="en-US"/>
          </a:p>
        </p:txBody>
      </p:sp>
    </p:spTree>
    <p:extLst>
      <p:ext uri="{BB962C8B-B14F-4D97-AF65-F5344CB8AC3E}">
        <p14:creationId xmlns:p14="http://schemas.microsoft.com/office/powerpoint/2010/main" val="1033566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BFD93-EC93-43E3-AAA8-73EBC1E267E3}"/>
              </a:ext>
            </a:extLst>
          </p:cNvPr>
          <p:cNvSpPr>
            <a:spLocks noGrp="1"/>
          </p:cNvSpPr>
          <p:nvPr>
            <p:ph type="ctrTitle"/>
          </p:nvPr>
        </p:nvSpPr>
        <p:spPr/>
        <p:txBody>
          <a:bodyPr/>
          <a:lstStyle/>
          <a:p>
            <a:r>
              <a:rPr lang="en-US" dirty="0"/>
              <a:t>K-Nearest Neighbor</a:t>
            </a:r>
          </a:p>
        </p:txBody>
      </p:sp>
      <p:sp>
        <p:nvSpPr>
          <p:cNvPr id="3" name="Subtitle 2">
            <a:extLst>
              <a:ext uri="{FF2B5EF4-FFF2-40B4-BE49-F238E27FC236}">
                <a16:creationId xmlns:a16="http://schemas.microsoft.com/office/drawing/2014/main" id="{406FA32F-0D17-4B45-B975-B358CEDDDB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25930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DFA63-91B8-438C-BEFD-991CC998BF84}"/>
              </a:ext>
            </a:extLst>
          </p:cNvPr>
          <p:cNvSpPr>
            <a:spLocks noGrp="1"/>
          </p:cNvSpPr>
          <p:nvPr>
            <p:ph type="title"/>
          </p:nvPr>
        </p:nvSpPr>
        <p:spPr/>
        <p:txBody>
          <a:bodyPr/>
          <a:lstStyle/>
          <a:p>
            <a:r>
              <a:rPr lang="en-US" dirty="0"/>
              <a:t>K-Nearest neighbor</a:t>
            </a:r>
          </a:p>
        </p:txBody>
      </p:sp>
      <p:sp>
        <p:nvSpPr>
          <p:cNvPr id="3" name="Content Placeholder 2">
            <a:extLst>
              <a:ext uri="{FF2B5EF4-FFF2-40B4-BE49-F238E27FC236}">
                <a16:creationId xmlns:a16="http://schemas.microsoft.com/office/drawing/2014/main" id="{ECF10939-27C0-4402-9FB8-6905735FE063}"/>
              </a:ext>
            </a:extLst>
          </p:cNvPr>
          <p:cNvSpPr>
            <a:spLocks noGrp="1"/>
          </p:cNvSpPr>
          <p:nvPr>
            <p:ph idx="1"/>
          </p:nvPr>
        </p:nvSpPr>
        <p:spPr/>
        <p:txBody>
          <a:bodyPr>
            <a:normAutofit lnSpcReduction="10000"/>
          </a:bodyPr>
          <a:lstStyle/>
          <a:p>
            <a:r>
              <a:rPr lang="en-US" dirty="0"/>
              <a:t>Instance based learning- also called lazy algorithm</a:t>
            </a:r>
          </a:p>
          <a:p>
            <a:pPr lvl="1"/>
            <a:r>
              <a:rPr lang="en-US" dirty="0"/>
              <a:t>When we get the training examples we do not process them and learn the model instead we just store the examples</a:t>
            </a:r>
          </a:p>
          <a:p>
            <a:pPr lvl="1"/>
            <a:r>
              <a:rPr lang="en-US" dirty="0"/>
              <a:t>And when we need to predict an instant that time we process</a:t>
            </a:r>
          </a:p>
          <a:p>
            <a:pPr lvl="1"/>
            <a:r>
              <a:rPr lang="en-US" dirty="0"/>
              <a:t>Algorithm does not come up with the model </a:t>
            </a:r>
            <a:r>
              <a:rPr lang="en-US" dirty="0" err="1"/>
              <a:t>apriori</a:t>
            </a:r>
            <a:r>
              <a:rPr lang="en-US" dirty="0"/>
              <a:t> rather when it gets the test instance it uses the stored instances in memory in order to find the possible model </a:t>
            </a:r>
          </a:p>
          <a:p>
            <a:r>
              <a:rPr lang="en-US" dirty="0"/>
              <a:t>Non-linear model</a:t>
            </a:r>
          </a:p>
          <a:p>
            <a:r>
              <a:rPr lang="en-US" dirty="0"/>
              <a:t>Very compute intensive</a:t>
            </a:r>
          </a:p>
          <a:p>
            <a:r>
              <a:rPr lang="en-US" dirty="0"/>
              <a:t>default parameter for the number of neighbors k</a:t>
            </a:r>
          </a:p>
          <a:p>
            <a:pPr lvl="1"/>
            <a:r>
              <a:rPr lang="en-US" dirty="0"/>
              <a:t>5</a:t>
            </a:r>
          </a:p>
        </p:txBody>
      </p:sp>
    </p:spTree>
    <p:extLst>
      <p:ext uri="{BB962C8B-B14F-4D97-AF65-F5344CB8AC3E}">
        <p14:creationId xmlns:p14="http://schemas.microsoft.com/office/powerpoint/2010/main" val="2659024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2F1B-F3DF-4470-B3B9-82475DF242D2}"/>
              </a:ext>
            </a:extLst>
          </p:cNvPr>
          <p:cNvSpPr>
            <a:spLocks noGrp="1"/>
          </p:cNvSpPr>
          <p:nvPr>
            <p:ph type="title"/>
          </p:nvPr>
        </p:nvSpPr>
        <p:spPr/>
        <p:txBody>
          <a:bodyPr/>
          <a:lstStyle/>
          <a:p>
            <a:r>
              <a:rPr lang="en-IN" dirty="0"/>
              <a:t>How does it do it?</a:t>
            </a:r>
          </a:p>
        </p:txBody>
      </p:sp>
      <p:sp>
        <p:nvSpPr>
          <p:cNvPr id="3" name="Content Placeholder 2">
            <a:extLst>
              <a:ext uri="{FF2B5EF4-FFF2-40B4-BE49-F238E27FC236}">
                <a16:creationId xmlns:a16="http://schemas.microsoft.com/office/drawing/2014/main" id="{D0EE3C31-A8BD-40AB-BA74-85A3C633BE9E}"/>
              </a:ext>
            </a:extLst>
          </p:cNvPr>
          <p:cNvSpPr>
            <a:spLocks noGrp="1"/>
          </p:cNvSpPr>
          <p:nvPr>
            <p:ph idx="1"/>
          </p:nvPr>
        </p:nvSpPr>
        <p:spPr/>
        <p:txBody>
          <a:bodyPr/>
          <a:lstStyle/>
          <a:p>
            <a:r>
              <a:rPr lang="en-IN" dirty="0"/>
              <a:t>For a given new instance you find what is the closest instance and you find the y value of that closest instance and you guess this y values as the y- value of the test instance.</a:t>
            </a:r>
          </a:p>
          <a:p>
            <a:r>
              <a:rPr lang="en-IN" dirty="0"/>
              <a:t>How to find most similar instance/some neighbouring (most nearest) instances</a:t>
            </a:r>
          </a:p>
          <a:p>
            <a:pPr lvl="1"/>
            <a:r>
              <a:rPr lang="en-IN" dirty="0"/>
              <a:t>We can use similarity metrics (or distance functions) depending on the type of data that we have</a:t>
            </a:r>
          </a:p>
          <a:p>
            <a:pPr lvl="2"/>
            <a:r>
              <a:rPr lang="en-IN" dirty="0"/>
              <a:t>Euclidean distance, Cosine and other</a:t>
            </a:r>
          </a:p>
          <a:p>
            <a:pPr lvl="2"/>
            <a:endParaRPr lang="en-IN" dirty="0"/>
          </a:p>
        </p:txBody>
      </p:sp>
    </p:spTree>
    <p:extLst>
      <p:ext uri="{BB962C8B-B14F-4D97-AF65-F5344CB8AC3E}">
        <p14:creationId xmlns:p14="http://schemas.microsoft.com/office/powerpoint/2010/main" val="3889923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F3C80-65DF-4780-BC1E-6FC3C02918F4}"/>
              </a:ext>
            </a:extLst>
          </p:cNvPr>
          <p:cNvSpPr>
            <a:spLocks noGrp="1"/>
          </p:cNvSpPr>
          <p:nvPr>
            <p:ph type="title"/>
          </p:nvPr>
        </p:nvSpPr>
        <p:spPr/>
        <p:txBody>
          <a:bodyPr/>
          <a:lstStyle/>
          <a:p>
            <a:r>
              <a:rPr lang="en-IN" dirty="0"/>
              <a:t>1-nearest neighbour</a:t>
            </a:r>
          </a:p>
        </p:txBody>
      </p:sp>
      <p:sp>
        <p:nvSpPr>
          <p:cNvPr id="3" name="Content Placeholder 2">
            <a:extLst>
              <a:ext uri="{FF2B5EF4-FFF2-40B4-BE49-F238E27FC236}">
                <a16:creationId xmlns:a16="http://schemas.microsoft.com/office/drawing/2014/main" id="{A0445487-B19C-4084-9952-7D0081D706FC}"/>
              </a:ext>
            </a:extLst>
          </p:cNvPr>
          <p:cNvSpPr>
            <a:spLocks noGrp="1"/>
          </p:cNvSpPr>
          <p:nvPr>
            <p:ph idx="1"/>
          </p:nvPr>
        </p:nvSpPr>
        <p:spPr/>
        <p:txBody>
          <a:bodyPr/>
          <a:lstStyle/>
          <a:p>
            <a:r>
              <a:rPr lang="en-IN" dirty="0"/>
              <a:t>Training phase- save the examples</a:t>
            </a:r>
          </a:p>
          <a:p>
            <a:r>
              <a:rPr lang="en-IN" dirty="0"/>
              <a:t>Prediction time- we get the test instance (</a:t>
            </a:r>
            <a:r>
              <a:rPr lang="en-IN" dirty="0" err="1"/>
              <a:t>xt</a:t>
            </a:r>
            <a:r>
              <a:rPr lang="en-IN" dirty="0"/>
              <a:t>) and find the training example (</a:t>
            </a:r>
            <a:r>
              <a:rPr lang="en-IN" dirty="0" err="1"/>
              <a:t>xi,yi</a:t>
            </a:r>
            <a:r>
              <a:rPr lang="en-IN" dirty="0"/>
              <a:t>) that is closest to test instance (</a:t>
            </a:r>
            <a:r>
              <a:rPr lang="en-IN" dirty="0" err="1"/>
              <a:t>xt</a:t>
            </a:r>
            <a:r>
              <a:rPr lang="en-IN" dirty="0"/>
              <a:t>) and we predict the </a:t>
            </a:r>
            <a:r>
              <a:rPr lang="en-IN" dirty="0" err="1"/>
              <a:t>yi</a:t>
            </a:r>
            <a:r>
              <a:rPr lang="en-IN" dirty="0"/>
              <a:t> as the output </a:t>
            </a:r>
            <a:r>
              <a:rPr lang="en-IN" dirty="0" err="1"/>
              <a:t>yt</a:t>
            </a:r>
            <a:endParaRPr lang="en-IN" dirty="0"/>
          </a:p>
        </p:txBody>
      </p:sp>
    </p:spTree>
    <p:extLst>
      <p:ext uri="{BB962C8B-B14F-4D97-AF65-F5344CB8AC3E}">
        <p14:creationId xmlns:p14="http://schemas.microsoft.com/office/powerpoint/2010/main" val="855829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B2764-1EEE-48F4-821C-9D9728392EEF}"/>
              </a:ext>
            </a:extLst>
          </p:cNvPr>
          <p:cNvSpPr>
            <a:spLocks noGrp="1"/>
          </p:cNvSpPr>
          <p:nvPr>
            <p:ph type="title"/>
          </p:nvPr>
        </p:nvSpPr>
        <p:spPr/>
        <p:txBody>
          <a:bodyPr/>
          <a:lstStyle/>
          <a:p>
            <a:r>
              <a:rPr lang="en-IN" dirty="0"/>
              <a:t>K-nearest neighbour</a:t>
            </a:r>
          </a:p>
        </p:txBody>
      </p:sp>
      <p:sp>
        <p:nvSpPr>
          <p:cNvPr id="3" name="Content Placeholder 2">
            <a:extLst>
              <a:ext uri="{FF2B5EF4-FFF2-40B4-BE49-F238E27FC236}">
                <a16:creationId xmlns:a16="http://schemas.microsoft.com/office/drawing/2014/main" id="{F8781FD5-3C54-42FC-9245-DCCE01538E9E}"/>
              </a:ext>
            </a:extLst>
          </p:cNvPr>
          <p:cNvSpPr>
            <a:spLocks noGrp="1"/>
          </p:cNvSpPr>
          <p:nvPr>
            <p:ph idx="1"/>
          </p:nvPr>
        </p:nvSpPr>
        <p:spPr/>
        <p:txBody>
          <a:bodyPr/>
          <a:lstStyle/>
          <a:p>
            <a:r>
              <a:rPr lang="en-IN" dirty="0"/>
              <a:t>Training phase- save the examples</a:t>
            </a:r>
          </a:p>
          <a:p>
            <a:r>
              <a:rPr lang="en-IN" dirty="0"/>
              <a:t>Prediction time- we get the test instance (</a:t>
            </a:r>
            <a:r>
              <a:rPr lang="en-IN" dirty="0" err="1"/>
              <a:t>xt</a:t>
            </a:r>
            <a:r>
              <a:rPr lang="en-IN" dirty="0"/>
              <a:t>) and find k training example (x1,y1), (x2,y2)…(x3,y3) that are closest to test instance (</a:t>
            </a:r>
            <a:r>
              <a:rPr lang="en-IN" dirty="0" err="1"/>
              <a:t>xt</a:t>
            </a:r>
            <a:r>
              <a:rPr lang="en-IN" dirty="0"/>
              <a:t>) and we predict</a:t>
            </a:r>
          </a:p>
          <a:p>
            <a:pPr lvl="1"/>
            <a:r>
              <a:rPr lang="en-IN" dirty="0"/>
              <a:t>the average of y1, y2,….</a:t>
            </a:r>
            <a:r>
              <a:rPr lang="en-IN" dirty="0" err="1"/>
              <a:t>yk</a:t>
            </a:r>
            <a:r>
              <a:rPr lang="en-IN" dirty="0"/>
              <a:t> as the estimate of </a:t>
            </a:r>
            <a:r>
              <a:rPr lang="en-IN" dirty="0" err="1"/>
              <a:t>yt</a:t>
            </a:r>
            <a:endParaRPr lang="en-IN" dirty="0"/>
          </a:p>
          <a:p>
            <a:pPr lvl="2"/>
            <a:endParaRPr lang="en-IN" dirty="0"/>
          </a:p>
          <a:p>
            <a:endParaRPr lang="en-IN" dirty="0"/>
          </a:p>
        </p:txBody>
      </p:sp>
    </p:spTree>
    <p:extLst>
      <p:ext uri="{BB962C8B-B14F-4D97-AF65-F5344CB8AC3E}">
        <p14:creationId xmlns:p14="http://schemas.microsoft.com/office/powerpoint/2010/main" val="220681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EFD3A-C3E6-4061-859E-7EF2213F9230}"/>
              </a:ext>
            </a:extLst>
          </p:cNvPr>
          <p:cNvSpPr>
            <a:spLocks noGrp="1"/>
          </p:cNvSpPr>
          <p:nvPr>
            <p:ph type="title"/>
          </p:nvPr>
        </p:nvSpPr>
        <p:spPr/>
        <p:txBody>
          <a:bodyPr/>
          <a:lstStyle/>
          <a:p>
            <a:r>
              <a:rPr lang="en-IN" dirty="0"/>
              <a:t>improvements/issues </a:t>
            </a:r>
            <a:r>
              <a:rPr lang="en-IN"/>
              <a:t>of concern</a:t>
            </a:r>
            <a:endParaRPr lang="en-IN" dirty="0"/>
          </a:p>
        </p:txBody>
      </p:sp>
      <p:sp>
        <p:nvSpPr>
          <p:cNvPr id="3" name="Content Placeholder 2">
            <a:extLst>
              <a:ext uri="{FF2B5EF4-FFF2-40B4-BE49-F238E27FC236}">
                <a16:creationId xmlns:a16="http://schemas.microsoft.com/office/drawing/2014/main" id="{2310E878-F34A-4B2A-9EC2-6655504F3ECC}"/>
              </a:ext>
            </a:extLst>
          </p:cNvPr>
          <p:cNvSpPr>
            <a:spLocks noGrp="1"/>
          </p:cNvSpPr>
          <p:nvPr>
            <p:ph idx="1"/>
          </p:nvPr>
        </p:nvSpPr>
        <p:spPr/>
        <p:txBody>
          <a:bodyPr/>
          <a:lstStyle/>
          <a:p>
            <a:r>
              <a:rPr lang="en-IN" dirty="0"/>
              <a:t>Weighting examples from the neighbourhood in case of k&gt;1</a:t>
            </a:r>
          </a:p>
          <a:p>
            <a:r>
              <a:rPr lang="en-IN" dirty="0"/>
              <a:t>How to measure closeness</a:t>
            </a:r>
          </a:p>
          <a:p>
            <a:pPr lvl="1"/>
            <a:r>
              <a:rPr lang="en-IN" dirty="0"/>
              <a:t>Many distance functions</a:t>
            </a:r>
          </a:p>
          <a:p>
            <a:r>
              <a:rPr lang="en-IN" dirty="0"/>
              <a:t>How to find the closest points quickly </a:t>
            </a:r>
          </a:p>
          <a:p>
            <a:pPr lvl="1"/>
            <a:r>
              <a:rPr lang="en-IN" dirty="0"/>
              <a:t>We must use some good data structure or method to store training examples so that we don’t need to go through all the training examples, find the distance and come up with the nearest data point</a:t>
            </a:r>
          </a:p>
        </p:txBody>
      </p:sp>
    </p:spTree>
    <p:extLst>
      <p:ext uri="{BB962C8B-B14F-4D97-AF65-F5344CB8AC3E}">
        <p14:creationId xmlns:p14="http://schemas.microsoft.com/office/powerpoint/2010/main" val="2732005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C1BAD-4532-4052-96E6-9712E022A2C6}"/>
              </a:ext>
            </a:extLst>
          </p:cNvPr>
          <p:cNvSpPr>
            <a:spLocks noGrp="1"/>
          </p:cNvSpPr>
          <p:nvPr>
            <p:ph type="title"/>
          </p:nvPr>
        </p:nvSpPr>
        <p:spPr/>
        <p:txBody>
          <a:bodyPr/>
          <a:lstStyle/>
          <a:p>
            <a:r>
              <a:rPr lang="en-US" dirty="0"/>
              <a:t>How to prepare model</a:t>
            </a:r>
          </a:p>
        </p:txBody>
      </p:sp>
      <p:sp>
        <p:nvSpPr>
          <p:cNvPr id="3" name="Content Placeholder 2">
            <a:extLst>
              <a:ext uri="{FF2B5EF4-FFF2-40B4-BE49-F238E27FC236}">
                <a16:creationId xmlns:a16="http://schemas.microsoft.com/office/drawing/2014/main" id="{BCE01162-364B-4421-AE44-FAE0F6FEAA58}"/>
              </a:ext>
            </a:extLst>
          </p:cNvPr>
          <p:cNvSpPr>
            <a:spLocks noGrp="1"/>
          </p:cNvSpPr>
          <p:nvPr>
            <p:ph idx="1"/>
          </p:nvPr>
        </p:nvSpPr>
        <p:spPr/>
        <p:txBody>
          <a:bodyPr/>
          <a:lstStyle/>
          <a:p>
            <a:r>
              <a:rPr lang="en-US" dirty="0"/>
              <a:t>1. Choose the number K of neighbors</a:t>
            </a:r>
          </a:p>
          <a:p>
            <a:r>
              <a:rPr lang="en-US" dirty="0"/>
              <a:t>2. Take the K-nearest neighbors of the new data point, according to the Euclidean distance</a:t>
            </a:r>
          </a:p>
          <a:p>
            <a:r>
              <a:rPr lang="en-US" dirty="0"/>
              <a:t>3. For these K neighbors, calculate the average of y values</a:t>
            </a:r>
          </a:p>
          <a:p>
            <a:r>
              <a:rPr lang="en-US" dirty="0"/>
              <a:t>4. Assign the new data point to the calculated y value</a:t>
            </a:r>
          </a:p>
          <a:p>
            <a:endParaRPr lang="en-US" dirty="0"/>
          </a:p>
          <a:p>
            <a:endParaRPr lang="en-US" dirty="0"/>
          </a:p>
          <a:p>
            <a:endParaRPr lang="en-US" dirty="0"/>
          </a:p>
        </p:txBody>
      </p:sp>
    </p:spTree>
    <p:extLst>
      <p:ext uri="{BB962C8B-B14F-4D97-AF65-F5344CB8AC3E}">
        <p14:creationId xmlns:p14="http://schemas.microsoft.com/office/powerpoint/2010/main" val="1722749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TotalTime>
  <Words>397</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K-Nearest Neighbor</vt:lpstr>
      <vt:lpstr>K-Nearest neighbor</vt:lpstr>
      <vt:lpstr>How does it do it?</vt:lpstr>
      <vt:lpstr>1-nearest neighbour</vt:lpstr>
      <vt:lpstr>K-nearest neighbour</vt:lpstr>
      <vt:lpstr>improvements/issues of concern</vt:lpstr>
      <vt:lpstr>How to prepare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K-Nearest Neighbor</dc:title>
  <dc:creator>Lenovo</dc:creator>
  <cp:lastModifiedBy>Manjari Gupta</cp:lastModifiedBy>
  <cp:revision>91</cp:revision>
  <dcterms:created xsi:type="dcterms:W3CDTF">2021-03-30T08:42:34Z</dcterms:created>
  <dcterms:modified xsi:type="dcterms:W3CDTF">2023-04-05T08:36:39Z</dcterms:modified>
</cp:coreProperties>
</file>