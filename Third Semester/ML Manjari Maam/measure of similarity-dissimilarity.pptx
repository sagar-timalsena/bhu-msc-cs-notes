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lXAbYYcg2Fp1pwyJnSzC6YmUs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ari Gupta" userId="3b377422717859a0" providerId="LiveId" clId="{AC35B0E4-3BBD-4B2D-968D-78B61A52151B}"/>
    <pc:docChg chg="undo custSel addSld delSld modSld">
      <pc:chgData name="Manjari Gupta" userId="3b377422717859a0" providerId="LiveId" clId="{AC35B0E4-3BBD-4B2D-968D-78B61A52151B}" dt="2025-11-02T18:34:08.388" v="8" actId="47"/>
      <pc:docMkLst>
        <pc:docMk/>
      </pc:docMkLst>
      <pc:sldChg chg="delSp modSp mod">
        <pc:chgData name="Manjari Gupta" userId="3b377422717859a0" providerId="LiveId" clId="{AC35B0E4-3BBD-4B2D-968D-78B61A52151B}" dt="2025-11-02T18:33:53.482" v="4" actId="1076"/>
        <pc:sldMkLst>
          <pc:docMk/>
          <pc:sldMk cId="0" sldId="256"/>
        </pc:sldMkLst>
        <pc:spChg chg="mod">
          <ac:chgData name="Manjari Gupta" userId="3b377422717859a0" providerId="LiveId" clId="{AC35B0E4-3BBD-4B2D-968D-78B61A52151B}" dt="2025-11-02T18:33:36.852" v="1" actId="27636"/>
          <ac:spMkLst>
            <pc:docMk/>
            <pc:sldMk cId="0" sldId="256"/>
            <ac:spMk id="60" creationId="{00000000-0000-0000-0000-000000000000}"/>
          </ac:spMkLst>
        </pc:spChg>
        <pc:spChg chg="mod">
          <ac:chgData name="Manjari Gupta" userId="3b377422717859a0" providerId="LiveId" clId="{AC35B0E4-3BBD-4B2D-968D-78B61A52151B}" dt="2025-11-02T18:33:53.482" v="4" actId="1076"/>
          <ac:spMkLst>
            <pc:docMk/>
            <pc:sldMk cId="0" sldId="256"/>
            <ac:spMk id="61" creationId="{00000000-0000-0000-0000-000000000000}"/>
          </ac:spMkLst>
        </pc:spChg>
        <pc:spChg chg="del">
          <ac:chgData name="Manjari Gupta" userId="3b377422717859a0" providerId="LiveId" clId="{AC35B0E4-3BBD-4B2D-968D-78B61A52151B}" dt="2025-11-02T18:33:48.785" v="3" actId="478"/>
          <ac:spMkLst>
            <pc:docMk/>
            <pc:sldMk cId="0" sldId="256"/>
            <ac:spMk id="62" creationId="{00000000-0000-0000-0000-000000000000}"/>
          </ac:spMkLst>
        </pc:spChg>
      </pc:sldChg>
      <pc:sldChg chg="modSp add del mod">
        <pc:chgData name="Manjari Gupta" userId="3b377422717859a0" providerId="LiveId" clId="{AC35B0E4-3BBD-4B2D-968D-78B61A52151B}" dt="2025-11-02T18:34:06.136" v="7" actId="27636"/>
        <pc:sldMkLst>
          <pc:docMk/>
          <pc:sldMk cId="0" sldId="276"/>
        </pc:sldMkLst>
        <pc:spChg chg="mod">
          <ac:chgData name="Manjari Gupta" userId="3b377422717859a0" providerId="LiveId" clId="{AC35B0E4-3BBD-4B2D-968D-78B61A52151B}" dt="2025-11-02T18:34:06.136" v="7" actId="27636"/>
          <ac:spMkLst>
            <pc:docMk/>
            <pc:sldMk cId="0" sldId="276"/>
            <ac:spMk id="188" creationId="{00000000-0000-0000-0000-000000000000}"/>
          </ac:spMkLst>
        </pc:spChg>
      </pc:sldChg>
      <pc:sldChg chg="del">
        <pc:chgData name="Manjari Gupta" userId="3b377422717859a0" providerId="LiveId" clId="{AC35B0E4-3BBD-4B2D-968D-78B61A52151B}" dt="2025-11-02T18:34:08.388" v="8" actId="47"/>
        <pc:sldMkLst>
          <pc:docMk/>
          <pc:sldMk cId="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afdf492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g31afdf492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afdf4925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1afdf4925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a7f23696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a7f23696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afdf4925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afdf4925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afdf4925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afdf4925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afdf4925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afdf4925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afdf4925c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afdf4925c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1afdf4925c_0_0"/>
          <p:cNvSpPr txBox="1">
            <a:spLocks noGrp="1"/>
          </p:cNvSpPr>
          <p:nvPr>
            <p:ph type="ctrTitle"/>
          </p:nvPr>
        </p:nvSpPr>
        <p:spPr>
          <a:xfrm>
            <a:off x="1143000" y="703576"/>
            <a:ext cx="6858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endParaRPr dirty="0"/>
          </a:p>
        </p:txBody>
      </p:sp>
      <p:sp>
        <p:nvSpPr>
          <p:cNvPr id="61" name="Google Shape;61;g31afdf4925c_0_0"/>
          <p:cNvSpPr/>
          <p:nvPr/>
        </p:nvSpPr>
        <p:spPr>
          <a:xfrm>
            <a:off x="1288976" y="2375550"/>
            <a:ext cx="759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Measures of Similarity and Dissimilarity, Cross-Validation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afdf4925c_0_7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Measures of similarity and dissimilarity</a:t>
            </a:r>
            <a:endParaRPr/>
          </a:p>
        </p:txBody>
      </p:sp>
      <p:sp>
        <p:nvSpPr>
          <p:cNvPr id="68" name="Google Shape;68;g31afdf4925c_0_7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300"/>
              <a:buFont typeface="Lato"/>
              <a:buNone/>
            </a:pPr>
            <a:r>
              <a:rPr lang="en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Similarity measures </a:t>
            </a: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20000"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b="0" i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deal with continuous or numerical variables</a:t>
            </a:r>
            <a:endParaRPr b="0" i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" b="0" i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Euclidean Distance</a:t>
            </a:r>
            <a:endParaRPr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" b="0" i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Manhattan Distance</a:t>
            </a:r>
            <a:endParaRPr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" b="0" i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Minkowski Distance</a:t>
            </a:r>
            <a:endParaRPr b="0" i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Cosine similarity</a:t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Jacard Similarity </a:t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Pearson Correlation Coefficient</a:t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i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deal with categorical variables</a:t>
            </a:r>
            <a:endParaRPr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" b="0" i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Hamming Distance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300"/>
              <a:buFont typeface="Lato"/>
              <a:buNone/>
            </a:pPr>
            <a:r>
              <a:rPr lang="en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" b="0" i="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ormula for Euclidean Distance</a:t>
            </a:r>
            <a:endParaRPr/>
          </a:p>
        </p:txBody>
      </p:sp>
      <p:pic>
        <p:nvPicPr>
          <p:cNvPr id="80" name="Google Shape;80;p3" descr="euclidean distance formula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84202" y="2166809"/>
            <a:ext cx="2786100" cy="52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" descr="euclidean distance formul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0771" y="1902490"/>
            <a:ext cx="2164556" cy="105013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4966774" y="3240846"/>
            <a:ext cx="45738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Where,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n = number of dimensions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pi, qi = data points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300"/>
              <a:buFont typeface="Lato"/>
              <a:buNone/>
            </a:pPr>
            <a:r>
              <a:rPr lang="en" b="0" i="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Manhattan Distance</a:t>
            </a:r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459838" y="136921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22222"/>
              </a:buClr>
              <a:buSzPts val="2100"/>
              <a:buChar char="●"/>
            </a:pPr>
            <a:r>
              <a:rPr lang="en" b="0" i="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is the sum of absolute differences between points across all the dimensions</a:t>
            </a:r>
            <a:endParaRPr/>
          </a:p>
        </p:txBody>
      </p:sp>
      <p:pic>
        <p:nvPicPr>
          <p:cNvPr id="89" name="Google Shape;89;p4" descr="manhattan distance formu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52" y="2571750"/>
            <a:ext cx="2178844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 descr="manhattan dista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97996" y="2164556"/>
            <a:ext cx="1693069" cy="85010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/>
        </p:nvSpPr>
        <p:spPr>
          <a:xfrm>
            <a:off x="5314949" y="3246288"/>
            <a:ext cx="45738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Where,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n = number of dimensions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pi, qi = data points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300"/>
              <a:buFont typeface="Lato"/>
              <a:buNone/>
            </a:pPr>
            <a:r>
              <a:rPr lang="en" b="0" i="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Minkowski Distance</a:t>
            </a:r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22222"/>
              </a:buClr>
              <a:buSzPts val="2100"/>
              <a:buChar char="●"/>
            </a:pPr>
            <a:r>
              <a:rPr lang="en" b="0" i="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Minkowski Distance is the generalized form of Euclidean and Manhattan Distance.</a:t>
            </a:r>
            <a:endParaRPr/>
          </a:p>
        </p:txBody>
      </p:sp>
      <p:pic>
        <p:nvPicPr>
          <p:cNvPr id="98" name="Google Shape;98;p5" descr="Minkowski Dista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4010" y="2018110"/>
            <a:ext cx="2135981" cy="1107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Cosine Similarity</a:t>
            </a:r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Measures the cosine of the angle between two vectors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Similarity(x,y)=x⋅y/∥x∥∥y∥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Range: [0, 1] (or [-1, 1] in some variations)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Usage</a:t>
            </a:r>
            <a:endParaRPr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Text analysis, document similarity, and recommendation systems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Jaccard Similarity</a:t>
            </a:r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Measures similarity between two sets by comparing their intersection to their union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Formula: J(A,B)=∣A∩B∣/∣A∪B∣​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Usage: Set-based data such as binary attributes or text data</a:t>
            </a:r>
            <a:endParaRPr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Pearson Correlation Coefficient</a:t>
            </a:r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Measures linear correlation between two variables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r=[∑(xi​−xˉ)(yi​−yˉ​)​] / sqrt [∑(xi​−xˉ)</a:t>
            </a:r>
            <a:r>
              <a:rPr lang="en" baseline="30000">
                <a:solidFill>
                  <a:srgbClr val="000000"/>
                </a:solidFill>
              </a:rPr>
              <a:t>2</a:t>
            </a:r>
            <a:r>
              <a:rPr lang="en">
                <a:solidFill>
                  <a:srgbClr val="000000"/>
                </a:solidFill>
              </a:rPr>
              <a:t>∑(yi​−yˉ​)</a:t>
            </a:r>
            <a:r>
              <a:rPr lang="en" baseline="30000">
                <a:solidFill>
                  <a:srgbClr val="000000"/>
                </a:solidFill>
              </a:rPr>
              <a:t>2</a:t>
            </a:r>
            <a:r>
              <a:rPr lang="en">
                <a:solidFill>
                  <a:srgbClr val="000000"/>
                </a:solidFill>
              </a:rPr>
              <a:t>​]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Range: [-1, 1]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Usage: Measures relationships in regression analysis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300"/>
              <a:buFont typeface="Lato"/>
              <a:buNone/>
            </a:pPr>
            <a:r>
              <a:rPr lang="en" b="0" i="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Hamming Distance</a:t>
            </a:r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33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b="0" i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measures the similarity between two strings of the same length</a:t>
            </a:r>
            <a:endParaRPr>
              <a:solidFill>
                <a:srgbClr val="000000"/>
              </a:solidFill>
            </a:endParaRPr>
          </a:p>
          <a:p>
            <a:pPr marL="177800" lvl="0" indent="-1333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b="0" i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is the number of positions at which the corresponding characters are different</a:t>
            </a:r>
            <a:endParaRPr b="0" i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177800" lvl="0" indent="-184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Usage</a:t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Useful for binary data and text data like DNA sequences</a:t>
            </a: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17780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endParaRPr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/>
              <a:t>Dissimilarity Measures</a:t>
            </a:r>
            <a:endParaRPr sz="3600"/>
          </a:p>
        </p:txBody>
      </p:sp>
      <p:sp>
        <p:nvSpPr>
          <p:cNvPr id="128" name="Google Shape;128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2400">
                <a:solidFill>
                  <a:srgbClr val="000000"/>
                </a:solidFill>
              </a:rPr>
              <a:t>Euclidean Distance </a:t>
            </a:r>
            <a:endParaRPr sz="2400">
              <a:solidFill>
                <a:srgbClr val="000000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2400">
                <a:solidFill>
                  <a:srgbClr val="000000"/>
                </a:solidFill>
              </a:rPr>
              <a:t>Manhattan Distance </a:t>
            </a:r>
            <a:endParaRPr sz="2400">
              <a:solidFill>
                <a:srgbClr val="000000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2400">
                <a:solidFill>
                  <a:srgbClr val="000000"/>
                </a:solidFill>
              </a:rPr>
              <a:t>Mahalanobis Distance</a:t>
            </a:r>
            <a:endParaRPr sz="2400">
              <a:solidFill>
                <a:srgbClr val="000000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2400">
                <a:solidFill>
                  <a:srgbClr val="000000"/>
                </a:solidFill>
              </a:rPr>
              <a:t>Canberra Distance</a:t>
            </a:r>
            <a:endParaRPr sz="2400">
              <a:solidFill>
                <a:srgbClr val="000000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2400">
                <a:solidFill>
                  <a:srgbClr val="000000"/>
                </a:solidFill>
              </a:rPr>
              <a:t>Chebyshev Distance (Maximum Distance)</a:t>
            </a:r>
            <a:endParaRPr sz="2400">
              <a:solidFill>
                <a:srgbClr val="000000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2400">
                <a:solidFill>
                  <a:srgbClr val="000000"/>
                </a:solidFill>
              </a:rPr>
              <a:t>Edit Distance (Levenshtein Distance)</a:t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Dissimilarity Measures</a:t>
            </a:r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Euclidean Distance (Same as similarity but interpreted as dissimilarity)</a:t>
            </a:r>
            <a:endParaRPr sz="1200"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Manhattan Distance (Same as similarity but interpreted as dissimilarity)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a7f236965_0_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0"/>
              <a:t>Mahalanobis Distance</a:t>
            </a:r>
            <a:endParaRPr/>
          </a:p>
        </p:txBody>
      </p:sp>
      <p:sp>
        <p:nvSpPr>
          <p:cNvPr id="140" name="Google Shape;140;g31a7f236965_0_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70000" lnSpcReduction="20000"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2000">
                <a:solidFill>
                  <a:srgbClr val="000000"/>
                </a:solidFill>
              </a:rPr>
              <a:t>Euclidean Distance treats each dimension (feature) as independent</a:t>
            </a:r>
            <a:endParaRPr sz="200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2000">
                <a:solidFill>
                  <a:srgbClr val="000000"/>
                </a:solidFill>
              </a:rPr>
              <a:t>It assumes the same scale and importance for each dimension</a:t>
            </a:r>
            <a:endParaRPr sz="20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2000">
                <a:solidFill>
                  <a:srgbClr val="000000"/>
                </a:solidFill>
              </a:rPr>
              <a:t>When dimensions are correlated, Euclidean distance can be misleading because it ignores these correlations</a:t>
            </a:r>
            <a:endParaRPr sz="20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2000">
                <a:solidFill>
                  <a:srgbClr val="000000"/>
                </a:solidFill>
              </a:rPr>
              <a:t>Mahalanobis Distance takes into account the </a:t>
            </a:r>
            <a:r>
              <a:rPr lang="en" sz="2000" b="1">
                <a:solidFill>
                  <a:srgbClr val="000000"/>
                </a:solidFill>
              </a:rPr>
              <a:t>covariance</a:t>
            </a:r>
            <a:r>
              <a:rPr lang="en" sz="2000">
                <a:solidFill>
                  <a:srgbClr val="000000"/>
                </a:solidFill>
              </a:rPr>
              <a:t> between dimensions</a:t>
            </a:r>
            <a:endParaRPr sz="200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2000">
                <a:solidFill>
                  <a:srgbClr val="000000"/>
                </a:solidFill>
              </a:rPr>
              <a:t>d(x,y)=sqrt [(x−y)</a:t>
            </a:r>
            <a:r>
              <a:rPr lang="en" sz="2000" baseline="30000">
                <a:solidFill>
                  <a:srgbClr val="000000"/>
                </a:solidFill>
              </a:rPr>
              <a:t>T</a:t>
            </a:r>
            <a:r>
              <a:rPr lang="en" sz="2000">
                <a:solidFill>
                  <a:srgbClr val="000000"/>
                </a:solidFill>
              </a:rPr>
              <a:t>S</a:t>
            </a:r>
            <a:r>
              <a:rPr lang="en" sz="2000" baseline="30000">
                <a:solidFill>
                  <a:srgbClr val="000000"/>
                </a:solidFill>
              </a:rPr>
              <a:t>−1</a:t>
            </a:r>
            <a:r>
              <a:rPr lang="en" sz="2000">
                <a:solidFill>
                  <a:srgbClr val="000000"/>
                </a:solidFill>
              </a:rPr>
              <a:t>(x−y)]</a:t>
            </a:r>
            <a:endParaRPr sz="200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2000">
                <a:solidFill>
                  <a:srgbClr val="000000"/>
                </a:solidFill>
              </a:rPr>
              <a:t>where S is the covariance matrix</a:t>
            </a:r>
            <a:endParaRPr sz="20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2000">
                <a:solidFill>
                  <a:srgbClr val="000000"/>
                </a:solidFill>
              </a:rPr>
              <a:t>Usage</a:t>
            </a:r>
            <a:endParaRPr sz="200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2000">
                <a:solidFill>
                  <a:srgbClr val="000000"/>
                </a:solidFill>
              </a:rPr>
              <a:t>Useful when data dimensions are correlated</a:t>
            </a:r>
            <a:endParaRPr sz="20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Canberra Distance</a:t>
            </a:r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d(x,y)=i=1 to n∑ ​∣xi​∣-∣yi​∣ / ∣xi+yi​∣​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Sensitive to small changes, especially for small values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Chebyshev Distance (Maximum Distance)</a:t>
            </a:r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20000"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gives the largest difference among all dimensions and ignores the others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d(x,y)=max ​∣xi​−yi​∣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can be useful when the worst-case difference is more important than cumulative differences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Usage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Chessboard-like movement scenarios, max-min optimization problems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Edit Distance (Levenshtein Distance)</a:t>
            </a:r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Measures the minimum number of operations (insertions, deletions, substitutions) to transform one string into another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Usage</a:t>
            </a:r>
            <a:endParaRPr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Text processing and DNA sequence alignment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Applicability of Metrics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Continuous Data: Euclidean, Manhattan, Minkowski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Categorical Data: Hamming, Jaccard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High-Dimensional Data: Cosine similarity</a:t>
            </a:r>
            <a:endParaRPr sz="2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afdf4925c_0_8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/>
              <a:t>Cross-validation</a:t>
            </a:r>
            <a:endParaRPr sz="3600"/>
          </a:p>
        </p:txBody>
      </p:sp>
      <p:sp>
        <p:nvSpPr>
          <p:cNvPr id="170" name="Google Shape;170;g31afdf4925c_0_8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302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is a resampling technique 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used to evaluate the performance and generalizability of a machine learning model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It involves 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partitioning the dataset into multiple subsets (folds) and using different subsets for training and testing the model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goal is 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to ensure that the model performs well on unseen data and is not overfitting or underfitting</a:t>
            </a:r>
            <a:endParaRPr sz="2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afdf4925c_0_8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Cross-Validation Works</a:t>
            </a:r>
            <a:endParaRPr/>
          </a:p>
        </p:txBody>
      </p:sp>
      <p:sp>
        <p:nvSpPr>
          <p:cNvPr id="176" name="Google Shape;176;g31afdf4925c_0_8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Split the Data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dataset is divided into k equal (or nearly equal) parts or "folds"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Training and Testing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each iteration, k−1 folds are used for training, and the remaining fold is used for testing (validation)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process is repeated k times, with each fold used exactly once as the testing set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Aggregate Results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performance metric (e.g., accuracy, precision, recall) is averaged across all k iterations to get a more reliable estimate of the model's performance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afdf4925c_0_9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Why Cross-Validation is Used in Machine Learning</a:t>
            </a:r>
            <a:endParaRPr sz="2700"/>
          </a:p>
        </p:txBody>
      </p:sp>
      <p:sp>
        <p:nvSpPr>
          <p:cNvPr id="182" name="Google Shape;182;g31afdf4925c_0_9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Improves Model Generalization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Provides a Robust Performance Estimate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Efficient Use of Data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afdf4925c_0_10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Cross-Validation</a:t>
            </a:r>
            <a:endParaRPr/>
          </a:p>
        </p:txBody>
      </p:sp>
      <p:sp>
        <p:nvSpPr>
          <p:cNvPr id="188" name="Google Shape;188;g31afdf4925c_0_10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k-Fold Cross-Validation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most common type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Stratified k-Fold Cross-Validation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Ensures each fold has a proportional representation of each class,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useful for imbalanced datasets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Leave-One-Out Cross-Validation (LOOCV)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Each data point is used once as the validation set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remaining data points are used for training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Very computationally expensive but provides an unbiased estimate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On-screen Show (16:9)</PresentationFormat>
  <Paragraphs>108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Lato</vt:lpstr>
      <vt:lpstr>Calibri</vt:lpstr>
      <vt:lpstr>Arial</vt:lpstr>
      <vt:lpstr>Simple Light</vt:lpstr>
      <vt:lpstr>PowerPoint Presentation</vt:lpstr>
      <vt:lpstr>Measures of similarity and dissimilarity</vt:lpstr>
      <vt:lpstr>Similarity measures </vt:lpstr>
      <vt:lpstr>Formula for Euclidean Distance</vt:lpstr>
      <vt:lpstr>Manhattan Distance</vt:lpstr>
      <vt:lpstr>Minkowski Distance</vt:lpstr>
      <vt:lpstr>Cosine Similarity</vt:lpstr>
      <vt:lpstr>Jaccard Similarity</vt:lpstr>
      <vt:lpstr>Pearson Correlation Coefficient</vt:lpstr>
      <vt:lpstr>Hamming Distance</vt:lpstr>
      <vt:lpstr>Dissimilarity Measures</vt:lpstr>
      <vt:lpstr>Dissimilarity Measures</vt:lpstr>
      <vt:lpstr>Mahalanobis Distance</vt:lpstr>
      <vt:lpstr>Canberra Distance</vt:lpstr>
      <vt:lpstr>Chebyshev Distance (Maximum Distance)</vt:lpstr>
      <vt:lpstr>Edit Distance (Levenshtein Distance)</vt:lpstr>
      <vt:lpstr>Applicability of Metrics</vt:lpstr>
      <vt:lpstr>Cross-validation</vt:lpstr>
      <vt:lpstr>How Cross-Validation Works</vt:lpstr>
      <vt:lpstr>Why Cross-Validation is Used in Machine Learning</vt:lpstr>
      <vt:lpstr>Types of Cross-Validation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Manjari Gupta</cp:lastModifiedBy>
  <cp:revision>1</cp:revision>
  <dcterms:modified xsi:type="dcterms:W3CDTF">2025-11-02T18:34:17Z</dcterms:modified>
</cp:coreProperties>
</file>