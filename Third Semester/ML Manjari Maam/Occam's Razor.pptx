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Helvetica Neue"/>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hePPsuMmpOztyN9HhsTozQk+Vn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HelveticaNeue-bold.fntdata"/><Relationship Id="rId21" Type="http://schemas.openxmlformats.org/officeDocument/2006/relationships/font" Target="fonts/HelveticaNeue-regular.fntdata"/><Relationship Id="rId24" Type="http://schemas.openxmlformats.org/officeDocument/2006/relationships/font" Target="fonts/HelveticaNeue-boldItalic.fntdata"/><Relationship Id="rId23"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4"/>
          <p:cNvSpPr/>
          <p:nvPr>
            <p:ph idx="2" type="pic"/>
          </p:nvPr>
        </p:nvSpPr>
        <p:spPr>
          <a:xfrm>
            <a:off x="5183188" y="987425"/>
            <a:ext cx="6172200" cy="4873625"/>
          </a:xfrm>
          <a:prstGeom prst="rect">
            <a:avLst/>
          </a:prstGeom>
          <a:noFill/>
          <a:ln>
            <a:noFill/>
          </a:ln>
        </p:spPr>
      </p:sp>
      <p:sp>
        <p:nvSpPr>
          <p:cNvPr id="64" name="Google Shape;64;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Occam’s razor</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0" i="0" lang="en-US">
                <a:latin typeface="Helvetica Neue"/>
                <a:ea typeface="Helvetica Neue"/>
                <a:cs typeface="Helvetica Neue"/>
                <a:sym typeface="Helvetica Neue"/>
              </a:rPr>
              <a:t>Occam’s Razor is an approach to problem-solving and is commonly invoked to mean that if all else is equal, we should prefer the simpler solutions.</a:t>
            </a:r>
            <a:endParaRPr/>
          </a:p>
          <a:p>
            <a:pPr indent="-228600" lvl="0" marL="228600" rtl="0" algn="l">
              <a:lnSpc>
                <a:spcPct val="90000"/>
              </a:lnSpc>
              <a:spcBef>
                <a:spcPts val="1000"/>
              </a:spcBef>
              <a:spcAft>
                <a:spcPts val="0"/>
              </a:spcAft>
              <a:buClr>
                <a:schemeClr val="dk1"/>
              </a:buClr>
              <a:buSzPts val="2800"/>
              <a:buFont typeface="Arial"/>
              <a:buChar char="•"/>
            </a:pPr>
            <a:r>
              <a:rPr b="1" i="0" lang="en-US">
                <a:latin typeface="Helvetica Neue"/>
                <a:ea typeface="Helvetica Neue"/>
                <a:cs typeface="Helvetica Neue"/>
                <a:sym typeface="Helvetica Neue"/>
              </a:rPr>
              <a:t>Occam’s Razor</a:t>
            </a:r>
            <a:r>
              <a:rPr b="0" i="0" lang="en-US">
                <a:latin typeface="Helvetica Neue"/>
                <a:ea typeface="Helvetica Neue"/>
                <a:cs typeface="Helvetica Neue"/>
                <a:sym typeface="Helvetica Neue"/>
              </a:rPr>
              <a:t>: If all else is equal, the simplest solution is correct.</a:t>
            </a:r>
            <a:endParaRPr/>
          </a:p>
          <a:p>
            <a:pPr indent="-228600" lvl="0" marL="228600" rtl="0" algn="l">
              <a:lnSpc>
                <a:spcPct val="90000"/>
              </a:lnSpc>
              <a:spcBef>
                <a:spcPts val="1000"/>
              </a:spcBef>
              <a:spcAft>
                <a:spcPts val="0"/>
              </a:spcAft>
              <a:buClr>
                <a:schemeClr val="dk1"/>
              </a:buClr>
              <a:buSzPts val="2800"/>
              <a:buChar char="•"/>
            </a:pPr>
            <a:r>
              <a:rPr b="0" i="0" lang="en-US">
                <a:latin typeface="Helvetica Neue"/>
                <a:ea typeface="Helvetica Neue"/>
                <a:cs typeface="Helvetica Neue"/>
                <a:sym typeface="Helvetica Neue"/>
              </a:rPr>
              <a:t>It is not a rule, more of a heuristic for problem-solving, and is commonly invoked in science to prefer simpler </a:t>
            </a:r>
            <a:r>
              <a:rPr b="0" i="0" lang="en-US" u="none" strike="noStrike">
                <a:latin typeface="Helvetica Neue"/>
                <a:ea typeface="Helvetica Neue"/>
                <a:cs typeface="Helvetica Neue"/>
                <a:sym typeface="Helvetica Neue"/>
              </a:rPr>
              <a:t>hypotheses</a:t>
            </a:r>
            <a:r>
              <a:rPr b="0" i="0" lang="en-US">
                <a:latin typeface="Helvetica Neue"/>
                <a:ea typeface="Helvetica Neue"/>
                <a:cs typeface="Helvetica Neue"/>
                <a:sym typeface="Helvetica Neue"/>
              </a:rPr>
              <a:t> that make fewer assumptions over more complex hypotheses that make more assumptions.</a:t>
            </a:r>
            <a:endParaRPr/>
          </a:p>
          <a:p>
            <a:pPr indent="0" lvl="0" marL="0" rtl="0" algn="l">
              <a:lnSpc>
                <a:spcPct val="90000"/>
              </a:lnSpc>
              <a:spcBef>
                <a:spcPts val="1000"/>
              </a:spcBef>
              <a:spcAft>
                <a:spcPts val="0"/>
              </a:spcAft>
              <a:buClr>
                <a:schemeClr val="dk1"/>
              </a:buClr>
              <a:buSzPts val="2800"/>
              <a:buNone/>
            </a:pPr>
            <a:br>
              <a:rPr lang="en-US"/>
            </a:b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4400"/>
              <a:buFont typeface="Helvetica Neue"/>
              <a:buNone/>
            </a:pPr>
            <a:r>
              <a:rPr b="1" lang="en-US">
                <a:solidFill>
                  <a:srgbClr val="222222"/>
                </a:solidFill>
                <a:latin typeface="Helvetica Neue"/>
                <a:ea typeface="Helvetica Neue"/>
                <a:cs typeface="Helvetica Neue"/>
                <a:sym typeface="Helvetica Neue"/>
              </a:rPr>
              <a:t>Occam’s Razor for Model Selection</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41934" lvl="0" marL="228600" rtl="0" algn="l">
              <a:lnSpc>
                <a:spcPct val="90000"/>
              </a:lnSpc>
              <a:spcBef>
                <a:spcPts val="1000"/>
              </a:spcBef>
              <a:spcAft>
                <a:spcPts val="0"/>
              </a:spcAft>
              <a:buClr>
                <a:schemeClr val="dk1"/>
              </a:buClr>
              <a:buSzPts val="2800"/>
              <a:buChar char="•"/>
            </a:pPr>
            <a:r>
              <a:rPr b="0" lang="en-US">
                <a:latin typeface="Helvetica Neue"/>
                <a:ea typeface="Helvetica Neue"/>
                <a:cs typeface="Helvetica Neue"/>
                <a:sym typeface="Helvetica Neue"/>
              </a:rPr>
              <a:t>model </a:t>
            </a:r>
            <a:r>
              <a:rPr lang="en-US">
                <a:latin typeface="Helvetica Neue"/>
                <a:ea typeface="Helvetica Neue"/>
                <a:cs typeface="Helvetica Neue"/>
                <a:sym typeface="Helvetica Neue"/>
              </a:rPr>
              <a:t>selection is </a:t>
            </a:r>
            <a:r>
              <a:rPr b="0" lang="en-US">
                <a:latin typeface="Helvetica Neue"/>
                <a:ea typeface="Helvetica Neue"/>
                <a:cs typeface="Helvetica Neue"/>
                <a:sym typeface="Helvetica Neue"/>
              </a:rPr>
              <a:t>based on its expected performance, e.g.</a:t>
            </a:r>
            <a:endParaRPr b="0">
              <a:latin typeface="Helvetica Neue"/>
              <a:ea typeface="Helvetica Neue"/>
              <a:cs typeface="Helvetica Neue"/>
              <a:sym typeface="Helvetica Neue"/>
            </a:endParaRPr>
          </a:p>
          <a:p>
            <a:pPr indent="-292100" lvl="1" marL="685800" rtl="0" algn="l">
              <a:lnSpc>
                <a:spcPct val="90000"/>
              </a:lnSpc>
              <a:spcBef>
                <a:spcPts val="1000"/>
              </a:spcBef>
              <a:spcAft>
                <a:spcPts val="0"/>
              </a:spcAft>
              <a:buClr>
                <a:schemeClr val="dk1"/>
              </a:buClr>
              <a:buSzPts val="2800"/>
              <a:buChar char="•"/>
            </a:pPr>
            <a:r>
              <a:rPr lang="en-US">
                <a:latin typeface="Helvetica Neue"/>
                <a:ea typeface="Helvetica Neue"/>
                <a:cs typeface="Helvetica Neue"/>
                <a:sym typeface="Helvetica Neue"/>
              </a:rPr>
              <a:t>h</a:t>
            </a:r>
            <a:r>
              <a:rPr b="0" lang="en-US">
                <a:latin typeface="Helvetica Neue"/>
                <a:ea typeface="Helvetica Neue"/>
                <a:cs typeface="Helvetica Neue"/>
                <a:sym typeface="Helvetica Neue"/>
              </a:rPr>
              <a:t>ighest accuracy or lowest prediction error.</a:t>
            </a:r>
            <a:endParaRPr/>
          </a:p>
          <a:p>
            <a:pPr indent="-241934" lvl="0" marL="228600" rtl="0" algn="l">
              <a:lnSpc>
                <a:spcPct val="90000"/>
              </a:lnSpc>
              <a:spcBef>
                <a:spcPts val="1000"/>
              </a:spcBef>
              <a:spcAft>
                <a:spcPts val="0"/>
              </a:spcAft>
              <a:buClr>
                <a:schemeClr val="dk1"/>
              </a:buClr>
              <a:buSzPts val="2800"/>
              <a:buChar char="•"/>
            </a:pPr>
            <a:r>
              <a:rPr b="0" lang="en-US">
                <a:latin typeface="Helvetica Neue"/>
                <a:ea typeface="Helvetica Neue"/>
                <a:cs typeface="Helvetica Neue"/>
                <a:sym typeface="Helvetica Neue"/>
              </a:rPr>
              <a:t>Another important consideration is </a:t>
            </a:r>
            <a:endParaRPr b="0">
              <a:latin typeface="Helvetica Neue"/>
              <a:ea typeface="Helvetica Neue"/>
              <a:cs typeface="Helvetica Neue"/>
              <a:sym typeface="Helvetica Neue"/>
            </a:endParaRPr>
          </a:p>
          <a:p>
            <a:pPr indent="-292100" lvl="1" marL="685800" rtl="0" algn="l">
              <a:lnSpc>
                <a:spcPct val="90000"/>
              </a:lnSpc>
              <a:spcBef>
                <a:spcPts val="1000"/>
              </a:spcBef>
              <a:spcAft>
                <a:spcPts val="0"/>
              </a:spcAft>
              <a:buClr>
                <a:schemeClr val="dk1"/>
              </a:buClr>
              <a:buSzPts val="2800"/>
              <a:buChar char="•"/>
            </a:pPr>
            <a:r>
              <a:rPr b="0" lang="en-US">
                <a:latin typeface="Helvetica Neue"/>
                <a:ea typeface="Helvetica Neue"/>
                <a:cs typeface="Helvetica Neue"/>
                <a:sym typeface="Helvetica Neue"/>
              </a:rPr>
              <a:t>to choose simpler models over complex models.</a:t>
            </a:r>
            <a:endParaRPr/>
          </a:p>
          <a:p>
            <a:pPr indent="-241934" lvl="0" marL="228600" rtl="0" algn="l">
              <a:lnSpc>
                <a:spcPct val="90000"/>
              </a:lnSpc>
              <a:spcBef>
                <a:spcPts val="1000"/>
              </a:spcBef>
              <a:spcAft>
                <a:spcPts val="0"/>
              </a:spcAft>
              <a:buClr>
                <a:schemeClr val="dk1"/>
              </a:buClr>
              <a:buSzPts val="2800"/>
              <a:buChar char="•"/>
            </a:pPr>
            <a:r>
              <a:rPr b="0" i="0" lang="en-US">
                <a:latin typeface="Helvetica Neue"/>
                <a:ea typeface="Helvetica Neue"/>
                <a:cs typeface="Helvetica Neue"/>
                <a:sym typeface="Helvetica Neue"/>
              </a:rPr>
              <a:t>Simpler models are typically defined as </a:t>
            </a:r>
            <a:endParaRPr b="0" i="0">
              <a:latin typeface="Helvetica Neue"/>
              <a:ea typeface="Helvetica Neue"/>
              <a:cs typeface="Helvetica Neue"/>
              <a:sym typeface="Helvetica Neue"/>
            </a:endParaRPr>
          </a:p>
          <a:p>
            <a:pPr indent="-292100" lvl="1" marL="685800" rtl="0" algn="l">
              <a:lnSpc>
                <a:spcPct val="90000"/>
              </a:lnSpc>
              <a:spcBef>
                <a:spcPts val="1000"/>
              </a:spcBef>
              <a:spcAft>
                <a:spcPts val="0"/>
              </a:spcAft>
              <a:buClr>
                <a:schemeClr val="dk1"/>
              </a:buClr>
              <a:buSzPts val="2800"/>
              <a:buChar char="•"/>
            </a:pPr>
            <a:r>
              <a:rPr lang="en-US">
                <a:latin typeface="Helvetica Neue"/>
                <a:ea typeface="Helvetica Neue"/>
                <a:cs typeface="Helvetica Neue"/>
                <a:sym typeface="Helvetica Neue"/>
              </a:rPr>
              <a:t>that </a:t>
            </a:r>
            <a:r>
              <a:rPr b="0" i="0" lang="en-US">
                <a:latin typeface="Helvetica Neue"/>
                <a:ea typeface="Helvetica Neue"/>
                <a:cs typeface="Helvetica Neue"/>
                <a:sym typeface="Helvetica Neue"/>
              </a:rPr>
              <a:t>make fewer assumptions or have fewer elements, most commonly characterized as fewer coefficients (e.g. rules, layers, weights, etc.). </a:t>
            </a:r>
            <a:endParaRPr b="0" i="0">
              <a:latin typeface="Helvetica Neue"/>
              <a:ea typeface="Helvetica Neue"/>
              <a:cs typeface="Helvetica Neue"/>
              <a:sym typeface="Helvetica Neue"/>
            </a:endParaRPr>
          </a:p>
          <a:p>
            <a:pPr indent="-292100" lvl="1" marL="685800" rtl="0" algn="l">
              <a:lnSpc>
                <a:spcPct val="90000"/>
              </a:lnSpc>
              <a:spcBef>
                <a:spcPts val="1000"/>
              </a:spcBef>
              <a:spcAft>
                <a:spcPts val="0"/>
              </a:spcAft>
              <a:buClr>
                <a:schemeClr val="dk1"/>
              </a:buClr>
              <a:buSzPts val="2800"/>
              <a:buChar char="•"/>
            </a:pPr>
            <a:r>
              <a:rPr b="0" i="0" lang="en-US">
                <a:latin typeface="Helvetica Neue"/>
                <a:ea typeface="Helvetica Neue"/>
                <a:cs typeface="Helvetica Neue"/>
                <a:sym typeface="Helvetica Neue"/>
              </a:rPr>
              <a:t>The rationale for choosing simpler models is tied back to Occam’s Razor.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Occam’s razor</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Suggests that in machine learning, we should prefer simpler models with fewer coefficients over complex models like ensembles.</a:t>
            </a:r>
            <a:endParaRPr/>
          </a:p>
          <a:p>
            <a:pPr indent="-228600" lvl="0" marL="228600" rtl="0" algn="l">
              <a:lnSpc>
                <a:spcPct val="90000"/>
              </a:lnSpc>
              <a:spcBef>
                <a:spcPts val="1000"/>
              </a:spcBef>
              <a:spcAft>
                <a:spcPts val="0"/>
              </a:spcAft>
              <a:buClr>
                <a:schemeClr val="dk1"/>
              </a:buClr>
              <a:buSzPts val="2800"/>
              <a:buChar char="•"/>
            </a:pPr>
            <a:r>
              <a:rPr lang="en-US"/>
              <a:t>It is a heuristic that suggests </a:t>
            </a:r>
            <a:endParaRPr/>
          </a:p>
          <a:p>
            <a:pPr indent="-228600" lvl="1" marL="685800" rtl="0" algn="l">
              <a:lnSpc>
                <a:spcPct val="90000"/>
              </a:lnSpc>
              <a:spcBef>
                <a:spcPts val="500"/>
              </a:spcBef>
              <a:spcAft>
                <a:spcPts val="0"/>
              </a:spcAft>
              <a:buClr>
                <a:schemeClr val="dk1"/>
              </a:buClr>
              <a:buSzPts val="2400"/>
              <a:buChar char="•"/>
            </a:pPr>
            <a:r>
              <a:rPr lang="en-US"/>
              <a:t>Choosing simpler machine learning models as they are expected to generalize better.</a:t>
            </a:r>
            <a:endParaRPr/>
          </a:p>
          <a:p>
            <a:pPr indent="-228600" lvl="1" marL="685800" rtl="0" algn="l">
              <a:lnSpc>
                <a:spcPct val="90000"/>
              </a:lnSpc>
              <a:spcBef>
                <a:spcPts val="500"/>
              </a:spcBef>
              <a:spcAft>
                <a:spcPts val="0"/>
              </a:spcAft>
              <a:buClr>
                <a:schemeClr val="dk1"/>
              </a:buClr>
              <a:buSzPts val="2400"/>
              <a:buChar char="•"/>
            </a:pPr>
            <a:r>
              <a:rPr lang="en-US"/>
              <a:t>more complex hypotheses makes more assumptions that, in turn, will make them too narrow and not generalize well.</a:t>
            </a:r>
            <a:endParaRPr/>
          </a:p>
          <a:p>
            <a:pPr indent="-228600" lvl="0" marL="228600" rtl="0" algn="l">
              <a:lnSpc>
                <a:spcPct val="90000"/>
              </a:lnSpc>
              <a:spcBef>
                <a:spcPts val="1000"/>
              </a:spcBef>
              <a:spcAft>
                <a:spcPts val="0"/>
              </a:spcAft>
              <a:buClr>
                <a:schemeClr val="dk1"/>
              </a:buClr>
              <a:buSzPts val="2800"/>
              <a:buChar char="•"/>
            </a:pPr>
            <a:r>
              <a:rPr lang="en-US"/>
              <a:t>It suggests complex models like ensembles will overfit the training dataset and perform poorly on new data.</a:t>
            </a:r>
            <a:endParaRPr/>
          </a:p>
          <a:p>
            <a:pPr indent="-228600" lvl="0" marL="228600" rtl="0" algn="l">
              <a:lnSpc>
                <a:spcPct val="90000"/>
              </a:lnSpc>
              <a:spcBef>
                <a:spcPts val="1000"/>
              </a:spcBef>
              <a:spcAft>
                <a:spcPts val="0"/>
              </a:spcAft>
              <a:buClr>
                <a:schemeClr val="dk1"/>
              </a:buClr>
              <a:buSzPts val="2800"/>
              <a:buChar char="•"/>
            </a:pPr>
            <a:r>
              <a:rPr lang="en-US"/>
              <a:t>https://machinelearningmastery.com/ensemble-learning-and-occams-razor/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000"/>
              </a:spcBef>
              <a:spcAft>
                <a:spcPts val="0"/>
              </a:spcAft>
              <a:buClr>
                <a:schemeClr val="dk1"/>
              </a:buClr>
              <a:buSzPts val="2800"/>
              <a:buFont typeface="Calibri"/>
              <a:buChar char="•"/>
            </a:pPr>
            <a:r>
              <a:rPr lang="en-US"/>
              <a:t>But</a:t>
            </a:r>
            <a:r>
              <a:rPr i="0" lang="en-US"/>
              <a:t> empirical results show a continued reduction in generalization error as the complexity of an ensemble learning model is incrementally increased. </a:t>
            </a:r>
            <a:endParaRPr i="0"/>
          </a:p>
          <a:p>
            <a:pPr indent="-266700" lvl="1" marL="685800" rtl="0" algn="l">
              <a:spcBef>
                <a:spcPts val="500"/>
              </a:spcBef>
              <a:spcAft>
                <a:spcPts val="0"/>
              </a:spcAft>
              <a:buSzPts val="2400"/>
              <a:buFont typeface="Calibri"/>
              <a:buChar char="•"/>
            </a:pPr>
            <a:r>
              <a:rPr i="1" lang="en-US"/>
              <a:t>It has been empirically observed that certain ensemble techniques often do not overfit the model, even when the ensemble contains thousands of classifiers.</a:t>
            </a:r>
            <a:endParaRPr/>
          </a:p>
          <a:p>
            <a:pPr indent="-228600" lvl="0" marL="228600" rtl="0" algn="l">
              <a:lnSpc>
                <a:spcPct val="90000"/>
              </a:lnSpc>
              <a:spcBef>
                <a:spcPts val="1000"/>
              </a:spcBef>
              <a:spcAft>
                <a:spcPts val="0"/>
              </a:spcAft>
              <a:buClr>
                <a:schemeClr val="dk1"/>
              </a:buClr>
              <a:buSzPts val="2800"/>
              <a:buFont typeface="Calibri"/>
              <a:buChar char="•"/>
            </a:pPr>
            <a:r>
              <a:rPr i="0" lang="en-US"/>
              <a:t>These findings are at odds with the Occam’s razor principle taken at face value.</a:t>
            </a:r>
            <a:endParaRPr/>
          </a:p>
          <a:p>
            <a:pPr indent="-292100" lvl="0" marL="228600" rtl="0" algn="l">
              <a:spcBef>
                <a:spcPts val="1000"/>
              </a:spcBef>
              <a:spcAft>
                <a:spcPts val="0"/>
              </a:spcAft>
              <a:buSzPts val="2800"/>
              <a:buFont typeface="Calibri"/>
              <a:buChar char="•"/>
            </a:pPr>
            <a:r>
              <a:rPr lang="en-US"/>
              <a:t>How can this inconsistency be reconciled?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Font typeface="Calibri"/>
              <a:buChar char="•"/>
            </a:pPr>
            <a:r>
              <a:rPr i="0" lang="en-US"/>
              <a:t>Occam’s razor is a heuristic that suggests </a:t>
            </a:r>
            <a:endParaRPr i="0"/>
          </a:p>
          <a:p>
            <a:pPr indent="-266700" lvl="1" marL="685800" rtl="0" algn="l">
              <a:lnSpc>
                <a:spcPct val="90000"/>
              </a:lnSpc>
              <a:spcBef>
                <a:spcPts val="0"/>
              </a:spcBef>
              <a:spcAft>
                <a:spcPts val="0"/>
              </a:spcAft>
              <a:buClr>
                <a:schemeClr val="dk1"/>
              </a:buClr>
              <a:buSzPts val="2400"/>
              <a:buFont typeface="Calibri"/>
              <a:buChar char="•"/>
            </a:pPr>
            <a:r>
              <a:rPr i="0" lang="en-US"/>
              <a:t>choosing simpler machine learning models as they are expected to generalize better</a:t>
            </a:r>
            <a:endParaRPr/>
          </a:p>
          <a:p>
            <a:pPr indent="-228600" lvl="0" marL="228600" rtl="0" algn="l">
              <a:lnSpc>
                <a:spcPct val="90000"/>
              </a:lnSpc>
              <a:spcBef>
                <a:spcPts val="1000"/>
              </a:spcBef>
              <a:spcAft>
                <a:spcPts val="0"/>
              </a:spcAft>
              <a:buClr>
                <a:schemeClr val="dk1"/>
              </a:buClr>
              <a:buSzPts val="2800"/>
              <a:buFont typeface="Calibri"/>
              <a:buChar char="•"/>
            </a:pPr>
            <a:r>
              <a:rPr i="0" lang="en-US"/>
              <a:t>The heuristic can be divided into two razors</a:t>
            </a:r>
            <a:endParaRPr i="0"/>
          </a:p>
          <a:p>
            <a:pPr indent="-266700" lvl="1" marL="685800" rtl="0" algn="l">
              <a:lnSpc>
                <a:spcPct val="90000"/>
              </a:lnSpc>
              <a:spcBef>
                <a:spcPts val="1000"/>
              </a:spcBef>
              <a:spcAft>
                <a:spcPts val="0"/>
              </a:spcAft>
              <a:buClr>
                <a:schemeClr val="dk1"/>
              </a:buClr>
              <a:buSzPts val="2400"/>
              <a:buFont typeface="Calibri"/>
              <a:buChar char="•"/>
            </a:pPr>
            <a:r>
              <a:rPr i="0" lang="en-US"/>
              <a:t>one of which is true and remains a useful tool and </a:t>
            </a:r>
            <a:endParaRPr i="0"/>
          </a:p>
          <a:p>
            <a:pPr indent="-266700" lvl="1" marL="685800" rtl="0" algn="l">
              <a:lnSpc>
                <a:spcPct val="90000"/>
              </a:lnSpc>
              <a:spcBef>
                <a:spcPts val="1000"/>
              </a:spcBef>
              <a:spcAft>
                <a:spcPts val="0"/>
              </a:spcAft>
              <a:buClr>
                <a:schemeClr val="dk1"/>
              </a:buClr>
              <a:buSzPts val="2400"/>
              <a:buFont typeface="Calibri"/>
              <a:buChar char="•"/>
            </a:pPr>
            <a:r>
              <a:rPr i="0" lang="en-US"/>
              <a:t>the other that is false and should be abandoned</a:t>
            </a:r>
            <a:endParaRPr/>
          </a:p>
          <a:p>
            <a:pPr indent="-228600" lvl="0" marL="228600" rtl="0" algn="l">
              <a:lnSpc>
                <a:spcPct val="90000"/>
              </a:lnSpc>
              <a:spcBef>
                <a:spcPts val="1000"/>
              </a:spcBef>
              <a:spcAft>
                <a:spcPts val="0"/>
              </a:spcAft>
              <a:buClr>
                <a:schemeClr val="dk1"/>
              </a:buClr>
              <a:buSzPts val="2800"/>
              <a:buFont typeface="Calibri"/>
              <a:buChar char="•"/>
            </a:pPr>
            <a:r>
              <a:rPr lang="en-US"/>
              <a:t>S</a:t>
            </a:r>
            <a:r>
              <a:rPr lang="en-US"/>
              <a:t>pecific case of how the second razor fails </a:t>
            </a:r>
            <a:endParaRPr/>
          </a:p>
          <a:p>
            <a:pPr indent="-266700" lvl="1" marL="685800" rtl="0" algn="l">
              <a:lnSpc>
                <a:spcPct val="90000"/>
              </a:lnSpc>
              <a:spcBef>
                <a:spcPts val="1000"/>
              </a:spcBef>
              <a:spcAft>
                <a:spcPts val="0"/>
              </a:spcAft>
              <a:buClr>
                <a:schemeClr val="dk1"/>
              </a:buClr>
              <a:buSzPts val="2400"/>
              <a:buFont typeface="Calibri"/>
              <a:buChar char="•"/>
            </a:pPr>
            <a:r>
              <a:rPr i="0" lang="en-US"/>
              <a:t>Ensemble learning algorithms like boosting </a:t>
            </a:r>
            <a:endParaRPr i="0"/>
          </a:p>
          <a:p>
            <a:pPr indent="-292100" lvl="0" marL="228600" rtl="0" algn="l">
              <a:spcBef>
                <a:spcPts val="1000"/>
              </a:spcBef>
              <a:spcAft>
                <a:spcPts val="0"/>
              </a:spcAft>
              <a:buSzPts val="2800"/>
              <a:buFont typeface="Calibri"/>
              <a:buChar char="•"/>
            </a:pPr>
            <a:r>
              <a:rPr lang="en-US"/>
              <a:t>Thus, it shows </a:t>
            </a:r>
            <a:r>
              <a:rPr lang="en-US"/>
              <a:t>added complexity can result in lower generalization error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4400"/>
              <a:buFont typeface="Helvetica Neue"/>
              <a:buNone/>
            </a:pPr>
            <a:r>
              <a:rPr b="1" lang="en-US">
                <a:solidFill>
                  <a:srgbClr val="222222"/>
                </a:solidFill>
                <a:latin typeface="Helvetica Neue"/>
                <a:ea typeface="Helvetica Neue"/>
                <a:cs typeface="Helvetica Neue"/>
                <a:sym typeface="Helvetica Neue"/>
              </a:rPr>
              <a:t>Occam’s Two Razors for Machine Learning</a:t>
            </a:r>
            <a:endParaRPr/>
          </a:p>
        </p:txBody>
      </p:sp>
      <p:sp>
        <p:nvSpPr>
          <p:cNvPr id="121" name="Google Shape;12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lang="en-US">
                <a:latin typeface="Helvetica Neue"/>
                <a:ea typeface="Helvetica Neue"/>
                <a:cs typeface="Helvetica Neue"/>
                <a:sym typeface="Helvetica Neue"/>
              </a:rPr>
              <a:t>The conflict between the expectation of simpler models generalizing better in theory and complex models like ensembles generalizing better in practice was mostly ignored as an inconvenient empirical finding for a long time.</a:t>
            </a:r>
            <a:endParaRPr/>
          </a:p>
          <a:p>
            <a:pPr indent="-228600" lvl="0" marL="228600" rtl="0" algn="l">
              <a:lnSpc>
                <a:spcPct val="90000"/>
              </a:lnSpc>
              <a:spcBef>
                <a:spcPts val="1000"/>
              </a:spcBef>
              <a:spcAft>
                <a:spcPts val="0"/>
              </a:spcAft>
              <a:buClr>
                <a:schemeClr val="dk1"/>
              </a:buClr>
              <a:buSzPts val="2800"/>
              <a:buChar char="•"/>
            </a:pPr>
            <a:r>
              <a:rPr b="0" lang="en-US">
                <a:latin typeface="Helvetica Neue"/>
                <a:ea typeface="Helvetica Neue"/>
                <a:cs typeface="Helvetica Neue"/>
                <a:sym typeface="Helvetica Neue"/>
              </a:rPr>
              <a:t>In the late 1990s, the problem was specifically studied by </a:t>
            </a:r>
            <a:r>
              <a:rPr b="0" lang="en-US" strike="noStrike">
                <a:latin typeface="Helvetica Neue"/>
                <a:ea typeface="Helvetica Neue"/>
                <a:cs typeface="Helvetica Neue"/>
                <a:sym typeface="Helvetica Neue"/>
              </a:rPr>
              <a:t>Pedro Domingos</a:t>
            </a:r>
            <a:r>
              <a:rPr b="0" lang="en-US">
                <a:latin typeface="Helvetica Neue"/>
                <a:ea typeface="Helvetica Neue"/>
                <a:cs typeface="Helvetica Neue"/>
                <a:sym typeface="Helvetica Neue"/>
              </a:rPr>
              <a:t> and published in the </a:t>
            </a:r>
            <a:r>
              <a:rPr b="0" lang="en-US" strike="noStrike">
                <a:latin typeface="Helvetica Neue"/>
                <a:ea typeface="Helvetica Neue"/>
                <a:cs typeface="Helvetica Neue"/>
                <a:sym typeface="Helvetica Neue"/>
              </a:rPr>
              <a:t>award-winning</a:t>
            </a:r>
            <a:r>
              <a:rPr b="0" lang="en-US">
                <a:latin typeface="Helvetica Neue"/>
                <a:ea typeface="Helvetica Neue"/>
                <a:cs typeface="Helvetica Neue"/>
                <a:sym typeface="Helvetica Neue"/>
              </a:rPr>
              <a:t> 1996 paper titled “</a:t>
            </a:r>
            <a:r>
              <a:rPr b="0" lang="en-US" strike="noStrike">
                <a:latin typeface="Helvetica Neue"/>
                <a:ea typeface="Helvetica Neue"/>
                <a:cs typeface="Helvetica Neue"/>
                <a:sym typeface="Helvetica Neue"/>
              </a:rPr>
              <a:t>Occam’s Two Razors: The Sharp and the Blunt</a:t>
            </a:r>
            <a:r>
              <a:rPr b="0" lang="en-US">
                <a:latin typeface="Helvetica Neue"/>
                <a:ea typeface="Helvetica Neue"/>
                <a:cs typeface="Helvetica Neue"/>
                <a:sym typeface="Helvetica Neue"/>
              </a:rPr>
              <a:t>,” and follow-up 1999 journal article “</a:t>
            </a:r>
            <a:r>
              <a:rPr b="0" lang="en-US" strike="noStrike">
                <a:latin typeface="Helvetica Neue"/>
                <a:ea typeface="Helvetica Neue"/>
                <a:cs typeface="Helvetica Neue"/>
                <a:sym typeface="Helvetica Neue"/>
              </a:rPr>
              <a:t>The Role of Occam’s Razor in Knowledge Discovery</a:t>
            </a:r>
            <a:r>
              <a:rPr b="0" lang="en-US">
                <a:latin typeface="Helvetica Neue"/>
                <a:ea typeface="Helvetica Neue"/>
                <a:cs typeface="Helvetica Neue"/>
                <a:sym typeface="Helvetica Neue"/>
              </a:rPr>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27" name="Google Shape;127;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0" lang="en-US">
                <a:latin typeface="Helvetica Neue"/>
                <a:ea typeface="Helvetica Neue"/>
                <a:cs typeface="Helvetica Neue"/>
                <a:sym typeface="Helvetica Neue"/>
              </a:rPr>
              <a:t>In the work, Domingos defines the problem as two specific commonly asserted implications of Occam’s Razor in applied machine learning, which he refers to as “</a:t>
            </a:r>
            <a:r>
              <a:rPr b="0" i="1" lang="en-US">
                <a:latin typeface="Helvetica Neue"/>
                <a:ea typeface="Helvetica Neue"/>
                <a:cs typeface="Helvetica Neue"/>
                <a:sym typeface="Helvetica Neue"/>
              </a:rPr>
              <a:t>Occam’s Two Razors</a:t>
            </a:r>
            <a:r>
              <a:rPr b="0" lang="en-US">
                <a:latin typeface="Helvetica Neue"/>
                <a:ea typeface="Helvetica Neue"/>
                <a:cs typeface="Helvetica Neue"/>
                <a:sym typeface="Helvetica Neue"/>
              </a:rPr>
              <a:t>” in machine learning, they are (taken from the paper):</a:t>
            </a:r>
            <a:endParaRPr/>
          </a:p>
          <a:p>
            <a:pPr indent="-228600" lvl="0" marL="228600" rtl="0" algn="l">
              <a:lnSpc>
                <a:spcPct val="90000"/>
              </a:lnSpc>
              <a:spcBef>
                <a:spcPts val="1000"/>
              </a:spcBef>
              <a:spcAft>
                <a:spcPts val="0"/>
              </a:spcAft>
              <a:buClr>
                <a:schemeClr val="dk1"/>
              </a:buClr>
              <a:buSzPct val="100000"/>
              <a:buFont typeface="Arial"/>
              <a:buChar char="•"/>
            </a:pPr>
            <a:r>
              <a:rPr b="1" i="0" lang="en-US">
                <a:latin typeface="Helvetica Neue"/>
                <a:ea typeface="Helvetica Neue"/>
                <a:cs typeface="Helvetica Neue"/>
                <a:sym typeface="Helvetica Neue"/>
              </a:rPr>
              <a:t>First razor</a:t>
            </a:r>
            <a:r>
              <a:rPr b="0" i="0" lang="en-US">
                <a:latin typeface="Helvetica Neue"/>
                <a:ea typeface="Helvetica Neue"/>
                <a:cs typeface="Helvetica Neue"/>
                <a:sym typeface="Helvetica Neue"/>
              </a:rPr>
              <a:t>: Given two models with the same generalization error, the simpler one should be preferred because simplicity is desirable in itself.</a:t>
            </a:r>
            <a:endParaRPr/>
          </a:p>
          <a:p>
            <a:pPr indent="-228600" lvl="0" marL="228600" rtl="0" algn="l">
              <a:lnSpc>
                <a:spcPct val="90000"/>
              </a:lnSpc>
              <a:spcBef>
                <a:spcPts val="1000"/>
              </a:spcBef>
              <a:spcAft>
                <a:spcPts val="0"/>
              </a:spcAft>
              <a:buClr>
                <a:schemeClr val="dk1"/>
              </a:buClr>
              <a:buSzPct val="100000"/>
              <a:buFont typeface="Arial"/>
              <a:buChar char="•"/>
            </a:pPr>
            <a:r>
              <a:rPr b="1" i="0" lang="en-US">
                <a:latin typeface="Helvetica Neue"/>
                <a:ea typeface="Helvetica Neue"/>
                <a:cs typeface="Helvetica Neue"/>
                <a:sym typeface="Helvetica Neue"/>
              </a:rPr>
              <a:t>Second razor</a:t>
            </a:r>
            <a:r>
              <a:rPr b="0" i="0" lang="en-US">
                <a:latin typeface="Helvetica Neue"/>
                <a:ea typeface="Helvetica Neue"/>
                <a:cs typeface="Helvetica Neue"/>
                <a:sym typeface="Helvetica Neue"/>
              </a:rPr>
              <a:t>: Given two models with the same training-set error, the simpler one should be preferred because it is likely to have lower generalization error.</a:t>
            </a:r>
            <a:endParaRPr/>
          </a:p>
          <a:p>
            <a:pPr indent="-228600" lvl="0" marL="228600" rtl="0" algn="l">
              <a:lnSpc>
                <a:spcPct val="90000"/>
              </a:lnSpc>
              <a:spcBef>
                <a:spcPts val="1000"/>
              </a:spcBef>
              <a:spcAft>
                <a:spcPts val="0"/>
              </a:spcAft>
              <a:buClr>
                <a:schemeClr val="dk1"/>
              </a:buClr>
              <a:buSzPct val="100000"/>
              <a:buChar char="•"/>
            </a:pPr>
            <a:r>
              <a:rPr b="0" lang="en-US">
                <a:latin typeface="Helvetica Neue"/>
                <a:ea typeface="Helvetica Neue"/>
                <a:cs typeface="Helvetica Neue"/>
                <a:sym typeface="Helvetica Neue"/>
              </a:rPr>
              <a:t>Domingos then enumerates a vast number of examples for and against each razor from both theory and empirical studies in machine learning.</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33" name="Google Shape;13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41934" lvl="0" marL="228600" rtl="0" algn="l">
              <a:lnSpc>
                <a:spcPct val="90000"/>
              </a:lnSpc>
              <a:spcBef>
                <a:spcPts val="0"/>
              </a:spcBef>
              <a:spcAft>
                <a:spcPts val="0"/>
              </a:spcAft>
              <a:buClr>
                <a:schemeClr val="dk1"/>
              </a:buClr>
              <a:buSzPct val="100000"/>
              <a:buChar char="•"/>
            </a:pPr>
            <a:r>
              <a:rPr b="0" lang="en-US">
                <a:latin typeface="Helvetica Neue"/>
                <a:ea typeface="Helvetica Neue"/>
                <a:cs typeface="Helvetica Neue"/>
                <a:sym typeface="Helvetica Neue"/>
              </a:rPr>
              <a:t>The </a:t>
            </a:r>
            <a:r>
              <a:rPr b="1" lang="en-US">
                <a:latin typeface="Helvetica Neue"/>
                <a:ea typeface="Helvetica Neue"/>
                <a:cs typeface="Helvetica Neue"/>
                <a:sym typeface="Helvetica Neue"/>
              </a:rPr>
              <a:t>first razor</a:t>
            </a:r>
            <a:r>
              <a:rPr b="0" lang="en-US">
                <a:latin typeface="Helvetica Neue"/>
                <a:ea typeface="Helvetica Neue"/>
                <a:cs typeface="Helvetica Neue"/>
                <a:sym typeface="Helvetica Neue"/>
              </a:rPr>
              <a:t> suggests if two models have the same expected performance on data not seen during training, we should prefer the simpler model. </a:t>
            </a:r>
            <a:endParaRPr b="0">
              <a:latin typeface="Helvetica Neue"/>
              <a:ea typeface="Helvetica Neue"/>
              <a:cs typeface="Helvetica Neue"/>
              <a:sym typeface="Helvetica Neue"/>
            </a:endParaRPr>
          </a:p>
          <a:p>
            <a:pPr indent="-265430" lvl="1" marL="685800" rtl="0" algn="l">
              <a:lnSpc>
                <a:spcPct val="90000"/>
              </a:lnSpc>
              <a:spcBef>
                <a:spcPts val="0"/>
              </a:spcBef>
              <a:spcAft>
                <a:spcPts val="0"/>
              </a:spcAft>
              <a:buClr>
                <a:schemeClr val="dk1"/>
              </a:buClr>
              <a:buSzPct val="116666"/>
              <a:buChar char="•"/>
            </a:pPr>
            <a:r>
              <a:rPr b="0" lang="en-US">
                <a:latin typeface="Helvetica Neue"/>
                <a:ea typeface="Helvetica Neue"/>
                <a:cs typeface="Helvetica Neue"/>
                <a:sym typeface="Helvetica Neue"/>
              </a:rPr>
              <a:t>Domingos highlights that this razor holds and provides a good heuristic on machine learning projects.</a:t>
            </a:r>
            <a:endParaRPr/>
          </a:p>
          <a:p>
            <a:pPr indent="-241934" lvl="0" marL="228600" rtl="0" algn="l">
              <a:lnSpc>
                <a:spcPct val="90000"/>
              </a:lnSpc>
              <a:spcBef>
                <a:spcPts val="1000"/>
              </a:spcBef>
              <a:spcAft>
                <a:spcPts val="0"/>
              </a:spcAft>
              <a:buClr>
                <a:schemeClr val="dk1"/>
              </a:buClr>
              <a:buSzPct val="100000"/>
              <a:buChar char="•"/>
            </a:pPr>
            <a:r>
              <a:rPr b="0" lang="en-US">
                <a:latin typeface="Helvetica Neue"/>
                <a:ea typeface="Helvetica Neue"/>
                <a:cs typeface="Helvetica Neue"/>
                <a:sym typeface="Helvetica Neue"/>
              </a:rPr>
              <a:t>The </a:t>
            </a:r>
            <a:r>
              <a:rPr b="1" lang="en-US">
                <a:latin typeface="Helvetica Neue"/>
                <a:ea typeface="Helvetica Neue"/>
                <a:cs typeface="Helvetica Neue"/>
                <a:sym typeface="Helvetica Neue"/>
              </a:rPr>
              <a:t>second razor</a:t>
            </a:r>
            <a:r>
              <a:rPr b="0" lang="en-US">
                <a:latin typeface="Helvetica Neue"/>
                <a:ea typeface="Helvetica Neue"/>
                <a:cs typeface="Helvetica Neue"/>
                <a:sym typeface="Helvetica Neue"/>
              </a:rPr>
              <a:t> suggests that if two models have the same performance on a training dataset, then the simpler model should be chosen because it is expected to generalize better when used to make predictions on new data.</a:t>
            </a:r>
            <a:endParaRPr/>
          </a:p>
          <a:p>
            <a:pPr indent="-265430" lvl="1" marL="685800" rtl="0" algn="l">
              <a:lnSpc>
                <a:spcPct val="90000"/>
              </a:lnSpc>
              <a:spcBef>
                <a:spcPts val="1000"/>
              </a:spcBef>
              <a:spcAft>
                <a:spcPts val="0"/>
              </a:spcAft>
              <a:buClr>
                <a:schemeClr val="dk1"/>
              </a:buClr>
              <a:buSzPct val="116666"/>
              <a:buChar char="•"/>
            </a:pPr>
            <a:r>
              <a:rPr b="0" lang="en-US">
                <a:latin typeface="Helvetica Neue"/>
                <a:ea typeface="Helvetica Neue"/>
                <a:cs typeface="Helvetica Neue"/>
                <a:sym typeface="Helvetica Neue"/>
              </a:rPr>
              <a:t>This seems sensible on the surface.</a:t>
            </a:r>
            <a:endParaRPr/>
          </a:p>
          <a:p>
            <a:pPr indent="-265430" lvl="1" marL="685800" rtl="0" algn="l">
              <a:lnSpc>
                <a:spcPct val="90000"/>
              </a:lnSpc>
              <a:spcBef>
                <a:spcPts val="1000"/>
              </a:spcBef>
              <a:spcAft>
                <a:spcPts val="0"/>
              </a:spcAft>
              <a:buClr>
                <a:schemeClr val="dk1"/>
              </a:buClr>
              <a:buSzPct val="116666"/>
              <a:buChar char="•"/>
            </a:pPr>
            <a:r>
              <a:rPr b="0" lang="en-US">
                <a:latin typeface="Helvetica Neue"/>
                <a:ea typeface="Helvetica Neue"/>
                <a:cs typeface="Helvetica Neue"/>
                <a:sym typeface="Helvetica Neue"/>
              </a:rPr>
              <a:t>It is the argument behind not adopting ensemble algorithms in a machine learning project because they are very complex compared to other models and expected to not generalize.</a:t>
            </a:r>
            <a:endParaRPr/>
          </a:p>
          <a:p>
            <a:pPr indent="-265430" lvl="1" marL="685800" rtl="0" algn="l">
              <a:lnSpc>
                <a:spcPct val="90000"/>
              </a:lnSpc>
              <a:spcBef>
                <a:spcPts val="1000"/>
              </a:spcBef>
              <a:spcAft>
                <a:spcPts val="0"/>
              </a:spcAft>
              <a:buClr>
                <a:schemeClr val="dk1"/>
              </a:buClr>
              <a:buSzPct val="116666"/>
              <a:buChar char="•"/>
            </a:pPr>
            <a:r>
              <a:rPr b="0" lang="en-US">
                <a:latin typeface="Helvetica Neue"/>
                <a:ea typeface="Helvetica Neue"/>
                <a:cs typeface="Helvetica Neue"/>
                <a:sym typeface="Helvetica Neue"/>
              </a:rPr>
              <a:t>It turns out that </a:t>
            </a:r>
            <a:r>
              <a:rPr b="1" lang="en-US">
                <a:latin typeface="Helvetica Neue"/>
                <a:ea typeface="Helvetica Neue"/>
                <a:cs typeface="Helvetica Neue"/>
                <a:sym typeface="Helvetica Neue"/>
              </a:rPr>
              <a:t>this razor cannot be supported</a:t>
            </a:r>
            <a:r>
              <a:rPr b="0" lang="en-US">
                <a:latin typeface="Helvetica Neue"/>
                <a:ea typeface="Helvetica Neue"/>
                <a:cs typeface="Helvetica Neue"/>
                <a:sym typeface="Helvetica Neue"/>
              </a:rPr>
              <a:t> by the evidence from the machine learning literature.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4400"/>
              <a:buFont typeface="Helvetica Neue"/>
              <a:buNone/>
            </a:pPr>
            <a:r>
              <a:rPr b="1" lang="en-US">
                <a:solidFill>
                  <a:srgbClr val="222222"/>
                </a:solidFill>
                <a:latin typeface="Helvetica Neue"/>
                <a:ea typeface="Helvetica Neue"/>
                <a:cs typeface="Helvetica Neue"/>
                <a:sym typeface="Helvetica Neue"/>
              </a:rPr>
              <a:t>Occam’s Razor and Ensemble Learning</a:t>
            </a:r>
            <a:endParaRPr/>
          </a:p>
        </p:txBody>
      </p:sp>
      <p:sp>
        <p:nvSpPr>
          <p:cNvPr id="139" name="Google Shape;139;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41934" lvl="0" marL="228600" rtl="0" algn="l">
              <a:lnSpc>
                <a:spcPct val="90000"/>
              </a:lnSpc>
              <a:spcBef>
                <a:spcPts val="1000"/>
              </a:spcBef>
              <a:spcAft>
                <a:spcPts val="0"/>
              </a:spcAft>
              <a:buClr>
                <a:schemeClr val="dk1"/>
              </a:buClr>
              <a:buSzPts val="2800"/>
              <a:buChar char="•"/>
            </a:pPr>
            <a:r>
              <a:rPr b="0" lang="en-US">
                <a:latin typeface="Helvetica Neue"/>
                <a:ea typeface="Helvetica Neue"/>
                <a:cs typeface="Helvetica Neue"/>
                <a:sym typeface="Helvetica Neue"/>
              </a:rPr>
              <a:t>in practice, we would not choose a machine learning model based on its performance on the training dataset alone. </a:t>
            </a:r>
            <a:endParaRPr b="0">
              <a:latin typeface="Helvetica Neue"/>
              <a:ea typeface="Helvetica Neue"/>
              <a:cs typeface="Helvetica Neue"/>
              <a:sym typeface="Helvetica Neue"/>
            </a:endParaRPr>
          </a:p>
          <a:p>
            <a:pPr indent="-241934" lvl="0" marL="228600" rtl="0" algn="l">
              <a:lnSpc>
                <a:spcPct val="90000"/>
              </a:lnSpc>
              <a:spcBef>
                <a:spcPts val="1000"/>
              </a:spcBef>
              <a:spcAft>
                <a:spcPts val="0"/>
              </a:spcAft>
              <a:buClr>
                <a:schemeClr val="dk1"/>
              </a:buClr>
              <a:buSzPts val="2800"/>
              <a:buChar char="•"/>
            </a:pPr>
            <a:r>
              <a:rPr b="0" lang="en-US">
                <a:latin typeface="Helvetica Neue"/>
                <a:ea typeface="Helvetica Neue"/>
                <a:cs typeface="Helvetica Neue"/>
                <a:sym typeface="Helvetica Neue"/>
              </a:rPr>
              <a:t>We intuitively, or perhaps after a lot of experience, tacitly expect the estimate of performance on a training set to be a poor estimate of performance on a holdout dataset.</a:t>
            </a:r>
            <a:endParaRPr/>
          </a:p>
          <a:p>
            <a:pPr indent="-241934" lvl="0" marL="228600" rtl="0" algn="l">
              <a:lnSpc>
                <a:spcPct val="90000"/>
              </a:lnSpc>
              <a:spcBef>
                <a:spcPts val="1000"/>
              </a:spcBef>
              <a:spcAft>
                <a:spcPts val="0"/>
              </a:spcAft>
              <a:buClr>
                <a:schemeClr val="dk1"/>
              </a:buClr>
              <a:buSzPts val="2800"/>
              <a:buChar char="•"/>
            </a:pPr>
            <a:r>
              <a:rPr b="0" lang="en-US">
                <a:latin typeface="Helvetica Neue"/>
                <a:ea typeface="Helvetica Neue"/>
                <a:cs typeface="Helvetica Neue"/>
                <a:sym typeface="Helvetica Neue"/>
              </a:rPr>
              <a:t>We have this expectation because the model can overfit the training dataset.</a:t>
            </a:r>
            <a:endParaRPr/>
          </a:p>
          <a:p>
            <a:pPr indent="-241934" lvl="0" marL="228600" rtl="0" algn="l">
              <a:lnSpc>
                <a:spcPct val="90000"/>
              </a:lnSpc>
              <a:spcBef>
                <a:spcPts val="1000"/>
              </a:spcBef>
              <a:spcAft>
                <a:spcPts val="0"/>
              </a:spcAft>
              <a:buClr>
                <a:schemeClr val="dk1"/>
              </a:buClr>
              <a:buSzPts val="2800"/>
              <a:buChar char="•"/>
            </a:pPr>
            <a:r>
              <a:rPr b="0" lang="en-US">
                <a:latin typeface="Helvetica Neue"/>
                <a:ea typeface="Helvetica Neue"/>
                <a:cs typeface="Helvetica Neue"/>
                <a:sym typeface="Helvetica Neue"/>
              </a:rPr>
              <a:t>Yet, less intuitively, overfitting the training dataset can lead to better performance on a holdout test set. This has been observed many times in practice in systematic studies.</a:t>
            </a:r>
            <a:endParaRPr/>
          </a:p>
          <a:p>
            <a:pPr indent="-64135"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45" name="Google Shape;145;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0" lang="en-US">
                <a:latin typeface="Helvetica Neue"/>
                <a:ea typeface="Helvetica Neue"/>
                <a:cs typeface="Helvetica Neue"/>
                <a:sym typeface="Helvetica Neue"/>
              </a:rPr>
              <a:t>A common situation involves plotting the performance of a model on the training dataset and a holdout test dataset each iteration of learning for the model, such as training epochs or iterations for models that support incremental learning.</a:t>
            </a:r>
            <a:endParaRPr/>
          </a:p>
          <a:p>
            <a:pPr indent="-228600" lvl="0" marL="228600" rtl="0" algn="l">
              <a:lnSpc>
                <a:spcPct val="90000"/>
              </a:lnSpc>
              <a:spcBef>
                <a:spcPts val="1000"/>
              </a:spcBef>
              <a:spcAft>
                <a:spcPts val="0"/>
              </a:spcAft>
              <a:buClr>
                <a:schemeClr val="dk1"/>
              </a:buClr>
              <a:buSzPct val="100000"/>
              <a:buChar char="•"/>
            </a:pPr>
            <a:r>
              <a:rPr b="0" lang="en-US">
                <a:latin typeface="Helvetica Neue"/>
                <a:ea typeface="Helvetica Neue"/>
                <a:cs typeface="Helvetica Neue"/>
                <a:sym typeface="Helvetica Neue"/>
              </a:rPr>
              <a:t>If learning on the training dataset is set up to continue for a large number of training iterations and the curves observed, it can often be seen that performance on the training dataset will fall to zero error. This is to be expected as we might think that the model will overfit the training dataset given enough resources and time to train. Yet the performance on the test set will continue to improve, even while the performance on the training set remains fixed at zero error.</a:t>
            </a:r>
            <a:endParaRPr/>
          </a:p>
          <a:p>
            <a:pPr indent="-228600" lvl="1" marL="685800" rtl="0" algn="l">
              <a:lnSpc>
                <a:spcPct val="90000"/>
              </a:lnSpc>
              <a:spcBef>
                <a:spcPts val="500"/>
              </a:spcBef>
              <a:spcAft>
                <a:spcPts val="0"/>
              </a:spcAft>
              <a:buClr>
                <a:schemeClr val="dk1"/>
              </a:buClr>
              <a:buSzPct val="100000"/>
              <a:buChar char="•"/>
            </a:pPr>
            <a:r>
              <a:rPr b="0" i="1" lang="en-US">
                <a:latin typeface="Helvetica Neue"/>
                <a:ea typeface="Helvetica Neue"/>
                <a:cs typeface="Helvetica Neue"/>
                <a:sym typeface="Helvetica Neue"/>
              </a:rPr>
              <a:t>occasionally, the generalization error would continue to improve long after the training error had reached zero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51" name="Google Shape;15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US">
                <a:latin typeface="Helvetica Neue"/>
                <a:ea typeface="Helvetica Neue"/>
                <a:cs typeface="Helvetica Neue"/>
                <a:sym typeface="Helvetica Neue"/>
              </a:rPr>
              <a:t>This behavior can be observed with ensemble learning algorithms like boosting and bagging, where performance on the holdout dataset will continue to improve as additional model members are added to the ensemble.</a:t>
            </a:r>
            <a:endParaRPr/>
          </a:p>
          <a:p>
            <a:pPr indent="-228600" lvl="1" marL="685800" rtl="0" algn="l">
              <a:lnSpc>
                <a:spcPct val="90000"/>
              </a:lnSpc>
              <a:spcBef>
                <a:spcPts val="500"/>
              </a:spcBef>
              <a:spcAft>
                <a:spcPts val="0"/>
              </a:spcAft>
              <a:buClr>
                <a:schemeClr val="dk1"/>
              </a:buClr>
              <a:buSzPts val="2400"/>
              <a:buChar char="•"/>
            </a:pPr>
            <a:r>
              <a:rPr b="0" i="1" lang="en-US">
                <a:latin typeface="Helvetica Neue"/>
                <a:ea typeface="Helvetica Neue"/>
                <a:cs typeface="Helvetica Neue"/>
                <a:sym typeface="Helvetica Neue"/>
              </a:rPr>
              <a:t>One very surprising finding is that performing more boosting iterations can reduce the error on new data long after the classification error of the combined classifier on the training data has dropped to zero.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57" name="Google Shape;15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0" i="0" lang="en-US">
                <a:latin typeface="Helvetica Neue"/>
                <a:ea typeface="Helvetica Neue"/>
                <a:cs typeface="Helvetica Neue"/>
                <a:sym typeface="Helvetica Neue"/>
              </a:rPr>
              <a:t>That is, the model complexity is incrementally increased, which systematically decreases the error on unseen data, e.g. generalization error. The additional training cannot improve the performance on the training dataset; it has no possible improvement to make.</a:t>
            </a:r>
            <a:endParaRPr/>
          </a:p>
          <a:p>
            <a:pPr indent="-228600" lvl="1" marL="685800" rtl="0" algn="l">
              <a:lnSpc>
                <a:spcPct val="90000"/>
              </a:lnSpc>
              <a:spcBef>
                <a:spcPts val="500"/>
              </a:spcBef>
              <a:spcAft>
                <a:spcPts val="0"/>
              </a:spcAft>
              <a:buClr>
                <a:schemeClr val="dk1"/>
              </a:buClr>
              <a:buSzPts val="2400"/>
              <a:buChar char="•"/>
            </a:pPr>
            <a:r>
              <a:rPr b="0" i="1" lang="en-US">
                <a:latin typeface="Helvetica Neue"/>
                <a:ea typeface="Helvetica Neue"/>
                <a:cs typeface="Helvetica Neue"/>
                <a:sym typeface="Helvetica Neue"/>
              </a:rPr>
              <a:t>Performing more boosting iterations without reducing training error does not explain the training data any better, and it certainly adds complexity to the combined classifier.</a:t>
            </a:r>
            <a:endParaRPr>
              <a:latin typeface="Helvetica Neue"/>
              <a:ea typeface="Helvetica Neue"/>
              <a:cs typeface="Helvetica Neue"/>
              <a:sym typeface="Helvetica Neue"/>
            </a:endParaRPr>
          </a:p>
          <a:p>
            <a:pPr indent="-228600" lvl="0" marL="228600" rtl="0" algn="l">
              <a:lnSpc>
                <a:spcPct val="90000"/>
              </a:lnSpc>
              <a:spcBef>
                <a:spcPts val="1000"/>
              </a:spcBef>
              <a:spcAft>
                <a:spcPts val="0"/>
              </a:spcAft>
              <a:buClr>
                <a:schemeClr val="dk1"/>
              </a:buClr>
              <a:buSzPts val="2800"/>
              <a:buChar char="•"/>
            </a:pPr>
            <a:r>
              <a:rPr b="0" i="0" lang="en-US">
                <a:latin typeface="Helvetica Neue"/>
                <a:ea typeface="Helvetica Neue"/>
                <a:cs typeface="Helvetica Neue"/>
                <a:sym typeface="Helvetica Neue"/>
              </a:rPr>
              <a:t>This finding directly contradicts the second razor and supports Domingos’ argument about abandoning the second razor.</a:t>
            </a:r>
            <a:endParaRPr/>
          </a:p>
          <a:p>
            <a:pPr indent="-228600" lvl="1" marL="685800" rtl="0" algn="l">
              <a:lnSpc>
                <a:spcPct val="90000"/>
              </a:lnSpc>
              <a:spcBef>
                <a:spcPts val="500"/>
              </a:spcBef>
              <a:spcAft>
                <a:spcPts val="0"/>
              </a:spcAft>
              <a:buClr>
                <a:schemeClr val="dk1"/>
              </a:buClr>
              <a:buSzPts val="2400"/>
              <a:buChar char="•"/>
            </a:pPr>
            <a:r>
              <a:rPr b="0" i="1" lang="en-US">
                <a:latin typeface="Helvetica Neue"/>
                <a:ea typeface="Helvetica Neue"/>
                <a:cs typeface="Helvetica Neue"/>
                <a:sym typeface="Helvetica Neue"/>
              </a:rPr>
              <a:t>The first one is largely uncontroversial, while the second one, taken literally, is false.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63" name="Google Shape;163;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US">
                <a:latin typeface="Helvetica Neue"/>
                <a:ea typeface="Helvetica Neue"/>
                <a:cs typeface="Helvetica Neue"/>
                <a:sym typeface="Helvetica Neue"/>
              </a:rPr>
              <a:t>This problem has been studied and can generally be explained by the ensemble algorithms learning to be more confident in their predictions on the training dataset, which carry over to the hold out data.</a:t>
            </a:r>
            <a:endParaRPr/>
          </a:p>
          <a:p>
            <a:pPr indent="-228600" lvl="1" marL="685800" rtl="0" algn="l">
              <a:lnSpc>
                <a:spcPct val="90000"/>
              </a:lnSpc>
              <a:spcBef>
                <a:spcPts val="500"/>
              </a:spcBef>
              <a:spcAft>
                <a:spcPts val="0"/>
              </a:spcAft>
              <a:buClr>
                <a:schemeClr val="dk1"/>
              </a:buClr>
              <a:buSzPts val="2400"/>
              <a:buChar char="•"/>
            </a:pPr>
            <a:r>
              <a:rPr b="0" i="1" lang="en-US">
                <a:latin typeface="Helvetica Neue"/>
                <a:ea typeface="Helvetica Neue"/>
                <a:cs typeface="Helvetica Neue"/>
                <a:sym typeface="Helvetica Neue"/>
              </a:rPr>
              <a:t>The contradiction can be resolved by considering the classifier’s confidence in its predictions.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69" name="Google Shape;169;p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lang="en-US">
                <a:latin typeface="Helvetica Neue"/>
                <a:ea typeface="Helvetica Neue"/>
                <a:cs typeface="Helvetica Neue"/>
                <a:sym typeface="Helvetica Neue"/>
              </a:rPr>
              <a:t>The first razor remains an important heuristic in applied machine learning.</a:t>
            </a:r>
            <a:endParaRPr/>
          </a:p>
          <a:p>
            <a:pPr indent="-228600" lvl="0" marL="228600" rtl="0" algn="l">
              <a:lnSpc>
                <a:spcPct val="90000"/>
              </a:lnSpc>
              <a:spcBef>
                <a:spcPts val="1000"/>
              </a:spcBef>
              <a:spcAft>
                <a:spcPts val="0"/>
              </a:spcAft>
              <a:buClr>
                <a:schemeClr val="dk1"/>
              </a:buClr>
              <a:buSzPts val="2800"/>
              <a:buChar char="•"/>
            </a:pPr>
            <a:r>
              <a:rPr b="0" lang="en-US">
                <a:latin typeface="Helvetica Neue"/>
                <a:ea typeface="Helvetica Neue"/>
                <a:cs typeface="Helvetica Neue"/>
                <a:sym typeface="Helvetica Neue"/>
              </a:rPr>
              <a:t>This is not the only way to choose models.</a:t>
            </a:r>
            <a:endParaRPr/>
          </a:p>
          <a:p>
            <a:pPr indent="-292100" lvl="0" marL="228600" rtl="0" algn="l">
              <a:spcBef>
                <a:spcPts val="0"/>
              </a:spcBef>
              <a:spcAft>
                <a:spcPts val="0"/>
              </a:spcAft>
              <a:buSzPts val="2800"/>
              <a:buChar char="•"/>
            </a:pPr>
            <a:r>
              <a:rPr lang="en-US">
                <a:latin typeface="Helvetica Neue"/>
                <a:ea typeface="Helvetica Neue"/>
                <a:cs typeface="Helvetica Neue"/>
                <a:sym typeface="Helvetica Neue"/>
              </a:rPr>
              <a:t>We may choose a simpler model because it is easier to interpret, and this remains valid if model interpretability is a more important project requirement than predictive skill.</a:t>
            </a:r>
            <a:endParaRPr/>
          </a:p>
          <a:p>
            <a:pPr indent="-165100" lvl="0" marL="228600" rtl="0" algn="l">
              <a:lnSpc>
                <a:spcPct val="90000"/>
              </a:lnSpc>
              <a:spcBef>
                <a:spcPts val="1000"/>
              </a:spcBef>
              <a:spcAft>
                <a:spcPts val="0"/>
              </a:spcAft>
              <a:buSzPts val="1800"/>
              <a:buChar char="•"/>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Generalization error</a:t>
            </a:r>
            <a:endParaRPr/>
          </a:p>
        </p:txBody>
      </p:sp>
      <p:sp>
        <p:nvSpPr>
          <p:cNvPr id="175" name="Google Shape;175;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Expected prediction error over on independent test data</a:t>
            </a:r>
            <a:endParaRPr/>
          </a:p>
          <a:p>
            <a:pPr indent="-228600" lvl="0" marL="228600" rtl="0" algn="l">
              <a:lnSpc>
                <a:spcPct val="90000"/>
              </a:lnSpc>
              <a:spcBef>
                <a:spcPts val="1000"/>
              </a:spcBef>
              <a:spcAft>
                <a:spcPts val="0"/>
              </a:spcAft>
              <a:buClr>
                <a:schemeClr val="dk1"/>
              </a:buClr>
              <a:buSzPts val="2800"/>
              <a:buChar char="•"/>
            </a:pPr>
            <a:r>
              <a:rPr lang="en-US"/>
              <a:t>Aim</a:t>
            </a:r>
            <a:endParaRPr/>
          </a:p>
          <a:p>
            <a:pPr indent="-228600" lvl="1" marL="685800" rtl="0" algn="l">
              <a:lnSpc>
                <a:spcPct val="90000"/>
              </a:lnSpc>
              <a:spcBef>
                <a:spcPts val="500"/>
              </a:spcBef>
              <a:spcAft>
                <a:spcPts val="0"/>
              </a:spcAft>
              <a:buClr>
                <a:schemeClr val="dk1"/>
              </a:buClr>
              <a:buSzPts val="2400"/>
              <a:buChar char="•"/>
            </a:pPr>
            <a:r>
              <a:rPr lang="en-US"/>
              <a:t>Minimize the generalization error as much as possible</a:t>
            </a:r>
            <a:endParaRPr/>
          </a:p>
          <a:p>
            <a:pPr indent="-228600" lvl="0" marL="228600" rtl="0" algn="l">
              <a:lnSpc>
                <a:spcPct val="90000"/>
              </a:lnSpc>
              <a:spcBef>
                <a:spcPts val="1000"/>
              </a:spcBef>
              <a:spcAft>
                <a:spcPts val="0"/>
              </a:spcAft>
              <a:buClr>
                <a:schemeClr val="dk1"/>
              </a:buClr>
              <a:buSzPts val="2800"/>
              <a:buChar char="•"/>
            </a:pPr>
            <a:r>
              <a:rPr lang="en-US"/>
              <a:t>Generalization error estimate in decision tree is done with two ways</a:t>
            </a:r>
            <a:endParaRPr/>
          </a:p>
          <a:p>
            <a:pPr indent="-228600" lvl="1" marL="685800" rtl="0" algn="l">
              <a:lnSpc>
                <a:spcPct val="90000"/>
              </a:lnSpc>
              <a:spcBef>
                <a:spcPts val="500"/>
              </a:spcBef>
              <a:spcAft>
                <a:spcPts val="0"/>
              </a:spcAft>
              <a:buClr>
                <a:schemeClr val="dk1"/>
              </a:buClr>
              <a:buSzPts val="2400"/>
              <a:buChar char="•"/>
            </a:pPr>
            <a:r>
              <a:rPr lang="en-US"/>
              <a:t>Optimistic error estimate/ resubstitution error</a:t>
            </a:r>
            <a:endParaRPr/>
          </a:p>
          <a:p>
            <a:pPr indent="-228600" lvl="1" marL="685800" rtl="0" algn="l">
              <a:lnSpc>
                <a:spcPct val="90000"/>
              </a:lnSpc>
              <a:spcBef>
                <a:spcPts val="500"/>
              </a:spcBef>
              <a:spcAft>
                <a:spcPts val="0"/>
              </a:spcAft>
              <a:buClr>
                <a:schemeClr val="dk1"/>
              </a:buClr>
              <a:buSzPts val="2400"/>
              <a:buChar char="•"/>
            </a:pPr>
            <a:r>
              <a:rPr lang="en-US"/>
              <a:t>Pessimistic error estimate</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2022-01-03T07:57:39Z</dcterms:created>
  <dc:creator>Manjari Gupta</dc:creator>
</cp:coreProperties>
</file>