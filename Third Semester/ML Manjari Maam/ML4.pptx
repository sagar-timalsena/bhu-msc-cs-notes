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74" r:id="rId11"/>
    <p:sldId id="265" r:id="rId12"/>
    <p:sldId id="266" r:id="rId13"/>
    <p:sldId id="293" r:id="rId14"/>
    <p:sldId id="267" r:id="rId15"/>
    <p:sldId id="268" r:id="rId16"/>
    <p:sldId id="269" r:id="rId17"/>
    <p:sldId id="270" r:id="rId18"/>
    <p:sldId id="271" r:id="rId19"/>
    <p:sldId id="272" r:id="rId20"/>
    <p:sldId id="273" r:id="rId21"/>
    <p:sldId id="275" r:id="rId22"/>
    <p:sldId id="294" r:id="rId23"/>
    <p:sldId id="295" r:id="rId24"/>
    <p:sldId id="276" r:id="rId25"/>
    <p:sldId id="280" r:id="rId26"/>
    <p:sldId id="278" r:id="rId27"/>
    <p:sldId id="277" r:id="rId28"/>
    <p:sldId id="279" r:id="rId29"/>
    <p:sldId id="296" r:id="rId30"/>
    <p:sldId id="297" r:id="rId31"/>
    <p:sldId id="282" r:id="rId32"/>
    <p:sldId id="283" r:id="rId33"/>
    <p:sldId id="284" r:id="rId34"/>
    <p:sldId id="285" r:id="rId35"/>
    <p:sldId id="286" r:id="rId36"/>
    <p:sldId id="287" r:id="rId37"/>
    <p:sldId id="288" r:id="rId38"/>
    <p:sldId id="289" r:id="rId39"/>
    <p:sldId id="290" r:id="rId40"/>
    <p:sldId id="281" r:id="rId41"/>
    <p:sldId id="291" r:id="rId42"/>
    <p:sldId id="292"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84715" autoAdjust="0"/>
  </p:normalViewPr>
  <p:slideViewPr>
    <p:cSldViewPr snapToGrid="0">
      <p:cViewPr varScale="1">
        <p:scale>
          <a:sx n="139" d="100"/>
          <a:sy n="139" d="100"/>
        </p:scale>
        <p:origin x="-3828" y="-108"/>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6AB047C-BC99-440A-A8FD-5C47D8A7972A}" type="datetimeFigureOut">
              <a:rPr lang="en-US" smtClean="0"/>
              <a:pPr/>
              <a:t>8/25/2025</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2A900DC7-C0CA-4F37-AB2D-B9191E51DA8F}" type="slidenum">
              <a:rPr lang="en-US" smtClean="0"/>
              <a:pPr/>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xmlns="" val="33035189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AB047C-BC99-440A-A8FD-5C47D8A7972A}" type="datetimeFigureOut">
              <a:rPr lang="en-US" smtClean="0"/>
              <a:pPr/>
              <a:t>8/25/2025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900DC7-C0CA-4F37-AB2D-B9191E51DA8F}" type="slidenum">
              <a:rPr lang="en-US" smtClean="0"/>
              <a:pPr/>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xmlns="" val="1709245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6AB047C-BC99-440A-A8FD-5C47D8A7972A}" type="datetimeFigureOut">
              <a:rPr lang="en-US" smtClean="0"/>
              <a:pPr/>
              <a:t>8/25/2025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900DC7-C0CA-4F37-AB2D-B9191E51DA8F}" type="slidenum">
              <a:rPr lang="en-US" smtClean="0"/>
              <a:pPr/>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xmlns="" val="10420457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6AB047C-BC99-440A-A8FD-5C47D8A7972A}" type="datetimeFigureOut">
              <a:rPr lang="en-US" smtClean="0"/>
              <a:pPr/>
              <a:t>8/25/2025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900DC7-C0CA-4F37-AB2D-B9191E51DA8F}" type="slidenum">
              <a:rPr lang="en-US" smtClean="0"/>
              <a:pPr/>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xmlns="" val="684771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6AB047C-BC99-440A-A8FD-5C47D8A7972A}" type="datetimeFigureOut">
              <a:rPr lang="en-US" smtClean="0"/>
              <a:pPr/>
              <a:t>8/25/2025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A900DC7-C0CA-4F37-AB2D-B9191E51DA8F}" type="slidenum">
              <a:rPr lang="en-US" smtClean="0"/>
              <a:pPr/>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xmlns="" val="17452733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6AB047C-BC99-440A-A8FD-5C47D8A7972A}" type="datetimeFigureOut">
              <a:rPr lang="en-US" smtClean="0"/>
              <a:pPr/>
              <a:t>8/25/2025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A900DC7-C0CA-4F37-AB2D-B9191E51DA8F}" type="slidenum">
              <a:rPr lang="en-US" smtClean="0"/>
              <a:pPr/>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xmlns="" val="9836507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6AB047C-BC99-440A-A8FD-5C47D8A7972A}" type="datetimeFigureOut">
              <a:rPr lang="en-US" smtClean="0"/>
              <a:pPr/>
              <a:t>8/25/2025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A900DC7-C0CA-4F37-AB2D-B9191E51DA8F}" type="slidenum">
              <a:rPr lang="en-US" smtClean="0"/>
              <a:pPr/>
              <a:t>‹#›</a:t>
            </a:fld>
            <a:endParaRPr lang="en-US"/>
          </a:p>
        </p:txBody>
      </p:sp>
    </p:spTree>
    <p:extLst>
      <p:ext uri="{BB962C8B-B14F-4D97-AF65-F5344CB8AC3E}">
        <p14:creationId xmlns:p14="http://schemas.microsoft.com/office/powerpoint/2010/main" xmlns="" val="10722571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6AB047C-BC99-440A-A8FD-5C47D8A7972A}" type="datetimeFigureOut">
              <a:rPr lang="en-US" smtClean="0"/>
              <a:pPr/>
              <a:t>8/25/2025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900DC7-C0CA-4F37-AB2D-B9191E51DA8F}" type="slidenum">
              <a:rPr lang="en-US" smtClean="0"/>
              <a:pPr/>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xmlns="" val="2004040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36AB047C-BC99-440A-A8FD-5C47D8A7972A}" type="datetimeFigureOut">
              <a:rPr lang="en-US" smtClean="0"/>
              <a:pPr/>
              <a:t>8/25/2025</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2A900DC7-C0CA-4F37-AB2D-B9191E51DA8F}" type="slidenum">
              <a:rPr lang="en-US" smtClean="0"/>
              <a:pPr/>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xmlns="" val="35702838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AB047C-BC99-440A-A8FD-5C47D8A7972A}" type="datetimeFigureOut">
              <a:rPr lang="en-US" smtClean="0"/>
              <a:pPr/>
              <a:t>8/25/2025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900DC7-C0CA-4F37-AB2D-B9191E51DA8F}" type="slidenum">
              <a:rPr lang="en-US" smtClean="0"/>
              <a:pPr/>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xmlns="" val="18112035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AB047C-BC99-440A-A8FD-5C47D8A7972A}" type="datetimeFigureOut">
              <a:rPr lang="en-US" smtClean="0"/>
              <a:pPr/>
              <a:t>8/25/2025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900DC7-C0CA-4F37-AB2D-B9191E51DA8F}" type="slidenum">
              <a:rPr lang="en-US" smtClean="0"/>
              <a:pPr/>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xmlns="" val="38792227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xmlns=""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36AB047C-BC99-440A-A8FD-5C47D8A7972A}" type="datetimeFigureOut">
              <a:rPr lang="en-US" smtClean="0"/>
              <a:pPr/>
              <a:t>8/25/2025</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2A900DC7-C0CA-4F37-AB2D-B9191E51DA8F}" type="slidenum">
              <a:rPr lang="en-US" smtClean="0"/>
              <a:pPr/>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29673358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D6FB831-C32E-45FF-88A4-3F0434247D5D}"/>
              </a:ext>
            </a:extLst>
          </p:cNvPr>
          <p:cNvSpPr>
            <a:spLocks noGrp="1"/>
          </p:cNvSpPr>
          <p:nvPr>
            <p:ph type="ctrTitle"/>
          </p:nvPr>
        </p:nvSpPr>
        <p:spPr/>
        <p:txBody>
          <a:bodyPr/>
          <a:lstStyle/>
          <a:p>
            <a:r>
              <a:rPr lang="en-US" dirty="0"/>
              <a:t>Understanding Datasets</a:t>
            </a:r>
          </a:p>
        </p:txBody>
      </p:sp>
      <p:sp>
        <p:nvSpPr>
          <p:cNvPr id="3" name="Subtitle 2">
            <a:extLst>
              <a:ext uri="{FF2B5EF4-FFF2-40B4-BE49-F238E27FC236}">
                <a16:creationId xmlns:a16="http://schemas.microsoft.com/office/drawing/2014/main" xmlns="" id="{51A9693D-7814-4713-BFE0-9EC338D1F29A}"/>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xmlns="" val="4253388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E61788A-BB8F-4697-8DAE-263140C62B09}"/>
              </a:ext>
            </a:extLst>
          </p:cNvPr>
          <p:cNvSpPr>
            <a:spLocks noGrp="1"/>
          </p:cNvSpPr>
          <p:nvPr>
            <p:ph type="title"/>
          </p:nvPr>
        </p:nvSpPr>
        <p:spPr/>
        <p:txBody>
          <a:bodyPr/>
          <a:lstStyle/>
          <a:p>
            <a:r>
              <a:rPr lang="en-US" dirty="0"/>
              <a:t>Need of understanding dataset</a:t>
            </a:r>
          </a:p>
        </p:txBody>
      </p:sp>
      <p:sp>
        <p:nvSpPr>
          <p:cNvPr id="3" name="Content Placeholder 2">
            <a:extLst>
              <a:ext uri="{FF2B5EF4-FFF2-40B4-BE49-F238E27FC236}">
                <a16:creationId xmlns:a16="http://schemas.microsoft.com/office/drawing/2014/main" xmlns="" id="{97FD36E9-E7F1-41BB-B5BF-1B8D4BD6B1AE}"/>
              </a:ext>
            </a:extLst>
          </p:cNvPr>
          <p:cNvSpPr>
            <a:spLocks noGrp="1"/>
          </p:cNvSpPr>
          <p:nvPr>
            <p:ph idx="1"/>
          </p:nvPr>
        </p:nvSpPr>
        <p:spPr>
          <a:xfrm>
            <a:off x="804041" y="2015732"/>
            <a:ext cx="11051628" cy="4037749"/>
          </a:xfrm>
        </p:spPr>
        <p:txBody>
          <a:bodyPr>
            <a:normAutofit fontScale="92500"/>
          </a:bodyPr>
          <a:lstStyle/>
          <a:p>
            <a:r>
              <a:rPr lang="en-US" dirty="0"/>
              <a:t>to understand the incoming data and create basic understanding about the nature and quality of the data</a:t>
            </a:r>
          </a:p>
          <a:p>
            <a:r>
              <a:rPr lang="en-US" dirty="0"/>
              <a:t>helps to select and then how to apply the model</a:t>
            </a:r>
          </a:p>
          <a:p>
            <a:r>
              <a:rPr lang="en-US" dirty="0"/>
              <a:t>The first step in machine learning activity starts with data</a:t>
            </a:r>
          </a:p>
          <a:p>
            <a:r>
              <a:rPr lang="en-US" dirty="0"/>
              <a:t>In case of supervised learning, it is the labelled training data set followed by test data which is not labelled</a:t>
            </a:r>
          </a:p>
          <a:p>
            <a:r>
              <a:rPr lang="en-US" dirty="0"/>
              <a:t>In case of unsupervised learning, there is no question of labelled data but the task is to find patterns in the input data</a:t>
            </a:r>
          </a:p>
          <a:p>
            <a:r>
              <a:rPr lang="en-US" dirty="0"/>
              <a:t>A thorough review and exploration of the data is needed to understand the type of the data, the quality of the data and relationship between the different data elements. </a:t>
            </a:r>
          </a:p>
        </p:txBody>
      </p:sp>
    </p:spTree>
    <p:extLst>
      <p:ext uri="{BB962C8B-B14F-4D97-AF65-F5344CB8AC3E}">
        <p14:creationId xmlns:p14="http://schemas.microsoft.com/office/powerpoint/2010/main" xmlns="" val="31601012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E907CA9-F97A-40FA-A482-F619A6B40820}"/>
              </a:ext>
            </a:extLst>
          </p:cNvPr>
          <p:cNvSpPr>
            <a:spLocks noGrp="1"/>
          </p:cNvSpPr>
          <p:nvPr>
            <p:ph type="title"/>
          </p:nvPr>
        </p:nvSpPr>
        <p:spPr/>
        <p:txBody>
          <a:bodyPr/>
          <a:lstStyle/>
          <a:p>
            <a:r>
              <a:rPr lang="en-US" dirty="0"/>
              <a:t>Need of understanding dataset</a:t>
            </a:r>
          </a:p>
        </p:txBody>
      </p:sp>
      <p:sp>
        <p:nvSpPr>
          <p:cNvPr id="3" name="Content Placeholder 2">
            <a:extLst>
              <a:ext uri="{FF2B5EF4-FFF2-40B4-BE49-F238E27FC236}">
                <a16:creationId xmlns:a16="http://schemas.microsoft.com/office/drawing/2014/main" xmlns="" id="{A91B4AFC-1F03-463D-8D4E-A2DA90B5201E}"/>
              </a:ext>
            </a:extLst>
          </p:cNvPr>
          <p:cNvSpPr>
            <a:spLocks noGrp="1"/>
          </p:cNvSpPr>
          <p:nvPr>
            <p:ph idx="1"/>
          </p:nvPr>
        </p:nvSpPr>
        <p:spPr/>
        <p:txBody>
          <a:bodyPr>
            <a:normAutofit fontScale="92500" lnSpcReduction="20000"/>
          </a:bodyPr>
          <a:lstStyle/>
          <a:p>
            <a:r>
              <a:rPr lang="en-US" dirty="0"/>
              <a:t>Based on that, multiple pre-processing activities may need to be done on the input data before we can go ahead with core machine learning activities </a:t>
            </a:r>
          </a:p>
          <a:p>
            <a:r>
              <a:rPr lang="en-US" dirty="0"/>
              <a:t>Following are the typical </a:t>
            </a:r>
            <a:r>
              <a:rPr lang="en-US" b="1" dirty="0"/>
              <a:t>preparation</a:t>
            </a:r>
            <a:r>
              <a:rPr lang="en-US" dirty="0"/>
              <a:t> activities done once the input data comes into the machine learning system: </a:t>
            </a:r>
          </a:p>
          <a:p>
            <a:pPr lvl="1"/>
            <a:r>
              <a:rPr lang="en-US" dirty="0"/>
              <a:t>Understand the type of data in the given input data set.</a:t>
            </a:r>
          </a:p>
          <a:p>
            <a:pPr lvl="1"/>
            <a:r>
              <a:rPr lang="en-US" dirty="0"/>
              <a:t>Explore the data to understand the nature and quality.</a:t>
            </a:r>
          </a:p>
          <a:p>
            <a:pPr lvl="1"/>
            <a:r>
              <a:rPr lang="en-US" dirty="0"/>
              <a:t>Explore the relationships amongst the data elements, e.g. inter-feature relationship.</a:t>
            </a:r>
          </a:p>
          <a:p>
            <a:pPr lvl="1"/>
            <a:r>
              <a:rPr lang="en-US" dirty="0"/>
              <a:t>Find potential issues in data.</a:t>
            </a:r>
          </a:p>
          <a:p>
            <a:pPr lvl="1"/>
            <a:r>
              <a:rPr lang="en-US" dirty="0"/>
              <a:t>Do the necessary remediation, e.g. impute missing data values, etc., if needed.</a:t>
            </a:r>
          </a:p>
          <a:p>
            <a:pPr lvl="1"/>
            <a:r>
              <a:rPr lang="en-US" dirty="0"/>
              <a:t>Apply pre-processing steps, as necessary.</a:t>
            </a:r>
          </a:p>
          <a:p>
            <a:endParaRPr lang="en-US" dirty="0"/>
          </a:p>
        </p:txBody>
      </p:sp>
    </p:spTree>
    <p:extLst>
      <p:ext uri="{BB962C8B-B14F-4D97-AF65-F5344CB8AC3E}">
        <p14:creationId xmlns:p14="http://schemas.microsoft.com/office/powerpoint/2010/main" xmlns="" val="17793079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63BD999-2663-4EF4-AF07-CD55A77E2689}"/>
              </a:ext>
            </a:extLst>
          </p:cNvPr>
          <p:cNvSpPr>
            <a:spLocks noGrp="1"/>
          </p:cNvSpPr>
          <p:nvPr>
            <p:ph type="title"/>
          </p:nvPr>
        </p:nvSpPr>
        <p:spPr/>
        <p:txBody>
          <a:bodyPr/>
          <a:lstStyle/>
          <a:p>
            <a:r>
              <a:rPr lang="en-US" dirty="0"/>
              <a:t>Need of understanding dataset</a:t>
            </a:r>
          </a:p>
        </p:txBody>
      </p:sp>
      <p:sp>
        <p:nvSpPr>
          <p:cNvPr id="3" name="Content Placeholder 2">
            <a:extLst>
              <a:ext uri="{FF2B5EF4-FFF2-40B4-BE49-F238E27FC236}">
                <a16:creationId xmlns:a16="http://schemas.microsoft.com/office/drawing/2014/main" xmlns="" id="{FC50299E-6CA3-472D-99FC-72ABC7BBFB02}"/>
              </a:ext>
            </a:extLst>
          </p:cNvPr>
          <p:cNvSpPr>
            <a:spLocks noGrp="1"/>
          </p:cNvSpPr>
          <p:nvPr>
            <p:ph idx="1"/>
          </p:nvPr>
        </p:nvSpPr>
        <p:spPr/>
        <p:txBody>
          <a:bodyPr/>
          <a:lstStyle/>
          <a:p>
            <a:r>
              <a:rPr lang="en-US" dirty="0"/>
              <a:t>Once the data is prepared for modelling, then the learning tasks start off. As a part of it, do the following activities:</a:t>
            </a:r>
          </a:p>
          <a:p>
            <a:pPr lvl="1"/>
            <a:r>
              <a:rPr lang="en-US" dirty="0"/>
              <a:t>The input data is first divided into parts – the training data and the test data (called holdout). This step is applicable for supervised learning only.</a:t>
            </a:r>
          </a:p>
          <a:p>
            <a:pPr lvl="1"/>
            <a:r>
              <a:rPr lang="en-US" dirty="0"/>
              <a:t>Consider different models or learning algorithms for selection.</a:t>
            </a:r>
          </a:p>
          <a:p>
            <a:pPr lvl="1"/>
            <a:r>
              <a:rPr lang="en-US" dirty="0"/>
              <a:t>Train the model based on the training data for supervised learning problem and apply to unknown data. Directly apply the chosen unsupervised model on the input data for unsupervised learning problem.</a:t>
            </a:r>
          </a:p>
          <a:p>
            <a:endParaRPr lang="en-US" dirty="0"/>
          </a:p>
        </p:txBody>
      </p:sp>
    </p:spTree>
    <p:extLst>
      <p:ext uri="{BB962C8B-B14F-4D97-AF65-F5344CB8AC3E}">
        <p14:creationId xmlns:p14="http://schemas.microsoft.com/office/powerpoint/2010/main" xmlns="" val="26804114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E49A1C1-A704-4630-989C-7156E209F248}"/>
              </a:ext>
            </a:extLst>
          </p:cNvPr>
          <p:cNvSpPr>
            <a:spLocks noGrp="1"/>
          </p:cNvSpPr>
          <p:nvPr>
            <p:ph type="title"/>
          </p:nvPr>
        </p:nvSpPr>
        <p:spPr/>
        <p:txBody>
          <a:bodyPr/>
          <a:lstStyle/>
          <a:p>
            <a:r>
              <a:rPr lang="en-US" dirty="0"/>
              <a:t>Need of understanding dataset</a:t>
            </a:r>
          </a:p>
        </p:txBody>
      </p:sp>
      <p:sp>
        <p:nvSpPr>
          <p:cNvPr id="3" name="Content Placeholder 2">
            <a:extLst>
              <a:ext uri="{FF2B5EF4-FFF2-40B4-BE49-F238E27FC236}">
                <a16:creationId xmlns:a16="http://schemas.microsoft.com/office/drawing/2014/main" xmlns="" id="{7C5D592C-7965-4C21-AE9E-90C29931E783}"/>
              </a:ext>
            </a:extLst>
          </p:cNvPr>
          <p:cNvSpPr>
            <a:spLocks noGrp="1"/>
          </p:cNvSpPr>
          <p:nvPr>
            <p:ph idx="1"/>
          </p:nvPr>
        </p:nvSpPr>
        <p:spPr/>
        <p:txBody>
          <a:bodyPr/>
          <a:lstStyle/>
          <a:p>
            <a:r>
              <a:rPr lang="en-US" dirty="0"/>
              <a:t>After the model is selected, trained (for supervised learning), and applied on input data, the performance of the model is evaluated. </a:t>
            </a:r>
          </a:p>
          <a:p>
            <a:r>
              <a:rPr lang="en-US" dirty="0"/>
              <a:t>Based on options available, specific actions can be taken to improve the performance of the model, if possible.</a:t>
            </a:r>
          </a:p>
        </p:txBody>
      </p:sp>
    </p:spTree>
    <p:extLst>
      <p:ext uri="{BB962C8B-B14F-4D97-AF65-F5344CB8AC3E}">
        <p14:creationId xmlns:p14="http://schemas.microsoft.com/office/powerpoint/2010/main" xmlns="" val="11747670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2A7E363-7081-469D-BB5F-E75AFE463A9E}"/>
              </a:ext>
            </a:extLst>
          </p:cNvPr>
          <p:cNvSpPr>
            <a:spLocks noGrp="1"/>
          </p:cNvSpPr>
          <p:nvPr>
            <p:ph type="title"/>
          </p:nvPr>
        </p:nvSpPr>
        <p:spPr/>
        <p:txBody>
          <a:bodyPr/>
          <a:lstStyle/>
          <a:p>
            <a:r>
              <a:rPr lang="en-US" dirty="0"/>
              <a:t>Detailed process of machine learning</a:t>
            </a:r>
          </a:p>
        </p:txBody>
      </p:sp>
      <p:pic>
        <p:nvPicPr>
          <p:cNvPr id="1026" name="Picture 2" descr="https://learning.oreilly.com/library/view/machine-learning/9789389588132/images/31-1.png">
            <a:extLst>
              <a:ext uri="{FF2B5EF4-FFF2-40B4-BE49-F238E27FC236}">
                <a16:creationId xmlns:a16="http://schemas.microsoft.com/office/drawing/2014/main" xmlns="" id="{1E9E67A5-8DEA-4EDF-ACC3-CE7024C0E5B3}"/>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2926081" y="2028824"/>
            <a:ext cx="5794058" cy="3556049"/>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0304372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630FEA9-00CB-4983-9B7C-9BAEF50621E0}"/>
              </a:ext>
            </a:extLst>
          </p:cNvPr>
          <p:cNvSpPr>
            <a:spLocks noGrp="1"/>
          </p:cNvSpPr>
          <p:nvPr>
            <p:ph type="title"/>
          </p:nvPr>
        </p:nvSpPr>
        <p:spPr/>
        <p:txBody>
          <a:bodyPr/>
          <a:lstStyle/>
          <a:p>
            <a:r>
              <a:rPr lang="en-US" cap="all" dirty="0"/>
              <a:t>BASIC TYPES OF DATA IN MACHINE LEARNING</a:t>
            </a:r>
            <a:endParaRPr lang="en-US" dirty="0"/>
          </a:p>
        </p:txBody>
      </p:sp>
      <p:sp>
        <p:nvSpPr>
          <p:cNvPr id="3" name="Content Placeholder 2">
            <a:extLst>
              <a:ext uri="{FF2B5EF4-FFF2-40B4-BE49-F238E27FC236}">
                <a16:creationId xmlns:a16="http://schemas.microsoft.com/office/drawing/2014/main" xmlns="" id="{0679D726-085F-458B-9C5F-5F1ABBFA7FAA}"/>
              </a:ext>
            </a:extLst>
          </p:cNvPr>
          <p:cNvSpPr>
            <a:spLocks noGrp="1"/>
          </p:cNvSpPr>
          <p:nvPr>
            <p:ph idx="1"/>
          </p:nvPr>
        </p:nvSpPr>
        <p:spPr/>
        <p:txBody>
          <a:bodyPr>
            <a:normAutofit fontScale="92500" lnSpcReduction="20000"/>
          </a:bodyPr>
          <a:lstStyle/>
          <a:p>
            <a:r>
              <a:rPr lang="en-US" dirty="0"/>
              <a:t>A data set is a collection of related information or records.</a:t>
            </a:r>
          </a:p>
          <a:p>
            <a:r>
              <a:rPr lang="en-US" dirty="0"/>
              <a:t>Examples</a:t>
            </a:r>
          </a:p>
          <a:p>
            <a:pPr lvl="1"/>
            <a:r>
              <a:rPr lang="en-US" dirty="0"/>
              <a:t>data set on students in which each record consists of information about a specific student. </a:t>
            </a:r>
          </a:p>
          <a:p>
            <a:pPr lvl="1"/>
            <a:r>
              <a:rPr lang="en-US" dirty="0"/>
              <a:t>data set on student performance which has records providing performance, i.e. marks on the individual subjects.</a:t>
            </a:r>
          </a:p>
          <a:p>
            <a:r>
              <a:rPr lang="en-US" dirty="0"/>
              <a:t>Each row of a data set is called a record. </a:t>
            </a:r>
          </a:p>
          <a:p>
            <a:r>
              <a:rPr lang="en-US" dirty="0"/>
              <a:t>Each data set also has multiple attributes, each of which gives information on a specific characteristic. </a:t>
            </a:r>
          </a:p>
          <a:p>
            <a:r>
              <a:rPr lang="en-US" dirty="0"/>
              <a:t>Attributes can also be termed as feature, variable, dimension or field.</a:t>
            </a:r>
          </a:p>
        </p:txBody>
      </p:sp>
    </p:spTree>
    <p:extLst>
      <p:ext uri="{BB962C8B-B14F-4D97-AF65-F5344CB8AC3E}">
        <p14:creationId xmlns:p14="http://schemas.microsoft.com/office/powerpoint/2010/main" xmlns="" val="5111925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70B71CF-CB4A-4FA8-BC06-99F4F64CD472}"/>
              </a:ext>
            </a:extLst>
          </p:cNvPr>
          <p:cNvSpPr>
            <a:spLocks noGrp="1"/>
          </p:cNvSpPr>
          <p:nvPr>
            <p:ph type="title"/>
          </p:nvPr>
        </p:nvSpPr>
        <p:spPr/>
        <p:txBody>
          <a:bodyPr/>
          <a:lstStyle/>
          <a:p>
            <a:r>
              <a:rPr lang="en-US" dirty="0"/>
              <a:t>Examples of data set having four dimensional data space</a:t>
            </a:r>
          </a:p>
        </p:txBody>
      </p:sp>
      <p:pic>
        <p:nvPicPr>
          <p:cNvPr id="2050" name="Picture 2" descr="https://learning.oreilly.com/library/view/machine-learning/9789389588132/images/32-1.png">
            <a:extLst>
              <a:ext uri="{FF2B5EF4-FFF2-40B4-BE49-F238E27FC236}">
                <a16:creationId xmlns:a16="http://schemas.microsoft.com/office/drawing/2014/main" xmlns="" id="{2500F512-3760-4BAB-935E-BBF8C7BA3855}"/>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2166425" y="1825624"/>
            <a:ext cx="7986568" cy="4449051"/>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2202214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139BA27-B58B-4967-8F1D-1CA304F90BDF}"/>
              </a:ext>
            </a:extLst>
          </p:cNvPr>
          <p:cNvSpPr>
            <a:spLocks noGrp="1"/>
          </p:cNvSpPr>
          <p:nvPr>
            <p:ph type="title"/>
          </p:nvPr>
        </p:nvSpPr>
        <p:spPr/>
        <p:txBody>
          <a:bodyPr/>
          <a:lstStyle/>
          <a:p>
            <a:r>
              <a:rPr lang="en-US" dirty="0"/>
              <a:t>Data Types</a:t>
            </a:r>
          </a:p>
        </p:txBody>
      </p:sp>
      <p:sp>
        <p:nvSpPr>
          <p:cNvPr id="3" name="Content Placeholder 2">
            <a:extLst>
              <a:ext uri="{FF2B5EF4-FFF2-40B4-BE49-F238E27FC236}">
                <a16:creationId xmlns:a16="http://schemas.microsoft.com/office/drawing/2014/main" xmlns="" id="{D74D5E0E-562C-40F0-9587-CCA1B5475EAF}"/>
              </a:ext>
            </a:extLst>
          </p:cNvPr>
          <p:cNvSpPr>
            <a:spLocks noGrp="1"/>
          </p:cNvSpPr>
          <p:nvPr>
            <p:ph idx="1"/>
          </p:nvPr>
        </p:nvSpPr>
        <p:spPr/>
        <p:txBody>
          <a:bodyPr/>
          <a:lstStyle/>
          <a:p>
            <a:r>
              <a:rPr lang="en-US" dirty="0"/>
              <a:t>Data can broadly be divided into following two types:</a:t>
            </a:r>
          </a:p>
          <a:p>
            <a:pPr lvl="1"/>
            <a:r>
              <a:rPr lang="en-US" dirty="0"/>
              <a:t>Qualitative data</a:t>
            </a:r>
          </a:p>
          <a:p>
            <a:pPr lvl="1"/>
            <a:r>
              <a:rPr lang="en-US" dirty="0"/>
              <a:t>Quantitative data</a:t>
            </a:r>
          </a:p>
          <a:p>
            <a:endParaRPr lang="en-US" dirty="0"/>
          </a:p>
          <a:p>
            <a:endParaRPr lang="en-US" dirty="0"/>
          </a:p>
        </p:txBody>
      </p:sp>
      <p:pic>
        <p:nvPicPr>
          <p:cNvPr id="5" name="Picture 4">
            <a:extLst>
              <a:ext uri="{FF2B5EF4-FFF2-40B4-BE49-F238E27FC236}">
                <a16:creationId xmlns:a16="http://schemas.microsoft.com/office/drawing/2014/main" xmlns="" id="{85F95A2E-9250-4A8F-A2D1-02B11787EBF9}"/>
              </a:ext>
            </a:extLst>
          </p:cNvPr>
          <p:cNvPicPr>
            <a:picLocks noChangeAspect="1"/>
          </p:cNvPicPr>
          <p:nvPr/>
        </p:nvPicPr>
        <p:blipFill>
          <a:blip r:embed="rId2"/>
          <a:stretch>
            <a:fillRect/>
          </a:stretch>
        </p:blipFill>
        <p:spPr>
          <a:xfrm>
            <a:off x="4504831" y="3180398"/>
            <a:ext cx="5610225" cy="2447925"/>
          </a:xfrm>
          <a:prstGeom prst="rect">
            <a:avLst/>
          </a:prstGeom>
        </p:spPr>
      </p:pic>
    </p:spTree>
    <p:extLst>
      <p:ext uri="{BB962C8B-B14F-4D97-AF65-F5344CB8AC3E}">
        <p14:creationId xmlns:p14="http://schemas.microsoft.com/office/powerpoint/2010/main" xmlns="" val="28268317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C70B918-C3C7-4390-B39A-2C378F5ED22F}"/>
              </a:ext>
            </a:extLst>
          </p:cNvPr>
          <p:cNvSpPr>
            <a:spLocks noGrp="1"/>
          </p:cNvSpPr>
          <p:nvPr>
            <p:ph type="title"/>
          </p:nvPr>
        </p:nvSpPr>
        <p:spPr/>
        <p:txBody>
          <a:bodyPr/>
          <a:lstStyle/>
          <a:p>
            <a:r>
              <a:rPr lang="en-US" dirty="0"/>
              <a:t>Qualitative data</a:t>
            </a:r>
          </a:p>
        </p:txBody>
      </p:sp>
      <p:sp>
        <p:nvSpPr>
          <p:cNvPr id="3" name="Content Placeholder 2">
            <a:extLst>
              <a:ext uri="{FF2B5EF4-FFF2-40B4-BE49-F238E27FC236}">
                <a16:creationId xmlns:a16="http://schemas.microsoft.com/office/drawing/2014/main" xmlns="" id="{C988BCC5-48B2-4627-8146-D16F209D0346}"/>
              </a:ext>
            </a:extLst>
          </p:cNvPr>
          <p:cNvSpPr>
            <a:spLocks noGrp="1"/>
          </p:cNvSpPr>
          <p:nvPr>
            <p:ph idx="1"/>
          </p:nvPr>
        </p:nvSpPr>
        <p:spPr/>
        <p:txBody>
          <a:bodyPr/>
          <a:lstStyle/>
          <a:p>
            <a:r>
              <a:rPr lang="en-US" dirty="0"/>
              <a:t>Qualitative data is also called </a:t>
            </a:r>
            <a:r>
              <a:rPr lang="en-US" b="1" dirty="0"/>
              <a:t>categorical data</a:t>
            </a:r>
          </a:p>
          <a:p>
            <a:r>
              <a:rPr lang="en-US" dirty="0"/>
              <a:t>Qualitative data can be further subdivided into two types as follows:</a:t>
            </a:r>
          </a:p>
          <a:p>
            <a:pPr lvl="1"/>
            <a:r>
              <a:rPr lang="en-US" dirty="0"/>
              <a:t>Nominal data</a:t>
            </a:r>
          </a:p>
          <a:p>
            <a:pPr lvl="1"/>
            <a:r>
              <a:rPr lang="en-US" dirty="0"/>
              <a:t>Binary data</a:t>
            </a:r>
          </a:p>
          <a:p>
            <a:pPr lvl="1"/>
            <a:r>
              <a:rPr lang="en-US" dirty="0"/>
              <a:t>Ordinal data</a:t>
            </a:r>
          </a:p>
          <a:p>
            <a:endParaRPr lang="en-US" dirty="0"/>
          </a:p>
        </p:txBody>
      </p:sp>
    </p:spTree>
    <p:extLst>
      <p:ext uri="{BB962C8B-B14F-4D97-AF65-F5344CB8AC3E}">
        <p14:creationId xmlns:p14="http://schemas.microsoft.com/office/powerpoint/2010/main" xmlns="" val="24346567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59C2263-B968-4D42-8234-597ABA51D96C}"/>
              </a:ext>
            </a:extLst>
          </p:cNvPr>
          <p:cNvSpPr>
            <a:spLocks noGrp="1"/>
          </p:cNvSpPr>
          <p:nvPr>
            <p:ph type="title"/>
          </p:nvPr>
        </p:nvSpPr>
        <p:spPr/>
        <p:txBody>
          <a:bodyPr/>
          <a:lstStyle/>
          <a:p>
            <a:r>
              <a:rPr lang="en-US" b="1" dirty="0"/>
              <a:t>Nominal data</a:t>
            </a:r>
            <a:endParaRPr lang="en-US" dirty="0"/>
          </a:p>
        </p:txBody>
      </p:sp>
      <p:sp>
        <p:nvSpPr>
          <p:cNvPr id="3" name="Content Placeholder 2">
            <a:extLst>
              <a:ext uri="{FF2B5EF4-FFF2-40B4-BE49-F238E27FC236}">
                <a16:creationId xmlns:a16="http://schemas.microsoft.com/office/drawing/2014/main" xmlns="" id="{100C4599-2517-4DE9-BC36-B0CA4321950C}"/>
              </a:ext>
            </a:extLst>
          </p:cNvPr>
          <p:cNvSpPr>
            <a:spLocks noGrp="1"/>
          </p:cNvSpPr>
          <p:nvPr>
            <p:ph idx="1"/>
          </p:nvPr>
        </p:nvSpPr>
        <p:spPr/>
        <p:txBody>
          <a:bodyPr>
            <a:normAutofit fontScale="92500" lnSpcReduction="10000"/>
          </a:bodyPr>
          <a:lstStyle/>
          <a:p>
            <a:r>
              <a:rPr lang="en-US" b="1" dirty="0"/>
              <a:t>Nominal data </a:t>
            </a:r>
            <a:r>
              <a:rPr lang="en-US" dirty="0"/>
              <a:t>is one which has no numeric value, but a named value.  </a:t>
            </a:r>
            <a:endParaRPr lang="en-US" b="1" dirty="0"/>
          </a:p>
          <a:p>
            <a:r>
              <a:rPr lang="en-US" dirty="0"/>
              <a:t>Nominal values cannot be quantified. </a:t>
            </a:r>
          </a:p>
          <a:p>
            <a:r>
              <a:rPr lang="en-US" dirty="0"/>
              <a:t>Examples of nominal data are</a:t>
            </a:r>
          </a:p>
          <a:p>
            <a:pPr lvl="1"/>
            <a:r>
              <a:rPr lang="en-US" dirty="0"/>
              <a:t>Blood group: A, B, O, AB, etc.</a:t>
            </a:r>
          </a:p>
          <a:p>
            <a:pPr lvl="1"/>
            <a:r>
              <a:rPr lang="en-US" dirty="0"/>
              <a:t>Nationality: Indian, American, British, etc.</a:t>
            </a:r>
          </a:p>
          <a:p>
            <a:pPr lvl="1"/>
            <a:r>
              <a:rPr lang="en-US" dirty="0"/>
              <a:t>Gender: Male, Female, Other</a:t>
            </a:r>
          </a:p>
          <a:p>
            <a:r>
              <a:rPr lang="en-US" dirty="0"/>
              <a:t>A special case of nominal data is when only two labels are possible, e.g. pass/fail as a result of an examination. </a:t>
            </a:r>
          </a:p>
          <a:p>
            <a:pPr lvl="1"/>
            <a:r>
              <a:rPr lang="en-US" dirty="0"/>
              <a:t>This sub-type of nominal data is called ‘dichotomous’.</a:t>
            </a:r>
          </a:p>
        </p:txBody>
      </p:sp>
    </p:spTree>
    <p:extLst>
      <p:ext uri="{BB962C8B-B14F-4D97-AF65-F5344CB8AC3E}">
        <p14:creationId xmlns:p14="http://schemas.microsoft.com/office/powerpoint/2010/main" xmlns="" val="42305390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26C8FFA-2D0A-4ADE-827B-D33315CA3EB1}"/>
              </a:ext>
            </a:extLst>
          </p:cNvPr>
          <p:cNvSpPr>
            <a:spLocks noGrp="1"/>
          </p:cNvSpPr>
          <p:nvPr>
            <p:ph type="title"/>
          </p:nvPr>
        </p:nvSpPr>
        <p:spPr/>
        <p:txBody>
          <a:bodyPr/>
          <a:lstStyle/>
          <a:p>
            <a:r>
              <a:rPr lang="en-US" b="1" dirty="0"/>
              <a:t>Nominal data</a:t>
            </a:r>
            <a:endParaRPr lang="en-US" dirty="0"/>
          </a:p>
        </p:txBody>
      </p:sp>
      <p:sp>
        <p:nvSpPr>
          <p:cNvPr id="3" name="Content Placeholder 2">
            <a:extLst>
              <a:ext uri="{FF2B5EF4-FFF2-40B4-BE49-F238E27FC236}">
                <a16:creationId xmlns:a16="http://schemas.microsoft.com/office/drawing/2014/main" xmlns="" id="{8DF91771-8297-46F1-83AA-60FD42438472}"/>
              </a:ext>
            </a:extLst>
          </p:cNvPr>
          <p:cNvSpPr>
            <a:spLocks noGrp="1"/>
          </p:cNvSpPr>
          <p:nvPr>
            <p:ph idx="1"/>
          </p:nvPr>
        </p:nvSpPr>
        <p:spPr/>
        <p:txBody>
          <a:bodyPr/>
          <a:lstStyle/>
          <a:p>
            <a:r>
              <a:rPr lang="en-US" dirty="0"/>
              <a:t>mathematical operations such as addition, subtraction, multiplication, etc. cannot be performed on nominal data. </a:t>
            </a:r>
          </a:p>
          <a:p>
            <a:r>
              <a:rPr lang="en-US" dirty="0"/>
              <a:t>statistical functions such as mean, variance, etc. can also not be applied on nominal data. </a:t>
            </a:r>
          </a:p>
          <a:p>
            <a:r>
              <a:rPr lang="en-US" dirty="0"/>
              <a:t>However, a basic count is possible. </a:t>
            </a:r>
          </a:p>
          <a:p>
            <a:pPr lvl="1"/>
            <a:r>
              <a:rPr lang="en-US" dirty="0"/>
              <a:t>So mode, i.e. most frequently occurring value, can be identified for nominal data.</a:t>
            </a:r>
          </a:p>
        </p:txBody>
      </p:sp>
    </p:spTree>
    <p:extLst>
      <p:ext uri="{BB962C8B-B14F-4D97-AF65-F5344CB8AC3E}">
        <p14:creationId xmlns:p14="http://schemas.microsoft.com/office/powerpoint/2010/main" xmlns="" val="663234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80B7CF1-04CB-4AAF-ADE0-E519454B66D1}"/>
              </a:ext>
            </a:extLst>
          </p:cNvPr>
          <p:cNvSpPr>
            <a:spLocks noGrp="1"/>
          </p:cNvSpPr>
          <p:nvPr>
            <p:ph type="title"/>
          </p:nvPr>
        </p:nvSpPr>
        <p:spPr/>
        <p:txBody>
          <a:bodyPr/>
          <a:lstStyle/>
          <a:p>
            <a:r>
              <a:rPr lang="en-IN" dirty="0"/>
              <a:t>Binary Data</a:t>
            </a:r>
          </a:p>
        </p:txBody>
      </p:sp>
      <p:sp>
        <p:nvSpPr>
          <p:cNvPr id="3" name="Content Placeholder 2">
            <a:extLst>
              <a:ext uri="{FF2B5EF4-FFF2-40B4-BE49-F238E27FC236}">
                <a16:creationId xmlns:a16="http://schemas.microsoft.com/office/drawing/2014/main" xmlns="" id="{720507A3-E1B2-4305-AF09-90FD22C0951B}"/>
              </a:ext>
            </a:extLst>
          </p:cNvPr>
          <p:cNvSpPr>
            <a:spLocks noGrp="1"/>
          </p:cNvSpPr>
          <p:nvPr>
            <p:ph idx="1"/>
          </p:nvPr>
        </p:nvSpPr>
        <p:spPr>
          <a:xfrm>
            <a:off x="1451579" y="2015732"/>
            <a:ext cx="9603275" cy="4037749"/>
          </a:xfrm>
        </p:spPr>
        <p:txBody>
          <a:bodyPr>
            <a:normAutofit fontScale="92500" lnSpcReduction="10000"/>
          </a:bodyPr>
          <a:lstStyle/>
          <a:p>
            <a:r>
              <a:rPr lang="en-US" sz="1600" b="1" dirty="0"/>
              <a:t>A binary attribute is a nominal attribute with only two categories or states: 0 or 1, </a:t>
            </a:r>
          </a:p>
          <a:p>
            <a:pPr lvl="1"/>
            <a:r>
              <a:rPr lang="en-US" sz="1400" b="1" dirty="0"/>
              <a:t>where 0 typically means that the attribute is absent, and 1 means that it is present. </a:t>
            </a:r>
          </a:p>
          <a:p>
            <a:pPr lvl="1"/>
            <a:r>
              <a:rPr lang="en-US" sz="1400" b="1" dirty="0"/>
              <a:t>Example- Smoker describing a patient who smokes (1) or who does not smokes (0)</a:t>
            </a:r>
          </a:p>
          <a:p>
            <a:r>
              <a:rPr lang="en-US" sz="1600" b="1" dirty="0"/>
              <a:t>Binary attributes are referred to as Boolean if the two states correspond to true and false.</a:t>
            </a:r>
            <a:endParaRPr lang="en-US" sz="1400" b="1" dirty="0"/>
          </a:p>
          <a:p>
            <a:r>
              <a:rPr lang="en-US" sz="1600" b="1" dirty="0"/>
              <a:t>A binary attribute is symmetric </a:t>
            </a:r>
          </a:p>
          <a:p>
            <a:pPr lvl="1"/>
            <a:r>
              <a:rPr lang="en-US" sz="1400" b="1" dirty="0"/>
              <a:t>if both of its states are equally valuable and carry the same weight; that is, there is no preference on which outcome should be coded as 0 or 1. </a:t>
            </a:r>
          </a:p>
          <a:p>
            <a:pPr lvl="1"/>
            <a:r>
              <a:rPr lang="en-US" sz="1400" b="1" dirty="0"/>
              <a:t>One such example could be the attribute gender having the states male and female. </a:t>
            </a:r>
          </a:p>
          <a:p>
            <a:r>
              <a:rPr lang="en-US" sz="1600" b="1" dirty="0"/>
              <a:t>A binary attribute is asymmetric </a:t>
            </a:r>
          </a:p>
          <a:p>
            <a:pPr lvl="1"/>
            <a:r>
              <a:rPr lang="en-US" sz="1400" b="1" dirty="0"/>
              <a:t>if the outcomes of the states are not equally important, such as the positive and negative outcomes of a medical test for HIV. </a:t>
            </a:r>
          </a:p>
          <a:p>
            <a:pPr lvl="1"/>
            <a:r>
              <a:rPr lang="en-US" sz="1400" b="1" dirty="0"/>
              <a:t>By convention, we code the most important outcome, which is usually the rarest one, by 1 (e.g., HIV positive) and the other by 0 (e.g., HIV negative)</a:t>
            </a:r>
            <a:endParaRPr lang="en-IN" sz="1400" b="1" dirty="0"/>
          </a:p>
        </p:txBody>
      </p:sp>
    </p:spTree>
    <p:extLst>
      <p:ext uri="{BB962C8B-B14F-4D97-AF65-F5344CB8AC3E}">
        <p14:creationId xmlns:p14="http://schemas.microsoft.com/office/powerpoint/2010/main" xmlns="" val="22687529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5F88FEA-ACEA-4DEB-AB9E-1C4AF8CA8246}"/>
              </a:ext>
            </a:extLst>
          </p:cNvPr>
          <p:cNvSpPr>
            <a:spLocks noGrp="1"/>
          </p:cNvSpPr>
          <p:nvPr>
            <p:ph type="title"/>
          </p:nvPr>
        </p:nvSpPr>
        <p:spPr/>
        <p:txBody>
          <a:bodyPr/>
          <a:lstStyle/>
          <a:p>
            <a:r>
              <a:rPr lang="en-US" b="1" dirty="0"/>
              <a:t>Ordinal data</a:t>
            </a:r>
            <a:endParaRPr lang="en-US" dirty="0"/>
          </a:p>
        </p:txBody>
      </p:sp>
      <p:sp>
        <p:nvSpPr>
          <p:cNvPr id="3" name="Content Placeholder 2">
            <a:extLst>
              <a:ext uri="{FF2B5EF4-FFF2-40B4-BE49-F238E27FC236}">
                <a16:creationId xmlns:a16="http://schemas.microsoft.com/office/drawing/2014/main" xmlns="" id="{EF25ABAA-21AB-40C5-A116-8D07388EEE71}"/>
              </a:ext>
            </a:extLst>
          </p:cNvPr>
          <p:cNvSpPr>
            <a:spLocks noGrp="1"/>
          </p:cNvSpPr>
          <p:nvPr>
            <p:ph idx="1"/>
          </p:nvPr>
        </p:nvSpPr>
        <p:spPr/>
        <p:txBody>
          <a:bodyPr/>
          <a:lstStyle/>
          <a:p>
            <a:r>
              <a:rPr lang="en-US" b="1" dirty="0"/>
              <a:t>Ordinal data </a:t>
            </a:r>
            <a:r>
              <a:rPr lang="en-US" dirty="0"/>
              <a:t>in addition to possessing the properties of nominal data, can also be naturally ordered.</a:t>
            </a:r>
          </a:p>
          <a:p>
            <a:r>
              <a:rPr lang="en-US" dirty="0"/>
              <a:t>they can be arranged in a sequence of increasing or decreasing value so that we can say whether a value is better than or greater than another value. </a:t>
            </a:r>
          </a:p>
          <a:p>
            <a:r>
              <a:rPr lang="en-US" dirty="0"/>
              <a:t>Examples of ordinal data are</a:t>
            </a:r>
          </a:p>
          <a:p>
            <a:pPr lvl="1"/>
            <a:r>
              <a:rPr lang="en-US" dirty="0"/>
              <a:t>Customer satisfaction: ‘Very Happy’, ‘Happy’, ‘Unhappy’, etc.</a:t>
            </a:r>
          </a:p>
          <a:p>
            <a:pPr lvl="1"/>
            <a:r>
              <a:rPr lang="en-US" dirty="0"/>
              <a:t>Grades: A, B, C, etc.</a:t>
            </a:r>
          </a:p>
          <a:p>
            <a:pPr lvl="1"/>
            <a:r>
              <a:rPr lang="en-US" dirty="0"/>
              <a:t>Hardness of Metal: ‘Very Hard’, ‘Hard’, ‘Soft’, etc.</a:t>
            </a:r>
          </a:p>
          <a:p>
            <a:endParaRPr lang="en-US" dirty="0"/>
          </a:p>
        </p:txBody>
      </p:sp>
    </p:spTree>
    <p:extLst>
      <p:ext uri="{BB962C8B-B14F-4D97-AF65-F5344CB8AC3E}">
        <p14:creationId xmlns:p14="http://schemas.microsoft.com/office/powerpoint/2010/main" xmlns="" val="35791329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C026451-9D77-455C-AED3-24F2C4642146}"/>
              </a:ext>
            </a:extLst>
          </p:cNvPr>
          <p:cNvSpPr>
            <a:spLocks noGrp="1"/>
          </p:cNvSpPr>
          <p:nvPr>
            <p:ph type="title"/>
          </p:nvPr>
        </p:nvSpPr>
        <p:spPr/>
        <p:txBody>
          <a:bodyPr/>
          <a:lstStyle/>
          <a:p>
            <a:r>
              <a:rPr lang="en-US" b="1" dirty="0"/>
              <a:t>Ordinal data</a:t>
            </a:r>
            <a:endParaRPr lang="en-US" dirty="0"/>
          </a:p>
        </p:txBody>
      </p:sp>
      <p:sp>
        <p:nvSpPr>
          <p:cNvPr id="3" name="Content Placeholder 2">
            <a:extLst>
              <a:ext uri="{FF2B5EF4-FFF2-40B4-BE49-F238E27FC236}">
                <a16:creationId xmlns:a16="http://schemas.microsoft.com/office/drawing/2014/main" xmlns="" id="{3D3F7FB5-DA99-4653-9406-DB3C61BEF4F1}"/>
              </a:ext>
            </a:extLst>
          </p:cNvPr>
          <p:cNvSpPr>
            <a:spLocks noGrp="1"/>
          </p:cNvSpPr>
          <p:nvPr>
            <p:ph idx="1"/>
          </p:nvPr>
        </p:nvSpPr>
        <p:spPr/>
        <p:txBody>
          <a:bodyPr/>
          <a:lstStyle/>
          <a:p>
            <a:r>
              <a:rPr lang="en-US" dirty="0"/>
              <a:t>Like nominal data, basic counting is possible for ordinal data. </a:t>
            </a:r>
          </a:p>
          <a:p>
            <a:r>
              <a:rPr lang="en-US" dirty="0"/>
              <a:t>Hence, the mode can be identified. </a:t>
            </a:r>
          </a:p>
          <a:p>
            <a:r>
              <a:rPr lang="en-US" dirty="0"/>
              <a:t>Since ordering is possible in case of ordinal data, median, and quartiles can be identified in addition. </a:t>
            </a:r>
          </a:p>
          <a:p>
            <a:r>
              <a:rPr lang="en-US" dirty="0"/>
              <a:t>Mean can still not be calculated.</a:t>
            </a:r>
          </a:p>
        </p:txBody>
      </p:sp>
    </p:spTree>
    <p:extLst>
      <p:ext uri="{BB962C8B-B14F-4D97-AF65-F5344CB8AC3E}">
        <p14:creationId xmlns:p14="http://schemas.microsoft.com/office/powerpoint/2010/main" xmlns="" val="16313877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31DE789-54C5-4AF5-8D89-90937CA78452}"/>
              </a:ext>
            </a:extLst>
          </p:cNvPr>
          <p:cNvSpPr>
            <a:spLocks noGrp="1"/>
          </p:cNvSpPr>
          <p:nvPr>
            <p:ph type="title"/>
          </p:nvPr>
        </p:nvSpPr>
        <p:spPr/>
        <p:txBody>
          <a:bodyPr/>
          <a:lstStyle/>
          <a:p>
            <a:r>
              <a:rPr lang="en-US" b="1" dirty="0"/>
              <a:t>Quantitative data</a:t>
            </a:r>
            <a:r>
              <a:rPr lang="en-US" dirty="0"/>
              <a:t> </a:t>
            </a:r>
          </a:p>
        </p:txBody>
      </p:sp>
      <p:sp>
        <p:nvSpPr>
          <p:cNvPr id="3" name="Content Placeholder 2">
            <a:extLst>
              <a:ext uri="{FF2B5EF4-FFF2-40B4-BE49-F238E27FC236}">
                <a16:creationId xmlns:a16="http://schemas.microsoft.com/office/drawing/2014/main" xmlns="" id="{404189FB-C672-478B-8350-CF9E83761097}"/>
              </a:ext>
            </a:extLst>
          </p:cNvPr>
          <p:cNvSpPr>
            <a:spLocks noGrp="1"/>
          </p:cNvSpPr>
          <p:nvPr>
            <p:ph idx="1"/>
          </p:nvPr>
        </p:nvSpPr>
        <p:spPr/>
        <p:txBody>
          <a:bodyPr>
            <a:normAutofit lnSpcReduction="10000"/>
          </a:bodyPr>
          <a:lstStyle/>
          <a:p>
            <a:r>
              <a:rPr lang="en-US" b="1" dirty="0"/>
              <a:t>Quantitative data</a:t>
            </a:r>
            <a:r>
              <a:rPr lang="en-US" dirty="0"/>
              <a:t> relates to information about the quantity of an object – hence it can be measured. </a:t>
            </a:r>
          </a:p>
          <a:p>
            <a:r>
              <a:rPr lang="en-US" dirty="0"/>
              <a:t>For example, if we consider the attribute ‘marks’, it can be measured using a scale of measurement. </a:t>
            </a:r>
          </a:p>
          <a:p>
            <a:r>
              <a:rPr lang="en-US" dirty="0"/>
              <a:t>Quantitative data is also termed as numeric data. </a:t>
            </a:r>
          </a:p>
          <a:p>
            <a:r>
              <a:rPr lang="en-US" dirty="0"/>
              <a:t>There are two types of quantitative data:</a:t>
            </a:r>
          </a:p>
          <a:p>
            <a:pPr lvl="1"/>
            <a:r>
              <a:rPr lang="en-US" dirty="0"/>
              <a:t>Interval data</a:t>
            </a:r>
          </a:p>
          <a:p>
            <a:pPr lvl="1"/>
            <a:r>
              <a:rPr lang="en-US" dirty="0"/>
              <a:t>Ratio data</a:t>
            </a:r>
          </a:p>
          <a:p>
            <a:endParaRPr lang="en-US" dirty="0"/>
          </a:p>
        </p:txBody>
      </p:sp>
    </p:spTree>
    <p:extLst>
      <p:ext uri="{BB962C8B-B14F-4D97-AF65-F5344CB8AC3E}">
        <p14:creationId xmlns:p14="http://schemas.microsoft.com/office/powerpoint/2010/main" xmlns="" val="34023220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0244F4A-C296-418C-9148-E31DC8F6F973}"/>
              </a:ext>
            </a:extLst>
          </p:cNvPr>
          <p:cNvSpPr>
            <a:spLocks noGrp="1"/>
          </p:cNvSpPr>
          <p:nvPr>
            <p:ph type="title"/>
          </p:nvPr>
        </p:nvSpPr>
        <p:spPr/>
        <p:txBody>
          <a:bodyPr/>
          <a:lstStyle/>
          <a:p>
            <a:r>
              <a:rPr lang="en-US" dirty="0"/>
              <a:t>Interval-Scaled data</a:t>
            </a:r>
          </a:p>
        </p:txBody>
      </p:sp>
      <p:sp>
        <p:nvSpPr>
          <p:cNvPr id="3" name="Content Placeholder 2">
            <a:extLst>
              <a:ext uri="{FF2B5EF4-FFF2-40B4-BE49-F238E27FC236}">
                <a16:creationId xmlns:a16="http://schemas.microsoft.com/office/drawing/2014/main" xmlns="" id="{705878C0-ACB8-444F-B44E-006E32C771A6}"/>
              </a:ext>
            </a:extLst>
          </p:cNvPr>
          <p:cNvSpPr>
            <a:spLocks noGrp="1"/>
          </p:cNvSpPr>
          <p:nvPr>
            <p:ph idx="1"/>
          </p:nvPr>
        </p:nvSpPr>
        <p:spPr/>
        <p:txBody>
          <a:bodyPr/>
          <a:lstStyle/>
          <a:p>
            <a:r>
              <a:rPr lang="en-US" dirty="0"/>
              <a:t>Interval data is numeric data for which not only the order is known, but the exact difference between values is also known. </a:t>
            </a:r>
          </a:p>
          <a:p>
            <a:r>
              <a:rPr lang="en-US" dirty="0"/>
              <a:t>An ideal example of interval data is Celsius temperature. </a:t>
            </a:r>
          </a:p>
          <a:p>
            <a:r>
              <a:rPr lang="en-US" dirty="0"/>
              <a:t>The difference between each value remains the same in Celsius temperature. </a:t>
            </a:r>
          </a:p>
          <a:p>
            <a:r>
              <a:rPr lang="en-US" dirty="0"/>
              <a:t>For example, the difference between 12°C and 18°C degrees is measurable and is 6°C as in the case of difference between 15.5°C and 21.5°C. </a:t>
            </a:r>
          </a:p>
          <a:p>
            <a:r>
              <a:rPr lang="en-US" dirty="0"/>
              <a:t>Other examples include date, time, etc.</a:t>
            </a:r>
          </a:p>
        </p:txBody>
      </p:sp>
    </p:spTree>
    <p:extLst>
      <p:ext uri="{BB962C8B-B14F-4D97-AF65-F5344CB8AC3E}">
        <p14:creationId xmlns:p14="http://schemas.microsoft.com/office/powerpoint/2010/main" xmlns="" val="6712317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CEC5C08-4B7C-4294-867B-0BE693E72283}"/>
              </a:ext>
            </a:extLst>
          </p:cNvPr>
          <p:cNvSpPr>
            <a:spLocks noGrp="1"/>
          </p:cNvSpPr>
          <p:nvPr>
            <p:ph type="title"/>
          </p:nvPr>
        </p:nvSpPr>
        <p:spPr/>
        <p:txBody>
          <a:bodyPr/>
          <a:lstStyle/>
          <a:p>
            <a:r>
              <a:rPr lang="en-US" dirty="0"/>
              <a:t>Interval-Scaled data</a:t>
            </a:r>
            <a:endParaRPr lang="en-US" b="1" dirty="0"/>
          </a:p>
        </p:txBody>
      </p:sp>
      <p:sp>
        <p:nvSpPr>
          <p:cNvPr id="3" name="Content Placeholder 2">
            <a:extLst>
              <a:ext uri="{FF2B5EF4-FFF2-40B4-BE49-F238E27FC236}">
                <a16:creationId xmlns:a16="http://schemas.microsoft.com/office/drawing/2014/main" xmlns="" id="{70D904B5-73CC-4564-BE2A-A975465E93E2}"/>
              </a:ext>
            </a:extLst>
          </p:cNvPr>
          <p:cNvSpPr>
            <a:spLocks noGrp="1"/>
          </p:cNvSpPr>
          <p:nvPr>
            <p:ph idx="1"/>
          </p:nvPr>
        </p:nvSpPr>
        <p:spPr/>
        <p:txBody>
          <a:bodyPr>
            <a:normAutofit/>
          </a:bodyPr>
          <a:lstStyle/>
          <a:p>
            <a:r>
              <a:rPr lang="en-US" dirty="0"/>
              <a:t>For interval data, mathematical operations such as addition and subtraction are possible. </a:t>
            </a:r>
          </a:p>
          <a:p>
            <a:r>
              <a:rPr lang="en-US" dirty="0"/>
              <a:t>For that reason, for interval data, the central tendency can be measured by mean, median, or mode. </a:t>
            </a:r>
          </a:p>
          <a:p>
            <a:r>
              <a:rPr lang="en-US" dirty="0"/>
              <a:t>Standard deviation can also be calculated.</a:t>
            </a:r>
          </a:p>
          <a:p>
            <a:pPr marL="0" indent="0">
              <a:buNone/>
            </a:pPr>
            <a:endParaRPr lang="en-US" dirty="0"/>
          </a:p>
        </p:txBody>
      </p:sp>
    </p:spTree>
    <p:extLst>
      <p:ext uri="{BB962C8B-B14F-4D97-AF65-F5344CB8AC3E}">
        <p14:creationId xmlns:p14="http://schemas.microsoft.com/office/powerpoint/2010/main" xmlns="" val="23755356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5922D6A-44FA-4C8A-86B0-CB2434391E0B}"/>
              </a:ext>
            </a:extLst>
          </p:cNvPr>
          <p:cNvSpPr>
            <a:spLocks noGrp="1"/>
          </p:cNvSpPr>
          <p:nvPr>
            <p:ph type="title"/>
          </p:nvPr>
        </p:nvSpPr>
        <p:spPr/>
        <p:txBody>
          <a:bodyPr/>
          <a:lstStyle/>
          <a:p>
            <a:r>
              <a:rPr lang="en-US" dirty="0"/>
              <a:t>Interval-Scaled data</a:t>
            </a:r>
          </a:p>
        </p:txBody>
      </p:sp>
      <p:sp>
        <p:nvSpPr>
          <p:cNvPr id="3" name="Content Placeholder 2">
            <a:extLst>
              <a:ext uri="{FF2B5EF4-FFF2-40B4-BE49-F238E27FC236}">
                <a16:creationId xmlns:a16="http://schemas.microsoft.com/office/drawing/2014/main" xmlns="" id="{99A93709-7FEB-471B-8AA6-9E78FCAB05A3}"/>
              </a:ext>
            </a:extLst>
          </p:cNvPr>
          <p:cNvSpPr>
            <a:spLocks noGrp="1"/>
          </p:cNvSpPr>
          <p:nvPr>
            <p:ph idx="1"/>
          </p:nvPr>
        </p:nvSpPr>
        <p:spPr/>
        <p:txBody>
          <a:bodyPr>
            <a:normAutofit lnSpcReduction="10000"/>
          </a:bodyPr>
          <a:lstStyle/>
          <a:p>
            <a:r>
              <a:rPr lang="en-US" dirty="0"/>
              <a:t>However, interval data do not have something called a ‘true zero’ value. </a:t>
            </a:r>
          </a:p>
          <a:p>
            <a:r>
              <a:rPr lang="en-US" dirty="0"/>
              <a:t>For example, there is nothing called ‘0 temperature’ or ‘no temperature’. </a:t>
            </a:r>
          </a:p>
          <a:p>
            <a:r>
              <a:rPr lang="en-US" dirty="0"/>
              <a:t>Hence, only addition and subtraction applies for interval data. </a:t>
            </a:r>
          </a:p>
          <a:p>
            <a:r>
              <a:rPr lang="en-US" dirty="0"/>
              <a:t>The ratio cannot be applied. </a:t>
            </a:r>
          </a:p>
          <a:p>
            <a:r>
              <a:rPr lang="en-US" dirty="0"/>
              <a:t>This means, we can say a temperature of 40°C is equal to the temperature of 20°C + temperature of 20°C. </a:t>
            </a:r>
          </a:p>
          <a:p>
            <a:r>
              <a:rPr lang="en-US" dirty="0"/>
              <a:t>However, we cannot say the temperature of 40°C means it is twice as hot as in temperature of 20°C.</a:t>
            </a:r>
          </a:p>
          <a:p>
            <a:endParaRPr lang="en-US" dirty="0"/>
          </a:p>
        </p:txBody>
      </p:sp>
    </p:spTree>
    <p:extLst>
      <p:ext uri="{BB962C8B-B14F-4D97-AF65-F5344CB8AC3E}">
        <p14:creationId xmlns:p14="http://schemas.microsoft.com/office/powerpoint/2010/main" xmlns="" val="36096771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B792A6F-0815-4C72-ACDB-C89EDADEF68B}"/>
              </a:ext>
            </a:extLst>
          </p:cNvPr>
          <p:cNvSpPr>
            <a:spLocks noGrp="1"/>
          </p:cNvSpPr>
          <p:nvPr>
            <p:ph type="title"/>
          </p:nvPr>
        </p:nvSpPr>
        <p:spPr/>
        <p:txBody>
          <a:bodyPr/>
          <a:lstStyle/>
          <a:p>
            <a:r>
              <a:rPr lang="en-US" b="1" dirty="0"/>
              <a:t>Ratio-SCALED data</a:t>
            </a:r>
            <a:endParaRPr lang="en-US" dirty="0"/>
          </a:p>
        </p:txBody>
      </p:sp>
      <p:sp>
        <p:nvSpPr>
          <p:cNvPr id="3" name="Content Placeholder 2">
            <a:extLst>
              <a:ext uri="{FF2B5EF4-FFF2-40B4-BE49-F238E27FC236}">
                <a16:creationId xmlns:a16="http://schemas.microsoft.com/office/drawing/2014/main" xmlns="" id="{5EDD04F8-8FEB-4B62-BCFB-CBD165BD08C8}"/>
              </a:ext>
            </a:extLst>
          </p:cNvPr>
          <p:cNvSpPr>
            <a:spLocks noGrp="1"/>
          </p:cNvSpPr>
          <p:nvPr>
            <p:ph idx="1"/>
          </p:nvPr>
        </p:nvSpPr>
        <p:spPr/>
        <p:txBody>
          <a:bodyPr/>
          <a:lstStyle/>
          <a:p>
            <a:r>
              <a:rPr lang="en-US" b="1" dirty="0"/>
              <a:t>Ratio data</a:t>
            </a:r>
            <a:r>
              <a:rPr lang="en-US" dirty="0"/>
              <a:t> represents numeric data for which exact value can be measured. </a:t>
            </a:r>
          </a:p>
          <a:p>
            <a:r>
              <a:rPr lang="en-US" dirty="0"/>
              <a:t>Absolute zero is available for ratio data. </a:t>
            </a:r>
          </a:p>
          <a:p>
            <a:r>
              <a:rPr lang="en-US" dirty="0"/>
              <a:t>Also, these variables can be added, subtracted, multiplied, or divided. </a:t>
            </a:r>
          </a:p>
          <a:p>
            <a:r>
              <a:rPr lang="en-US" dirty="0"/>
              <a:t>The central tendency can be measured by mean, median, or mode and methods of dispersion such as standard deviation. </a:t>
            </a:r>
          </a:p>
          <a:p>
            <a:r>
              <a:rPr lang="en-US" dirty="0"/>
              <a:t>Examples of ratio data include height, weight, age, salary, etc.</a:t>
            </a:r>
          </a:p>
        </p:txBody>
      </p:sp>
    </p:spTree>
    <p:extLst>
      <p:ext uri="{BB962C8B-B14F-4D97-AF65-F5344CB8AC3E}">
        <p14:creationId xmlns:p14="http://schemas.microsoft.com/office/powerpoint/2010/main" xmlns="" val="11919079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7FC8C8E-5748-478E-B2F3-74C660C3A933}"/>
              </a:ext>
            </a:extLst>
          </p:cNvPr>
          <p:cNvSpPr>
            <a:spLocks noGrp="1"/>
          </p:cNvSpPr>
          <p:nvPr>
            <p:ph type="title"/>
          </p:nvPr>
        </p:nvSpPr>
        <p:spPr/>
        <p:txBody>
          <a:bodyPr/>
          <a:lstStyle/>
          <a:p>
            <a:r>
              <a:rPr lang="en-US" b="1" dirty="0"/>
              <a:t>Another way to categorize data</a:t>
            </a:r>
            <a:endParaRPr lang="en-US" dirty="0"/>
          </a:p>
        </p:txBody>
      </p:sp>
      <p:sp>
        <p:nvSpPr>
          <p:cNvPr id="3" name="Content Placeholder 2">
            <a:extLst>
              <a:ext uri="{FF2B5EF4-FFF2-40B4-BE49-F238E27FC236}">
                <a16:creationId xmlns:a16="http://schemas.microsoft.com/office/drawing/2014/main" xmlns="" id="{FFA3BEAF-FEFB-4A82-B162-535FA2E08E38}"/>
              </a:ext>
            </a:extLst>
          </p:cNvPr>
          <p:cNvSpPr>
            <a:spLocks noGrp="1"/>
          </p:cNvSpPr>
          <p:nvPr>
            <p:ph idx="1"/>
          </p:nvPr>
        </p:nvSpPr>
        <p:spPr/>
        <p:txBody>
          <a:bodyPr>
            <a:normAutofit/>
          </a:bodyPr>
          <a:lstStyle/>
          <a:p>
            <a:r>
              <a:rPr lang="en-US" dirty="0"/>
              <a:t>attributes can also be categorized into types based on a number of values that can be assigned. </a:t>
            </a:r>
          </a:p>
          <a:p>
            <a:r>
              <a:rPr lang="en-US" dirty="0"/>
              <a:t>The attributes can be either discrete or continuous based on this factor</a:t>
            </a:r>
          </a:p>
        </p:txBody>
      </p:sp>
    </p:spTree>
    <p:extLst>
      <p:ext uri="{BB962C8B-B14F-4D97-AF65-F5344CB8AC3E}">
        <p14:creationId xmlns:p14="http://schemas.microsoft.com/office/powerpoint/2010/main" xmlns="" val="35311658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C713239-3C5B-490C-A8CB-AD6B45FC024D}"/>
              </a:ext>
            </a:extLst>
          </p:cNvPr>
          <p:cNvSpPr>
            <a:spLocks noGrp="1"/>
          </p:cNvSpPr>
          <p:nvPr>
            <p:ph type="title"/>
          </p:nvPr>
        </p:nvSpPr>
        <p:spPr/>
        <p:txBody>
          <a:bodyPr/>
          <a:lstStyle/>
          <a:p>
            <a:r>
              <a:rPr lang="en-IN" dirty="0"/>
              <a:t>Discrete  Attribute</a:t>
            </a:r>
          </a:p>
        </p:txBody>
      </p:sp>
      <p:sp>
        <p:nvSpPr>
          <p:cNvPr id="3" name="Content Placeholder 2">
            <a:extLst>
              <a:ext uri="{FF2B5EF4-FFF2-40B4-BE49-F238E27FC236}">
                <a16:creationId xmlns:a16="http://schemas.microsoft.com/office/drawing/2014/main" xmlns="" id="{27E0051B-DA83-4C64-AB4E-70EDCD3809D4}"/>
              </a:ext>
            </a:extLst>
          </p:cNvPr>
          <p:cNvSpPr>
            <a:spLocks noGrp="1"/>
          </p:cNvSpPr>
          <p:nvPr>
            <p:ph idx="1"/>
          </p:nvPr>
        </p:nvSpPr>
        <p:spPr>
          <a:xfrm>
            <a:off x="1451579" y="2015732"/>
            <a:ext cx="9603275" cy="3722916"/>
          </a:xfrm>
        </p:spPr>
        <p:txBody>
          <a:bodyPr>
            <a:normAutofit fontScale="85000" lnSpcReduction="20000"/>
          </a:bodyPr>
          <a:lstStyle/>
          <a:p>
            <a:r>
              <a:rPr lang="en-US" dirty="0"/>
              <a:t>It has a finite or countably infinite set of values, which may or may not be represented as integers. </a:t>
            </a:r>
          </a:p>
          <a:p>
            <a:r>
              <a:rPr lang="en-US" dirty="0"/>
              <a:t>Examples: hair color, smoker, medical test, and drink size each have a finite number of values, and so are discrete. </a:t>
            </a:r>
          </a:p>
          <a:p>
            <a:r>
              <a:rPr lang="en-US" dirty="0"/>
              <a:t>Note: discrete attributes may have numeric values, such as 0 and 1 for binary attributes or, the values 0 to 110 for the attribute age. </a:t>
            </a:r>
          </a:p>
          <a:p>
            <a:r>
              <a:rPr lang="en-US" dirty="0"/>
              <a:t>An attribute is countably infinite if</a:t>
            </a:r>
          </a:p>
          <a:p>
            <a:pPr lvl="1"/>
            <a:r>
              <a:rPr lang="en-US" dirty="0"/>
              <a:t>the set of possible values is infinite but the values can be put in a one-to-one correspondence with natural numbers. </a:t>
            </a:r>
          </a:p>
          <a:p>
            <a:pPr lvl="1"/>
            <a:r>
              <a:rPr lang="en-US" dirty="0"/>
              <a:t>For example, the attribute customer ID is countably infinite. The number of customers can grow to infinity, but in reality, the actual set of values is countable (where the values can be put in one-to-one correspondence with the set of integers). </a:t>
            </a:r>
          </a:p>
          <a:p>
            <a:pPr lvl="1"/>
            <a:r>
              <a:rPr lang="en-US" dirty="0"/>
              <a:t>Zip codes are another example. </a:t>
            </a:r>
            <a:endParaRPr lang="en-IN" dirty="0"/>
          </a:p>
        </p:txBody>
      </p:sp>
    </p:spTree>
    <p:extLst>
      <p:ext uri="{BB962C8B-B14F-4D97-AF65-F5344CB8AC3E}">
        <p14:creationId xmlns:p14="http://schemas.microsoft.com/office/powerpoint/2010/main" xmlns="" val="2808687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0D7CDFA-78D8-452D-A1F6-1634467FA8AD}"/>
              </a:ext>
            </a:extLst>
          </p:cNvPr>
          <p:cNvSpPr>
            <a:spLocks noGrp="1"/>
          </p:cNvSpPr>
          <p:nvPr>
            <p:ph type="title"/>
          </p:nvPr>
        </p:nvSpPr>
        <p:spPr/>
        <p:txBody>
          <a:bodyPr/>
          <a:lstStyle/>
          <a:p>
            <a:r>
              <a:rPr lang="en-IN" dirty="0"/>
              <a:t>Continuous attribute</a:t>
            </a:r>
          </a:p>
        </p:txBody>
      </p:sp>
      <p:sp>
        <p:nvSpPr>
          <p:cNvPr id="3" name="Content Placeholder 2">
            <a:extLst>
              <a:ext uri="{FF2B5EF4-FFF2-40B4-BE49-F238E27FC236}">
                <a16:creationId xmlns:a16="http://schemas.microsoft.com/office/drawing/2014/main" xmlns="" id="{62F3C4AD-6A44-48D2-9496-782AEE5D89CE}"/>
              </a:ext>
            </a:extLst>
          </p:cNvPr>
          <p:cNvSpPr>
            <a:spLocks noGrp="1"/>
          </p:cNvSpPr>
          <p:nvPr>
            <p:ph idx="1"/>
          </p:nvPr>
        </p:nvSpPr>
        <p:spPr/>
        <p:txBody>
          <a:bodyPr/>
          <a:lstStyle/>
          <a:p>
            <a:r>
              <a:rPr lang="en-US" dirty="0"/>
              <a:t>If an attribute is not discrete, it is continuous.</a:t>
            </a:r>
          </a:p>
          <a:p>
            <a:r>
              <a:rPr lang="en-US" dirty="0"/>
              <a:t>continuous values are real numbers.</a:t>
            </a:r>
          </a:p>
          <a:p>
            <a:r>
              <a:rPr lang="en-US" dirty="0"/>
              <a:t>Continuous attributes are typically represented as floating-point variables.</a:t>
            </a:r>
            <a:endParaRPr lang="en-IN" dirty="0"/>
          </a:p>
        </p:txBody>
      </p:sp>
    </p:spTree>
    <p:extLst>
      <p:ext uri="{BB962C8B-B14F-4D97-AF65-F5344CB8AC3E}">
        <p14:creationId xmlns:p14="http://schemas.microsoft.com/office/powerpoint/2010/main" xmlns="" val="2342506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C73C8F-793C-403F-AA23-93A4D36ABBA0}"/>
              </a:ext>
            </a:extLst>
          </p:cNvPr>
          <p:cNvSpPr>
            <a:spLocks noGrp="1"/>
          </p:cNvSpPr>
          <p:nvPr>
            <p:ph type="title"/>
          </p:nvPr>
        </p:nvSpPr>
        <p:spPr/>
        <p:txBody>
          <a:bodyPr/>
          <a:lstStyle/>
          <a:p>
            <a:r>
              <a:rPr lang="en-US" b="1" dirty="0"/>
              <a:t>Another way to categorize data</a:t>
            </a:r>
            <a:endParaRPr lang="en-US" dirty="0"/>
          </a:p>
        </p:txBody>
      </p:sp>
      <p:sp>
        <p:nvSpPr>
          <p:cNvPr id="3" name="Content Placeholder 2">
            <a:extLst>
              <a:ext uri="{FF2B5EF4-FFF2-40B4-BE49-F238E27FC236}">
                <a16:creationId xmlns:a16="http://schemas.microsoft.com/office/drawing/2014/main" xmlns="" id="{228C558C-C62E-4EB6-8D82-63D518D96232}"/>
              </a:ext>
            </a:extLst>
          </p:cNvPr>
          <p:cNvSpPr>
            <a:spLocks noGrp="1"/>
          </p:cNvSpPr>
          <p:nvPr>
            <p:ph idx="1"/>
          </p:nvPr>
        </p:nvSpPr>
        <p:spPr/>
        <p:txBody>
          <a:bodyPr>
            <a:normAutofit/>
          </a:bodyPr>
          <a:lstStyle/>
          <a:p>
            <a:r>
              <a:rPr lang="en-US" dirty="0"/>
              <a:t>Discrete attributes can assume a finite or countably infinite number of values. </a:t>
            </a:r>
          </a:p>
          <a:p>
            <a:pPr lvl="1"/>
            <a:r>
              <a:rPr lang="en-US" dirty="0"/>
              <a:t>Nominal attributes such as roll number, street number, pin code, etc. can have a finite number of values </a:t>
            </a:r>
          </a:p>
          <a:p>
            <a:pPr lvl="1"/>
            <a:r>
              <a:rPr lang="en-US" dirty="0"/>
              <a:t>whereas numeric attributes such as count, rank of students, etc. can have countably infinite values. </a:t>
            </a:r>
          </a:p>
          <a:p>
            <a:r>
              <a:rPr lang="en-US" dirty="0"/>
              <a:t>A special type of discrete attribute which can assume two values only is called binary attribute. </a:t>
            </a:r>
          </a:p>
          <a:p>
            <a:r>
              <a:rPr lang="en-US" dirty="0"/>
              <a:t>Examples of binary attribute include male/ female, positive/negative, yes/no, etc.</a:t>
            </a:r>
          </a:p>
        </p:txBody>
      </p:sp>
    </p:spTree>
    <p:extLst>
      <p:ext uri="{BB962C8B-B14F-4D97-AF65-F5344CB8AC3E}">
        <p14:creationId xmlns:p14="http://schemas.microsoft.com/office/powerpoint/2010/main" xmlns="" val="1310754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FAE00DA-DDCD-4B20-8646-99DF3A5E617A}"/>
              </a:ext>
            </a:extLst>
          </p:cNvPr>
          <p:cNvSpPr>
            <a:spLocks noGrp="1"/>
          </p:cNvSpPr>
          <p:nvPr>
            <p:ph type="title"/>
          </p:nvPr>
        </p:nvSpPr>
        <p:spPr/>
        <p:txBody>
          <a:bodyPr/>
          <a:lstStyle/>
          <a:p>
            <a:r>
              <a:rPr lang="en-US" b="1" dirty="0"/>
              <a:t>Another way to categorize data</a:t>
            </a:r>
            <a:endParaRPr lang="en-US" dirty="0"/>
          </a:p>
        </p:txBody>
      </p:sp>
      <p:sp>
        <p:nvSpPr>
          <p:cNvPr id="3" name="Content Placeholder 2">
            <a:extLst>
              <a:ext uri="{FF2B5EF4-FFF2-40B4-BE49-F238E27FC236}">
                <a16:creationId xmlns:a16="http://schemas.microsoft.com/office/drawing/2014/main" xmlns="" id="{E40656E3-7716-420E-A314-C2EBF0D386AB}"/>
              </a:ext>
            </a:extLst>
          </p:cNvPr>
          <p:cNvSpPr>
            <a:spLocks noGrp="1"/>
          </p:cNvSpPr>
          <p:nvPr>
            <p:ph idx="1"/>
          </p:nvPr>
        </p:nvSpPr>
        <p:spPr/>
        <p:txBody>
          <a:bodyPr/>
          <a:lstStyle/>
          <a:p>
            <a:r>
              <a:rPr lang="en-US" dirty="0"/>
              <a:t>Continuous attributes can assume any possible value which is a real number. </a:t>
            </a:r>
          </a:p>
          <a:p>
            <a:r>
              <a:rPr lang="en-US" dirty="0"/>
              <a:t>Examples of continuous attribute include length, height, weight, price, etc.</a:t>
            </a:r>
          </a:p>
          <a:p>
            <a:endParaRPr lang="en-US" dirty="0"/>
          </a:p>
        </p:txBody>
      </p:sp>
    </p:spTree>
    <p:extLst>
      <p:ext uri="{BB962C8B-B14F-4D97-AF65-F5344CB8AC3E}">
        <p14:creationId xmlns:p14="http://schemas.microsoft.com/office/powerpoint/2010/main" xmlns="" val="614826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D1CCA10-1037-443C-A5D4-481BAA61D744}"/>
              </a:ext>
            </a:extLst>
          </p:cNvPr>
          <p:cNvSpPr>
            <a:spLocks noGrp="1"/>
          </p:cNvSpPr>
          <p:nvPr>
            <p:ph type="title"/>
          </p:nvPr>
        </p:nvSpPr>
        <p:spPr>
          <a:xfrm>
            <a:off x="599090" y="365125"/>
            <a:ext cx="11035862" cy="943413"/>
          </a:xfrm>
        </p:spPr>
        <p:txBody>
          <a:bodyPr>
            <a:normAutofit fontScale="90000"/>
          </a:bodyPr>
          <a:lstStyle/>
          <a:p>
            <a:r>
              <a:rPr lang="en-US" sz="4000" dirty="0"/>
              <a:t>Auto MPG data set available in the UCI repository</a:t>
            </a:r>
          </a:p>
        </p:txBody>
      </p:sp>
      <p:sp>
        <p:nvSpPr>
          <p:cNvPr id="3" name="Content Placeholder 2">
            <a:extLst>
              <a:ext uri="{FF2B5EF4-FFF2-40B4-BE49-F238E27FC236}">
                <a16:creationId xmlns:a16="http://schemas.microsoft.com/office/drawing/2014/main" xmlns="" id="{D6DD7448-C5F8-4E6C-865C-3CD79DD173F0}"/>
              </a:ext>
            </a:extLst>
          </p:cNvPr>
          <p:cNvSpPr>
            <a:spLocks noGrp="1"/>
          </p:cNvSpPr>
          <p:nvPr>
            <p:ph idx="1"/>
          </p:nvPr>
        </p:nvSpPr>
        <p:spPr>
          <a:xfrm>
            <a:off x="838200" y="1308538"/>
            <a:ext cx="10515600" cy="4868425"/>
          </a:xfrm>
        </p:spPr>
        <p:txBody>
          <a:bodyPr>
            <a:normAutofit/>
          </a:bodyPr>
          <a:lstStyle/>
          <a:p>
            <a:r>
              <a:rPr lang="en-US" dirty="0"/>
              <a:t>the attributes such as ‘mpg’, ‘cylinders’, ‘displacement’, ‘horsepower’, ‘weight’, ‘acceleration’, ‘model year’, and ‘origin’ are all numeric. </a:t>
            </a:r>
          </a:p>
          <a:p>
            <a:pPr lvl="1"/>
            <a:r>
              <a:rPr lang="en-US" dirty="0"/>
              <a:t>Out of these attributes, ‘cylinders’, ‘model year’, and ‘origin’ are discrete in nature as the only finite number of values can be assumed by these attributes. </a:t>
            </a:r>
          </a:p>
          <a:p>
            <a:pPr lvl="1"/>
            <a:r>
              <a:rPr lang="en-US" dirty="0"/>
              <a:t>The remaining of the numeric attributes, i.e. ‘mpg’, ‘displacement’, ‘horsepower’, ‘weight’, and ‘acceleration’ can assume any real value. Hence, these attributes are continuous in nature. </a:t>
            </a:r>
          </a:p>
          <a:p>
            <a:r>
              <a:rPr lang="en-US" dirty="0"/>
              <a:t>The only remaining attribute ‘car name’ is of type categorical, or more specifically nominal. </a:t>
            </a:r>
          </a:p>
          <a:p>
            <a:r>
              <a:rPr lang="en-US" dirty="0"/>
              <a:t>This data set is regarding prediction of fuel consumption in miles per gallon, i.e. the numeric attribute ‘mpg’ is the target attribute.</a:t>
            </a:r>
          </a:p>
        </p:txBody>
      </p:sp>
    </p:spTree>
    <p:extLst>
      <p:ext uri="{BB962C8B-B14F-4D97-AF65-F5344CB8AC3E}">
        <p14:creationId xmlns:p14="http://schemas.microsoft.com/office/powerpoint/2010/main" xmlns="" val="41937137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B3CD30E-8B2E-4577-A621-ED14B2E67DF2}"/>
              </a:ext>
            </a:extLst>
          </p:cNvPr>
          <p:cNvSpPr>
            <a:spLocks noGrp="1"/>
          </p:cNvSpPr>
          <p:nvPr>
            <p:ph type="title"/>
          </p:nvPr>
        </p:nvSpPr>
        <p:spPr>
          <a:xfrm>
            <a:off x="804042" y="6181327"/>
            <a:ext cx="10140622" cy="446485"/>
          </a:xfrm>
        </p:spPr>
        <p:txBody>
          <a:bodyPr>
            <a:noAutofit/>
          </a:bodyPr>
          <a:lstStyle/>
          <a:p>
            <a:r>
              <a:rPr lang="en-US" sz="2000" dirty="0"/>
              <a:t>Auto MPG data set available in the UCI repository: a snapshot of the first few rows of the data set.</a:t>
            </a:r>
            <a:br>
              <a:rPr lang="en-US" sz="2000" dirty="0"/>
            </a:br>
            <a:endParaRPr lang="en-US" sz="2000" dirty="0"/>
          </a:p>
        </p:txBody>
      </p:sp>
      <p:pic>
        <p:nvPicPr>
          <p:cNvPr id="2050" name="Picture 2" descr="https://learning.oreilly.com/library/view/machine-learning/9789389588132/images/36-1.png">
            <a:extLst>
              <a:ext uri="{FF2B5EF4-FFF2-40B4-BE49-F238E27FC236}">
                <a16:creationId xmlns:a16="http://schemas.microsoft.com/office/drawing/2014/main" xmlns="" id="{5A2F101B-5366-45AE-A6FA-A3BECFA35E88}"/>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677917" y="230188"/>
            <a:ext cx="10266747" cy="5737225"/>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5654272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A89DC05-4A94-43A0-A515-7BC290ED6B4E}"/>
              </a:ext>
            </a:extLst>
          </p:cNvPr>
          <p:cNvSpPr>
            <a:spLocks noGrp="1"/>
          </p:cNvSpPr>
          <p:nvPr>
            <p:ph type="title"/>
          </p:nvPr>
        </p:nvSpPr>
        <p:spPr/>
        <p:txBody>
          <a:bodyPr/>
          <a:lstStyle/>
          <a:p>
            <a:r>
              <a:rPr lang="en-US" dirty="0"/>
              <a:t>O</a:t>
            </a:r>
            <a:r>
              <a:rPr lang="en-US" cap="none" dirty="0"/>
              <a:t>ptions</a:t>
            </a:r>
            <a:r>
              <a:rPr lang="en-US" dirty="0"/>
              <a:t> a</a:t>
            </a:r>
            <a:r>
              <a:rPr lang="en-US" cap="none" dirty="0"/>
              <a:t>vailable</a:t>
            </a:r>
            <a:endParaRPr lang="en-US" dirty="0"/>
          </a:p>
        </p:txBody>
      </p:sp>
      <p:sp>
        <p:nvSpPr>
          <p:cNvPr id="3" name="Content Placeholder 2">
            <a:extLst>
              <a:ext uri="{FF2B5EF4-FFF2-40B4-BE49-F238E27FC236}">
                <a16:creationId xmlns:a16="http://schemas.microsoft.com/office/drawing/2014/main" xmlns="" id="{8087328E-8B4E-4A1A-9F27-F7B72F45A7F8}"/>
              </a:ext>
            </a:extLst>
          </p:cNvPr>
          <p:cNvSpPr>
            <a:spLocks noGrp="1"/>
          </p:cNvSpPr>
          <p:nvPr>
            <p:ph idx="1"/>
          </p:nvPr>
        </p:nvSpPr>
        <p:spPr/>
        <p:txBody>
          <a:bodyPr/>
          <a:lstStyle/>
          <a:p>
            <a:r>
              <a:rPr lang="en-US" dirty="0"/>
              <a:t>Since the attributes ‘cylinders’ or ‘origin’ have a small number of possible values, one may prefer to treat it as a categorical or qualitative attribute and explore in that way. </a:t>
            </a:r>
          </a:p>
        </p:txBody>
      </p:sp>
    </p:spTree>
    <p:extLst>
      <p:ext uri="{BB962C8B-B14F-4D97-AF65-F5344CB8AC3E}">
        <p14:creationId xmlns:p14="http://schemas.microsoft.com/office/powerpoint/2010/main" xmlns="" val="9491951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CD9D72F-C190-4B15-86EF-6F5C638BA55C}"/>
              </a:ext>
            </a:extLst>
          </p:cNvPr>
          <p:cNvSpPr>
            <a:spLocks noGrp="1"/>
          </p:cNvSpPr>
          <p:nvPr>
            <p:ph type="title"/>
          </p:nvPr>
        </p:nvSpPr>
        <p:spPr/>
        <p:txBody>
          <a:bodyPr/>
          <a:lstStyle/>
          <a:p>
            <a:r>
              <a:rPr lang="en-IN" dirty="0"/>
              <a:t>Basic statistical Description of data</a:t>
            </a:r>
          </a:p>
        </p:txBody>
      </p:sp>
      <p:sp>
        <p:nvSpPr>
          <p:cNvPr id="3" name="Content Placeholder 2">
            <a:extLst>
              <a:ext uri="{FF2B5EF4-FFF2-40B4-BE49-F238E27FC236}">
                <a16:creationId xmlns:a16="http://schemas.microsoft.com/office/drawing/2014/main" xmlns="" id="{7B8EB476-633B-4666-A9DF-5388C27785E1}"/>
              </a:ext>
            </a:extLst>
          </p:cNvPr>
          <p:cNvSpPr>
            <a:spLocks noGrp="1"/>
          </p:cNvSpPr>
          <p:nvPr>
            <p:ph idx="1"/>
          </p:nvPr>
        </p:nvSpPr>
        <p:spPr/>
        <p:txBody>
          <a:bodyPr/>
          <a:lstStyle/>
          <a:p>
            <a:r>
              <a:rPr lang="en-IN" dirty="0"/>
              <a:t>Measuring the central tendency</a:t>
            </a:r>
          </a:p>
          <a:p>
            <a:pPr lvl="1"/>
            <a:r>
              <a:rPr lang="en-IN" dirty="0"/>
              <a:t>Mean, Median, Mode</a:t>
            </a:r>
          </a:p>
          <a:p>
            <a:r>
              <a:rPr lang="en-US" dirty="0"/>
              <a:t>Measuring the Dispersion of Data</a:t>
            </a:r>
          </a:p>
          <a:p>
            <a:pPr lvl="1"/>
            <a:r>
              <a:rPr lang="en-US" dirty="0"/>
              <a:t>Range, Quartiles, Variance, Standard Deviation, and Interquartile Range</a:t>
            </a:r>
          </a:p>
          <a:p>
            <a:r>
              <a:rPr lang="en-US" dirty="0"/>
              <a:t>Five-Number Summary, Boxplots, and Outliers</a:t>
            </a:r>
            <a:endParaRPr lang="en-IN" dirty="0"/>
          </a:p>
        </p:txBody>
      </p:sp>
    </p:spTree>
    <p:extLst>
      <p:ext uri="{BB962C8B-B14F-4D97-AF65-F5344CB8AC3E}">
        <p14:creationId xmlns:p14="http://schemas.microsoft.com/office/powerpoint/2010/main" xmlns="" val="3670285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CD9D72F-C190-4B15-86EF-6F5C638BA55C}"/>
              </a:ext>
            </a:extLst>
          </p:cNvPr>
          <p:cNvSpPr>
            <a:spLocks noGrp="1"/>
          </p:cNvSpPr>
          <p:nvPr>
            <p:ph type="title"/>
          </p:nvPr>
        </p:nvSpPr>
        <p:spPr/>
        <p:txBody>
          <a:bodyPr/>
          <a:lstStyle/>
          <a:p>
            <a:r>
              <a:rPr lang="en-IN" dirty="0"/>
              <a:t>Basic statistical Description of data</a:t>
            </a:r>
          </a:p>
        </p:txBody>
      </p:sp>
      <p:sp>
        <p:nvSpPr>
          <p:cNvPr id="3" name="Content Placeholder 2">
            <a:extLst>
              <a:ext uri="{FF2B5EF4-FFF2-40B4-BE49-F238E27FC236}">
                <a16:creationId xmlns:a16="http://schemas.microsoft.com/office/drawing/2014/main" xmlns="" id="{7B8EB476-633B-4666-A9DF-5388C27785E1}"/>
              </a:ext>
            </a:extLst>
          </p:cNvPr>
          <p:cNvSpPr>
            <a:spLocks noGrp="1"/>
          </p:cNvSpPr>
          <p:nvPr>
            <p:ph idx="1"/>
          </p:nvPr>
        </p:nvSpPr>
        <p:spPr/>
        <p:txBody>
          <a:bodyPr/>
          <a:lstStyle/>
          <a:p>
            <a:r>
              <a:rPr lang="en-US" dirty="0"/>
              <a:t>Graphic Displays of Basic Statistical Descriptions of Data</a:t>
            </a:r>
          </a:p>
          <a:p>
            <a:pPr lvl="1"/>
            <a:r>
              <a:rPr lang="en-IN" dirty="0"/>
              <a:t>Quantile </a:t>
            </a:r>
            <a:r>
              <a:rPr lang="en-IN" dirty="0" err="1"/>
              <a:t>Plo</a:t>
            </a:r>
            <a:r>
              <a:rPr lang="en-US" dirty="0"/>
              <a:t>t, </a:t>
            </a:r>
            <a:r>
              <a:rPr lang="en-IN" dirty="0"/>
              <a:t>Quantile–Quantile Plot</a:t>
            </a:r>
            <a:r>
              <a:rPr lang="en-US" dirty="0"/>
              <a:t>,</a:t>
            </a:r>
            <a:r>
              <a:rPr lang="en-IN" dirty="0"/>
              <a:t> Histogram</a:t>
            </a:r>
            <a:r>
              <a:rPr lang="en-US" dirty="0"/>
              <a:t>s, Scatter Plots and Data Correlation</a:t>
            </a:r>
            <a:endParaRPr lang="en-IN" dirty="0"/>
          </a:p>
        </p:txBody>
      </p:sp>
    </p:spTree>
    <p:extLst>
      <p:ext uri="{BB962C8B-B14F-4D97-AF65-F5344CB8AC3E}">
        <p14:creationId xmlns:p14="http://schemas.microsoft.com/office/powerpoint/2010/main" xmlns="" val="24748633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8F90D54-FD8B-4295-BCA1-45D692386938}"/>
              </a:ext>
            </a:extLst>
          </p:cNvPr>
          <p:cNvSpPr>
            <a:spLocks noGrp="1"/>
          </p:cNvSpPr>
          <p:nvPr>
            <p:ph type="title"/>
          </p:nvPr>
        </p:nvSpPr>
        <p:spPr/>
        <p:txBody>
          <a:bodyPr/>
          <a:lstStyle/>
          <a:p>
            <a:r>
              <a:rPr lang="en-US" i="1" dirty="0"/>
              <a:t>Understanding central tendency</a:t>
            </a:r>
            <a:endParaRPr lang="en-US" dirty="0"/>
          </a:p>
        </p:txBody>
      </p:sp>
      <p:sp>
        <p:nvSpPr>
          <p:cNvPr id="3" name="Content Placeholder 2">
            <a:extLst>
              <a:ext uri="{FF2B5EF4-FFF2-40B4-BE49-F238E27FC236}">
                <a16:creationId xmlns:a16="http://schemas.microsoft.com/office/drawing/2014/main" xmlns="" id="{BC566ADC-48AA-448B-BB4E-880D82783DF2}"/>
              </a:ext>
            </a:extLst>
          </p:cNvPr>
          <p:cNvSpPr>
            <a:spLocks noGrp="1"/>
          </p:cNvSpPr>
          <p:nvPr>
            <p:ph idx="1"/>
          </p:nvPr>
        </p:nvSpPr>
        <p:spPr/>
        <p:txBody>
          <a:bodyPr>
            <a:normAutofit/>
          </a:bodyPr>
          <a:lstStyle/>
          <a:p>
            <a:r>
              <a:rPr lang="en-US" dirty="0"/>
              <a:t>To understand the nature of numeric variables, we can apply the measures of central tendency of data, i.e.</a:t>
            </a:r>
          </a:p>
          <a:p>
            <a:pPr lvl="1"/>
            <a:r>
              <a:rPr lang="en-US" dirty="0"/>
              <a:t>mean and median.</a:t>
            </a:r>
          </a:p>
          <a:p>
            <a:r>
              <a:rPr lang="en-US" dirty="0"/>
              <a:t> In statistics, measures of central tendency help us understand the central point of a set of data. </a:t>
            </a:r>
          </a:p>
          <a:p>
            <a:r>
              <a:rPr lang="en-US" dirty="0"/>
              <a:t>Mean, by definition, is a sum of all data values divided by the count of data elements. </a:t>
            </a:r>
          </a:p>
        </p:txBody>
      </p:sp>
    </p:spTree>
    <p:extLst>
      <p:ext uri="{BB962C8B-B14F-4D97-AF65-F5344CB8AC3E}">
        <p14:creationId xmlns:p14="http://schemas.microsoft.com/office/powerpoint/2010/main" xmlns="" val="41958178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4C3FAD7-7353-45B2-B52C-01F5150799C8}"/>
              </a:ext>
            </a:extLst>
          </p:cNvPr>
          <p:cNvSpPr>
            <a:spLocks noGrp="1"/>
          </p:cNvSpPr>
          <p:nvPr>
            <p:ph type="title"/>
          </p:nvPr>
        </p:nvSpPr>
        <p:spPr/>
        <p:txBody>
          <a:bodyPr/>
          <a:lstStyle/>
          <a:p>
            <a:r>
              <a:rPr lang="en-US" i="1" dirty="0"/>
              <a:t>Understanding central tendency</a:t>
            </a:r>
            <a:endParaRPr lang="en-US" dirty="0"/>
          </a:p>
        </p:txBody>
      </p:sp>
      <p:sp>
        <p:nvSpPr>
          <p:cNvPr id="3" name="Content Placeholder 2">
            <a:extLst>
              <a:ext uri="{FF2B5EF4-FFF2-40B4-BE49-F238E27FC236}">
                <a16:creationId xmlns:a16="http://schemas.microsoft.com/office/drawing/2014/main" xmlns="" id="{1FD11F32-ED5C-45EE-9A79-7C7D25DEA353}"/>
              </a:ext>
            </a:extLst>
          </p:cNvPr>
          <p:cNvSpPr>
            <a:spLocks noGrp="1"/>
          </p:cNvSpPr>
          <p:nvPr>
            <p:ph idx="1"/>
          </p:nvPr>
        </p:nvSpPr>
        <p:spPr/>
        <p:txBody>
          <a:bodyPr/>
          <a:lstStyle/>
          <a:p>
            <a:r>
              <a:rPr lang="en-US" dirty="0"/>
              <a:t>Median, on contrary, is the value of the element appearing in the middle of an ordered list of data elements. </a:t>
            </a:r>
          </a:p>
          <a:p>
            <a:r>
              <a:rPr lang="en-US" dirty="0"/>
              <a:t>If we consider the 5 data elements, the ordered list would be – 21, 34, 67, 89, and 96. </a:t>
            </a:r>
          </a:p>
          <a:p>
            <a:r>
              <a:rPr lang="en-US" dirty="0"/>
              <a:t>Since there are 5 data elements, the 3rd element in the ordered list is considered as the median. </a:t>
            </a:r>
          </a:p>
          <a:p>
            <a:pPr lvl="1"/>
            <a:r>
              <a:rPr lang="en-US" dirty="0"/>
              <a:t>Hence, the median value of this set of data is 67.</a:t>
            </a:r>
          </a:p>
        </p:txBody>
      </p:sp>
    </p:spTree>
    <p:extLst>
      <p:ext uri="{BB962C8B-B14F-4D97-AF65-F5344CB8AC3E}">
        <p14:creationId xmlns:p14="http://schemas.microsoft.com/office/powerpoint/2010/main" xmlns="" val="29657391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792410E-93BE-4E86-8053-A553705CCA4A}"/>
              </a:ext>
            </a:extLst>
          </p:cNvPr>
          <p:cNvSpPr>
            <a:spLocks noGrp="1"/>
          </p:cNvSpPr>
          <p:nvPr>
            <p:ph type="title"/>
          </p:nvPr>
        </p:nvSpPr>
        <p:spPr/>
        <p:txBody>
          <a:bodyPr/>
          <a:lstStyle/>
          <a:p>
            <a:r>
              <a:rPr lang="en-US" i="1" dirty="0"/>
              <a:t>Understanding central tendency</a:t>
            </a:r>
            <a:endParaRPr lang="en-US" dirty="0"/>
          </a:p>
        </p:txBody>
      </p:sp>
      <p:sp>
        <p:nvSpPr>
          <p:cNvPr id="3" name="Content Placeholder 2">
            <a:extLst>
              <a:ext uri="{FF2B5EF4-FFF2-40B4-BE49-F238E27FC236}">
                <a16:creationId xmlns:a16="http://schemas.microsoft.com/office/drawing/2014/main" xmlns="" id="{CE4AD938-20F8-4A2C-890D-3B88D49B4467}"/>
              </a:ext>
            </a:extLst>
          </p:cNvPr>
          <p:cNvSpPr>
            <a:spLocks noGrp="1"/>
          </p:cNvSpPr>
          <p:nvPr>
            <p:ph idx="1"/>
          </p:nvPr>
        </p:nvSpPr>
        <p:spPr/>
        <p:txBody>
          <a:bodyPr/>
          <a:lstStyle/>
          <a:p>
            <a:r>
              <a:rPr lang="en-US" dirty="0"/>
              <a:t>why two measures of central tendency</a:t>
            </a:r>
          </a:p>
          <a:p>
            <a:pPr lvl="1"/>
            <a:r>
              <a:rPr lang="en-US" dirty="0"/>
              <a:t>Mean is likely to get shifted drastically even due to the presence of a small number of outliers. </a:t>
            </a:r>
          </a:p>
          <a:p>
            <a:pPr lvl="1"/>
            <a:r>
              <a:rPr lang="en-US" dirty="0"/>
              <a:t>If we observe that for certain attributes the deviation between values of mean and median are quite high, we should investigate those attributes </a:t>
            </a:r>
            <a:endParaRPr lang="en-US" b="1" dirty="0"/>
          </a:p>
        </p:txBody>
      </p:sp>
    </p:spTree>
    <p:extLst>
      <p:ext uri="{BB962C8B-B14F-4D97-AF65-F5344CB8AC3E}">
        <p14:creationId xmlns:p14="http://schemas.microsoft.com/office/powerpoint/2010/main" xmlns="" val="24592517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DC7765C-EC3B-4F8D-8AAE-1DB159B5FBAB}"/>
              </a:ext>
            </a:extLst>
          </p:cNvPr>
          <p:cNvSpPr>
            <a:spLocks noGrp="1"/>
          </p:cNvSpPr>
          <p:nvPr>
            <p:ph type="title"/>
          </p:nvPr>
        </p:nvSpPr>
        <p:spPr/>
        <p:txBody>
          <a:bodyPr/>
          <a:lstStyle/>
          <a:p>
            <a:r>
              <a:rPr lang="en-US" i="1" dirty="0"/>
              <a:t>Understanding data spread</a:t>
            </a:r>
            <a:endParaRPr lang="en-US" dirty="0"/>
          </a:p>
        </p:txBody>
      </p:sp>
      <p:sp>
        <p:nvSpPr>
          <p:cNvPr id="3" name="Content Placeholder 2">
            <a:extLst>
              <a:ext uri="{FF2B5EF4-FFF2-40B4-BE49-F238E27FC236}">
                <a16:creationId xmlns:a16="http://schemas.microsoft.com/office/drawing/2014/main" xmlns="" id="{1219AFB2-FDAE-4803-B2AF-CD23077BEE40}"/>
              </a:ext>
            </a:extLst>
          </p:cNvPr>
          <p:cNvSpPr>
            <a:spLocks noGrp="1"/>
          </p:cNvSpPr>
          <p:nvPr>
            <p:ph idx="1"/>
          </p:nvPr>
        </p:nvSpPr>
        <p:spPr/>
        <p:txBody>
          <a:bodyPr>
            <a:normAutofit lnSpcReduction="10000"/>
          </a:bodyPr>
          <a:lstStyle/>
          <a:p>
            <a:r>
              <a:rPr lang="en-US" dirty="0"/>
              <a:t>If a large deviation between mean and median</a:t>
            </a:r>
          </a:p>
          <a:p>
            <a:pPr lvl="1"/>
            <a:r>
              <a:rPr lang="en-US" dirty="0"/>
              <a:t>To drill down more, we need to look at the entire range of values of the attributes,</a:t>
            </a:r>
          </a:p>
          <a:p>
            <a:pPr lvl="1"/>
            <a:r>
              <a:rPr lang="en-US" dirty="0"/>
              <a:t>may be too vast to review manually. So we will take a granular view of the data spread in the form of</a:t>
            </a:r>
          </a:p>
          <a:p>
            <a:pPr lvl="2"/>
            <a:r>
              <a:rPr lang="en-US" dirty="0"/>
              <a:t>Dispersion of data</a:t>
            </a:r>
          </a:p>
          <a:p>
            <a:pPr lvl="2"/>
            <a:r>
              <a:rPr lang="en-US" dirty="0"/>
              <a:t>Position of the different data values</a:t>
            </a:r>
          </a:p>
          <a:p>
            <a:r>
              <a:rPr lang="en-US" dirty="0"/>
              <a:t>Dispersion of data</a:t>
            </a:r>
          </a:p>
          <a:p>
            <a:pPr lvl="1"/>
            <a:r>
              <a:rPr lang="en-US" dirty="0"/>
              <a:t>attribute values are quite concentrated around the mean</a:t>
            </a:r>
          </a:p>
          <a:p>
            <a:pPr lvl="1"/>
            <a:r>
              <a:rPr lang="en-US" dirty="0"/>
              <a:t>attribute values are extremely spread out</a:t>
            </a:r>
          </a:p>
          <a:p>
            <a:pPr lvl="1"/>
            <a:endParaRPr lang="en-US" dirty="0"/>
          </a:p>
        </p:txBody>
      </p:sp>
    </p:spTree>
    <p:extLst>
      <p:ext uri="{BB962C8B-B14F-4D97-AF65-F5344CB8AC3E}">
        <p14:creationId xmlns:p14="http://schemas.microsoft.com/office/powerpoint/2010/main" xmlns="" val="6470835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38C0B5E-833D-46FB-B36A-AE399CF6B11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0E3AB3A6-A965-4A63-A798-61C5C1313995}"/>
              </a:ext>
            </a:extLst>
          </p:cNvPr>
          <p:cNvSpPr>
            <a:spLocks noGrp="1"/>
          </p:cNvSpPr>
          <p:nvPr>
            <p:ph idx="1"/>
          </p:nvPr>
        </p:nvSpPr>
        <p:spPr/>
        <p:txBody>
          <a:bodyPr/>
          <a:lstStyle/>
          <a:p>
            <a:r>
              <a:rPr lang="en-US" dirty="0"/>
              <a:t>To measure the extent of dispersion of a data</a:t>
            </a:r>
          </a:p>
          <a:p>
            <a:pPr lvl="1"/>
            <a:r>
              <a:rPr lang="en-US" dirty="0"/>
              <a:t>the variance of the data is measured.</a:t>
            </a:r>
          </a:p>
          <a:p>
            <a:r>
              <a:rPr lang="en-US" dirty="0"/>
              <a:t>Larger value of variance or standard deviation indicates more dispersion in the data and vice versa.</a:t>
            </a:r>
          </a:p>
        </p:txBody>
      </p:sp>
    </p:spTree>
    <p:extLst>
      <p:ext uri="{BB962C8B-B14F-4D97-AF65-F5344CB8AC3E}">
        <p14:creationId xmlns:p14="http://schemas.microsoft.com/office/powerpoint/2010/main" xmlns="" val="22390727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EE1B4E8-34E5-45A5-85E0-FC3180317E2A}"/>
              </a:ext>
            </a:extLst>
          </p:cNvPr>
          <p:cNvSpPr>
            <a:spLocks noGrp="1"/>
          </p:cNvSpPr>
          <p:nvPr>
            <p:ph type="title"/>
          </p:nvPr>
        </p:nvSpPr>
        <p:spPr/>
        <p:txBody>
          <a:bodyPr/>
          <a:lstStyle/>
          <a:p>
            <a:r>
              <a:rPr lang="en-US" dirty="0"/>
              <a:t>Measuring data value position</a:t>
            </a:r>
          </a:p>
        </p:txBody>
      </p:sp>
      <p:sp>
        <p:nvSpPr>
          <p:cNvPr id="3" name="Content Placeholder 2">
            <a:extLst>
              <a:ext uri="{FF2B5EF4-FFF2-40B4-BE49-F238E27FC236}">
                <a16:creationId xmlns:a16="http://schemas.microsoft.com/office/drawing/2014/main" xmlns="" id="{B9D9DE85-7733-4EDA-BE68-D3649365B7F7}"/>
              </a:ext>
            </a:extLst>
          </p:cNvPr>
          <p:cNvSpPr>
            <a:spLocks noGrp="1"/>
          </p:cNvSpPr>
          <p:nvPr>
            <p:ph idx="1"/>
          </p:nvPr>
        </p:nvSpPr>
        <p:spPr/>
        <p:txBody>
          <a:bodyPr>
            <a:normAutofit/>
          </a:bodyPr>
          <a:lstStyle/>
          <a:p>
            <a:r>
              <a:rPr lang="en-US" dirty="0"/>
              <a:t>When the data values of an attribute are arranged in an increasing order, </a:t>
            </a:r>
          </a:p>
          <a:p>
            <a:pPr lvl="1"/>
            <a:r>
              <a:rPr lang="en-US" dirty="0"/>
              <a:t>median gives the central data value, which divides the entire data set into two halves. </a:t>
            </a:r>
          </a:p>
          <a:p>
            <a:pPr lvl="1"/>
            <a:r>
              <a:rPr lang="en-US" dirty="0"/>
              <a:t>Similarly, if the first half of the data is divided into two halves so that each half consists of one-quarter of the data set, then that median of the first half is known as first quartile or Q</a:t>
            </a:r>
            <a:r>
              <a:rPr lang="en-US" baseline="-25000" dirty="0"/>
              <a:t>1</a:t>
            </a:r>
            <a:r>
              <a:rPr lang="en-US" dirty="0"/>
              <a:t>. </a:t>
            </a:r>
          </a:p>
          <a:p>
            <a:pPr lvl="1"/>
            <a:r>
              <a:rPr lang="en-US" dirty="0"/>
              <a:t>In the same way, if the second half of the data is divided into two halves, then that median of the second half is known as third quartile or Q</a:t>
            </a:r>
            <a:r>
              <a:rPr lang="en-US" baseline="-25000" dirty="0"/>
              <a:t>3</a:t>
            </a:r>
            <a:r>
              <a:rPr lang="en-US" dirty="0"/>
              <a:t>. </a:t>
            </a:r>
          </a:p>
          <a:p>
            <a:pPr lvl="1"/>
            <a:r>
              <a:rPr lang="en-US" dirty="0"/>
              <a:t>The overall median is also known as second quartile or Q</a:t>
            </a:r>
            <a:r>
              <a:rPr lang="en-US" baseline="-25000" dirty="0"/>
              <a:t>2</a:t>
            </a:r>
            <a:r>
              <a:rPr lang="en-US" dirty="0"/>
              <a:t>. </a:t>
            </a:r>
          </a:p>
          <a:p>
            <a:pPr lvl="1"/>
            <a:r>
              <a:rPr lang="en-US" dirty="0"/>
              <a:t>So, any data set has five values - minimum, first quartile (Q1), median (Q2), third quartile (Q3), and maximum.</a:t>
            </a:r>
          </a:p>
        </p:txBody>
      </p:sp>
    </p:spTree>
    <p:extLst>
      <p:ext uri="{BB962C8B-B14F-4D97-AF65-F5344CB8AC3E}">
        <p14:creationId xmlns:p14="http://schemas.microsoft.com/office/powerpoint/2010/main" xmlns="" val="19080351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C6A040-10EA-404D-BB7B-BFB0CB99487E}"/>
              </a:ext>
            </a:extLst>
          </p:cNvPr>
          <p:cNvSpPr>
            <a:spLocks noGrp="1"/>
          </p:cNvSpPr>
          <p:nvPr>
            <p:ph type="title"/>
          </p:nvPr>
        </p:nvSpPr>
        <p:spPr/>
        <p:txBody>
          <a:bodyPr/>
          <a:lstStyle/>
          <a:p>
            <a:r>
              <a:rPr lang="en-US" dirty="0"/>
              <a:t>Attribute value drill-down for Auto MPG</a:t>
            </a:r>
          </a:p>
        </p:txBody>
      </p:sp>
      <p:pic>
        <p:nvPicPr>
          <p:cNvPr id="4098" name="Picture 2" descr="https://learning.oreilly.com/library/view/machine-learning/9789389588132/images/41-1.png">
            <a:extLst>
              <a:ext uri="{FF2B5EF4-FFF2-40B4-BE49-F238E27FC236}">
                <a16:creationId xmlns:a16="http://schemas.microsoft.com/office/drawing/2014/main" xmlns="" id="{F7E2C13B-C336-47A3-A305-4B90015C24CB}"/>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2286000" y="2427891"/>
            <a:ext cx="7819697" cy="3137338"/>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7733988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EA9CDC2-49F1-4E73-9C3C-E094338C17FF}"/>
              </a:ext>
            </a:extLst>
          </p:cNvPr>
          <p:cNvSpPr>
            <a:spLocks noGrp="1"/>
          </p:cNvSpPr>
          <p:nvPr>
            <p:ph type="title"/>
          </p:nvPr>
        </p:nvSpPr>
        <p:spPr/>
        <p:txBody>
          <a:bodyPr/>
          <a:lstStyle/>
          <a:p>
            <a:r>
              <a:rPr lang="en-US" dirty="0"/>
              <a:t>Measuring data value position</a:t>
            </a:r>
          </a:p>
        </p:txBody>
      </p:sp>
      <p:sp>
        <p:nvSpPr>
          <p:cNvPr id="3" name="Content Placeholder 2">
            <a:extLst>
              <a:ext uri="{FF2B5EF4-FFF2-40B4-BE49-F238E27FC236}">
                <a16:creationId xmlns:a16="http://schemas.microsoft.com/office/drawing/2014/main" xmlns="" id="{8C486CF3-1684-4977-B8C5-2DCF0EC291FC}"/>
              </a:ext>
            </a:extLst>
          </p:cNvPr>
          <p:cNvSpPr>
            <a:spLocks noGrp="1"/>
          </p:cNvSpPr>
          <p:nvPr>
            <p:ph idx="1"/>
          </p:nvPr>
        </p:nvSpPr>
        <p:spPr>
          <a:xfrm>
            <a:off x="899785" y="1703693"/>
            <a:ext cx="9603275" cy="3450613"/>
          </a:xfrm>
        </p:spPr>
        <p:txBody>
          <a:bodyPr/>
          <a:lstStyle/>
          <a:p>
            <a:r>
              <a:rPr lang="en-US" dirty="0"/>
              <a:t>For the attribute ‘displacement’, we can see that </a:t>
            </a:r>
          </a:p>
          <a:p>
            <a:pPr lvl="1"/>
            <a:r>
              <a:rPr lang="en-US" dirty="0"/>
              <a:t>the difference between minimum value and Q1 is 36.2 and </a:t>
            </a:r>
          </a:p>
          <a:p>
            <a:pPr lvl="1"/>
            <a:r>
              <a:rPr lang="en-US" dirty="0"/>
              <a:t>the difference between Q1 and median is 44.3. </a:t>
            </a:r>
          </a:p>
          <a:p>
            <a:pPr lvl="1"/>
            <a:r>
              <a:rPr lang="en-US" dirty="0"/>
              <a:t>the difference between median and Q3 is 113.5 and </a:t>
            </a:r>
          </a:p>
          <a:p>
            <a:pPr lvl="1"/>
            <a:r>
              <a:rPr lang="en-US" dirty="0"/>
              <a:t>the difference between Q3 and the maximum value is 193. </a:t>
            </a:r>
          </a:p>
          <a:p>
            <a:r>
              <a:rPr lang="en-US" dirty="0"/>
              <a:t>In other words, the larger values are more spread out than the smaller ones. </a:t>
            </a:r>
          </a:p>
          <a:p>
            <a:r>
              <a:rPr lang="en-US" dirty="0"/>
              <a:t>This helps in understanding why the value of mean is much higher than that of the median for the attribute ‘displacement’. </a:t>
            </a:r>
          </a:p>
        </p:txBody>
      </p:sp>
    </p:spTree>
    <p:extLst>
      <p:ext uri="{BB962C8B-B14F-4D97-AF65-F5344CB8AC3E}">
        <p14:creationId xmlns:p14="http://schemas.microsoft.com/office/powerpoint/2010/main" xmlns="" val="42672224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A16554E-AFC1-4ECE-8760-50075D3AAAA7}"/>
              </a:ext>
            </a:extLst>
          </p:cNvPr>
          <p:cNvSpPr>
            <a:spLocks noGrp="1"/>
          </p:cNvSpPr>
          <p:nvPr>
            <p:ph type="title"/>
          </p:nvPr>
        </p:nvSpPr>
        <p:spPr/>
        <p:txBody>
          <a:bodyPr/>
          <a:lstStyle/>
          <a:p>
            <a:r>
              <a:rPr lang="en-US" dirty="0"/>
              <a:t>Measuring data value position</a:t>
            </a:r>
          </a:p>
        </p:txBody>
      </p:sp>
      <p:sp>
        <p:nvSpPr>
          <p:cNvPr id="3" name="Content Placeholder 2">
            <a:extLst>
              <a:ext uri="{FF2B5EF4-FFF2-40B4-BE49-F238E27FC236}">
                <a16:creationId xmlns:a16="http://schemas.microsoft.com/office/drawing/2014/main" xmlns="" id="{83BC9468-0393-4736-BAF3-FB6DD8DF2912}"/>
              </a:ext>
            </a:extLst>
          </p:cNvPr>
          <p:cNvSpPr>
            <a:spLocks noGrp="1"/>
          </p:cNvSpPr>
          <p:nvPr>
            <p:ph idx="1"/>
          </p:nvPr>
        </p:nvSpPr>
        <p:spPr/>
        <p:txBody>
          <a:bodyPr/>
          <a:lstStyle/>
          <a:p>
            <a:r>
              <a:rPr lang="en-US" dirty="0"/>
              <a:t>Quantiles refer to specific points in a data set which divide the data set into equal parts or equally sized quantities. </a:t>
            </a:r>
          </a:p>
          <a:p>
            <a:r>
              <a:rPr lang="en-US" dirty="0"/>
              <a:t>There are specific variants of quantile, the one dividing data set into four parts being termed as quartile. </a:t>
            </a:r>
          </a:p>
          <a:p>
            <a:r>
              <a:rPr lang="en-US" dirty="0"/>
              <a:t>Another such popular variant is percentile, which divides the data set into 100 parts.</a:t>
            </a:r>
          </a:p>
        </p:txBody>
      </p:sp>
    </p:spTree>
    <p:extLst>
      <p:ext uri="{BB962C8B-B14F-4D97-AF65-F5344CB8AC3E}">
        <p14:creationId xmlns:p14="http://schemas.microsoft.com/office/powerpoint/2010/main" xmlns="" val="33077032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44CF077-9B80-41A5-BBB8-94BEBE166EE6}"/>
              </a:ext>
            </a:extLst>
          </p:cNvPr>
          <p:cNvSpPr>
            <a:spLocks noGrp="1"/>
          </p:cNvSpPr>
          <p:nvPr>
            <p:ph type="title"/>
          </p:nvPr>
        </p:nvSpPr>
        <p:spPr/>
        <p:txBody>
          <a:bodyPr/>
          <a:lstStyle/>
          <a:p>
            <a:r>
              <a:rPr lang="en-US" dirty="0"/>
              <a:t>Exploring numerical data</a:t>
            </a:r>
          </a:p>
        </p:txBody>
      </p:sp>
      <p:sp>
        <p:nvSpPr>
          <p:cNvPr id="3" name="Content Placeholder 2">
            <a:extLst>
              <a:ext uri="{FF2B5EF4-FFF2-40B4-BE49-F238E27FC236}">
                <a16:creationId xmlns:a16="http://schemas.microsoft.com/office/drawing/2014/main" xmlns="" id="{882D819B-9435-4F14-965A-6CCE0B9D9226}"/>
              </a:ext>
            </a:extLst>
          </p:cNvPr>
          <p:cNvSpPr>
            <a:spLocks noGrp="1"/>
          </p:cNvSpPr>
          <p:nvPr>
            <p:ph idx="1"/>
          </p:nvPr>
        </p:nvSpPr>
        <p:spPr/>
        <p:txBody>
          <a:bodyPr>
            <a:normAutofit/>
          </a:bodyPr>
          <a:lstStyle/>
          <a:p>
            <a:r>
              <a:rPr lang="en-US" sz="2400" dirty="0"/>
              <a:t>However, we still cannot ascertain whether there is any outlier present in the data. </a:t>
            </a:r>
          </a:p>
          <a:p>
            <a:r>
              <a:rPr lang="en-US" sz="2400" dirty="0"/>
              <a:t>There are two most effective mathematical plots to explore (visualize) numerical data</a:t>
            </a:r>
          </a:p>
          <a:p>
            <a:pPr lvl="1"/>
            <a:r>
              <a:rPr lang="en-US" sz="2000" dirty="0"/>
              <a:t>box plot and histogram.</a:t>
            </a:r>
          </a:p>
        </p:txBody>
      </p:sp>
    </p:spTree>
    <p:extLst>
      <p:ext uri="{BB962C8B-B14F-4D97-AF65-F5344CB8AC3E}">
        <p14:creationId xmlns:p14="http://schemas.microsoft.com/office/powerpoint/2010/main" xmlns="" val="11714625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8B0534E-73D7-472F-9B3E-A2C490DF6B0A}"/>
              </a:ext>
            </a:extLst>
          </p:cNvPr>
          <p:cNvSpPr>
            <a:spLocks noGrp="1"/>
          </p:cNvSpPr>
          <p:nvPr>
            <p:ph type="title"/>
          </p:nvPr>
        </p:nvSpPr>
        <p:spPr/>
        <p:txBody>
          <a:bodyPr>
            <a:normAutofit/>
          </a:bodyPr>
          <a:lstStyle/>
          <a:p>
            <a:r>
              <a:rPr lang="en-US" b="1" dirty="0"/>
              <a:t>Types of data that can be mined</a:t>
            </a:r>
            <a:endParaRPr lang="en-IN" b="1" dirty="0"/>
          </a:p>
        </p:txBody>
      </p:sp>
      <p:sp>
        <p:nvSpPr>
          <p:cNvPr id="3" name="Content Placeholder 2">
            <a:extLst>
              <a:ext uri="{FF2B5EF4-FFF2-40B4-BE49-F238E27FC236}">
                <a16:creationId xmlns:a16="http://schemas.microsoft.com/office/drawing/2014/main" xmlns="" id="{1C80F0D5-E60B-4BD6-8E40-48F8C13C4364}"/>
              </a:ext>
            </a:extLst>
          </p:cNvPr>
          <p:cNvSpPr>
            <a:spLocks noGrp="1"/>
          </p:cNvSpPr>
          <p:nvPr>
            <p:ph idx="1"/>
          </p:nvPr>
        </p:nvSpPr>
        <p:spPr/>
        <p:txBody>
          <a:bodyPr>
            <a:normAutofit lnSpcReduction="10000"/>
          </a:bodyPr>
          <a:lstStyle/>
          <a:p>
            <a:pPr algn="l">
              <a:buFont typeface="Arial" panose="020B0604020202020204" pitchFamily="34" charset="0"/>
              <a:buChar char="•"/>
            </a:pPr>
            <a:r>
              <a:rPr lang="en-IN" b="0" i="0" dirty="0">
                <a:effectLst/>
              </a:rPr>
              <a:t>Flat Files</a:t>
            </a:r>
          </a:p>
          <a:p>
            <a:pPr algn="l">
              <a:buFont typeface="Arial" panose="020B0604020202020204" pitchFamily="34" charset="0"/>
              <a:buChar char="•"/>
            </a:pPr>
            <a:r>
              <a:rPr lang="en-IN" b="0" i="0" dirty="0">
                <a:effectLst/>
              </a:rPr>
              <a:t>Relational Databases</a:t>
            </a:r>
          </a:p>
          <a:p>
            <a:pPr algn="l">
              <a:buFont typeface="Arial" panose="020B0604020202020204" pitchFamily="34" charset="0"/>
              <a:buChar char="•"/>
            </a:pPr>
            <a:r>
              <a:rPr lang="en-IN" b="0" i="0" dirty="0">
                <a:effectLst/>
              </a:rPr>
              <a:t>Data Warehouse</a:t>
            </a:r>
          </a:p>
          <a:p>
            <a:pPr algn="l">
              <a:buFont typeface="Arial" panose="020B0604020202020204" pitchFamily="34" charset="0"/>
              <a:buChar char="•"/>
            </a:pPr>
            <a:r>
              <a:rPr lang="en-IN" b="0" i="0" dirty="0">
                <a:effectLst/>
              </a:rPr>
              <a:t>Transactional Databases</a:t>
            </a:r>
          </a:p>
          <a:p>
            <a:pPr algn="l">
              <a:buFont typeface="Arial" panose="020B0604020202020204" pitchFamily="34" charset="0"/>
              <a:buChar char="•"/>
            </a:pPr>
            <a:r>
              <a:rPr lang="en-IN" b="0" i="0" dirty="0">
                <a:effectLst/>
              </a:rPr>
              <a:t>Multimedia Databases</a:t>
            </a:r>
          </a:p>
          <a:p>
            <a:pPr algn="l">
              <a:buFont typeface="Arial" panose="020B0604020202020204" pitchFamily="34" charset="0"/>
              <a:buChar char="•"/>
            </a:pPr>
            <a:r>
              <a:rPr lang="en-IN" b="0" i="0" dirty="0">
                <a:effectLst/>
              </a:rPr>
              <a:t>Spatial Databases</a:t>
            </a:r>
          </a:p>
          <a:p>
            <a:pPr lvl="1"/>
            <a:r>
              <a:rPr lang="en-US" b="0" i="0" dirty="0">
                <a:effectLst/>
                <a:latin typeface="Source Sans Pro" panose="020B0503030403020204" pitchFamily="34" charset="0"/>
              </a:rPr>
              <a:t>used to describe any data related to or containing information about a specific location on the Earth’s surface.</a:t>
            </a:r>
            <a:endParaRPr lang="en-IN" b="0" i="0" dirty="0">
              <a:effectLst/>
            </a:endParaRPr>
          </a:p>
          <a:p>
            <a:pPr marL="0" indent="0">
              <a:buNone/>
            </a:pPr>
            <a:endParaRPr lang="en-IN" dirty="0"/>
          </a:p>
        </p:txBody>
      </p:sp>
    </p:spTree>
    <p:extLst>
      <p:ext uri="{BB962C8B-B14F-4D97-AF65-F5344CB8AC3E}">
        <p14:creationId xmlns:p14="http://schemas.microsoft.com/office/powerpoint/2010/main" xmlns="" val="29597822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EFAA2EF-CB27-41D9-8436-7713A9FDA65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6090F38E-0481-4564-8E51-D09E45FB0E7E}"/>
              </a:ext>
            </a:extLst>
          </p:cNvPr>
          <p:cNvSpPr>
            <a:spLocks noGrp="1"/>
          </p:cNvSpPr>
          <p:nvPr>
            <p:ph idx="1"/>
          </p:nvPr>
        </p:nvSpPr>
        <p:spPr/>
        <p:txBody>
          <a:bodyPr>
            <a:normAutofit/>
          </a:bodyPr>
          <a:lstStyle/>
          <a:p>
            <a:pPr algn="l">
              <a:buFont typeface="Arial" panose="020B0604020202020204" pitchFamily="34" charset="0"/>
              <a:buChar char="•"/>
            </a:pPr>
            <a:r>
              <a:rPr lang="en-IN" b="0" i="0" dirty="0">
                <a:effectLst/>
              </a:rPr>
              <a:t>Time Series Databases 	 </a:t>
            </a:r>
          </a:p>
          <a:p>
            <a:pPr lvl="1"/>
            <a:r>
              <a:rPr lang="en-US" b="0" i="0" dirty="0">
                <a:effectLst/>
                <a:latin typeface="Merriweather"/>
              </a:rPr>
              <a:t>a sequence of data points collected over an interval of time.</a:t>
            </a:r>
          </a:p>
          <a:p>
            <a:pPr lvl="1"/>
            <a:r>
              <a:rPr lang="en-US" b="0" i="0" dirty="0">
                <a:effectLst/>
                <a:latin typeface="Merriweather"/>
              </a:rPr>
              <a:t>Weather data, Rainfall measurements, Temperature readings, Heart rate monitoring (EKG), Brain monitoring (EEG), Quarterly sales, Stock prices</a:t>
            </a:r>
          </a:p>
          <a:p>
            <a:pPr algn="l">
              <a:buFont typeface="Arial" panose="020B0604020202020204" pitchFamily="34" charset="0"/>
              <a:buChar char="•"/>
            </a:pPr>
            <a:r>
              <a:rPr lang="en-IN" b="0" i="0" dirty="0">
                <a:effectLst/>
              </a:rPr>
              <a:t>World Wide Web(WWW)</a:t>
            </a:r>
          </a:p>
          <a:p>
            <a:endParaRPr lang="en-IN" dirty="0"/>
          </a:p>
        </p:txBody>
      </p:sp>
    </p:spTree>
    <p:extLst>
      <p:ext uri="{BB962C8B-B14F-4D97-AF65-F5344CB8AC3E}">
        <p14:creationId xmlns:p14="http://schemas.microsoft.com/office/powerpoint/2010/main" xmlns="" val="2266413900"/>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xmlns=""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1501</TotalTime>
  <Words>2181</Words>
  <Application>Microsoft Office PowerPoint</Application>
  <PresentationFormat>Custom</PresentationFormat>
  <Paragraphs>216</Paragraphs>
  <Slides>42</Slides>
  <Notes>0</Notes>
  <HiddenSlides>0</HiddenSlides>
  <MMClips>0</MMClips>
  <ScaleCrop>false</ScaleCrop>
  <HeadingPairs>
    <vt:vector size="4" baseType="variant">
      <vt:variant>
        <vt:lpstr>Theme</vt:lpstr>
      </vt:variant>
      <vt:variant>
        <vt:i4>1</vt:i4>
      </vt:variant>
      <vt:variant>
        <vt:lpstr>Slide Titles</vt:lpstr>
      </vt:variant>
      <vt:variant>
        <vt:i4>42</vt:i4>
      </vt:variant>
    </vt:vector>
  </HeadingPairs>
  <TitlesOfParts>
    <vt:vector size="43" baseType="lpstr">
      <vt:lpstr>Gallery</vt:lpstr>
      <vt:lpstr>Understanding Datasets</vt:lpstr>
      <vt:lpstr>Need of understanding dataset</vt:lpstr>
      <vt:lpstr>Need of understanding dataset</vt:lpstr>
      <vt:lpstr>Need of understanding dataset</vt:lpstr>
      <vt:lpstr>Need of understanding dataset</vt:lpstr>
      <vt:lpstr>Detailed process of machine learning</vt:lpstr>
      <vt:lpstr>BASIC TYPES OF DATA IN MACHINE LEARNING</vt:lpstr>
      <vt:lpstr>Examples of data set having four dimensional data space</vt:lpstr>
      <vt:lpstr>Data Types</vt:lpstr>
      <vt:lpstr>Qualitative data</vt:lpstr>
      <vt:lpstr>Nominal data</vt:lpstr>
      <vt:lpstr>Nominal data</vt:lpstr>
      <vt:lpstr>Binary Data</vt:lpstr>
      <vt:lpstr>Ordinal data</vt:lpstr>
      <vt:lpstr>Ordinal data</vt:lpstr>
      <vt:lpstr>Quantitative data </vt:lpstr>
      <vt:lpstr>Interval-Scaled data</vt:lpstr>
      <vt:lpstr>Interval-Scaled data</vt:lpstr>
      <vt:lpstr>Interval-Scaled data</vt:lpstr>
      <vt:lpstr>Ratio-SCALED data</vt:lpstr>
      <vt:lpstr>Another way to categorize data</vt:lpstr>
      <vt:lpstr>Discrete  Attribute</vt:lpstr>
      <vt:lpstr>Continuous attribute</vt:lpstr>
      <vt:lpstr>Another way to categorize data</vt:lpstr>
      <vt:lpstr>Another way to categorize data</vt:lpstr>
      <vt:lpstr>Auto MPG data set available in the UCI repository</vt:lpstr>
      <vt:lpstr>Auto MPG data set available in the UCI repository: a snapshot of the first few rows of the data set. </vt:lpstr>
      <vt:lpstr>Options available</vt:lpstr>
      <vt:lpstr>Basic statistical Description of data</vt:lpstr>
      <vt:lpstr>Basic statistical Description of data</vt:lpstr>
      <vt:lpstr>Understanding central tendency</vt:lpstr>
      <vt:lpstr>Understanding central tendency</vt:lpstr>
      <vt:lpstr>Understanding central tendency</vt:lpstr>
      <vt:lpstr>Understanding data spread</vt:lpstr>
      <vt:lpstr>Slide 35</vt:lpstr>
      <vt:lpstr>Measuring data value position</vt:lpstr>
      <vt:lpstr>Attribute value drill-down for Auto MPG</vt:lpstr>
      <vt:lpstr>Measuring data value position</vt:lpstr>
      <vt:lpstr>Measuring data value position</vt:lpstr>
      <vt:lpstr>Exploring numerical data</vt:lpstr>
      <vt:lpstr>Types of data that can be mined</vt:lpstr>
      <vt:lpstr>Slide 42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Basics of Datasets</dc:title>
  <dc:creator>Lenovo</dc:creator>
  <cp:lastModifiedBy>Student</cp:lastModifiedBy>
  <cp:revision>87</cp:revision>
  <dcterms:created xsi:type="dcterms:W3CDTF">2021-03-08T05:33:43Z</dcterms:created>
  <dcterms:modified xsi:type="dcterms:W3CDTF">2025-08-25T07:28:54Z</dcterms:modified>
</cp:coreProperties>
</file>