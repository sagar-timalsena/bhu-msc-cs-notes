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EnE2h/8uW/1Q10Arrmy5snHFv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DA6805-59D9-42D4-A3E9-2137EAED39FF}">
  <a:tblStyle styleId="{7DDA6805-59D9-42D4-A3E9-2137EAED39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3907971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0390797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039079710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03907971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03907971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03907971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039079710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03907971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35584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/>
              <a:t>Classification trees</a:t>
            </a:r>
            <a:endParaRPr sz="2700"/>
          </a:p>
          <a:p>
            <a:pPr indent="-2355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/>
              <a:t>Regression trees</a:t>
            </a:r>
            <a:endParaRPr sz="2700"/>
          </a:p>
          <a:p>
            <a:pPr indent="-2355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700"/>
              <a:buFont typeface="Calibri"/>
              <a:buChar char="•"/>
            </a:pPr>
            <a:r>
              <a:rPr i="0" lang="en-US" sz="2700">
                <a:solidFill>
                  <a:srgbClr val="212529"/>
                </a:solidFill>
              </a:rPr>
              <a:t>The goal is to create a model that predicts the value of a target variable by</a:t>
            </a:r>
            <a:r>
              <a:rPr b="1" i="0" lang="en-US" sz="2700">
                <a:solidFill>
                  <a:srgbClr val="212529"/>
                </a:solidFill>
              </a:rPr>
              <a:t> learning simple decision rules</a:t>
            </a:r>
            <a:r>
              <a:rPr i="0" lang="en-US" sz="2700">
                <a:solidFill>
                  <a:srgbClr val="212529"/>
                </a:solidFill>
              </a:rPr>
              <a:t> inferred from the data features. </a:t>
            </a:r>
            <a:endParaRPr sz="2700"/>
          </a:p>
          <a:p>
            <a:pPr indent="-2355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700"/>
              <a:buFont typeface="Calibri"/>
              <a:buChar char="•"/>
            </a:pPr>
            <a:r>
              <a:rPr i="0" lang="en-US" sz="2700">
                <a:solidFill>
                  <a:srgbClr val="212529"/>
                </a:solidFill>
              </a:rPr>
              <a:t>The deeper the tree, the more complex the decision rules and the fitter the model.</a:t>
            </a:r>
            <a:endParaRPr sz="2700"/>
          </a:p>
          <a:p>
            <a:pPr indent="-2355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/>
              <a:t>Regression trees are more complex than classification trees</a:t>
            </a:r>
            <a:endParaRPr sz="2700"/>
          </a:p>
          <a:p>
            <a:pPr indent="-2355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Char char="•"/>
            </a:pPr>
            <a:r>
              <a:rPr lang="en-US" sz="2700"/>
              <a:t>Decision tree regression model is not best model to use on single feature dataset</a:t>
            </a:r>
            <a:endParaRPr sz="2700"/>
          </a:p>
          <a:p>
            <a:pPr indent="-2400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Its more adapted to datasets with many features (high dimensional datasets)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039079710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8039079710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Classification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partition input space into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class regions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Regression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partition input space into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numeric prediction zones</a:t>
            </a: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trying to approximate a continuous function</a:t>
            </a:r>
            <a:endParaRPr i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039079710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103" name="Google Shape;103;g38039079710_0_11"/>
          <p:cNvGraphicFramePr/>
          <p:nvPr/>
        </p:nvGraphicFramePr>
        <p:xfrm>
          <a:off x="1891475" y="182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{7DDA6805-59D9-42D4-A3E9-2137EAED39FF}</a:tableStyleId>
              </a:tblPr>
              <a:tblGrid>
                <a:gridCol w="1709050"/>
                <a:gridCol w="3407475"/>
                <a:gridCol w="2873375"/>
              </a:tblGrid>
              <a:tr h="1198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X (feature)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Y (target for regression)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Class (target for classification)</a:t>
                      </a:r>
                      <a:endParaRPr b="1" sz="1600"/>
                    </a:p>
                  </a:txBody>
                  <a:tcPr marT="91425" marB="91425" marR="91425" marL="91425"/>
                </a:tc>
              </a:tr>
              <a:tr h="41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1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2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</a:t>
                      </a:r>
                      <a:endParaRPr sz="3200"/>
                    </a:p>
                  </a:txBody>
                  <a:tcPr marT="91425" marB="91425" marR="91425" marL="91425"/>
                </a:tc>
              </a:tr>
              <a:tr h="41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2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3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A</a:t>
                      </a:r>
                      <a:endParaRPr sz="3200"/>
                    </a:p>
                  </a:txBody>
                  <a:tcPr marT="91425" marB="91425" marR="91425" marL="91425"/>
                </a:tc>
              </a:tr>
              <a:tr h="41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3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10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B</a:t>
                      </a:r>
                      <a:endParaRPr sz="3200"/>
                    </a:p>
                  </a:txBody>
                  <a:tcPr marT="91425" marB="91425" marR="91425" marL="91425"/>
                </a:tc>
              </a:tr>
              <a:tr h="41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4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12</a:t>
                      </a:r>
                      <a:endParaRPr sz="3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/>
                        <a:t>B</a:t>
                      </a:r>
                      <a:endParaRPr sz="3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039079710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/>
              <a:t>Classification Tree</a:t>
            </a:r>
            <a:endParaRPr/>
          </a:p>
        </p:txBody>
      </p:sp>
      <p:sp>
        <p:nvSpPr>
          <p:cNvPr id="109" name="Google Shape;109;g38039079710_0_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Goal: predict Class (A or B)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If X ≤ 2 → assign Class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Else (X &gt; 2) → assign Class B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The tree is just separating the input space into two regions (A vs B).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X=1.5 → prediction =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A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X=3.5 → prediction = B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63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No need to care about </a:t>
            </a:r>
            <a:r>
              <a:rPr i="1" lang="en-US" sz="2400">
                <a:latin typeface="Arial"/>
                <a:ea typeface="Arial"/>
                <a:cs typeface="Arial"/>
                <a:sym typeface="Arial"/>
              </a:rPr>
              <a:t>how far apart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the values are within each region.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39079710_0_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Regression Tree</a:t>
            </a:r>
            <a:endParaRPr/>
          </a:p>
        </p:txBody>
      </p:sp>
      <p:sp>
        <p:nvSpPr>
          <p:cNvPr id="115" name="Google Shape;115;g38039079710_0_2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Goal: predict Y (numeric value)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If X ≤ 2 → predict mean of Y in this region = (2 + 3)/2 = 2.5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If X &gt; 2 → predict mean of Y in this region = (10 + 12)/2 = 11</a:t>
            </a:r>
            <a:br>
              <a:rPr lang="en-US" sz="2100">
                <a:latin typeface="Arial"/>
                <a:ea typeface="Arial"/>
                <a:cs typeface="Arial"/>
                <a:sym typeface="Arial"/>
              </a:rPr>
            </a:b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So the model has to output actual numbers (2.5 or 11).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For X=1.5 → prediction ≈ 2.5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eriod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For X=3.5 → prediction ≈ 11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If we had more points, the regression tree would keep splitting to better approximate the continuous curve (e.g., going from 2 → 3 → 10 → 12).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Unlike classification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it’s not just about separating groups—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it’s about matching the numeric </a:t>
            </a:r>
            <a:r>
              <a:rPr i="1" lang="en-US" sz="2100"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 Y=f(X)</a:t>
            </a:r>
            <a:endParaRPr sz="3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Pros and Cons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Interpretability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 need for feature scaling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works on both linear / nonlinear problems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Poor results on too small datasets, overfitting can easily occur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Decision Trees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were popular around 30 years ago but then more sophisticated methods replaced them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Recently they were reborn with new upgrades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Additional methods that build on top of decision trees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Random forests, gradient boosting etc.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quite a simple method but it lies in the foundation of the some of the more modern and powerful methods.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838200" y="3088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x</a:t>
            </a:r>
            <a:r>
              <a:rPr baseline="-25000" lang="en-US"/>
              <a:t>1</a:t>
            </a:r>
            <a:r>
              <a:rPr lang="en-US"/>
              <a:t>, x</a:t>
            </a:r>
            <a:r>
              <a:rPr baseline="-25000" lang="en-US"/>
              <a:t>2</a:t>
            </a:r>
            <a:r>
              <a:rPr lang="en-US"/>
              <a:t>-&gt; independent vars, y-dependent var</a:t>
            </a:r>
            <a:endParaRPr/>
          </a:p>
        </p:txBody>
      </p:sp>
      <p:cxnSp>
        <p:nvCxnSpPr>
          <p:cNvPr id="133" name="Google Shape;133;p5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5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5" name="Google Shape;135;p5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baseline="-2500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4271303" y="5946373"/>
            <a:ext cx="263827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 plot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8854440" y="2016260"/>
            <a:ext cx="26710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Projection of all the points on the X1, X2 plane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When we run Decision tree algorithm data will be split up into segments.</a:t>
            </a:r>
            <a:endParaRPr/>
          </a:p>
        </p:txBody>
      </p:sp>
      <p:cxnSp>
        <p:nvCxnSpPr>
          <p:cNvPr id="216" name="Google Shape;216;p6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7" name="Google Shape;217;p6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8" name="Google Shape;218;p6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91" name="Google Shape;291;p6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292" name="Google Shape;292;p6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6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4595441" y="6216080"/>
            <a:ext cx="16435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2</a:t>
            </a:r>
            <a:endParaRPr/>
          </a:p>
        </p:txBody>
      </p:sp>
      <p:cxnSp>
        <p:nvCxnSpPr>
          <p:cNvPr id="300" name="Google Shape;300;p7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01" name="Google Shape;301;p7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2" name="Google Shape;302;p7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7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7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7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5" name="Google Shape;375;p7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376" name="Google Shape;376;p7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7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7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79" name="Google Shape;379;p7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3</a:t>
            </a:r>
            <a:endParaRPr/>
          </a:p>
        </p:txBody>
      </p:sp>
      <p:cxnSp>
        <p:nvCxnSpPr>
          <p:cNvPr id="385" name="Google Shape;385;p8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6" name="Google Shape;386;p8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87" name="Google Shape;387;p8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8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8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8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8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8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8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8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8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8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8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8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8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8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8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8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8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8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8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8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8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8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8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8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8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8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8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60" name="Google Shape;460;p8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461" name="Google Shape;461;p8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2" name="Google Shape;462;p8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63" name="Google Shape;463;p8"/>
          <p:cNvCxnSpPr/>
          <p:nvPr/>
        </p:nvCxnSpPr>
        <p:spPr>
          <a:xfrm>
            <a:off x="5643491" y="4069288"/>
            <a:ext cx="0" cy="1262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4" name="Google Shape;464;p8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465" name="Google Shape;465;p8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66" name="Google Shape;466;p8"/>
          <p:cNvSpPr txBox="1"/>
          <p:nvPr/>
        </p:nvSpPr>
        <p:spPr>
          <a:xfrm>
            <a:off x="5440678" y="5593312"/>
            <a:ext cx="423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4</a:t>
            </a:r>
            <a:endParaRPr/>
          </a:p>
        </p:txBody>
      </p:sp>
      <p:cxnSp>
        <p:nvCxnSpPr>
          <p:cNvPr id="472" name="Google Shape;472;p9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3" name="Google Shape;473;p9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4" name="Google Shape;474;p9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9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9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9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9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9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9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9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9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9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9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9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9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9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9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9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9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9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9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9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9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9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9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9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9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9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9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9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9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9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9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9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9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9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9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9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9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9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9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9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9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9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9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9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9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9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9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9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9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9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9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9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9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9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9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9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9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9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9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9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47" name="Google Shape;547;p9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548" name="Google Shape;548;p9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9" name="Google Shape;549;p9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0" name="Google Shape;550;p9"/>
          <p:cNvCxnSpPr/>
          <p:nvPr/>
        </p:nvCxnSpPr>
        <p:spPr>
          <a:xfrm>
            <a:off x="5643491" y="4069288"/>
            <a:ext cx="0" cy="1262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51" name="Google Shape;551;p9"/>
          <p:cNvCxnSpPr/>
          <p:nvPr/>
        </p:nvCxnSpPr>
        <p:spPr>
          <a:xfrm rot="10800000">
            <a:off x="3390314" y="4351936"/>
            <a:ext cx="120512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2" name="Google Shape;552;p9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553" name="Google Shape;553;p9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554" name="Google Shape;554;p9"/>
          <p:cNvSpPr txBox="1"/>
          <p:nvPr/>
        </p:nvSpPr>
        <p:spPr>
          <a:xfrm>
            <a:off x="5440678" y="5593312"/>
            <a:ext cx="423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555" name="Google Shape;555;p9"/>
          <p:cNvSpPr txBox="1"/>
          <p:nvPr/>
        </p:nvSpPr>
        <p:spPr>
          <a:xfrm>
            <a:off x="2589043" y="4185871"/>
            <a:ext cx="678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Algorithm</a:t>
            </a:r>
            <a:endParaRPr/>
          </a:p>
        </p:txBody>
      </p:sp>
      <p:sp>
        <p:nvSpPr>
          <p:cNvPr id="561" name="Google Shape;56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finding the optimal splits of the datasets in to leaves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 leaves are called terminal leaves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and where split is conducted is determined by the algorithm Information entropy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Split increases the amount of information that we have about the points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Algorithm stops when splitting can not add any information to our setup by splitting any leave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So algorithm stops if Less then 5% of total points in that leaf  (different variations/options)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decision tree</a:t>
            </a:r>
            <a:endParaRPr/>
          </a:p>
        </p:txBody>
      </p:sp>
      <p:cxnSp>
        <p:nvCxnSpPr>
          <p:cNvPr id="567" name="Google Shape;567;p11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68" name="Google Shape;568;p11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9" name="Google Shape;569;p11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1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1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1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1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1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1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1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1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1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1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1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1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1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1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1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1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1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1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1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1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1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1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1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1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1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1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1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1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1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1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1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1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1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1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1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1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1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42" name="Google Shape;642;p11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643" name="Google Shape;643;p11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4" name="Google Shape;644;p11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645" name="Google Shape;645;p11"/>
          <p:cNvSpPr txBox="1"/>
          <p:nvPr/>
        </p:nvSpPr>
        <p:spPr>
          <a:xfrm>
            <a:off x="9951716" y="7628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X1&lt;20</a:t>
            </a:r>
            <a:endParaRPr/>
          </a:p>
        </p:txBody>
      </p:sp>
      <p:cxnSp>
        <p:nvCxnSpPr>
          <p:cNvPr id="646" name="Google Shape;646;p11"/>
          <p:cNvCxnSpPr/>
          <p:nvPr/>
        </p:nvCxnSpPr>
        <p:spPr>
          <a:xfrm flipH="1">
            <a:off x="9677396" y="1132230"/>
            <a:ext cx="609600" cy="6060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7" name="Google Shape;647;p11"/>
          <p:cNvCxnSpPr/>
          <p:nvPr/>
        </p:nvCxnSpPr>
        <p:spPr>
          <a:xfrm>
            <a:off x="10271756" y="1132230"/>
            <a:ext cx="594360" cy="5450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8" name="Google Shape;648;p11"/>
          <p:cNvSpPr txBox="1"/>
          <p:nvPr/>
        </p:nvSpPr>
        <p:spPr>
          <a:xfrm>
            <a:off x="9616436" y="1174378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649" name="Google Shape;649;p11"/>
          <p:cNvSpPr txBox="1"/>
          <p:nvPr/>
        </p:nvSpPr>
        <p:spPr>
          <a:xfrm>
            <a:off x="10591796" y="1179736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650" name="Google Shape;650;p11"/>
          <p:cNvSpPr/>
          <p:nvPr/>
        </p:nvSpPr>
        <p:spPr>
          <a:xfrm>
            <a:off x="4951236" y="6064107"/>
            <a:ext cx="7649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2</a:t>
            </a:r>
            <a:endParaRPr/>
          </a:p>
        </p:txBody>
      </p:sp>
      <p:cxnSp>
        <p:nvCxnSpPr>
          <p:cNvPr id="656" name="Google Shape;656;p12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657" name="Google Shape;657;p12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8" name="Google Shape;658;p12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2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2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2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2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2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2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2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2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2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2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2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2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2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2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2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2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2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2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2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2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2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2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2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2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2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2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2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2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31" name="Google Shape;731;p12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732" name="Google Shape;732;p12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" name="Google Shape;733;p12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4" name="Google Shape;734;p12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735" name="Google Shape;735;p12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736" name="Google Shape;736;p12"/>
          <p:cNvSpPr txBox="1"/>
          <p:nvPr/>
        </p:nvSpPr>
        <p:spPr>
          <a:xfrm>
            <a:off x="9951716" y="7628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X1&lt;20</a:t>
            </a:r>
            <a:endParaRPr/>
          </a:p>
        </p:txBody>
      </p:sp>
      <p:cxnSp>
        <p:nvCxnSpPr>
          <p:cNvPr id="737" name="Google Shape;737;p12"/>
          <p:cNvCxnSpPr/>
          <p:nvPr/>
        </p:nvCxnSpPr>
        <p:spPr>
          <a:xfrm flipH="1">
            <a:off x="9677396" y="1132230"/>
            <a:ext cx="609600" cy="6060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12"/>
          <p:cNvCxnSpPr/>
          <p:nvPr/>
        </p:nvCxnSpPr>
        <p:spPr>
          <a:xfrm>
            <a:off x="10271756" y="1132230"/>
            <a:ext cx="594360" cy="5450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9" name="Google Shape;739;p12"/>
          <p:cNvSpPr txBox="1"/>
          <p:nvPr/>
        </p:nvSpPr>
        <p:spPr>
          <a:xfrm>
            <a:off x="9616436" y="1174378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740" name="Google Shape;740;p12"/>
          <p:cNvSpPr txBox="1"/>
          <p:nvPr/>
        </p:nvSpPr>
        <p:spPr>
          <a:xfrm>
            <a:off x="10591796" y="1179736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741" name="Google Shape;741;p12"/>
          <p:cNvSpPr txBox="1"/>
          <p:nvPr/>
        </p:nvSpPr>
        <p:spPr>
          <a:xfrm>
            <a:off x="10474562" y="16772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X2&lt;170</a:t>
            </a:r>
            <a:endParaRPr/>
          </a:p>
        </p:txBody>
      </p:sp>
      <p:cxnSp>
        <p:nvCxnSpPr>
          <p:cNvPr id="742" name="Google Shape;742;p12"/>
          <p:cNvCxnSpPr/>
          <p:nvPr/>
        </p:nvCxnSpPr>
        <p:spPr>
          <a:xfrm flipH="1">
            <a:off x="1034033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12"/>
          <p:cNvCxnSpPr/>
          <p:nvPr/>
        </p:nvCxnSpPr>
        <p:spPr>
          <a:xfrm>
            <a:off x="1085087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4" name="Google Shape;744;p12"/>
          <p:cNvSpPr txBox="1"/>
          <p:nvPr/>
        </p:nvSpPr>
        <p:spPr>
          <a:xfrm>
            <a:off x="10279376" y="211441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745" name="Google Shape;745;p12"/>
          <p:cNvSpPr txBox="1"/>
          <p:nvPr/>
        </p:nvSpPr>
        <p:spPr>
          <a:xfrm>
            <a:off x="11102336" y="212650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3</a:t>
            </a:r>
            <a:endParaRPr/>
          </a:p>
        </p:txBody>
      </p:sp>
      <p:cxnSp>
        <p:nvCxnSpPr>
          <p:cNvPr id="751" name="Google Shape;751;p13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52" name="Google Shape;752;p13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3" name="Google Shape;753;p13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3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3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3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3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3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3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3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3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3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3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3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3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3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3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3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3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3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3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3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3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3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3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3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3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3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3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3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3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13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3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3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3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3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3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3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3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3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3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3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3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3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3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3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3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3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3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3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3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3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3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3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3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3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3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13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3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3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3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3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3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3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3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3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3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3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3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3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3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3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13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3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26" name="Google Shape;826;p13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827" name="Google Shape;827;p13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8" name="Google Shape;828;p13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9" name="Google Shape;829;p13"/>
          <p:cNvCxnSpPr/>
          <p:nvPr/>
        </p:nvCxnSpPr>
        <p:spPr>
          <a:xfrm>
            <a:off x="5643491" y="4069288"/>
            <a:ext cx="0" cy="1262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0" name="Google Shape;830;p13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831" name="Google Shape;831;p13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832" name="Google Shape;832;p13"/>
          <p:cNvSpPr txBox="1"/>
          <p:nvPr/>
        </p:nvSpPr>
        <p:spPr>
          <a:xfrm>
            <a:off x="5440678" y="5593312"/>
            <a:ext cx="423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833" name="Google Shape;833;p13"/>
          <p:cNvSpPr txBox="1"/>
          <p:nvPr/>
        </p:nvSpPr>
        <p:spPr>
          <a:xfrm>
            <a:off x="9951716" y="7628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X1&lt;20</a:t>
            </a:r>
            <a:endParaRPr/>
          </a:p>
        </p:txBody>
      </p:sp>
      <p:cxnSp>
        <p:nvCxnSpPr>
          <p:cNvPr id="834" name="Google Shape;834;p13"/>
          <p:cNvCxnSpPr/>
          <p:nvPr/>
        </p:nvCxnSpPr>
        <p:spPr>
          <a:xfrm flipH="1">
            <a:off x="9677396" y="1132230"/>
            <a:ext cx="609600" cy="6060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5" name="Google Shape;835;p13"/>
          <p:cNvCxnSpPr/>
          <p:nvPr/>
        </p:nvCxnSpPr>
        <p:spPr>
          <a:xfrm>
            <a:off x="10271756" y="1132230"/>
            <a:ext cx="594360" cy="5450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6" name="Google Shape;836;p13"/>
          <p:cNvSpPr txBox="1"/>
          <p:nvPr/>
        </p:nvSpPr>
        <p:spPr>
          <a:xfrm>
            <a:off x="9616436" y="1174378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837" name="Google Shape;837;p13"/>
          <p:cNvSpPr txBox="1"/>
          <p:nvPr/>
        </p:nvSpPr>
        <p:spPr>
          <a:xfrm>
            <a:off x="10591796" y="1179736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838" name="Google Shape;838;p13"/>
          <p:cNvSpPr txBox="1"/>
          <p:nvPr/>
        </p:nvSpPr>
        <p:spPr>
          <a:xfrm>
            <a:off x="10474562" y="16772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X2&lt;170</a:t>
            </a:r>
            <a:endParaRPr/>
          </a:p>
        </p:txBody>
      </p:sp>
      <p:cxnSp>
        <p:nvCxnSpPr>
          <p:cNvPr id="839" name="Google Shape;839;p13"/>
          <p:cNvCxnSpPr/>
          <p:nvPr/>
        </p:nvCxnSpPr>
        <p:spPr>
          <a:xfrm flipH="1">
            <a:off x="1034033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0" name="Google Shape;840;p13"/>
          <p:cNvCxnSpPr/>
          <p:nvPr/>
        </p:nvCxnSpPr>
        <p:spPr>
          <a:xfrm>
            <a:off x="1085087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1" name="Google Shape;841;p13"/>
          <p:cNvSpPr txBox="1"/>
          <p:nvPr/>
        </p:nvSpPr>
        <p:spPr>
          <a:xfrm>
            <a:off x="10279376" y="211441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842" name="Google Shape;842;p13"/>
          <p:cNvSpPr txBox="1"/>
          <p:nvPr/>
        </p:nvSpPr>
        <p:spPr>
          <a:xfrm>
            <a:off x="11102336" y="212650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843" name="Google Shape;843;p13"/>
          <p:cNvSpPr txBox="1"/>
          <p:nvPr/>
        </p:nvSpPr>
        <p:spPr>
          <a:xfrm>
            <a:off x="9761216" y="2764970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X1&lt;38</a:t>
            </a:r>
            <a:endParaRPr/>
          </a:p>
        </p:txBody>
      </p:sp>
      <p:cxnSp>
        <p:nvCxnSpPr>
          <p:cNvPr id="844" name="Google Shape;844;p13"/>
          <p:cNvCxnSpPr/>
          <p:nvPr/>
        </p:nvCxnSpPr>
        <p:spPr>
          <a:xfrm flipH="1">
            <a:off x="9624056" y="314442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45" name="Google Shape;845;p13"/>
          <p:cNvCxnSpPr/>
          <p:nvPr/>
        </p:nvCxnSpPr>
        <p:spPr>
          <a:xfrm>
            <a:off x="10134596" y="314442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46" name="Google Shape;846;p13"/>
          <p:cNvSpPr txBox="1"/>
          <p:nvPr/>
        </p:nvSpPr>
        <p:spPr>
          <a:xfrm>
            <a:off x="9563096" y="322693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847" name="Google Shape;847;p13"/>
          <p:cNvSpPr txBox="1"/>
          <p:nvPr/>
        </p:nvSpPr>
        <p:spPr>
          <a:xfrm>
            <a:off x="10386056" y="323902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4</a:t>
            </a:r>
            <a:endParaRPr/>
          </a:p>
        </p:txBody>
      </p:sp>
      <p:cxnSp>
        <p:nvCxnSpPr>
          <p:cNvPr id="853" name="Google Shape;853;p14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54" name="Google Shape;854;p14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5" name="Google Shape;855;p14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14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4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14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4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4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4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14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4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4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4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14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4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4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4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14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4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4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4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4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14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4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4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14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4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14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4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14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4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4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14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14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14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14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4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4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4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4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4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4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4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4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4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4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4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4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4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4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4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4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4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4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4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4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4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4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4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4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4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4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4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4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14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14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4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14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14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14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4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4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4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4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4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28" name="Google Shape;928;p14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929" name="Google Shape;929;p14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0" name="Google Shape;930;p14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1" name="Google Shape;931;p14"/>
          <p:cNvCxnSpPr/>
          <p:nvPr/>
        </p:nvCxnSpPr>
        <p:spPr>
          <a:xfrm>
            <a:off x="5643491" y="4069288"/>
            <a:ext cx="0" cy="1262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2" name="Google Shape;932;p14"/>
          <p:cNvCxnSpPr/>
          <p:nvPr/>
        </p:nvCxnSpPr>
        <p:spPr>
          <a:xfrm rot="10800000">
            <a:off x="3390314" y="4351936"/>
            <a:ext cx="120512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3" name="Google Shape;933;p14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934" name="Google Shape;934;p14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935" name="Google Shape;935;p14"/>
          <p:cNvSpPr txBox="1"/>
          <p:nvPr/>
        </p:nvSpPr>
        <p:spPr>
          <a:xfrm>
            <a:off x="5440678" y="5593312"/>
            <a:ext cx="423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936" name="Google Shape;936;p14"/>
          <p:cNvSpPr txBox="1"/>
          <p:nvPr/>
        </p:nvSpPr>
        <p:spPr>
          <a:xfrm>
            <a:off x="2589043" y="4185871"/>
            <a:ext cx="678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937" name="Google Shape;937;p14"/>
          <p:cNvSpPr txBox="1"/>
          <p:nvPr/>
        </p:nvSpPr>
        <p:spPr>
          <a:xfrm>
            <a:off x="9951716" y="7628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X1&lt;20</a:t>
            </a:r>
            <a:endParaRPr/>
          </a:p>
        </p:txBody>
      </p:sp>
      <p:cxnSp>
        <p:nvCxnSpPr>
          <p:cNvPr id="938" name="Google Shape;938;p14"/>
          <p:cNvCxnSpPr/>
          <p:nvPr/>
        </p:nvCxnSpPr>
        <p:spPr>
          <a:xfrm flipH="1">
            <a:off x="9677396" y="1132230"/>
            <a:ext cx="609600" cy="6060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9" name="Google Shape;939;p14"/>
          <p:cNvCxnSpPr/>
          <p:nvPr/>
        </p:nvCxnSpPr>
        <p:spPr>
          <a:xfrm>
            <a:off x="10271756" y="1132230"/>
            <a:ext cx="594360" cy="5450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0" name="Google Shape;940;p14"/>
          <p:cNvSpPr txBox="1"/>
          <p:nvPr/>
        </p:nvSpPr>
        <p:spPr>
          <a:xfrm>
            <a:off x="9616436" y="1174378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41" name="Google Shape;941;p14"/>
          <p:cNvSpPr txBox="1"/>
          <p:nvPr/>
        </p:nvSpPr>
        <p:spPr>
          <a:xfrm>
            <a:off x="10591796" y="1179736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942" name="Google Shape;942;p14"/>
          <p:cNvSpPr txBox="1"/>
          <p:nvPr/>
        </p:nvSpPr>
        <p:spPr>
          <a:xfrm>
            <a:off x="10474562" y="16772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X2&lt;170</a:t>
            </a:r>
            <a:endParaRPr/>
          </a:p>
        </p:txBody>
      </p:sp>
      <p:cxnSp>
        <p:nvCxnSpPr>
          <p:cNvPr id="943" name="Google Shape;943;p14"/>
          <p:cNvCxnSpPr/>
          <p:nvPr/>
        </p:nvCxnSpPr>
        <p:spPr>
          <a:xfrm flipH="1">
            <a:off x="1034033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4" name="Google Shape;944;p14"/>
          <p:cNvCxnSpPr/>
          <p:nvPr/>
        </p:nvCxnSpPr>
        <p:spPr>
          <a:xfrm>
            <a:off x="1085087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5" name="Google Shape;945;p14"/>
          <p:cNvSpPr txBox="1"/>
          <p:nvPr/>
        </p:nvSpPr>
        <p:spPr>
          <a:xfrm>
            <a:off x="10279376" y="211441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46" name="Google Shape;946;p14"/>
          <p:cNvSpPr txBox="1"/>
          <p:nvPr/>
        </p:nvSpPr>
        <p:spPr>
          <a:xfrm>
            <a:off x="11102336" y="212650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947" name="Google Shape;947;p14"/>
          <p:cNvSpPr txBox="1"/>
          <p:nvPr/>
        </p:nvSpPr>
        <p:spPr>
          <a:xfrm>
            <a:off x="9761216" y="2764970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X1&lt;38</a:t>
            </a:r>
            <a:endParaRPr/>
          </a:p>
        </p:txBody>
      </p:sp>
      <p:cxnSp>
        <p:nvCxnSpPr>
          <p:cNvPr id="948" name="Google Shape;948;p14"/>
          <p:cNvCxnSpPr/>
          <p:nvPr/>
        </p:nvCxnSpPr>
        <p:spPr>
          <a:xfrm flipH="1">
            <a:off x="9624056" y="314442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9" name="Google Shape;949;p14"/>
          <p:cNvCxnSpPr/>
          <p:nvPr/>
        </p:nvCxnSpPr>
        <p:spPr>
          <a:xfrm>
            <a:off x="10134596" y="314442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0" name="Google Shape;950;p14"/>
          <p:cNvSpPr txBox="1"/>
          <p:nvPr/>
        </p:nvSpPr>
        <p:spPr>
          <a:xfrm>
            <a:off x="9563096" y="322693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51" name="Google Shape;951;p14"/>
          <p:cNvSpPr txBox="1"/>
          <p:nvPr/>
        </p:nvSpPr>
        <p:spPr>
          <a:xfrm>
            <a:off x="10386056" y="323902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952" name="Google Shape;952;p14"/>
          <p:cNvSpPr txBox="1"/>
          <p:nvPr/>
        </p:nvSpPr>
        <p:spPr>
          <a:xfrm>
            <a:off x="8935322" y="16772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X2&lt;150</a:t>
            </a:r>
            <a:endParaRPr/>
          </a:p>
        </p:txBody>
      </p:sp>
      <p:cxnSp>
        <p:nvCxnSpPr>
          <p:cNvPr id="953" name="Google Shape;953;p14"/>
          <p:cNvCxnSpPr/>
          <p:nvPr/>
        </p:nvCxnSpPr>
        <p:spPr>
          <a:xfrm flipH="1">
            <a:off x="8801096" y="204714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4" name="Google Shape;954;p14"/>
          <p:cNvCxnSpPr/>
          <p:nvPr/>
        </p:nvCxnSpPr>
        <p:spPr>
          <a:xfrm>
            <a:off x="9311636" y="204714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5" name="Google Shape;955;p14"/>
          <p:cNvSpPr txBox="1"/>
          <p:nvPr/>
        </p:nvSpPr>
        <p:spPr>
          <a:xfrm>
            <a:off x="8740136" y="212965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956" name="Google Shape;956;p14"/>
          <p:cNvSpPr txBox="1"/>
          <p:nvPr/>
        </p:nvSpPr>
        <p:spPr>
          <a:xfrm>
            <a:off x="9563096" y="214174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Finding Value of dependent var for a new instance</a:t>
            </a:r>
            <a:endParaRPr/>
          </a:p>
        </p:txBody>
      </p:sp>
      <p:sp>
        <p:nvSpPr>
          <p:cNvPr id="962" name="Google Shape;96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we get the value of a point?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terminal leaf in which this point falls help us to determine value there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We take the average of y for all the points in that terminal leaf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Default option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Take average of values of all the points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Since we are now taking average of a particular segment of dataset, accuracy will be better.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Averages</a:t>
            </a:r>
            <a:endParaRPr/>
          </a:p>
        </p:txBody>
      </p:sp>
      <p:cxnSp>
        <p:nvCxnSpPr>
          <p:cNvPr id="968" name="Google Shape;968;p16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69" name="Google Shape;969;p16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70" name="Google Shape;970;p16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16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16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6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16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16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16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16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6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16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16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6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6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16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6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16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6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6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6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6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16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16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16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16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16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16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6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6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16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6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6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6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16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16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16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16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16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16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16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16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16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16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6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6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16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6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16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6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16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16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6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6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6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6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6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6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6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6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6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16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16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16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16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6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6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6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16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16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16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6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6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6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16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43" name="Google Shape;1043;p16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1044" name="Google Shape;1044;p16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5" name="Google Shape;1045;p16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6" name="Google Shape;1046;p16"/>
          <p:cNvCxnSpPr/>
          <p:nvPr/>
        </p:nvCxnSpPr>
        <p:spPr>
          <a:xfrm>
            <a:off x="5643491" y="4069288"/>
            <a:ext cx="0" cy="1262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7" name="Google Shape;1047;p16"/>
          <p:cNvCxnSpPr/>
          <p:nvPr/>
        </p:nvCxnSpPr>
        <p:spPr>
          <a:xfrm rot="10800000">
            <a:off x="3390314" y="4351936"/>
            <a:ext cx="120512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8" name="Google Shape;1048;p16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1049" name="Google Shape;1049;p16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050" name="Google Shape;1050;p16"/>
          <p:cNvSpPr txBox="1"/>
          <p:nvPr/>
        </p:nvSpPr>
        <p:spPr>
          <a:xfrm>
            <a:off x="5440678" y="5593312"/>
            <a:ext cx="423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1051" name="Google Shape;1051;p16"/>
          <p:cNvSpPr txBox="1"/>
          <p:nvPr/>
        </p:nvSpPr>
        <p:spPr>
          <a:xfrm>
            <a:off x="2589043" y="4185871"/>
            <a:ext cx="678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1052" name="Google Shape;1052;p16"/>
          <p:cNvSpPr txBox="1"/>
          <p:nvPr/>
        </p:nvSpPr>
        <p:spPr>
          <a:xfrm>
            <a:off x="5876768" y="2381661"/>
            <a:ext cx="779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40.5</a:t>
            </a:r>
            <a:endParaRPr/>
          </a:p>
        </p:txBody>
      </p:sp>
      <p:sp>
        <p:nvSpPr>
          <p:cNvPr id="1053" name="Google Shape;1053;p16"/>
          <p:cNvSpPr txBox="1"/>
          <p:nvPr/>
        </p:nvSpPr>
        <p:spPr>
          <a:xfrm>
            <a:off x="7799364" y="4361992"/>
            <a:ext cx="779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60.0</a:t>
            </a:r>
            <a:endParaRPr/>
          </a:p>
        </p:txBody>
      </p:sp>
      <p:sp>
        <p:nvSpPr>
          <p:cNvPr id="1054" name="Google Shape;1054;p16"/>
          <p:cNvSpPr txBox="1"/>
          <p:nvPr/>
        </p:nvSpPr>
        <p:spPr>
          <a:xfrm>
            <a:off x="3590771" y="2549624"/>
            <a:ext cx="779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-2.5</a:t>
            </a:r>
            <a:endParaRPr/>
          </a:p>
        </p:txBody>
      </p:sp>
      <p:sp>
        <p:nvSpPr>
          <p:cNvPr id="1055" name="Google Shape;1055;p16"/>
          <p:cNvSpPr txBox="1"/>
          <p:nvPr/>
        </p:nvSpPr>
        <p:spPr>
          <a:xfrm>
            <a:off x="3529527" y="4788992"/>
            <a:ext cx="779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20.5</a:t>
            </a:r>
            <a:endParaRPr/>
          </a:p>
        </p:txBody>
      </p:sp>
      <p:sp>
        <p:nvSpPr>
          <p:cNvPr id="1056" name="Google Shape;1056;p16"/>
          <p:cNvSpPr txBox="1"/>
          <p:nvPr/>
        </p:nvSpPr>
        <p:spPr>
          <a:xfrm>
            <a:off x="4793846" y="4971952"/>
            <a:ext cx="7790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-30.0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Split 4</a:t>
            </a:r>
            <a:endParaRPr/>
          </a:p>
        </p:txBody>
      </p:sp>
      <p:cxnSp>
        <p:nvCxnSpPr>
          <p:cNvPr id="1062" name="Google Shape;1062;p17"/>
          <p:cNvCxnSpPr/>
          <p:nvPr/>
        </p:nvCxnSpPr>
        <p:spPr>
          <a:xfrm rot="10800000">
            <a:off x="3376246" y="2208628"/>
            <a:ext cx="0" cy="31370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3" name="Google Shape;1063;p17"/>
          <p:cNvCxnSpPr/>
          <p:nvPr/>
        </p:nvCxnSpPr>
        <p:spPr>
          <a:xfrm>
            <a:off x="3390314" y="5331656"/>
            <a:ext cx="4642338" cy="5627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4" name="Google Shape;1064;p17"/>
          <p:cNvSpPr/>
          <p:nvPr/>
        </p:nvSpPr>
        <p:spPr>
          <a:xfrm>
            <a:off x="5210907" y="28979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17"/>
          <p:cNvSpPr/>
          <p:nvPr/>
        </p:nvSpPr>
        <p:spPr>
          <a:xfrm>
            <a:off x="4651713" y="303792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17"/>
          <p:cNvSpPr/>
          <p:nvPr/>
        </p:nvSpPr>
        <p:spPr>
          <a:xfrm>
            <a:off x="4768358" y="340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17"/>
          <p:cNvSpPr/>
          <p:nvPr/>
        </p:nvSpPr>
        <p:spPr>
          <a:xfrm>
            <a:off x="4781256" y="268297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7"/>
          <p:cNvSpPr/>
          <p:nvPr/>
        </p:nvSpPr>
        <p:spPr>
          <a:xfrm>
            <a:off x="5363306" y="38980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17"/>
          <p:cNvSpPr/>
          <p:nvPr/>
        </p:nvSpPr>
        <p:spPr>
          <a:xfrm>
            <a:off x="6077241" y="3509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17"/>
          <p:cNvSpPr/>
          <p:nvPr/>
        </p:nvSpPr>
        <p:spPr>
          <a:xfrm>
            <a:off x="5665763" y="3763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17"/>
          <p:cNvSpPr/>
          <p:nvPr/>
        </p:nvSpPr>
        <p:spPr>
          <a:xfrm>
            <a:off x="6147577" y="4096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17"/>
          <p:cNvSpPr/>
          <p:nvPr/>
        </p:nvSpPr>
        <p:spPr>
          <a:xfrm>
            <a:off x="5051469" y="42936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17"/>
          <p:cNvSpPr/>
          <p:nvPr/>
        </p:nvSpPr>
        <p:spPr>
          <a:xfrm>
            <a:off x="5759545" y="45437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17"/>
          <p:cNvSpPr/>
          <p:nvPr/>
        </p:nvSpPr>
        <p:spPr>
          <a:xfrm>
            <a:off x="7008053" y="380637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17"/>
          <p:cNvSpPr/>
          <p:nvPr/>
        </p:nvSpPr>
        <p:spPr>
          <a:xfrm>
            <a:off x="6056138" y="44873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17"/>
          <p:cNvSpPr/>
          <p:nvPr/>
        </p:nvSpPr>
        <p:spPr>
          <a:xfrm>
            <a:off x="5073154" y="306505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17"/>
          <p:cNvSpPr/>
          <p:nvPr/>
        </p:nvSpPr>
        <p:spPr>
          <a:xfrm>
            <a:off x="5240208" y="325639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17"/>
          <p:cNvSpPr/>
          <p:nvPr/>
        </p:nvSpPr>
        <p:spPr>
          <a:xfrm>
            <a:off x="5772444" y="3359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17"/>
          <p:cNvSpPr/>
          <p:nvPr/>
        </p:nvSpPr>
        <p:spPr>
          <a:xfrm>
            <a:off x="5440678" y="36120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17"/>
          <p:cNvSpPr/>
          <p:nvPr/>
        </p:nvSpPr>
        <p:spPr>
          <a:xfrm>
            <a:off x="4938931" y="48528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17"/>
          <p:cNvSpPr/>
          <p:nvPr/>
        </p:nvSpPr>
        <p:spPr>
          <a:xfrm>
            <a:off x="6299977" y="330728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17"/>
          <p:cNvSpPr/>
          <p:nvPr/>
        </p:nvSpPr>
        <p:spPr>
          <a:xfrm>
            <a:off x="5045021" y="358421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7"/>
          <p:cNvSpPr/>
          <p:nvPr/>
        </p:nvSpPr>
        <p:spPr>
          <a:xfrm>
            <a:off x="6299977" y="42485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17"/>
          <p:cNvSpPr/>
          <p:nvPr/>
        </p:nvSpPr>
        <p:spPr>
          <a:xfrm>
            <a:off x="6634088" y="41217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17"/>
          <p:cNvSpPr/>
          <p:nvPr/>
        </p:nvSpPr>
        <p:spPr>
          <a:xfrm>
            <a:off x="7818693" y="272099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7"/>
          <p:cNvSpPr/>
          <p:nvPr/>
        </p:nvSpPr>
        <p:spPr>
          <a:xfrm>
            <a:off x="7008053" y="41968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17"/>
          <p:cNvSpPr/>
          <p:nvPr/>
        </p:nvSpPr>
        <p:spPr>
          <a:xfrm>
            <a:off x="4659337" y="448667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17"/>
          <p:cNvSpPr/>
          <p:nvPr/>
        </p:nvSpPr>
        <p:spPr>
          <a:xfrm>
            <a:off x="5620043" y="290449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17"/>
          <p:cNvSpPr/>
          <p:nvPr/>
        </p:nvSpPr>
        <p:spPr>
          <a:xfrm>
            <a:off x="5142319" y="460966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7"/>
          <p:cNvSpPr/>
          <p:nvPr/>
        </p:nvSpPr>
        <p:spPr>
          <a:xfrm>
            <a:off x="6108888" y="30503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17"/>
          <p:cNvSpPr/>
          <p:nvPr/>
        </p:nvSpPr>
        <p:spPr>
          <a:xfrm>
            <a:off x="4859797" y="375052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17"/>
          <p:cNvSpPr/>
          <p:nvPr/>
        </p:nvSpPr>
        <p:spPr>
          <a:xfrm>
            <a:off x="5668106" y="42028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17"/>
          <p:cNvSpPr/>
          <p:nvPr/>
        </p:nvSpPr>
        <p:spPr>
          <a:xfrm>
            <a:off x="6382041" y="38139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17"/>
          <p:cNvSpPr/>
          <p:nvPr/>
        </p:nvSpPr>
        <p:spPr>
          <a:xfrm>
            <a:off x="6462344" y="353390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17"/>
          <p:cNvSpPr/>
          <p:nvPr/>
        </p:nvSpPr>
        <p:spPr>
          <a:xfrm>
            <a:off x="4792392" y="4159677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17"/>
          <p:cNvSpPr/>
          <p:nvPr/>
        </p:nvSpPr>
        <p:spPr>
          <a:xfrm>
            <a:off x="7910139" y="49622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17"/>
          <p:cNvSpPr/>
          <p:nvPr/>
        </p:nvSpPr>
        <p:spPr>
          <a:xfrm>
            <a:off x="6064345" y="48485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17"/>
          <p:cNvSpPr/>
          <p:nvPr/>
        </p:nvSpPr>
        <p:spPr>
          <a:xfrm>
            <a:off x="7373814" y="416398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17"/>
          <p:cNvSpPr/>
          <p:nvPr/>
        </p:nvSpPr>
        <p:spPr>
          <a:xfrm>
            <a:off x="6360938" y="47921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17"/>
          <p:cNvSpPr/>
          <p:nvPr/>
        </p:nvSpPr>
        <p:spPr>
          <a:xfrm>
            <a:off x="4317023" y="304511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7"/>
          <p:cNvSpPr/>
          <p:nvPr/>
        </p:nvSpPr>
        <p:spPr>
          <a:xfrm>
            <a:off x="5799402" y="35351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17"/>
          <p:cNvSpPr/>
          <p:nvPr/>
        </p:nvSpPr>
        <p:spPr>
          <a:xfrm>
            <a:off x="3876821" y="449569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17"/>
          <p:cNvSpPr/>
          <p:nvPr/>
        </p:nvSpPr>
        <p:spPr>
          <a:xfrm>
            <a:off x="4886180" y="4705752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17"/>
          <p:cNvSpPr/>
          <p:nvPr/>
        </p:nvSpPr>
        <p:spPr>
          <a:xfrm>
            <a:off x="5820506" y="435522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7"/>
          <p:cNvSpPr/>
          <p:nvPr/>
        </p:nvSpPr>
        <p:spPr>
          <a:xfrm>
            <a:off x="6648147" y="38399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17"/>
          <p:cNvSpPr/>
          <p:nvPr/>
        </p:nvSpPr>
        <p:spPr>
          <a:xfrm rot="410110">
            <a:off x="7243683" y="51487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17"/>
          <p:cNvSpPr/>
          <p:nvPr/>
        </p:nvSpPr>
        <p:spPr>
          <a:xfrm>
            <a:off x="6604777" y="45533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7"/>
          <p:cNvSpPr/>
          <p:nvPr/>
        </p:nvSpPr>
        <p:spPr>
          <a:xfrm>
            <a:off x="6938888" y="44265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17"/>
          <p:cNvSpPr/>
          <p:nvPr/>
        </p:nvSpPr>
        <p:spPr>
          <a:xfrm>
            <a:off x="7818693" y="329995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17"/>
          <p:cNvSpPr/>
          <p:nvPr/>
        </p:nvSpPr>
        <p:spPr>
          <a:xfrm>
            <a:off x="7439489" y="50920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17"/>
          <p:cNvSpPr/>
          <p:nvPr/>
        </p:nvSpPr>
        <p:spPr>
          <a:xfrm>
            <a:off x="7569589" y="38893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7"/>
          <p:cNvSpPr/>
          <p:nvPr/>
        </p:nvSpPr>
        <p:spPr>
          <a:xfrm>
            <a:off x="4271303" y="402751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17"/>
          <p:cNvSpPr/>
          <p:nvPr/>
        </p:nvSpPr>
        <p:spPr>
          <a:xfrm>
            <a:off x="5951802" y="36875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17"/>
          <p:cNvSpPr/>
          <p:nvPr/>
        </p:nvSpPr>
        <p:spPr>
          <a:xfrm>
            <a:off x="6593054" y="305871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17"/>
          <p:cNvSpPr/>
          <p:nvPr/>
        </p:nvSpPr>
        <p:spPr>
          <a:xfrm>
            <a:off x="5897878" y="406928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17"/>
          <p:cNvSpPr/>
          <p:nvPr/>
        </p:nvSpPr>
        <p:spPr>
          <a:xfrm>
            <a:off x="5465882" y="49027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17"/>
          <p:cNvSpPr/>
          <p:nvPr/>
        </p:nvSpPr>
        <p:spPr>
          <a:xfrm>
            <a:off x="5363306" y="48064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17"/>
          <p:cNvSpPr/>
          <p:nvPr/>
        </p:nvSpPr>
        <p:spPr>
          <a:xfrm>
            <a:off x="4278337" y="497979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17"/>
          <p:cNvSpPr/>
          <p:nvPr/>
        </p:nvSpPr>
        <p:spPr>
          <a:xfrm>
            <a:off x="6757177" y="47057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17"/>
          <p:cNvSpPr/>
          <p:nvPr/>
        </p:nvSpPr>
        <p:spPr>
          <a:xfrm>
            <a:off x="7569590" y="438399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17"/>
          <p:cNvSpPr/>
          <p:nvPr/>
        </p:nvSpPr>
        <p:spPr>
          <a:xfrm>
            <a:off x="6369145" y="515335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17"/>
          <p:cNvSpPr/>
          <p:nvPr/>
        </p:nvSpPr>
        <p:spPr>
          <a:xfrm>
            <a:off x="7465253" y="465406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17"/>
          <p:cNvSpPr/>
          <p:nvPr/>
        </p:nvSpPr>
        <p:spPr>
          <a:xfrm>
            <a:off x="6665738" y="50969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17"/>
          <p:cNvSpPr/>
          <p:nvPr/>
        </p:nvSpPr>
        <p:spPr>
          <a:xfrm>
            <a:off x="5481712" y="4420180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17"/>
          <p:cNvSpPr/>
          <p:nvPr/>
        </p:nvSpPr>
        <p:spPr>
          <a:xfrm>
            <a:off x="6104202" y="383999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17"/>
          <p:cNvSpPr/>
          <p:nvPr/>
        </p:nvSpPr>
        <p:spPr>
          <a:xfrm>
            <a:off x="7243688" y="311040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17"/>
          <p:cNvSpPr/>
          <p:nvPr/>
        </p:nvSpPr>
        <p:spPr>
          <a:xfrm>
            <a:off x="6991638" y="2645146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17"/>
          <p:cNvSpPr/>
          <p:nvPr/>
        </p:nvSpPr>
        <p:spPr>
          <a:xfrm>
            <a:off x="5822845" y="498214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17"/>
          <p:cNvSpPr/>
          <p:nvPr/>
        </p:nvSpPr>
        <p:spPr>
          <a:xfrm>
            <a:off x="6599506" y="4313501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17"/>
          <p:cNvSpPr/>
          <p:nvPr/>
        </p:nvSpPr>
        <p:spPr>
          <a:xfrm>
            <a:off x="6427763" y="4525108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17"/>
          <p:cNvSpPr/>
          <p:nvPr/>
        </p:nvSpPr>
        <p:spPr>
          <a:xfrm>
            <a:off x="6909577" y="4858153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17"/>
          <p:cNvSpPr/>
          <p:nvPr/>
        </p:nvSpPr>
        <p:spPr>
          <a:xfrm>
            <a:off x="7243688" y="473132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17"/>
          <p:cNvSpPr/>
          <p:nvPr/>
        </p:nvSpPr>
        <p:spPr>
          <a:xfrm>
            <a:off x="7078979" y="3386045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17"/>
          <p:cNvSpPr/>
          <p:nvPr/>
        </p:nvSpPr>
        <p:spPr>
          <a:xfrm>
            <a:off x="4355705" y="3611674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17"/>
          <p:cNvSpPr/>
          <p:nvPr/>
        </p:nvSpPr>
        <p:spPr>
          <a:xfrm>
            <a:off x="7605918" y="3295289"/>
            <a:ext cx="91439" cy="103383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17"/>
          <p:cNvSpPr txBox="1"/>
          <p:nvPr/>
        </p:nvSpPr>
        <p:spPr>
          <a:xfrm>
            <a:off x="2763721" y="2016260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37" name="Google Shape;1137;p17"/>
          <p:cNvSpPr txBox="1"/>
          <p:nvPr/>
        </p:nvSpPr>
        <p:spPr>
          <a:xfrm>
            <a:off x="7552294" y="5361598"/>
            <a:ext cx="6265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1138" name="Google Shape;1138;p17"/>
          <p:cNvCxnSpPr/>
          <p:nvPr/>
        </p:nvCxnSpPr>
        <p:spPr>
          <a:xfrm>
            <a:off x="4595441" y="2208628"/>
            <a:ext cx="0" cy="31792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9" name="Google Shape;1139;p17"/>
          <p:cNvCxnSpPr/>
          <p:nvPr/>
        </p:nvCxnSpPr>
        <p:spPr>
          <a:xfrm>
            <a:off x="4595441" y="4020863"/>
            <a:ext cx="3760768" cy="347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0" name="Google Shape;1140;p17"/>
          <p:cNvCxnSpPr/>
          <p:nvPr/>
        </p:nvCxnSpPr>
        <p:spPr>
          <a:xfrm>
            <a:off x="5643491" y="4069288"/>
            <a:ext cx="0" cy="12623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1" name="Google Shape;1141;p17"/>
          <p:cNvCxnSpPr/>
          <p:nvPr/>
        </p:nvCxnSpPr>
        <p:spPr>
          <a:xfrm rot="10800000">
            <a:off x="3390314" y="4351936"/>
            <a:ext cx="120512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2" name="Google Shape;1142;p17"/>
          <p:cNvSpPr txBox="1"/>
          <p:nvPr/>
        </p:nvSpPr>
        <p:spPr>
          <a:xfrm>
            <a:off x="2575560" y="3851941"/>
            <a:ext cx="7174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170</a:t>
            </a:r>
            <a:endParaRPr/>
          </a:p>
        </p:txBody>
      </p:sp>
      <p:sp>
        <p:nvSpPr>
          <p:cNvPr id="1143" name="Google Shape;1143;p17"/>
          <p:cNvSpPr txBox="1"/>
          <p:nvPr/>
        </p:nvSpPr>
        <p:spPr>
          <a:xfrm>
            <a:off x="4369777" y="5593312"/>
            <a:ext cx="613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144" name="Google Shape;1144;p17"/>
          <p:cNvSpPr txBox="1"/>
          <p:nvPr/>
        </p:nvSpPr>
        <p:spPr>
          <a:xfrm>
            <a:off x="5440678" y="5593312"/>
            <a:ext cx="42320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/>
          </a:p>
        </p:txBody>
      </p:sp>
      <p:sp>
        <p:nvSpPr>
          <p:cNvPr id="1145" name="Google Shape;1145;p17"/>
          <p:cNvSpPr txBox="1"/>
          <p:nvPr/>
        </p:nvSpPr>
        <p:spPr>
          <a:xfrm>
            <a:off x="2589043" y="4185871"/>
            <a:ext cx="678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150</a:t>
            </a:r>
            <a:endParaRPr/>
          </a:p>
        </p:txBody>
      </p:sp>
      <p:sp>
        <p:nvSpPr>
          <p:cNvPr id="1146" name="Google Shape;1146;p17"/>
          <p:cNvSpPr txBox="1"/>
          <p:nvPr/>
        </p:nvSpPr>
        <p:spPr>
          <a:xfrm>
            <a:off x="9951716" y="7628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X1&lt;20</a:t>
            </a:r>
            <a:endParaRPr/>
          </a:p>
        </p:txBody>
      </p:sp>
      <p:cxnSp>
        <p:nvCxnSpPr>
          <p:cNvPr id="1147" name="Google Shape;1147;p17"/>
          <p:cNvCxnSpPr/>
          <p:nvPr/>
        </p:nvCxnSpPr>
        <p:spPr>
          <a:xfrm flipH="1">
            <a:off x="9362033" y="1132230"/>
            <a:ext cx="924963" cy="5450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8" name="Google Shape;1148;p17"/>
          <p:cNvCxnSpPr>
            <a:endCxn id="1149" idx="0"/>
          </p:cNvCxnSpPr>
          <p:nvPr/>
        </p:nvCxnSpPr>
        <p:spPr>
          <a:xfrm>
            <a:off x="10271702" y="1132198"/>
            <a:ext cx="713400" cy="54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0" name="Google Shape;1150;p17"/>
          <p:cNvSpPr txBox="1"/>
          <p:nvPr/>
        </p:nvSpPr>
        <p:spPr>
          <a:xfrm>
            <a:off x="9554283" y="1088015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51" name="Google Shape;1151;p17"/>
          <p:cNvSpPr txBox="1"/>
          <p:nvPr/>
        </p:nvSpPr>
        <p:spPr>
          <a:xfrm>
            <a:off x="10608229" y="1043887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149" name="Google Shape;1149;p17"/>
          <p:cNvSpPr txBox="1"/>
          <p:nvPr/>
        </p:nvSpPr>
        <p:spPr>
          <a:xfrm>
            <a:off x="10474562" y="1677298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X2&lt;170</a:t>
            </a:r>
            <a:endParaRPr/>
          </a:p>
        </p:txBody>
      </p:sp>
      <p:cxnSp>
        <p:nvCxnSpPr>
          <p:cNvPr id="1152" name="Google Shape;1152;p17"/>
          <p:cNvCxnSpPr>
            <a:endCxn id="1153" idx="0"/>
          </p:cNvCxnSpPr>
          <p:nvPr/>
        </p:nvCxnSpPr>
        <p:spPr>
          <a:xfrm flipH="1">
            <a:off x="10504162" y="2032020"/>
            <a:ext cx="346800" cy="759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4" name="Google Shape;1154;p17"/>
          <p:cNvCxnSpPr/>
          <p:nvPr/>
        </p:nvCxnSpPr>
        <p:spPr>
          <a:xfrm>
            <a:off x="10850876" y="203190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5" name="Google Shape;1155;p17"/>
          <p:cNvSpPr txBox="1"/>
          <p:nvPr/>
        </p:nvSpPr>
        <p:spPr>
          <a:xfrm>
            <a:off x="10386056" y="2083454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56" name="Google Shape;1156;p17"/>
          <p:cNvSpPr txBox="1"/>
          <p:nvPr/>
        </p:nvSpPr>
        <p:spPr>
          <a:xfrm>
            <a:off x="11102336" y="212650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153" name="Google Shape;1153;p17"/>
          <p:cNvSpPr txBox="1"/>
          <p:nvPr/>
        </p:nvSpPr>
        <p:spPr>
          <a:xfrm>
            <a:off x="9993622" y="2791020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X1&lt;38</a:t>
            </a:r>
            <a:endParaRPr/>
          </a:p>
        </p:txBody>
      </p:sp>
      <p:cxnSp>
        <p:nvCxnSpPr>
          <p:cNvPr id="1157" name="Google Shape;1157;p17"/>
          <p:cNvCxnSpPr/>
          <p:nvPr/>
        </p:nvCxnSpPr>
        <p:spPr>
          <a:xfrm flipH="1">
            <a:off x="9624056" y="314442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58" name="Google Shape;1158;p17"/>
          <p:cNvCxnSpPr/>
          <p:nvPr/>
        </p:nvCxnSpPr>
        <p:spPr>
          <a:xfrm>
            <a:off x="10134596" y="314442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59" name="Google Shape;1159;p17"/>
          <p:cNvSpPr txBox="1"/>
          <p:nvPr/>
        </p:nvSpPr>
        <p:spPr>
          <a:xfrm>
            <a:off x="9563096" y="3226939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60" name="Google Shape;1160;p17"/>
          <p:cNvSpPr txBox="1"/>
          <p:nvPr/>
        </p:nvSpPr>
        <p:spPr>
          <a:xfrm>
            <a:off x="10386056" y="323902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161" name="Google Shape;1161;p17"/>
          <p:cNvSpPr txBox="1"/>
          <p:nvPr/>
        </p:nvSpPr>
        <p:spPr>
          <a:xfrm>
            <a:off x="8934442" y="1613901"/>
            <a:ext cx="1021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X2&lt;150</a:t>
            </a:r>
            <a:endParaRPr/>
          </a:p>
        </p:txBody>
      </p:sp>
      <p:cxnSp>
        <p:nvCxnSpPr>
          <p:cNvPr id="1162" name="Google Shape;1162;p17"/>
          <p:cNvCxnSpPr>
            <a:endCxn id="1163" idx="2"/>
          </p:cNvCxnSpPr>
          <p:nvPr/>
        </p:nvCxnSpPr>
        <p:spPr>
          <a:xfrm flipH="1">
            <a:off x="8776329" y="1958697"/>
            <a:ext cx="533400" cy="573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64" name="Google Shape;1164;p17"/>
          <p:cNvCxnSpPr/>
          <p:nvPr/>
        </p:nvCxnSpPr>
        <p:spPr>
          <a:xfrm>
            <a:off x="9311636" y="1940468"/>
            <a:ext cx="510540" cy="68044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3" name="Google Shape;1163;p17"/>
          <p:cNvSpPr txBox="1"/>
          <p:nvPr/>
        </p:nvSpPr>
        <p:spPr>
          <a:xfrm>
            <a:off x="8585829" y="2163265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165" name="Google Shape;1165;p17"/>
          <p:cNvSpPr txBox="1"/>
          <p:nvPr/>
        </p:nvSpPr>
        <p:spPr>
          <a:xfrm>
            <a:off x="9563096" y="1989343"/>
            <a:ext cx="381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sp>
        <p:nvSpPr>
          <p:cNvPr id="1166" name="Google Shape;1166;p17"/>
          <p:cNvSpPr txBox="1"/>
          <p:nvPr/>
        </p:nvSpPr>
        <p:spPr>
          <a:xfrm>
            <a:off x="8384912" y="2504477"/>
            <a:ext cx="676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20.5</a:t>
            </a:r>
            <a:endParaRPr/>
          </a:p>
        </p:txBody>
      </p:sp>
      <p:sp>
        <p:nvSpPr>
          <p:cNvPr id="1167" name="Google Shape;1167;p17"/>
          <p:cNvSpPr txBox="1"/>
          <p:nvPr/>
        </p:nvSpPr>
        <p:spPr>
          <a:xfrm>
            <a:off x="9465785" y="2567362"/>
            <a:ext cx="676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-2.5</a:t>
            </a:r>
            <a:endParaRPr/>
          </a:p>
        </p:txBody>
      </p:sp>
      <p:sp>
        <p:nvSpPr>
          <p:cNvPr id="1168" name="Google Shape;1168;p17"/>
          <p:cNvSpPr txBox="1"/>
          <p:nvPr/>
        </p:nvSpPr>
        <p:spPr>
          <a:xfrm>
            <a:off x="9257114" y="3828818"/>
            <a:ext cx="676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-30.0</a:t>
            </a:r>
            <a:endParaRPr/>
          </a:p>
        </p:txBody>
      </p:sp>
      <p:sp>
        <p:nvSpPr>
          <p:cNvPr id="1169" name="Google Shape;1169;p17"/>
          <p:cNvSpPr txBox="1"/>
          <p:nvPr/>
        </p:nvSpPr>
        <p:spPr>
          <a:xfrm>
            <a:off x="10353208" y="3889344"/>
            <a:ext cx="676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60.0</a:t>
            </a:r>
            <a:endParaRPr/>
          </a:p>
        </p:txBody>
      </p:sp>
      <p:sp>
        <p:nvSpPr>
          <p:cNvPr id="1170" name="Google Shape;1170;p17"/>
          <p:cNvSpPr txBox="1"/>
          <p:nvPr/>
        </p:nvSpPr>
        <p:spPr>
          <a:xfrm>
            <a:off x="11133404" y="2853261"/>
            <a:ext cx="6764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40.5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76" name="Google Shape;1176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Feature scaling is not required for decision tree and random forest model.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2800"/>
              <a:buChar char="•"/>
            </a:pPr>
            <a:r>
              <a:rPr b="0" i="0" lang="en-US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Decision trees have been around for a long time and also known to suffer from bias and variance.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92929"/>
              </a:buClr>
              <a:buSzPts val="2400"/>
              <a:buChar char="•"/>
            </a:pPr>
            <a:r>
              <a:rPr b="0" i="0" lang="en-US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rPr>
              <a:t>You will have a large bias with simple trees and a large variance with complex trees.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Importing the libraries</a:t>
            </a:r>
            <a:endParaRPr/>
          </a:p>
        </p:txBody>
      </p:sp>
      <p:sp>
        <p:nvSpPr>
          <p:cNvPr id="1182" name="Google Shape;1182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 numpy as np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 matplotlib.pyplot as plt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import pandas as pd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Importing the dataset</a:t>
            </a:r>
            <a:endParaRPr/>
          </a:p>
        </p:txBody>
      </p:sp>
      <p:sp>
        <p:nvSpPr>
          <p:cNvPr id="1188" name="Google Shape;118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dataset = pd.read_csv('Position_Salaries.csv’)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x = dataset.iloc[:, 1:-1].values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y = dataset.iloc[:, -1].values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189" name="Google Shape;1189;p20"/>
          <p:cNvGraphicFramePr/>
          <p:nvPr/>
        </p:nvGraphicFramePr>
        <p:xfrm>
          <a:off x="5318760" y="3074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{7DDA6805-59D9-42D4-A3E9-2137EAED39FF}</a:tableStyleId>
              </a:tblPr>
              <a:tblGrid>
                <a:gridCol w="1864350"/>
                <a:gridCol w="1864350"/>
                <a:gridCol w="1864350"/>
              </a:tblGrid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Salary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Analyst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Junior Consultant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 Consultant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Country Manager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 Manager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Partner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Senior Partner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C-level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2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CEO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1000000</a:t>
                      </a:r>
                      <a:endParaRPr/>
                    </a:p>
                  </a:txBody>
                  <a:tcPr marT="9525" marB="0" marR="9525" marL="9525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steps required</a:t>
            </a:r>
            <a:endParaRPr/>
          </a:p>
        </p:txBody>
      </p:sp>
      <p:sp>
        <p:nvSpPr>
          <p:cNvPr id="1195" name="Google Shape;119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Taking care of Missing values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Taking care of Categorical var or labeled var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Split dataset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Don’t need to apply feature scaling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 splits features in different successive ranges, and final predictions are done from different ranges of features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Training the Decision Tree Regression model on the whole dataset</a:t>
            </a:r>
            <a:endParaRPr/>
          </a:p>
        </p:txBody>
      </p:sp>
      <p:sp>
        <p:nvSpPr>
          <p:cNvPr id="1201" name="Google Shape;1201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from sklearn.tree import DecisionTreeRegressor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regressor = DecisionTreeRegressor(random_state = 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regressor.fit(x, y)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Predicting a new result</a:t>
            </a:r>
            <a:endParaRPr/>
          </a:p>
        </p:txBody>
      </p:sp>
      <p:sp>
        <p:nvSpPr>
          <p:cNvPr id="1207" name="Google Shape;120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regressor.predict([[6.5]])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Output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array([150000.])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we have several features (say 3 features)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Regressor.predict([[6.5, 30, 5]])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Visualising the Decision Tree Regression results (higher resolution)</a:t>
            </a:r>
            <a:endParaRPr/>
          </a:p>
        </p:txBody>
      </p:sp>
      <p:sp>
        <p:nvSpPr>
          <p:cNvPr id="1213" name="Google Shape;1213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x_grid = np.arange(min(x), max(x), 0.01)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x_grid = x_grid.reshape((len(x_grid), 1))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plt.scatter(x, y, color = 'red')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plt.plot(x_grid, regressor.predict(x_grid), color = 'blue')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plt.title('Truth or Bluff (Decision Tree Regression)')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plt.xlabel('Position level')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plt.ylabel('Salary')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plt.show()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dataset is multidimensional then there is no meaning of plotting it in two dimension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Output</a:t>
            </a:r>
            <a:endParaRPr/>
          </a:p>
        </p:txBody>
      </p:sp>
      <p:pic>
        <p:nvPicPr>
          <p:cNvPr id="1219" name="Google Shape;1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7542" y="2105024"/>
            <a:ext cx="5456783" cy="3930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done here</a:t>
            </a:r>
            <a:endParaRPr/>
          </a:p>
        </p:txBody>
      </p:sp>
      <p:sp>
        <p:nvSpPr>
          <p:cNvPr id="1225" name="Google Shape;1225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Take the real results (salaries) for each position level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all the position levels, from position level-4.5 to position level +4.5 it predicted the salary to be the same as the position level in the middle.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 we know different ranges of the features where the prediction is the same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here all the predicted salaries in the range position level-4.5 to position level +4.5  are just the same.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Here, Regression curve is not continuous, we jump from position level to the next one every step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Regression trees generally have great performance for higher dimensional datasets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2021-03-27T15:09:21Z</dcterms:created>
  <dc:creator>Manjari Gupta</dc:creator>
</cp:coreProperties>
</file>