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metadata" ContentType="application/binary"/>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embeddedFontLst>
    <p:embeddedFont>
      <p:font typeface="Gill Sans" charset="0"/>
      <p:regular r:id="rId50"/>
      <p:bold r:id="rId51"/>
    </p:embeddedFont>
    <p:embeddedFont>
      <p:font typeface="Georgia" pitchFamily="18" charset="0"/>
      <p:regular r:id="rId52"/>
      <p:bold r:id="rId53"/>
      <p:italic r:id="rId54"/>
      <p:boldItalic r:id="rId55"/>
    </p:embeddedFont>
    <p:embeddedFont>
      <p:font typeface="Gill Sans MT" pitchFamily="34" charset="0"/>
      <p:regular r:id="rId56"/>
      <p:bold r:id="rId57"/>
      <p:italic r:id="rId58"/>
      <p:boldItalic r:id="rId59"/>
    </p:embeddedFont>
    <p:embeddedFont>
      <p:font typeface="Calibri" pitchFamily="34" charset="0"/>
      <p:regular r:id="rId60"/>
      <p:bold r:id="rId61"/>
      <p:italic r:id="rId62"/>
      <p:boldItalic r:id="rId63"/>
    </p:embeddedFont>
    <p:embeddedFont>
      <p:font typeface="Helvetica Neue" charset="0"/>
      <p:regular r:id="rId64"/>
      <p:bold r:id="rId65"/>
      <p:italic r:id="rId66"/>
      <p:boldItalic r:id="rId67"/>
    </p:embeddedFont>
    <p:embeddedFont>
      <p:font typeface="Montserrat"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2" roundtripDataSignature="AMtx7mihHomXR3kQORb2Mjsh/jeSyO/sRA=="/>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709CEF34-8E84-4821-AB24-1D7DF5614D03}">
  <a:tblStyle styleId="{709CEF34-8E84-4821-AB24-1D7DF5614D03}" styleName="Table_0">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E7E8"/>
          </a:solidFill>
        </a:fill>
      </a:tcStyle>
    </a:wholeTbl>
    <a:band1H>
      <a:tcTxStyle/>
      <a:tcStyle>
        <a:tcBdr/>
        <a:fill>
          <a:solidFill>
            <a:srgbClr val="E5CBCD"/>
          </a:solidFill>
        </a:fill>
      </a:tcStyle>
    </a:band1H>
    <a:band2H>
      <a:tcTxStyle/>
      <a:tcStyle>
        <a:tcBdr/>
      </a:tcStyle>
    </a:band2H>
    <a:band1V>
      <a:tcTxStyle/>
      <a:tcStyle>
        <a:tcBdr/>
        <a:fill>
          <a:solidFill>
            <a:srgbClr val="E5CBCD"/>
          </a:solidFill>
        </a:fill>
      </a:tcStyle>
    </a:band1V>
    <a:band2V>
      <a:tcTxStyle/>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80DA933C-2723-47EF-95B8-BE5FC27C64DC}"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56" d="100"/>
          <a:sy n="156" d="100"/>
        </p:scale>
        <p:origin x="-3144" y="-96"/>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font" Target="fonts/font14.fntdata"/><Relationship Id="rId68" Type="http://schemas.openxmlformats.org/officeDocument/2006/relationships/font" Target="fonts/font19.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22.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61"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font" Target="fonts/font2.fntdata"/><Relationship Id="rId72"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font" Target="fonts/font21.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8" name="Google Shape;348;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0" name="Google Shape;360;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4" name="Google Shape;374;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9" name="Google Shape;399;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49"/>
          <p:cNvSpPr txBox="1">
            <a:spLocks noGrp="1"/>
          </p:cNvSpPr>
          <p:nvPr>
            <p:ph type="ctrTitle"/>
          </p:nvPr>
        </p:nvSpPr>
        <p:spPr>
          <a:xfrm>
            <a:off x="2417779" y="802298"/>
            <a:ext cx="8637073" cy="2541431"/>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49"/>
          <p:cNvSpPr txBox="1">
            <a:spLocks noGrp="1"/>
          </p:cNvSpPr>
          <p:nvPr>
            <p:ph type="subTitle" idx="1"/>
          </p:nvPr>
        </p:nvSpPr>
        <p:spPr>
          <a:xfrm>
            <a:off x="2417780" y="3531204"/>
            <a:ext cx="8637072" cy="977621"/>
          </a:xfrm>
          <a:prstGeom prst="rect">
            <a:avLst/>
          </a:prstGeom>
          <a:noFill/>
          <a:ln>
            <a:noFill/>
          </a:ln>
        </p:spPr>
        <p:txBody>
          <a:bodyPr spcFirstLastPara="1" wrap="square" lIns="91425" tIns="91425" rIns="91425" bIns="91425" anchor="t" anchorCtr="0">
            <a:normAutofit/>
          </a:bodyPr>
          <a:lstStyle>
            <a:lvl1pPr lvl="0" algn="l">
              <a:lnSpc>
                <a:spcPct val="120000"/>
              </a:lnSpc>
              <a:spcBef>
                <a:spcPts val="1000"/>
              </a:spcBef>
              <a:spcAft>
                <a:spcPts val="0"/>
              </a:spcAft>
              <a:buSzPts val="1800"/>
              <a:buNone/>
              <a:defRPr sz="1800" b="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a:endParaRPr/>
          </a:p>
        </p:txBody>
      </p:sp>
      <p:sp>
        <p:nvSpPr>
          <p:cNvPr id="17" name="Google Shape;17;p49"/>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49"/>
          <p:cNvSpPr txBox="1">
            <a:spLocks noGrp="1"/>
          </p:cNvSpPr>
          <p:nvPr>
            <p:ph type="ftr" idx="11"/>
          </p:nvPr>
        </p:nvSpPr>
        <p:spPr>
          <a:xfrm>
            <a:off x="2416500" y="329307"/>
            <a:ext cx="4973915"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9"/>
          <p:cNvSpPr txBox="1">
            <a:spLocks noGrp="1"/>
          </p:cNvSpPr>
          <p:nvPr>
            <p:ph type="sldNum" idx="12"/>
          </p:nvPr>
        </p:nvSpPr>
        <p:spPr>
          <a:xfrm>
            <a:off x="1437664"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20" name="Google Shape;20;p49"/>
          <p:cNvCxnSpPr/>
          <p:nvPr/>
        </p:nvCxnSpPr>
        <p:spPr>
          <a:xfrm>
            <a:off x="2417780" y="3528542"/>
            <a:ext cx="863707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0"/>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24" name="Google Shape;24;p50"/>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0"/>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0"/>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27" name="Google Shape;27;p50"/>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51"/>
          <p:cNvSpPr txBox="1">
            <a:spLocks noGrp="1"/>
          </p:cNvSpPr>
          <p:nvPr>
            <p:ph type="title"/>
          </p:nvPr>
        </p:nvSpPr>
        <p:spPr>
          <a:xfrm>
            <a:off x="1454239" y="1756130"/>
            <a:ext cx="8643154" cy="18879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1"/>
          <p:cNvSpPr txBox="1">
            <a:spLocks noGrp="1"/>
          </p:cNvSpPr>
          <p:nvPr>
            <p:ph type="body" idx="1"/>
          </p:nvPr>
        </p:nvSpPr>
        <p:spPr>
          <a:xfrm>
            <a:off x="1454239" y="3806195"/>
            <a:ext cx="8630446" cy="1012929"/>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1000"/>
              </a:spcBef>
              <a:spcAft>
                <a:spcPts val="0"/>
              </a:spcAft>
              <a:buSzPts val="1800"/>
              <a:buNone/>
              <a:defRPr sz="1800">
                <a:solidFill>
                  <a:schemeClr val="dk1"/>
                </a:solidFill>
              </a:defRPr>
            </a:lvl1pPr>
            <a:lvl2pPr marL="914400" lvl="1" indent="-228600" algn="l">
              <a:lnSpc>
                <a:spcPct val="120000"/>
              </a:lnSpc>
              <a:spcBef>
                <a:spcPts val="500"/>
              </a:spcBef>
              <a:spcAft>
                <a:spcPts val="0"/>
              </a:spcAft>
              <a:buSzPts val="1800"/>
              <a:buNone/>
              <a:defRPr sz="1800">
                <a:solidFill>
                  <a:srgbClr val="888888"/>
                </a:solidFill>
              </a:defRPr>
            </a:lvl2pPr>
            <a:lvl3pPr marL="1371600" lvl="2" indent="-228600" algn="l">
              <a:lnSpc>
                <a:spcPct val="120000"/>
              </a:lnSpc>
              <a:spcBef>
                <a:spcPts val="500"/>
              </a:spcBef>
              <a:spcAft>
                <a:spcPts val="0"/>
              </a:spcAft>
              <a:buSzPts val="1800"/>
              <a:buNone/>
              <a:defRPr sz="1800">
                <a:solidFill>
                  <a:srgbClr val="888888"/>
                </a:solidFill>
              </a:defRPr>
            </a:lvl3pPr>
            <a:lvl4pPr marL="1828800" lvl="3" indent="-228600" algn="l">
              <a:lnSpc>
                <a:spcPct val="120000"/>
              </a:lnSpc>
              <a:spcBef>
                <a:spcPts val="500"/>
              </a:spcBef>
              <a:spcAft>
                <a:spcPts val="0"/>
              </a:spcAft>
              <a:buSzPts val="1600"/>
              <a:buNone/>
              <a:defRPr sz="1600">
                <a:solidFill>
                  <a:srgbClr val="888888"/>
                </a:solidFill>
              </a:defRPr>
            </a:lvl4pPr>
            <a:lvl5pPr marL="2286000" lvl="4" indent="-228600" algn="l">
              <a:lnSpc>
                <a:spcPct val="120000"/>
              </a:lnSpc>
              <a:spcBef>
                <a:spcPts val="500"/>
              </a:spcBef>
              <a:spcAft>
                <a:spcPts val="0"/>
              </a:spcAft>
              <a:buSzPts val="1600"/>
              <a:buNone/>
              <a:defRPr sz="1600">
                <a:solidFill>
                  <a:srgbClr val="888888"/>
                </a:solidFill>
              </a:defRPr>
            </a:lvl5pPr>
            <a:lvl6pPr marL="2743200" lvl="5" indent="-228600" algn="l">
              <a:lnSpc>
                <a:spcPct val="120000"/>
              </a:lnSpc>
              <a:spcBef>
                <a:spcPts val="500"/>
              </a:spcBef>
              <a:spcAft>
                <a:spcPts val="0"/>
              </a:spcAft>
              <a:buSzPts val="1600"/>
              <a:buNone/>
              <a:defRPr sz="1600">
                <a:solidFill>
                  <a:srgbClr val="888888"/>
                </a:solidFill>
              </a:defRPr>
            </a:lvl6pPr>
            <a:lvl7pPr marL="3200400" lvl="6" indent="-228600" algn="l">
              <a:lnSpc>
                <a:spcPct val="120000"/>
              </a:lnSpc>
              <a:spcBef>
                <a:spcPts val="500"/>
              </a:spcBef>
              <a:spcAft>
                <a:spcPts val="0"/>
              </a:spcAft>
              <a:buSzPts val="1600"/>
              <a:buNone/>
              <a:defRPr sz="1600">
                <a:solidFill>
                  <a:srgbClr val="888888"/>
                </a:solidFill>
              </a:defRPr>
            </a:lvl7pPr>
            <a:lvl8pPr marL="3657600" lvl="7" indent="-228600" algn="l">
              <a:lnSpc>
                <a:spcPct val="120000"/>
              </a:lnSpc>
              <a:spcBef>
                <a:spcPts val="500"/>
              </a:spcBef>
              <a:spcAft>
                <a:spcPts val="0"/>
              </a:spcAft>
              <a:buSzPts val="1600"/>
              <a:buNone/>
              <a:defRPr sz="1600">
                <a:solidFill>
                  <a:srgbClr val="888888"/>
                </a:solidFill>
              </a:defRPr>
            </a:lvl8pPr>
            <a:lvl9pPr marL="4114800" lvl="8" indent="-228600" algn="l">
              <a:lnSpc>
                <a:spcPct val="120000"/>
              </a:lnSpc>
              <a:spcBef>
                <a:spcPts val="500"/>
              </a:spcBef>
              <a:spcAft>
                <a:spcPts val="0"/>
              </a:spcAft>
              <a:buSzPts val="1600"/>
              <a:buNone/>
              <a:defRPr sz="1600">
                <a:solidFill>
                  <a:srgbClr val="888888"/>
                </a:solidFill>
              </a:defRPr>
            </a:lvl9pPr>
          </a:lstStyle>
          <a:p>
            <a:endParaRPr/>
          </a:p>
        </p:txBody>
      </p:sp>
      <p:sp>
        <p:nvSpPr>
          <p:cNvPr id="31" name="Google Shape;31;p51"/>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1"/>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1"/>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34" name="Google Shape;34;p51"/>
          <p:cNvCxnSpPr/>
          <p:nvPr/>
        </p:nvCxnSpPr>
        <p:spPr>
          <a:xfrm>
            <a:off x="1454239" y="3804985"/>
            <a:ext cx="8630446"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52"/>
          <p:cNvSpPr txBox="1">
            <a:spLocks noGrp="1"/>
          </p:cNvSpPr>
          <p:nvPr>
            <p:ph type="title"/>
          </p:nvPr>
        </p:nvSpPr>
        <p:spPr>
          <a:xfrm>
            <a:off x="1449217" y="804889"/>
            <a:ext cx="9605635" cy="105930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2"/>
          <p:cNvSpPr txBox="1">
            <a:spLocks noGrp="1"/>
          </p:cNvSpPr>
          <p:nvPr>
            <p:ph type="body" idx="1"/>
          </p:nvPr>
        </p:nvSpPr>
        <p:spPr>
          <a:xfrm>
            <a:off x="1447331" y="2010878"/>
            <a:ext cx="4645152" cy="344859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38" name="Google Shape;38;p52"/>
          <p:cNvSpPr txBox="1">
            <a:spLocks noGrp="1"/>
          </p:cNvSpPr>
          <p:nvPr>
            <p:ph type="body" idx="2"/>
          </p:nvPr>
        </p:nvSpPr>
        <p:spPr>
          <a:xfrm>
            <a:off x="6413771" y="2017343"/>
            <a:ext cx="4645152" cy="344152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39" name="Google Shape;39;p52"/>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2"/>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2"/>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42" name="Google Shape;42;p52"/>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1447191" y="804163"/>
            <a:ext cx="9607661" cy="105631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1447191" y="2019549"/>
            <a:ext cx="4645152" cy="80194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2200"/>
              <a:buNone/>
              <a:defRPr sz="2200" b="0" cap="none">
                <a:solidFill>
                  <a:schemeClr val="accent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46" name="Google Shape;46;p53"/>
          <p:cNvSpPr txBox="1">
            <a:spLocks noGrp="1"/>
          </p:cNvSpPr>
          <p:nvPr>
            <p:ph type="body" idx="2"/>
          </p:nvPr>
        </p:nvSpPr>
        <p:spPr>
          <a:xfrm>
            <a:off x="1447191" y="2824269"/>
            <a:ext cx="4645152" cy="264445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7" name="Google Shape;47;p53"/>
          <p:cNvSpPr txBox="1">
            <a:spLocks noGrp="1"/>
          </p:cNvSpPr>
          <p:nvPr>
            <p:ph type="body" idx="3"/>
          </p:nvPr>
        </p:nvSpPr>
        <p:spPr>
          <a:xfrm>
            <a:off x="6412362" y="2023003"/>
            <a:ext cx="4645152" cy="80223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2200"/>
              <a:buNone/>
              <a:defRPr sz="2200" b="0" cap="none">
                <a:solidFill>
                  <a:schemeClr val="accent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48" name="Google Shape;48;p53"/>
          <p:cNvSpPr txBox="1">
            <a:spLocks noGrp="1"/>
          </p:cNvSpPr>
          <p:nvPr>
            <p:ph type="body" idx="4"/>
          </p:nvPr>
        </p:nvSpPr>
        <p:spPr>
          <a:xfrm>
            <a:off x="6412362" y="2821491"/>
            <a:ext cx="4645152" cy="263737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9" name="Google Shape;49;p53"/>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53"/>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53"/>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52" name="Google Shape;52;p53"/>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5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54"/>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4"/>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4"/>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58" name="Google Shape;58;p54"/>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55"/>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55"/>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5"/>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56"/>
          <p:cNvSpPr txBox="1">
            <a:spLocks noGrp="1"/>
          </p:cNvSpPr>
          <p:nvPr>
            <p:ph type="title"/>
          </p:nvPr>
        </p:nvSpPr>
        <p:spPr>
          <a:xfrm>
            <a:off x="1444671" y="798973"/>
            <a:ext cx="3273099" cy="22471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56"/>
          <p:cNvSpPr txBox="1">
            <a:spLocks noGrp="1"/>
          </p:cNvSpPr>
          <p:nvPr>
            <p:ph type="body" idx="1"/>
          </p:nvPr>
        </p:nvSpPr>
        <p:spPr>
          <a:xfrm>
            <a:off x="5043714" y="798974"/>
            <a:ext cx="6012470" cy="4658826"/>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66" name="Google Shape;66;p56"/>
          <p:cNvSpPr txBox="1">
            <a:spLocks noGrp="1"/>
          </p:cNvSpPr>
          <p:nvPr>
            <p:ph type="body" idx="2"/>
          </p:nvPr>
        </p:nvSpPr>
        <p:spPr>
          <a:xfrm>
            <a:off x="1444671" y="3205491"/>
            <a:ext cx="3275013" cy="2248181"/>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67" name="Google Shape;67;p56"/>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56"/>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6"/>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70" name="Google Shape;70;p56"/>
          <p:cNvCxnSpPr/>
          <p:nvPr/>
        </p:nvCxnSpPr>
        <p:spPr>
          <a:xfrm>
            <a:off x="1448280" y="3205491"/>
            <a:ext cx="326949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grpSp>
        <p:nvGrpSpPr>
          <p:cNvPr id="72" name="Google Shape;72;p57"/>
          <p:cNvGrpSpPr/>
          <p:nvPr/>
        </p:nvGrpSpPr>
        <p:grpSpPr>
          <a:xfrm>
            <a:off x="7477387" y="482170"/>
            <a:ext cx="4074533" cy="5149101"/>
            <a:chOff x="7477387" y="482170"/>
            <a:chExt cx="4074533" cy="5149101"/>
          </a:xfrm>
        </p:grpSpPr>
        <p:sp>
          <p:nvSpPr>
            <p:cNvPr id="73" name="Google Shape;73;p57"/>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7"/>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 name="Google Shape;75;p57"/>
          <p:cNvSpPr txBox="1">
            <a:spLocks noGrp="1"/>
          </p:cNvSpPr>
          <p:nvPr>
            <p:ph type="title"/>
          </p:nvPr>
        </p:nvSpPr>
        <p:spPr>
          <a:xfrm>
            <a:off x="1451206" y="1129513"/>
            <a:ext cx="5532328" cy="18305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57"/>
          <p:cNvSpPr>
            <a:spLocks noGrp="1"/>
          </p:cNvSpPr>
          <p:nvPr>
            <p:ph type="pic" idx="2"/>
          </p:nvPr>
        </p:nvSpPr>
        <p:spPr>
          <a:xfrm>
            <a:off x="8124389" y="1122542"/>
            <a:ext cx="2791171" cy="3866327"/>
          </a:xfrm>
          <a:prstGeom prst="rect">
            <a:avLst/>
          </a:prstGeom>
          <a:solidFill>
            <a:srgbClr val="D8D8D8"/>
          </a:solidFill>
          <a:ln>
            <a:noFill/>
          </a:ln>
        </p:spPr>
      </p:sp>
      <p:sp>
        <p:nvSpPr>
          <p:cNvPr id="77" name="Google Shape;77;p57"/>
          <p:cNvSpPr txBox="1">
            <a:spLocks noGrp="1"/>
          </p:cNvSpPr>
          <p:nvPr>
            <p:ph type="body" idx="1"/>
          </p:nvPr>
        </p:nvSpPr>
        <p:spPr>
          <a:xfrm>
            <a:off x="1450329" y="3145992"/>
            <a:ext cx="5524404" cy="200374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800"/>
              <a:buNone/>
              <a:defRPr sz="18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78" name="Google Shape;78;p57"/>
          <p:cNvSpPr txBox="1">
            <a:spLocks noGrp="1"/>
          </p:cNvSpPr>
          <p:nvPr>
            <p:ph type="dt" idx="10"/>
          </p:nvPr>
        </p:nvSpPr>
        <p:spPr>
          <a:xfrm>
            <a:off x="1447382" y="5469856"/>
            <a:ext cx="5527351" cy="32012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7"/>
          <p:cNvSpPr txBox="1">
            <a:spLocks noGrp="1"/>
          </p:cNvSpPr>
          <p:nvPr>
            <p:ph type="ftr" idx="11"/>
          </p:nvPr>
        </p:nvSpPr>
        <p:spPr>
          <a:xfrm>
            <a:off x="1447382" y="318640"/>
            <a:ext cx="5541004" cy="32093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7"/>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81" name="Google Shape;81;p57"/>
          <p:cNvCxnSpPr/>
          <p:nvPr/>
        </p:nvCxnSpPr>
        <p:spPr>
          <a:xfrm>
            <a:off x="1447382" y="3143605"/>
            <a:ext cx="552735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5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58"/>
          <p:cNvSpPr txBox="1">
            <a:spLocks noGrp="1"/>
          </p:cNvSpPr>
          <p:nvPr>
            <p:ph type="body" idx="1"/>
          </p:nvPr>
        </p:nvSpPr>
        <p:spPr>
          <a:xfrm rot="5400000">
            <a:off x="4527910" y="-1060599"/>
            <a:ext cx="3450613" cy="960327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85" name="Google Shape;85;p58"/>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58"/>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58"/>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88" name="Google Shape;88;p58"/>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rot="5400000">
            <a:off x="7917038" y="2321047"/>
            <a:ext cx="4659889" cy="161574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rot="5400000">
            <a:off x="3029143" y="-785498"/>
            <a:ext cx="4659889" cy="782883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92" name="Google Shape;92;p59"/>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59"/>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59"/>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95" name="Google Shape;95;p59"/>
          <p:cNvCxnSpPr/>
          <p:nvPr/>
        </p:nvCxnSpPr>
        <p:spPr>
          <a:xfrm>
            <a:off x="9439111" y="798973"/>
            <a:ext cx="0" cy="4659889"/>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a:path>
          <a:tileRect/>
        </a:gradFill>
        <a:effectLst/>
      </p:bgPr>
    </p:bg>
    <p:spTree>
      <p:nvGrpSpPr>
        <p:cNvPr id="1" name="Shape 5"/>
        <p:cNvGrpSpPr/>
        <p:nvPr/>
      </p:nvGrpSpPr>
      <p:grpSpPr>
        <a:xfrm>
          <a:off x="0" y="0"/>
          <a:ext cx="0" cy="0"/>
          <a:chOff x="0" y="0"/>
          <a:chExt cx="0" cy="0"/>
        </a:xfrm>
      </p:grpSpPr>
      <p:sp>
        <p:nvSpPr>
          <p:cNvPr id="6" name="Google Shape;6;p48"/>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Google Shape;7;p48"/>
          <p:cNvPicPr preferRelativeResize="0"/>
          <p:nvPr/>
        </p:nvPicPr>
        <p:blipFill rotWithShape="1">
          <a:blip r:embed="rId13">
            <a:alphaModFix/>
          </a:blip>
          <a:srcRect t="1538" b="-1538"/>
          <a:stretch/>
        </p:blipFill>
        <p:spPr>
          <a:xfrm>
            <a:off x="0" y="6126480"/>
            <a:ext cx="12192000" cy="742950"/>
          </a:xfrm>
          <a:prstGeom prst="rect">
            <a:avLst/>
          </a:prstGeom>
          <a:noFill/>
          <a:ln>
            <a:noFill/>
          </a:ln>
        </p:spPr>
      </p:pic>
      <p:sp>
        <p:nvSpPr>
          <p:cNvPr id="8" name="Google Shape;8;p4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3200"/>
              <a:buFont typeface="Gill Sans"/>
              <a:buNone/>
              <a:defRPr sz="320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48"/>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10" name="Google Shape;10;p48"/>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rgbClr val="888888"/>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1" name="Google Shape;11;p48"/>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rgbClr val="888888"/>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2" name="Google Shape;12;p48"/>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2800" b="0" i="0" u="none" strike="noStrike" cap="none">
                <a:solidFill>
                  <a:schemeClr val="accent1"/>
                </a:solidFill>
                <a:latin typeface="Gill Sans"/>
                <a:ea typeface="Gill Sans"/>
                <a:cs typeface="Gill Sans"/>
                <a:sym typeface="Gill Sans"/>
              </a:defRPr>
            </a:lvl1pPr>
            <a:lvl2pPr marL="0" marR="0" lvl="1" indent="0" algn="r" rtl="0">
              <a:spcBef>
                <a:spcPts val="0"/>
              </a:spcBef>
              <a:buNone/>
              <a:defRPr sz="2800" b="0" i="0" u="none" strike="noStrike" cap="none">
                <a:solidFill>
                  <a:schemeClr val="accent1"/>
                </a:solidFill>
                <a:latin typeface="Gill Sans"/>
                <a:ea typeface="Gill Sans"/>
                <a:cs typeface="Gill Sans"/>
                <a:sym typeface="Gill Sans"/>
              </a:defRPr>
            </a:lvl2pPr>
            <a:lvl3pPr marL="0" marR="0" lvl="2" indent="0" algn="r" rtl="0">
              <a:spcBef>
                <a:spcPts val="0"/>
              </a:spcBef>
              <a:buNone/>
              <a:defRPr sz="2800" b="0" i="0" u="none" strike="noStrike" cap="none">
                <a:solidFill>
                  <a:schemeClr val="accent1"/>
                </a:solidFill>
                <a:latin typeface="Gill Sans"/>
                <a:ea typeface="Gill Sans"/>
                <a:cs typeface="Gill Sans"/>
                <a:sym typeface="Gill Sans"/>
              </a:defRPr>
            </a:lvl3pPr>
            <a:lvl4pPr marL="0" marR="0" lvl="3" indent="0" algn="r" rtl="0">
              <a:spcBef>
                <a:spcPts val="0"/>
              </a:spcBef>
              <a:buNone/>
              <a:defRPr sz="2800" b="0" i="0" u="none" strike="noStrike" cap="none">
                <a:solidFill>
                  <a:schemeClr val="accent1"/>
                </a:solidFill>
                <a:latin typeface="Gill Sans"/>
                <a:ea typeface="Gill Sans"/>
                <a:cs typeface="Gill Sans"/>
                <a:sym typeface="Gill Sans"/>
              </a:defRPr>
            </a:lvl4pPr>
            <a:lvl5pPr marL="0" marR="0" lvl="4" indent="0" algn="r" rtl="0">
              <a:spcBef>
                <a:spcPts val="0"/>
              </a:spcBef>
              <a:buNone/>
              <a:defRPr sz="2800" b="0" i="0" u="none" strike="noStrike" cap="none">
                <a:solidFill>
                  <a:schemeClr val="accent1"/>
                </a:solidFill>
                <a:latin typeface="Gill Sans"/>
                <a:ea typeface="Gill Sans"/>
                <a:cs typeface="Gill Sans"/>
                <a:sym typeface="Gill Sans"/>
              </a:defRPr>
            </a:lvl5pPr>
            <a:lvl6pPr marL="0" marR="0" lvl="5" indent="0" algn="r" rtl="0">
              <a:spcBef>
                <a:spcPts val="0"/>
              </a:spcBef>
              <a:buNone/>
              <a:defRPr sz="2800" b="0" i="0" u="none" strike="noStrike" cap="none">
                <a:solidFill>
                  <a:schemeClr val="accent1"/>
                </a:solidFill>
                <a:latin typeface="Gill Sans"/>
                <a:ea typeface="Gill Sans"/>
                <a:cs typeface="Gill Sans"/>
                <a:sym typeface="Gill Sans"/>
              </a:defRPr>
            </a:lvl6pPr>
            <a:lvl7pPr marL="0" marR="0" lvl="6" indent="0" algn="r" rtl="0">
              <a:spcBef>
                <a:spcPts val="0"/>
              </a:spcBef>
              <a:buNone/>
              <a:defRPr sz="2800" b="0" i="0" u="none" strike="noStrike" cap="none">
                <a:solidFill>
                  <a:schemeClr val="accent1"/>
                </a:solidFill>
                <a:latin typeface="Gill Sans"/>
                <a:ea typeface="Gill Sans"/>
                <a:cs typeface="Gill Sans"/>
                <a:sym typeface="Gill Sans"/>
              </a:defRPr>
            </a:lvl7pPr>
            <a:lvl8pPr marL="0" marR="0" lvl="7" indent="0" algn="r" rtl="0">
              <a:spcBef>
                <a:spcPts val="0"/>
              </a:spcBef>
              <a:buNone/>
              <a:defRPr sz="2800" b="0" i="0" u="none" strike="noStrike" cap="none">
                <a:solidFill>
                  <a:schemeClr val="accent1"/>
                </a:solidFill>
                <a:latin typeface="Gill Sans"/>
                <a:ea typeface="Gill Sans"/>
                <a:cs typeface="Gill Sans"/>
                <a:sym typeface="Gill Sans"/>
              </a:defRPr>
            </a:lvl8pPr>
            <a:lvl9pPr marL="0" marR="0" lvl="8" indent="0" algn="r" rtl="0">
              <a:spcBef>
                <a:spcPts val="0"/>
              </a:spcBef>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13" name="Google Shape;13;p48"/>
          <p:cNvCxnSpPr/>
          <p:nvPr/>
        </p:nvCxnSpPr>
        <p:spPr>
          <a:xfrm>
            <a:off x="0" y="6128413"/>
            <a:ext cx="12192000" cy="0"/>
          </a:xfrm>
          <a:prstGeom prst="straightConnector1">
            <a:avLst/>
          </a:prstGeom>
          <a:noFill/>
          <a:ln w="12700" cap="flat" cmpd="sng">
            <a:solidFill>
              <a:srgbClr val="000001">
                <a:alpha val="20000"/>
              </a:srgbClr>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youtube.com/watch?v=OFyyWcw2cyM"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hyperlink" Target="https://github.com/krishnaik06/Dimesnsionality-Reduction/blob/master/01-Principal%20Component%20Analysis.ipynb"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2110154" y="1027381"/>
            <a:ext cx="9383151" cy="2541431"/>
          </a:xfrm>
          <a:prstGeom prst="rect">
            <a:avLst/>
          </a:prstGeom>
          <a:noFill/>
          <a:ln>
            <a:noFill/>
          </a:ln>
        </p:spPr>
        <p:txBody>
          <a:bodyPr spcFirstLastPara="1" wrap="square" lIns="91425" tIns="45700" rIns="91425" bIns="0" anchor="b" anchorCtr="0">
            <a:normAutofit fontScale="90000"/>
          </a:bodyPr>
          <a:lstStyle/>
          <a:p>
            <a:pPr marL="0" lvl="0" indent="0" algn="l" rtl="0">
              <a:lnSpc>
                <a:spcPct val="90000"/>
              </a:lnSpc>
              <a:spcBef>
                <a:spcPts val="0"/>
              </a:spcBef>
              <a:spcAft>
                <a:spcPts val="0"/>
              </a:spcAft>
              <a:buClr>
                <a:schemeClr val="dk1"/>
              </a:buClr>
              <a:buSzPct val="100000"/>
              <a:buFont typeface="Gill Sans"/>
              <a:buNone/>
            </a:pPr>
            <a:r>
              <a:rPr lang="en-US"/>
              <a:t>EXPLORING (&amp; PLOTTING) NUMERICAL AND CATEGORICAL DATA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BOX PLOTS</a:t>
            </a:r>
            <a:endParaRPr/>
          </a:p>
        </p:txBody>
      </p:sp>
      <p:sp>
        <p:nvSpPr>
          <p:cNvPr id="106" name="Google Shape;106;p2"/>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is an extremely effective mechanism to get a one-shot view and understand the nature of the data. </a:t>
            </a:r>
            <a:endParaRPr/>
          </a:p>
          <a:p>
            <a:pPr marL="228600" lvl="0" indent="-228600" algn="l" rtl="0">
              <a:lnSpc>
                <a:spcPct val="120000"/>
              </a:lnSpc>
              <a:spcBef>
                <a:spcPts val="1000"/>
              </a:spcBef>
              <a:spcAft>
                <a:spcPts val="0"/>
              </a:spcAft>
              <a:buSzPts val="2000"/>
              <a:buChar char="•"/>
            </a:pPr>
            <a:r>
              <a:rPr lang="en-US"/>
              <a:t>Also called as whisker plot</a:t>
            </a:r>
            <a:endParaRPr/>
          </a:p>
          <a:p>
            <a:pPr marL="228600" lvl="0" indent="-228600" algn="l" rtl="0">
              <a:lnSpc>
                <a:spcPct val="120000"/>
              </a:lnSpc>
              <a:spcBef>
                <a:spcPts val="1000"/>
              </a:spcBef>
              <a:spcAft>
                <a:spcPts val="0"/>
              </a:spcAft>
              <a:buSzPts val="2000"/>
              <a:buChar char="•"/>
            </a:pPr>
            <a:r>
              <a:rPr lang="en-US"/>
              <a:t>gives a standard visualization of the five-number summary statistics of a data, namely minimum, first quartile (Q1), median (Q2), third quartile (Q3), and maximum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txBox="1">
            <a:spLocks noGrp="1"/>
          </p:cNvSpPr>
          <p:nvPr>
            <p:ph type="title"/>
          </p:nvPr>
        </p:nvSpPr>
        <p:spPr>
          <a:xfrm>
            <a:off x="1294362" y="365125"/>
            <a:ext cx="9603275" cy="56004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BOX PLOTS</a:t>
            </a:r>
            <a:endParaRPr/>
          </a:p>
        </p:txBody>
      </p:sp>
      <p:sp>
        <p:nvSpPr>
          <p:cNvPr id="112" name="Google Shape;112;p3"/>
          <p:cNvSpPr txBox="1">
            <a:spLocks noGrp="1"/>
          </p:cNvSpPr>
          <p:nvPr>
            <p:ph type="body" idx="1"/>
          </p:nvPr>
        </p:nvSpPr>
        <p:spPr>
          <a:xfrm>
            <a:off x="4853354" y="645148"/>
            <a:ext cx="7216726" cy="5250765"/>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The central rectangle or the box spans from first to third quartile (i.e. Q1 to Q3), thus giving the inter-quartile range (IQR).</a:t>
            </a:r>
            <a:endParaRPr/>
          </a:p>
          <a:p>
            <a:pPr marL="228600" lvl="0" indent="-228600" algn="l" rtl="0">
              <a:lnSpc>
                <a:spcPct val="120000"/>
              </a:lnSpc>
              <a:spcBef>
                <a:spcPts val="1000"/>
              </a:spcBef>
              <a:spcAft>
                <a:spcPts val="0"/>
              </a:spcAft>
              <a:buSzPts val="2000"/>
              <a:buChar char="•"/>
            </a:pPr>
            <a:r>
              <a:rPr lang="en-US"/>
              <a:t>Median is given by the line or band within the box.</a:t>
            </a:r>
            <a:endParaRPr/>
          </a:p>
          <a:p>
            <a:pPr marL="228600" lvl="0" indent="-228600" algn="l" rtl="0">
              <a:lnSpc>
                <a:spcPct val="120000"/>
              </a:lnSpc>
              <a:spcBef>
                <a:spcPts val="1000"/>
              </a:spcBef>
              <a:spcAft>
                <a:spcPts val="0"/>
              </a:spcAft>
              <a:buSzPts val="2000"/>
              <a:buChar char="•"/>
            </a:pPr>
            <a:r>
              <a:rPr lang="en-US"/>
              <a:t>The lower whisker extends up to 1.5 times of the inter-quartile range (or IQR) from the bottom of the box, i.e. the first quartile or Q1.</a:t>
            </a:r>
            <a:endParaRPr/>
          </a:p>
          <a:p>
            <a:pPr marL="228600" lvl="0" indent="-228600" algn="l" rtl="0">
              <a:lnSpc>
                <a:spcPct val="120000"/>
              </a:lnSpc>
              <a:spcBef>
                <a:spcPts val="1000"/>
              </a:spcBef>
              <a:spcAft>
                <a:spcPts val="0"/>
              </a:spcAft>
              <a:buSzPts val="2000"/>
              <a:buChar char="•"/>
            </a:pPr>
            <a:r>
              <a:rPr lang="en-US"/>
              <a:t>The upper whisker extends up to 1.5 times of the inter-quartile range (or IQR) from the top of the box, i.e. the third quartile or Q3. </a:t>
            </a:r>
            <a:endParaRPr/>
          </a:p>
          <a:p>
            <a:pPr marL="228600" lvl="0" indent="-228600" algn="l" rtl="0">
              <a:lnSpc>
                <a:spcPct val="120000"/>
              </a:lnSpc>
              <a:spcBef>
                <a:spcPts val="1000"/>
              </a:spcBef>
              <a:spcAft>
                <a:spcPts val="0"/>
              </a:spcAft>
              <a:buSzPts val="2000"/>
              <a:buChar char="•"/>
            </a:pPr>
            <a:r>
              <a:rPr lang="en-US"/>
              <a:t>The data values coming beyond the lower or upper whiskers are the ones which are of unusually low or high values respectively. </a:t>
            </a:r>
            <a:endParaRPr/>
          </a:p>
          <a:p>
            <a:pPr marL="228600" lvl="0" indent="-228600" algn="l" rtl="0">
              <a:lnSpc>
                <a:spcPct val="120000"/>
              </a:lnSpc>
              <a:spcBef>
                <a:spcPts val="1000"/>
              </a:spcBef>
              <a:spcAft>
                <a:spcPts val="0"/>
              </a:spcAft>
              <a:buSzPts val="2000"/>
              <a:buChar char="•"/>
            </a:pPr>
            <a:r>
              <a:rPr lang="en-US"/>
              <a:t>These are the outliers, which may deserve special consideration.</a:t>
            </a:r>
            <a:endParaRPr/>
          </a:p>
          <a:p>
            <a:pPr marL="228600" lvl="0" indent="-101600" algn="l" rtl="0">
              <a:lnSpc>
                <a:spcPct val="120000"/>
              </a:lnSpc>
              <a:spcBef>
                <a:spcPts val="1000"/>
              </a:spcBef>
              <a:spcAft>
                <a:spcPts val="0"/>
              </a:spcAft>
              <a:buSzPts val="2000"/>
              <a:buNone/>
            </a:pPr>
            <a:endParaRPr b="1"/>
          </a:p>
          <a:p>
            <a:pPr marL="228600" lvl="0" indent="-101600" algn="l" rtl="0">
              <a:lnSpc>
                <a:spcPct val="120000"/>
              </a:lnSpc>
              <a:spcBef>
                <a:spcPts val="1000"/>
              </a:spcBef>
              <a:spcAft>
                <a:spcPts val="0"/>
              </a:spcAft>
              <a:buSzPts val="2000"/>
              <a:buNone/>
            </a:pPr>
            <a:endParaRPr/>
          </a:p>
          <a:p>
            <a:pPr marL="228600" lvl="0" indent="-101600" algn="l" rtl="0">
              <a:lnSpc>
                <a:spcPct val="120000"/>
              </a:lnSpc>
              <a:spcBef>
                <a:spcPts val="1000"/>
              </a:spcBef>
              <a:spcAft>
                <a:spcPts val="0"/>
              </a:spcAft>
              <a:buSzPts val="2000"/>
              <a:buNone/>
            </a:pPr>
            <a:endParaRPr/>
          </a:p>
        </p:txBody>
      </p:sp>
      <p:pic>
        <p:nvPicPr>
          <p:cNvPr id="113" name="Google Shape;113;p3" descr="https://learning.oreilly.com/library/view/machine-learning/9789389588132/images/42-1.png"/>
          <p:cNvPicPr preferRelativeResize="0"/>
          <p:nvPr/>
        </p:nvPicPr>
        <p:blipFill rotWithShape="1">
          <a:blip r:embed="rId3">
            <a:alphaModFix/>
          </a:blip>
          <a:srcRect/>
          <a:stretch/>
        </p:blipFill>
        <p:spPr>
          <a:xfrm>
            <a:off x="361364" y="925172"/>
            <a:ext cx="4491990" cy="50430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LOWER WHISKER 						BOX PLOTS</a:t>
            </a:r>
            <a:endParaRPr/>
          </a:p>
        </p:txBody>
      </p:sp>
      <p:sp>
        <p:nvSpPr>
          <p:cNvPr id="119" name="Google Shape;119;p4"/>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120000"/>
              </a:lnSpc>
              <a:spcBef>
                <a:spcPts val="0"/>
              </a:spcBef>
              <a:spcAft>
                <a:spcPts val="0"/>
              </a:spcAft>
              <a:buSzPct val="100000"/>
              <a:buChar char="•"/>
            </a:pPr>
            <a:r>
              <a:rPr lang="en-US"/>
              <a:t>The lower whisker extends up to 1.5 times of the inter-quartile range (or IQR) from the bottom of the box, i.e. the first quartile or Q1.</a:t>
            </a:r>
            <a:endParaRPr/>
          </a:p>
          <a:p>
            <a:pPr marL="228600" lvl="0" indent="-228600" algn="l" rtl="0">
              <a:lnSpc>
                <a:spcPct val="120000"/>
              </a:lnSpc>
              <a:spcBef>
                <a:spcPts val="1000"/>
              </a:spcBef>
              <a:spcAft>
                <a:spcPts val="0"/>
              </a:spcAft>
              <a:buSzPct val="100000"/>
              <a:buChar char="•"/>
            </a:pPr>
            <a:r>
              <a:rPr lang="en-US"/>
              <a:t>However, the actual length of the lower whisker depends on the lowest data value that falls within (Q1 − 1.5 times of IQR). </a:t>
            </a:r>
            <a:endParaRPr/>
          </a:p>
          <a:p>
            <a:pPr marL="228600" lvl="0" indent="-228600" algn="l" rtl="0">
              <a:lnSpc>
                <a:spcPct val="120000"/>
              </a:lnSpc>
              <a:spcBef>
                <a:spcPts val="1000"/>
              </a:spcBef>
              <a:spcAft>
                <a:spcPts val="0"/>
              </a:spcAft>
              <a:buSzPct val="100000"/>
              <a:buChar char="•"/>
            </a:pPr>
            <a:r>
              <a:rPr lang="en-US"/>
              <a:t>Say for a specific set of data, Q1 = 73, median = 76 and Q3 = 79. </a:t>
            </a:r>
            <a:endParaRPr/>
          </a:p>
          <a:p>
            <a:pPr marL="685800" lvl="1" indent="-228600" algn="l" rtl="0">
              <a:lnSpc>
                <a:spcPct val="120000"/>
              </a:lnSpc>
              <a:spcBef>
                <a:spcPts val="500"/>
              </a:spcBef>
              <a:spcAft>
                <a:spcPts val="0"/>
              </a:spcAft>
              <a:buSzPct val="100000"/>
              <a:buChar char="•"/>
            </a:pPr>
            <a:r>
              <a:rPr lang="en-US"/>
              <a:t>Hence, IQR will be 6 (i.e. Q3 – Q1).</a:t>
            </a:r>
            <a:endParaRPr/>
          </a:p>
          <a:p>
            <a:pPr marL="228600" lvl="0" indent="-228600" algn="l" rtl="0">
              <a:lnSpc>
                <a:spcPct val="120000"/>
              </a:lnSpc>
              <a:spcBef>
                <a:spcPts val="1000"/>
              </a:spcBef>
              <a:spcAft>
                <a:spcPts val="0"/>
              </a:spcAft>
              <a:buSzPct val="100000"/>
              <a:buChar char="•"/>
            </a:pPr>
            <a:r>
              <a:rPr lang="en-US"/>
              <a:t>So, lower whisker can extend maximum till (Q1 – 1.5 × IQR) = 73 – 1.5 × 6 = 64. </a:t>
            </a:r>
            <a:endParaRPr/>
          </a:p>
          <a:p>
            <a:pPr marL="228600" lvl="0" indent="-228600" algn="l" rtl="0">
              <a:lnSpc>
                <a:spcPct val="120000"/>
              </a:lnSpc>
              <a:spcBef>
                <a:spcPts val="1000"/>
              </a:spcBef>
              <a:spcAft>
                <a:spcPts val="0"/>
              </a:spcAft>
              <a:buSzPct val="100000"/>
              <a:buChar char="•"/>
            </a:pPr>
            <a:r>
              <a:rPr lang="en-US"/>
              <a:t>However, say there are lower range data values such as 70, 63, and 60. </a:t>
            </a:r>
            <a:endParaRPr/>
          </a:p>
          <a:p>
            <a:pPr marL="228600" lvl="0" indent="-228600" algn="l" rtl="0">
              <a:lnSpc>
                <a:spcPct val="120000"/>
              </a:lnSpc>
              <a:spcBef>
                <a:spcPts val="1000"/>
              </a:spcBef>
              <a:spcAft>
                <a:spcPts val="0"/>
              </a:spcAft>
              <a:buSzPct val="100000"/>
              <a:buChar char="•"/>
            </a:pPr>
            <a:r>
              <a:rPr lang="en-US"/>
              <a:t>So, the lower whisker will come at 70 as this is the lowest data value larger than 64.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UPPER WHISKER 						BOX PLOTS</a:t>
            </a:r>
            <a:endParaRPr/>
          </a:p>
        </p:txBody>
      </p:sp>
      <p:sp>
        <p:nvSpPr>
          <p:cNvPr id="125" name="Google Shape;125;p5"/>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20000"/>
              </a:lnSpc>
              <a:spcBef>
                <a:spcPts val="0"/>
              </a:spcBef>
              <a:spcAft>
                <a:spcPts val="0"/>
              </a:spcAft>
              <a:buSzPts val="2000"/>
              <a:buChar char="•"/>
            </a:pPr>
            <a:r>
              <a:rPr lang="en-US"/>
              <a:t>The upper whisker extends up to 1.5 as times of the inter-quartile range (or IQR) from the top of the box, i.e. the third quartile or Q3. </a:t>
            </a:r>
            <a:endParaRPr/>
          </a:p>
          <a:p>
            <a:pPr marL="228600" lvl="0" indent="-228600" algn="l" rtl="0">
              <a:lnSpc>
                <a:spcPct val="120000"/>
              </a:lnSpc>
              <a:spcBef>
                <a:spcPts val="1000"/>
              </a:spcBef>
              <a:spcAft>
                <a:spcPts val="0"/>
              </a:spcAft>
              <a:buSzPts val="2000"/>
              <a:buChar char="•"/>
            </a:pPr>
            <a:r>
              <a:rPr lang="en-US"/>
              <a:t>Similar to lower whisker, the actual length of the upper whisker will also depend on the highest data value that falls within (Q3 + 1.5 times of IQR).</a:t>
            </a:r>
            <a:endParaRPr/>
          </a:p>
          <a:p>
            <a:pPr marL="228600" lvl="0" indent="-228600" algn="l" rtl="0">
              <a:lnSpc>
                <a:spcPct val="120000"/>
              </a:lnSpc>
              <a:spcBef>
                <a:spcPts val="1000"/>
              </a:spcBef>
              <a:spcAft>
                <a:spcPts val="0"/>
              </a:spcAft>
              <a:buSzPts val="2000"/>
              <a:buChar char="•"/>
            </a:pPr>
            <a:r>
              <a:rPr lang="en-US"/>
              <a:t>For the same set of data mentioned in the above point, upper whisker can extend maximum till (Q3 + 1.5 × IQR) = 79 + 1.5 × 6 = 88. </a:t>
            </a:r>
            <a:endParaRPr/>
          </a:p>
          <a:p>
            <a:pPr marL="228600" lvl="0" indent="-228600" algn="l" rtl="0">
              <a:lnSpc>
                <a:spcPct val="120000"/>
              </a:lnSpc>
              <a:spcBef>
                <a:spcPts val="1000"/>
              </a:spcBef>
              <a:spcAft>
                <a:spcPts val="0"/>
              </a:spcAft>
              <a:buSzPts val="2000"/>
              <a:buChar char="•"/>
            </a:pPr>
            <a:r>
              <a:rPr lang="en-US"/>
              <a:t>If there is higher range of data values like 82, 84, and 89. </a:t>
            </a:r>
            <a:endParaRPr/>
          </a:p>
          <a:p>
            <a:pPr marL="228600" lvl="0" indent="-228600" algn="l" rtl="0">
              <a:lnSpc>
                <a:spcPct val="120000"/>
              </a:lnSpc>
              <a:spcBef>
                <a:spcPts val="1000"/>
              </a:spcBef>
              <a:spcAft>
                <a:spcPts val="0"/>
              </a:spcAft>
              <a:buSzPts val="2000"/>
              <a:buChar char="•"/>
            </a:pPr>
            <a:r>
              <a:rPr lang="en-US"/>
              <a:t>So, the upper whisker will come at 84 as this is the highest data value lower than 88.</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BOX PLOT OF AUTO MPG ATTRIBUTES</a:t>
            </a:r>
            <a:endParaRPr/>
          </a:p>
        </p:txBody>
      </p:sp>
      <p:pic>
        <p:nvPicPr>
          <p:cNvPr id="131" name="Google Shape;131;p6" descr="https://learning.oreilly.com/library/view/machine-learning/9789389588132/images/43-1.png"/>
          <p:cNvPicPr preferRelativeResize="0"/>
          <p:nvPr/>
        </p:nvPicPr>
        <p:blipFill rotWithShape="1">
          <a:blip r:embed="rId3">
            <a:alphaModFix/>
          </a:blip>
          <a:srcRect/>
          <a:stretch/>
        </p:blipFill>
        <p:spPr>
          <a:xfrm>
            <a:off x="2478991" y="1960563"/>
            <a:ext cx="6622806" cy="43513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FREQUENCY OF “CYLINDERS” ATTRIBUTE</a:t>
            </a:r>
            <a:endParaRPr/>
          </a:p>
        </p:txBody>
      </p:sp>
      <p:sp>
        <p:nvSpPr>
          <p:cNvPr id="137" name="Google Shape;137;p7"/>
          <p:cNvSpPr txBox="1">
            <a:spLocks noGrp="1"/>
          </p:cNvSpPr>
          <p:nvPr>
            <p:ph type="body" idx="1"/>
          </p:nvPr>
        </p:nvSpPr>
        <p:spPr>
          <a:xfrm>
            <a:off x="6096000" y="1825625"/>
            <a:ext cx="549783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Since the total frequency is 398, the first quartile (Q1), median (Q2), and third quartile (Q3) will be at a cumulative frequency 99.5 (i.e. average of 99th and 100th observation), 199 and 298.5 (i.e. average of 298th and 299th observation), respectively. This way Q1 = 4, median = 4 and Q3 = 8.</a:t>
            </a:r>
            <a:endParaRPr/>
          </a:p>
        </p:txBody>
      </p:sp>
      <p:pic>
        <p:nvPicPr>
          <p:cNvPr id="138" name="Google Shape;138;p7" descr="https://learning.oreilly.com/library/view/machine-learning/9789389588132/images/43-2.png"/>
          <p:cNvPicPr preferRelativeResize="0"/>
          <p:nvPr/>
        </p:nvPicPr>
        <p:blipFill rotWithShape="1">
          <a:blip r:embed="rId3">
            <a:alphaModFix/>
          </a:blip>
          <a:srcRect/>
          <a:stretch/>
        </p:blipFill>
        <p:spPr>
          <a:xfrm>
            <a:off x="598170" y="2431573"/>
            <a:ext cx="5143500" cy="30266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ANALYSING BOXPLOT OF CYLINDERS</a:t>
            </a:r>
            <a:endParaRPr/>
          </a:p>
        </p:txBody>
      </p:sp>
      <p:sp>
        <p:nvSpPr>
          <p:cNvPr id="144" name="Google Shape;144;p8"/>
          <p:cNvSpPr txBox="1">
            <a:spLocks noGrp="1"/>
          </p:cNvSpPr>
          <p:nvPr>
            <p:ph type="body" idx="1"/>
          </p:nvPr>
        </p:nvSpPr>
        <p:spPr>
          <a:xfrm>
            <a:off x="4009292" y="1825625"/>
            <a:ext cx="7344507"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Since there is no data value beyond 8, there is no upper whisker. </a:t>
            </a:r>
            <a:endParaRPr/>
          </a:p>
          <a:p>
            <a:pPr marL="228600" lvl="0" indent="-101600" algn="l" rtl="0">
              <a:lnSpc>
                <a:spcPct val="120000"/>
              </a:lnSpc>
              <a:spcBef>
                <a:spcPts val="1000"/>
              </a:spcBef>
              <a:spcAft>
                <a:spcPts val="0"/>
              </a:spcAft>
              <a:buSzPts val="2000"/>
              <a:buNone/>
            </a:pPr>
            <a:endParaRPr/>
          </a:p>
          <a:p>
            <a:pPr marL="228600" lvl="0" indent="-228600" algn="l" rtl="0">
              <a:lnSpc>
                <a:spcPct val="120000"/>
              </a:lnSpc>
              <a:spcBef>
                <a:spcPts val="1000"/>
              </a:spcBef>
              <a:spcAft>
                <a:spcPts val="0"/>
              </a:spcAft>
              <a:buSzPts val="2000"/>
              <a:buChar char="•"/>
            </a:pPr>
            <a:r>
              <a:rPr lang="en-US"/>
              <a:t>Also, since both Q1 and median are 4, the band for median falls on the bottom of the box. </a:t>
            </a:r>
            <a:endParaRPr/>
          </a:p>
          <a:p>
            <a:pPr marL="228600" lvl="0" indent="-101600" algn="l" rtl="0">
              <a:lnSpc>
                <a:spcPct val="120000"/>
              </a:lnSpc>
              <a:spcBef>
                <a:spcPts val="1000"/>
              </a:spcBef>
              <a:spcAft>
                <a:spcPts val="0"/>
              </a:spcAft>
              <a:buSzPts val="2000"/>
              <a:buNone/>
            </a:pPr>
            <a:endParaRPr/>
          </a:p>
          <a:p>
            <a:pPr marL="228600" lvl="0" indent="-228600" algn="l" rtl="0">
              <a:lnSpc>
                <a:spcPct val="120000"/>
              </a:lnSpc>
              <a:spcBef>
                <a:spcPts val="1000"/>
              </a:spcBef>
              <a:spcAft>
                <a:spcPts val="0"/>
              </a:spcAft>
              <a:buSzPts val="2000"/>
              <a:buChar char="•"/>
            </a:pPr>
            <a:r>
              <a:rPr lang="en-US"/>
              <a:t>Same way, though the lower whisker could have extended till -2 (Q1 – 1.5 × IQR = 4 – 1.5 × 4 = –2), in reality, there is no data value lower than 3. Hence, the lower whisker is also short.</a:t>
            </a:r>
            <a:endParaRPr/>
          </a:p>
        </p:txBody>
      </p:sp>
      <p:pic>
        <p:nvPicPr>
          <p:cNvPr id="145" name="Google Shape;145;p8"/>
          <p:cNvPicPr preferRelativeResize="0"/>
          <p:nvPr/>
        </p:nvPicPr>
        <p:blipFill rotWithShape="1">
          <a:blip r:embed="rId3">
            <a:alphaModFix/>
          </a:blip>
          <a:srcRect/>
          <a:stretch/>
        </p:blipFill>
        <p:spPr>
          <a:xfrm>
            <a:off x="838200" y="2409825"/>
            <a:ext cx="3009900" cy="2038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HISTOGRAM</a:t>
            </a:r>
            <a:endParaRPr/>
          </a:p>
        </p:txBody>
      </p:sp>
      <p:sp>
        <p:nvSpPr>
          <p:cNvPr id="151" name="Google Shape;151;p9"/>
          <p:cNvSpPr txBox="1">
            <a:spLocks noGrp="1"/>
          </p:cNvSpPr>
          <p:nvPr>
            <p:ph type="body" idx="1"/>
          </p:nvPr>
        </p:nvSpPr>
        <p:spPr>
          <a:xfrm>
            <a:off x="838200" y="1463038"/>
            <a:ext cx="10515600" cy="4615449"/>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20000"/>
              </a:lnSpc>
              <a:spcBef>
                <a:spcPts val="0"/>
              </a:spcBef>
              <a:spcAft>
                <a:spcPts val="0"/>
              </a:spcAft>
              <a:buSzPts val="2000"/>
              <a:buChar char="•"/>
            </a:pPr>
            <a:r>
              <a:rPr lang="en-US"/>
              <a:t>Histogram is another plot which helps in effective visualization of numeric attributes. </a:t>
            </a:r>
            <a:endParaRPr/>
          </a:p>
          <a:p>
            <a:pPr marL="228600" lvl="0" indent="-228600" algn="l" rtl="0">
              <a:lnSpc>
                <a:spcPct val="120000"/>
              </a:lnSpc>
              <a:spcBef>
                <a:spcPts val="1000"/>
              </a:spcBef>
              <a:spcAft>
                <a:spcPts val="0"/>
              </a:spcAft>
              <a:buSzPts val="2000"/>
              <a:buChar char="•"/>
            </a:pPr>
            <a:r>
              <a:rPr lang="en-US"/>
              <a:t>It helps in understanding the distribution of a numeric data into series of intervals, also termed as ‘bins’.</a:t>
            </a:r>
            <a:endParaRPr/>
          </a:p>
          <a:p>
            <a:pPr marL="228600" lvl="0" indent="-228600" algn="l" rtl="0">
              <a:lnSpc>
                <a:spcPct val="120000"/>
              </a:lnSpc>
              <a:spcBef>
                <a:spcPts val="1000"/>
              </a:spcBef>
              <a:spcAft>
                <a:spcPts val="0"/>
              </a:spcAft>
              <a:buSzPts val="2000"/>
              <a:buChar char="•"/>
            </a:pPr>
            <a:r>
              <a:rPr lang="en-US"/>
              <a:t>The histogram is composed of a number of bars, one bar appearing for each of the ‘bins’. </a:t>
            </a:r>
            <a:endParaRPr/>
          </a:p>
          <a:p>
            <a:pPr marL="228600" lvl="0" indent="-228600" algn="l" rtl="0">
              <a:lnSpc>
                <a:spcPct val="120000"/>
              </a:lnSpc>
              <a:spcBef>
                <a:spcPts val="1000"/>
              </a:spcBef>
              <a:spcAft>
                <a:spcPts val="0"/>
              </a:spcAft>
              <a:buSzPts val="2000"/>
              <a:buChar char="•"/>
            </a:pPr>
            <a:r>
              <a:rPr lang="en-US"/>
              <a:t>The height of the bar reflects the total count of data elements whose value falls within the specific bin value, or the frequency.</a:t>
            </a:r>
            <a:endParaRPr/>
          </a:p>
          <a:p>
            <a:pPr marL="228600" lvl="0" indent="-228600" algn="l" rtl="0">
              <a:lnSpc>
                <a:spcPct val="120000"/>
              </a:lnSpc>
              <a:spcBef>
                <a:spcPts val="1000"/>
              </a:spcBef>
              <a:spcAft>
                <a:spcPts val="0"/>
              </a:spcAft>
              <a:buSzPts val="2000"/>
              <a:buChar char="•"/>
            </a:pPr>
            <a:r>
              <a:rPr lang="en-US"/>
              <a:t>Difference between histogram and box plot is</a:t>
            </a:r>
            <a:endParaRPr/>
          </a:p>
          <a:p>
            <a:pPr marL="685800" lvl="1" indent="-228600" algn="l" rtl="0">
              <a:lnSpc>
                <a:spcPct val="120000"/>
              </a:lnSpc>
              <a:spcBef>
                <a:spcPts val="500"/>
              </a:spcBef>
              <a:spcAft>
                <a:spcPts val="0"/>
              </a:spcAft>
              <a:buSzPts val="1800"/>
              <a:buChar char="•"/>
            </a:pPr>
            <a:r>
              <a:rPr lang="en-US"/>
              <a:t>The focus of histogram is to plot ranges of data values (acting as ‘bins’), the number of data elements in each range will depend on the data distribution. Based on that, the size of each bar corresponding to the different ranges will vary.</a:t>
            </a:r>
            <a:endParaRPr/>
          </a:p>
          <a:p>
            <a:pPr marL="685800" lvl="1" indent="-228600" algn="l" rtl="0">
              <a:lnSpc>
                <a:spcPct val="120000"/>
              </a:lnSpc>
              <a:spcBef>
                <a:spcPts val="500"/>
              </a:spcBef>
              <a:spcAft>
                <a:spcPts val="0"/>
              </a:spcAft>
              <a:buSzPts val="1800"/>
              <a:buChar char="•"/>
            </a:pPr>
            <a:r>
              <a:rPr lang="en-US"/>
              <a:t>The focus of box plot is to divide the data elements in a data set into four equal  portions, such that each portion contains an equal number of data elements.</a:t>
            </a:r>
            <a:endParaRPr/>
          </a:p>
          <a:p>
            <a:pPr marL="228600" lvl="0" indent="-101600" algn="l" rtl="0">
              <a:lnSpc>
                <a:spcPct val="120000"/>
              </a:lnSpc>
              <a:spcBef>
                <a:spcPts val="1000"/>
              </a:spcBef>
              <a:spcAft>
                <a:spcPts val="0"/>
              </a:spcAft>
              <a:buSzPts val="20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0"/>
          <p:cNvSpPr txBox="1">
            <a:spLocks noGrp="1"/>
          </p:cNvSpPr>
          <p:nvPr>
            <p:ph type="title"/>
          </p:nvPr>
        </p:nvSpPr>
        <p:spPr>
          <a:xfrm>
            <a:off x="1521917" y="156420"/>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DIFFERENT SHAPES OF HISTOGRAMS DEPENDING ON THE NATURE OF THE DATA, E.G. SKEWNESS</a:t>
            </a:r>
            <a:endParaRPr/>
          </a:p>
        </p:txBody>
      </p:sp>
      <p:pic>
        <p:nvPicPr>
          <p:cNvPr id="157" name="Google Shape;157;p10" descr="https://learning.oreilly.com/library/view/machine-learning/9789389588132/images/46-1.png"/>
          <p:cNvPicPr preferRelativeResize="0"/>
          <p:nvPr/>
        </p:nvPicPr>
        <p:blipFill rotWithShape="1">
          <a:blip r:embed="rId3">
            <a:alphaModFix/>
          </a:blip>
          <a:srcRect/>
          <a:stretch/>
        </p:blipFill>
        <p:spPr>
          <a:xfrm>
            <a:off x="2053883" y="1448092"/>
            <a:ext cx="7373669" cy="44053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a:spLocks noGrp="1"/>
          </p:cNvSpPr>
          <p:nvPr>
            <p:ph type="title"/>
          </p:nvPr>
        </p:nvSpPr>
        <p:spPr>
          <a:xfrm>
            <a:off x="838200" y="365126"/>
            <a:ext cx="10515600" cy="61961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HISTOGRAM AUTO MPG ATTRIBUTES</a:t>
            </a:r>
            <a:endParaRPr/>
          </a:p>
        </p:txBody>
      </p:sp>
      <p:sp>
        <p:nvSpPr>
          <p:cNvPr id="163" name="Google Shape;163;p11"/>
          <p:cNvSpPr txBox="1">
            <a:spLocks noGrp="1"/>
          </p:cNvSpPr>
          <p:nvPr>
            <p:ph type="body" idx="1"/>
          </p:nvPr>
        </p:nvSpPr>
        <p:spPr>
          <a:xfrm>
            <a:off x="7532078" y="1825625"/>
            <a:ext cx="3961227"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The histograms for ‘mpg’ and ‘weight’ are right-skewed. </a:t>
            </a:r>
            <a:endParaRPr/>
          </a:p>
          <a:p>
            <a:pPr marL="228600" lvl="0" indent="-228600" algn="l" rtl="0">
              <a:lnSpc>
                <a:spcPct val="120000"/>
              </a:lnSpc>
              <a:spcBef>
                <a:spcPts val="1000"/>
              </a:spcBef>
              <a:spcAft>
                <a:spcPts val="0"/>
              </a:spcAft>
              <a:buSzPts val="2000"/>
              <a:buChar char="•"/>
            </a:pPr>
            <a:r>
              <a:rPr lang="en-US"/>
              <a:t>The histogram for ‘acceleration’ is symmetric and unimodal, </a:t>
            </a:r>
            <a:endParaRPr/>
          </a:p>
          <a:p>
            <a:pPr marL="228600" lvl="0" indent="-228600" algn="l" rtl="0">
              <a:lnSpc>
                <a:spcPct val="120000"/>
              </a:lnSpc>
              <a:spcBef>
                <a:spcPts val="1000"/>
              </a:spcBef>
              <a:spcAft>
                <a:spcPts val="0"/>
              </a:spcAft>
              <a:buSzPts val="2000"/>
              <a:buChar char="•"/>
            </a:pPr>
            <a:r>
              <a:rPr lang="en-US"/>
              <a:t> The histogram for ‘model.year’ is symmetric and uniform. </a:t>
            </a:r>
            <a:endParaRPr/>
          </a:p>
          <a:p>
            <a:pPr marL="228600" lvl="0" indent="-228600" algn="l" rtl="0">
              <a:lnSpc>
                <a:spcPct val="120000"/>
              </a:lnSpc>
              <a:spcBef>
                <a:spcPts val="1000"/>
              </a:spcBef>
              <a:spcAft>
                <a:spcPts val="0"/>
              </a:spcAft>
              <a:buSzPts val="2000"/>
              <a:buChar char="•"/>
            </a:pPr>
            <a:r>
              <a:rPr lang="en-US"/>
              <a:t>For the remaining attributes, histograms are multimodal in nature.</a:t>
            </a:r>
            <a:endParaRPr/>
          </a:p>
        </p:txBody>
      </p:sp>
      <p:pic>
        <p:nvPicPr>
          <p:cNvPr id="164" name="Google Shape;164;p11" descr="https://learning.oreilly.com/library/view/machine-learning/9789389588132/images/47-1.png"/>
          <p:cNvPicPr preferRelativeResize="0"/>
          <p:nvPr/>
        </p:nvPicPr>
        <p:blipFill rotWithShape="1">
          <a:blip r:embed="rId3">
            <a:alphaModFix/>
          </a:blip>
          <a:srcRect/>
          <a:stretch/>
        </p:blipFill>
        <p:spPr>
          <a:xfrm>
            <a:off x="745588" y="1035877"/>
            <a:ext cx="6372664" cy="49863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HISTOGRAM OF ACCELERATION</a:t>
            </a:r>
            <a:endParaRPr/>
          </a:p>
        </p:txBody>
      </p:sp>
      <p:sp>
        <p:nvSpPr>
          <p:cNvPr id="170" name="Google Shape;170;p12"/>
          <p:cNvSpPr txBox="1">
            <a:spLocks noGrp="1"/>
          </p:cNvSpPr>
          <p:nvPr>
            <p:ph type="body" idx="1"/>
          </p:nvPr>
        </p:nvSpPr>
        <p:spPr>
          <a:xfrm>
            <a:off x="3711528" y="1403595"/>
            <a:ext cx="8260080" cy="480025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120000"/>
              </a:lnSpc>
              <a:spcBef>
                <a:spcPts val="0"/>
              </a:spcBef>
              <a:spcAft>
                <a:spcPts val="0"/>
              </a:spcAft>
              <a:buSzPct val="100000"/>
              <a:buChar char="•"/>
            </a:pPr>
            <a:r>
              <a:rPr lang="en-US"/>
              <a:t>Each ‘bin’ represents an acceleration value interval of 2 units. </a:t>
            </a:r>
            <a:endParaRPr/>
          </a:p>
          <a:p>
            <a:pPr marL="228600" lvl="0" indent="-228600" algn="l" rtl="0">
              <a:lnSpc>
                <a:spcPct val="120000"/>
              </a:lnSpc>
              <a:spcBef>
                <a:spcPts val="1000"/>
              </a:spcBef>
              <a:spcAft>
                <a:spcPts val="0"/>
              </a:spcAft>
              <a:buSzPct val="100000"/>
              <a:buChar char="•"/>
            </a:pPr>
            <a:r>
              <a:rPr lang="en-US"/>
              <a:t>So the second bin, e.g., reflects acceleration value of 10 to 12 units. </a:t>
            </a:r>
            <a:endParaRPr/>
          </a:p>
          <a:p>
            <a:pPr marL="228600" lvl="0" indent="-228600" algn="l" rtl="0">
              <a:lnSpc>
                <a:spcPct val="120000"/>
              </a:lnSpc>
              <a:spcBef>
                <a:spcPts val="1000"/>
              </a:spcBef>
              <a:spcAft>
                <a:spcPts val="0"/>
              </a:spcAft>
              <a:buSzPct val="100000"/>
              <a:buChar char="•"/>
            </a:pPr>
            <a:r>
              <a:rPr lang="en-US"/>
              <a:t>The corresponding bar chart height reflects the count of all data elements whose value lies between 10 and 12 units. </a:t>
            </a:r>
            <a:endParaRPr/>
          </a:p>
          <a:p>
            <a:pPr marL="228600" lvl="0" indent="-228600" algn="l" rtl="0">
              <a:lnSpc>
                <a:spcPct val="120000"/>
              </a:lnSpc>
              <a:spcBef>
                <a:spcPts val="1000"/>
              </a:spcBef>
              <a:spcAft>
                <a:spcPts val="0"/>
              </a:spcAft>
              <a:buSzPct val="100000"/>
              <a:buChar char="•"/>
            </a:pPr>
            <a:r>
              <a:rPr lang="en-US"/>
              <a:t>Also, it is evident from the histogram that it spans over the acceleration value of 8 to 26 units. </a:t>
            </a:r>
            <a:endParaRPr/>
          </a:p>
          <a:p>
            <a:pPr marL="228600" lvl="0" indent="-228600" algn="l" rtl="0">
              <a:lnSpc>
                <a:spcPct val="120000"/>
              </a:lnSpc>
              <a:spcBef>
                <a:spcPts val="1000"/>
              </a:spcBef>
              <a:spcAft>
                <a:spcPts val="0"/>
              </a:spcAft>
              <a:buSzPct val="100000"/>
              <a:buChar char="•"/>
            </a:pPr>
            <a:r>
              <a:rPr lang="en-US"/>
              <a:t>The frequency of data elements corresponding to the bins first keep on increasing, till it reaches the bin of range 14 to 16 units. At this range, the bar is tallest in size. </a:t>
            </a:r>
            <a:endParaRPr/>
          </a:p>
          <a:p>
            <a:pPr marL="228600" lvl="0" indent="-228600" algn="l" rtl="0">
              <a:lnSpc>
                <a:spcPct val="120000"/>
              </a:lnSpc>
              <a:spcBef>
                <a:spcPts val="1000"/>
              </a:spcBef>
              <a:spcAft>
                <a:spcPts val="0"/>
              </a:spcAft>
              <a:buSzPct val="100000"/>
              <a:buChar char="•"/>
            </a:pPr>
            <a:r>
              <a:rPr lang="en-US"/>
              <a:t>So we can conclude that a maximum number of data elements fall within this range. </a:t>
            </a:r>
            <a:endParaRPr/>
          </a:p>
          <a:p>
            <a:pPr marL="228600" lvl="0" indent="-228600" algn="l" rtl="0">
              <a:lnSpc>
                <a:spcPct val="120000"/>
              </a:lnSpc>
              <a:spcBef>
                <a:spcPts val="1000"/>
              </a:spcBef>
              <a:spcAft>
                <a:spcPts val="0"/>
              </a:spcAft>
              <a:buSzPct val="100000"/>
              <a:buChar char="•"/>
            </a:pPr>
            <a:r>
              <a:rPr lang="en-US"/>
              <a:t>After this range, the bar size starts decreasing till the end of the whole range at the acceleration value of 26 units.</a:t>
            </a:r>
            <a:endParaRPr/>
          </a:p>
        </p:txBody>
      </p:sp>
      <p:pic>
        <p:nvPicPr>
          <p:cNvPr id="171" name="Google Shape;171;p12"/>
          <p:cNvPicPr preferRelativeResize="0"/>
          <p:nvPr/>
        </p:nvPicPr>
        <p:blipFill rotWithShape="1">
          <a:blip r:embed="rId3">
            <a:alphaModFix/>
          </a:blip>
          <a:srcRect/>
          <a:stretch/>
        </p:blipFill>
        <p:spPr>
          <a:xfrm>
            <a:off x="838200" y="2380957"/>
            <a:ext cx="2788920" cy="209608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endParaRPr/>
          </a:p>
        </p:txBody>
      </p:sp>
      <p:sp>
        <p:nvSpPr>
          <p:cNvPr id="177" name="Google Shape;177;p13"/>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when the histogram is uniform, as in the case of attribute ‘model. year’, it gives a hint that all values are equally likely to occur.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EXPLORING CATEGORICAL DATA</a:t>
            </a:r>
            <a:endParaRPr/>
          </a:p>
        </p:txBody>
      </p:sp>
      <p:sp>
        <p:nvSpPr>
          <p:cNvPr id="183" name="Google Shape;183;p14"/>
          <p:cNvSpPr txBox="1">
            <a:spLocks noGrp="1"/>
          </p:cNvSpPr>
          <p:nvPr>
            <p:ph type="body" idx="1"/>
          </p:nvPr>
        </p:nvSpPr>
        <p:spPr>
          <a:xfrm>
            <a:off x="1451579" y="2015732"/>
            <a:ext cx="10238673" cy="4037749"/>
          </a:xfrm>
          <a:prstGeom prst="rect">
            <a:avLst/>
          </a:prstGeom>
          <a:noFill/>
          <a:ln>
            <a:noFill/>
          </a:ln>
        </p:spPr>
        <p:txBody>
          <a:bodyPr spcFirstLastPara="1" wrap="square" lIns="91425" tIns="45700" rIns="91425" bIns="45700" anchor="t" anchorCtr="0">
            <a:normAutofit fontScale="62500" lnSpcReduction="20000"/>
          </a:bodyPr>
          <a:lstStyle/>
          <a:p>
            <a:pPr marL="228600" lvl="0" indent="-228600" algn="l" rtl="0">
              <a:lnSpc>
                <a:spcPct val="120000"/>
              </a:lnSpc>
              <a:spcBef>
                <a:spcPts val="0"/>
              </a:spcBef>
              <a:spcAft>
                <a:spcPts val="0"/>
              </a:spcAft>
              <a:buSzPct val="100000"/>
              <a:buChar char="•"/>
            </a:pPr>
            <a:r>
              <a:rPr lang="en-US" sz="2200" b="1"/>
              <a:t>how many unique names are there for the attribute ‘car name’ or how many unique values are there for ‘cylinders’ attribute. </a:t>
            </a:r>
            <a:endParaRPr/>
          </a:p>
          <a:p>
            <a:pPr marL="228600" lvl="0" indent="-228600" algn="l" rtl="0">
              <a:lnSpc>
                <a:spcPct val="120000"/>
              </a:lnSpc>
              <a:spcBef>
                <a:spcPts val="1000"/>
              </a:spcBef>
              <a:spcAft>
                <a:spcPts val="0"/>
              </a:spcAft>
              <a:buSzPct val="100000"/>
              <a:buChar char="•"/>
            </a:pPr>
            <a:r>
              <a:rPr lang="en-US" sz="2200" b="1"/>
              <a:t>For attribute ‘car name’</a:t>
            </a:r>
            <a:endParaRPr/>
          </a:p>
          <a:p>
            <a:pPr marL="685800" lvl="1" indent="-228631" algn="l" rtl="0">
              <a:lnSpc>
                <a:spcPct val="120000"/>
              </a:lnSpc>
              <a:spcBef>
                <a:spcPts val="500"/>
              </a:spcBef>
              <a:spcAft>
                <a:spcPts val="0"/>
              </a:spcAft>
              <a:buSzPct val="100000"/>
              <a:buChar char="•"/>
            </a:pPr>
            <a:r>
              <a:rPr lang="en-US" sz="1900" b="1"/>
              <a:t>Chevrolet chevelle malibu</a:t>
            </a:r>
            <a:endParaRPr sz="1900" b="1"/>
          </a:p>
          <a:p>
            <a:pPr marL="685800" lvl="1" indent="-228631" algn="l" rtl="0">
              <a:lnSpc>
                <a:spcPct val="120000"/>
              </a:lnSpc>
              <a:spcBef>
                <a:spcPts val="500"/>
              </a:spcBef>
              <a:spcAft>
                <a:spcPts val="0"/>
              </a:spcAft>
              <a:buSzPct val="100000"/>
              <a:buChar char="•"/>
            </a:pPr>
            <a:r>
              <a:rPr lang="en-US" sz="1900" b="1"/>
              <a:t>Buick skylark 320</a:t>
            </a:r>
            <a:endParaRPr/>
          </a:p>
          <a:p>
            <a:pPr marL="685800" lvl="1" indent="-228631" algn="l" rtl="0">
              <a:lnSpc>
                <a:spcPct val="120000"/>
              </a:lnSpc>
              <a:spcBef>
                <a:spcPts val="500"/>
              </a:spcBef>
              <a:spcAft>
                <a:spcPts val="0"/>
              </a:spcAft>
              <a:buSzPct val="100000"/>
              <a:buChar char="•"/>
            </a:pPr>
            <a:r>
              <a:rPr lang="en-US" sz="1900" b="1"/>
              <a:t>Plymouth satellite</a:t>
            </a:r>
            <a:endParaRPr/>
          </a:p>
          <a:p>
            <a:pPr marL="685800" lvl="1" indent="-228631" algn="l" rtl="0">
              <a:lnSpc>
                <a:spcPct val="120000"/>
              </a:lnSpc>
              <a:spcBef>
                <a:spcPts val="500"/>
              </a:spcBef>
              <a:spcAft>
                <a:spcPts val="0"/>
              </a:spcAft>
              <a:buSzPct val="100000"/>
              <a:buChar char="•"/>
            </a:pPr>
            <a:r>
              <a:rPr lang="en-US" sz="1900" b="1"/>
              <a:t>Amc rebel sst</a:t>
            </a:r>
            <a:endParaRPr sz="1900" b="1"/>
          </a:p>
          <a:p>
            <a:pPr marL="685800" lvl="1" indent="-228631" algn="l" rtl="0">
              <a:lnSpc>
                <a:spcPct val="120000"/>
              </a:lnSpc>
              <a:spcBef>
                <a:spcPts val="500"/>
              </a:spcBef>
              <a:spcAft>
                <a:spcPts val="0"/>
              </a:spcAft>
              <a:buSzPct val="100000"/>
              <a:buChar char="•"/>
            </a:pPr>
            <a:r>
              <a:rPr lang="en-US" sz="1900" b="1"/>
              <a:t>Ford torino</a:t>
            </a:r>
            <a:endParaRPr sz="1900" b="1"/>
          </a:p>
          <a:p>
            <a:pPr marL="685800" lvl="1" indent="-228631" algn="l" rtl="0">
              <a:lnSpc>
                <a:spcPct val="120000"/>
              </a:lnSpc>
              <a:spcBef>
                <a:spcPts val="500"/>
              </a:spcBef>
              <a:spcAft>
                <a:spcPts val="0"/>
              </a:spcAft>
              <a:buSzPct val="100000"/>
              <a:buChar char="•"/>
            </a:pPr>
            <a:r>
              <a:rPr lang="en-US" sz="1900" b="1"/>
              <a:t>Ford galaxie 500</a:t>
            </a:r>
            <a:endParaRPr/>
          </a:p>
          <a:p>
            <a:pPr marL="685800" lvl="1" indent="-228631" algn="l" rtl="0">
              <a:lnSpc>
                <a:spcPct val="120000"/>
              </a:lnSpc>
              <a:spcBef>
                <a:spcPts val="500"/>
              </a:spcBef>
              <a:spcAft>
                <a:spcPts val="0"/>
              </a:spcAft>
              <a:buSzPct val="100000"/>
              <a:buChar char="•"/>
            </a:pPr>
            <a:r>
              <a:rPr lang="en-US" sz="1900" b="1"/>
              <a:t>Chevrolet impala</a:t>
            </a:r>
            <a:endParaRPr/>
          </a:p>
          <a:p>
            <a:pPr marL="685800" lvl="1" indent="-228631" algn="l" rtl="0">
              <a:lnSpc>
                <a:spcPct val="120000"/>
              </a:lnSpc>
              <a:spcBef>
                <a:spcPts val="500"/>
              </a:spcBef>
              <a:spcAft>
                <a:spcPts val="0"/>
              </a:spcAft>
              <a:buSzPct val="100000"/>
              <a:buChar char="•"/>
            </a:pPr>
            <a:r>
              <a:rPr lang="en-US" sz="1900" b="1"/>
              <a:t>Plymouth fury iii</a:t>
            </a:r>
            <a:endParaRPr/>
          </a:p>
          <a:p>
            <a:pPr marL="685800" lvl="1" indent="-228631" algn="l" rtl="0">
              <a:lnSpc>
                <a:spcPct val="120000"/>
              </a:lnSpc>
              <a:spcBef>
                <a:spcPts val="500"/>
              </a:spcBef>
              <a:spcAft>
                <a:spcPts val="0"/>
              </a:spcAft>
              <a:buSzPct val="100000"/>
              <a:buChar char="•"/>
            </a:pPr>
            <a:r>
              <a:rPr lang="en-US" sz="1900" b="1"/>
              <a:t>Pontiac catalina</a:t>
            </a:r>
            <a:endParaRPr sz="1900" b="1"/>
          </a:p>
          <a:p>
            <a:pPr marL="685800" lvl="1" indent="-228631" algn="l" rtl="0">
              <a:lnSpc>
                <a:spcPct val="120000"/>
              </a:lnSpc>
              <a:spcBef>
                <a:spcPts val="500"/>
              </a:spcBef>
              <a:spcAft>
                <a:spcPts val="0"/>
              </a:spcAft>
              <a:buSzPct val="100000"/>
              <a:buChar char="•"/>
            </a:pPr>
            <a:r>
              <a:rPr lang="en-US" sz="1900" b="1"/>
              <a:t>Amc ambassador dpl</a:t>
            </a:r>
            <a:endParaRPr sz="1900" b="1"/>
          </a:p>
          <a:p>
            <a:pPr marL="228600" lvl="0" indent="-228600" algn="l" rtl="0">
              <a:lnSpc>
                <a:spcPct val="120000"/>
              </a:lnSpc>
              <a:spcBef>
                <a:spcPts val="1000"/>
              </a:spcBef>
              <a:spcAft>
                <a:spcPts val="0"/>
              </a:spcAft>
              <a:buSzPct val="100000"/>
              <a:buChar char="•"/>
            </a:pPr>
            <a:r>
              <a:rPr lang="en-US" sz="2200" b="1"/>
              <a:t>For attribute ‘cylinders’</a:t>
            </a:r>
            <a:endParaRPr/>
          </a:p>
          <a:p>
            <a:pPr marL="685800" lvl="1" indent="-228631" algn="l" rtl="0">
              <a:lnSpc>
                <a:spcPct val="120000"/>
              </a:lnSpc>
              <a:spcBef>
                <a:spcPts val="500"/>
              </a:spcBef>
              <a:spcAft>
                <a:spcPts val="0"/>
              </a:spcAft>
              <a:buSzPct val="100000"/>
              <a:buChar char="•"/>
            </a:pPr>
            <a:r>
              <a:rPr lang="en-US" sz="1900" b="1"/>
              <a:t>8 4 6 3 5</a:t>
            </a:r>
            <a:endParaRPr/>
          </a:p>
          <a:p>
            <a:pPr marL="228600" lvl="0" indent="-149225" algn="l" rtl="0">
              <a:lnSpc>
                <a:spcPct val="120000"/>
              </a:lnSpc>
              <a:spcBef>
                <a:spcPts val="1000"/>
              </a:spcBef>
              <a:spcAft>
                <a:spcPts val="0"/>
              </a:spcAft>
              <a:buSzPct val="1000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EXPLORING CATEGORICAL DATA</a:t>
            </a:r>
            <a:endParaRPr/>
          </a:p>
        </p:txBody>
      </p:sp>
      <p:sp>
        <p:nvSpPr>
          <p:cNvPr id="189" name="Google Shape;189;p15"/>
          <p:cNvSpPr txBox="1">
            <a:spLocks noGrp="1"/>
          </p:cNvSpPr>
          <p:nvPr>
            <p:ph type="body" idx="1"/>
          </p:nvPr>
        </p:nvSpPr>
        <p:spPr>
          <a:xfrm>
            <a:off x="685799" y="1874251"/>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to get a table consisting the categories of the attribute and count of the data elements falling into that category.</a:t>
            </a:r>
            <a:endParaRPr/>
          </a:p>
        </p:txBody>
      </p:sp>
      <p:pic>
        <p:nvPicPr>
          <p:cNvPr id="190" name="Google Shape;190;p15" descr="https://learning.oreilly.com/library/view/machine-learning/9789389588132/images/48-1.png"/>
          <p:cNvPicPr preferRelativeResize="0"/>
          <p:nvPr/>
        </p:nvPicPr>
        <p:blipFill rotWithShape="1">
          <a:blip r:embed="rId3">
            <a:alphaModFix/>
          </a:blip>
          <a:srcRect/>
          <a:stretch/>
        </p:blipFill>
        <p:spPr>
          <a:xfrm>
            <a:off x="2551014" y="2824478"/>
            <a:ext cx="6391275" cy="990600"/>
          </a:xfrm>
          <a:prstGeom prst="rect">
            <a:avLst/>
          </a:prstGeom>
          <a:noFill/>
          <a:ln>
            <a:noFill/>
          </a:ln>
        </p:spPr>
      </p:pic>
      <p:pic>
        <p:nvPicPr>
          <p:cNvPr id="191" name="Google Shape;191;p15" descr="https://learning.oreilly.com/library/view/machine-learning/9789389588132/images/48-1.png"/>
          <p:cNvPicPr preferRelativeResize="0"/>
          <p:nvPr/>
        </p:nvPicPr>
        <p:blipFill rotWithShape="1">
          <a:blip r:embed="rId3">
            <a:alphaModFix/>
          </a:blip>
          <a:srcRect/>
          <a:stretch/>
        </p:blipFill>
        <p:spPr>
          <a:xfrm>
            <a:off x="2747962" y="4603957"/>
            <a:ext cx="6391275" cy="990600"/>
          </a:xfrm>
          <a:prstGeom prst="rect">
            <a:avLst/>
          </a:prstGeom>
          <a:noFill/>
          <a:ln>
            <a:noFill/>
          </a:ln>
        </p:spPr>
      </p:pic>
      <p:sp>
        <p:nvSpPr>
          <p:cNvPr id="192" name="Google Shape;192;p15"/>
          <p:cNvSpPr/>
          <p:nvPr/>
        </p:nvSpPr>
        <p:spPr>
          <a:xfrm>
            <a:off x="3803397" y="3865254"/>
            <a:ext cx="42804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Gill Sans"/>
                <a:ea typeface="Gill Sans"/>
                <a:cs typeface="Gill Sans"/>
                <a:sym typeface="Gill Sans"/>
              </a:rPr>
              <a:t>Count of Categories for ‘car name’ Attribute</a:t>
            </a:r>
            <a:endParaRPr/>
          </a:p>
        </p:txBody>
      </p:sp>
      <p:sp>
        <p:nvSpPr>
          <p:cNvPr id="193" name="Google Shape;193;p15"/>
          <p:cNvSpPr/>
          <p:nvPr/>
        </p:nvSpPr>
        <p:spPr>
          <a:xfrm>
            <a:off x="3803397" y="5779665"/>
            <a:ext cx="42804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Count of Categories for ‘Cylinders’ Attribute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EXPLORING CATEGORICAL DATA</a:t>
            </a:r>
            <a:endParaRPr/>
          </a:p>
        </p:txBody>
      </p:sp>
      <p:sp>
        <p:nvSpPr>
          <p:cNvPr id="199" name="Google Shape;199;p16"/>
          <p:cNvSpPr txBox="1">
            <a:spLocks noGrp="1"/>
          </p:cNvSpPr>
          <p:nvPr>
            <p:ph type="body" idx="1"/>
          </p:nvPr>
        </p:nvSpPr>
        <p:spPr>
          <a:xfrm>
            <a:off x="1451579" y="1846916"/>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to know the proportion (or percentage) of count of data elements belonging to a category. </a:t>
            </a:r>
            <a:endParaRPr/>
          </a:p>
          <a:p>
            <a:pPr marL="685800" lvl="1" indent="-228600" algn="l" rtl="0">
              <a:lnSpc>
                <a:spcPct val="120000"/>
              </a:lnSpc>
              <a:spcBef>
                <a:spcPts val="500"/>
              </a:spcBef>
              <a:spcAft>
                <a:spcPts val="0"/>
              </a:spcAft>
              <a:buSzPts val="1800"/>
              <a:buChar char="•"/>
            </a:pPr>
            <a:r>
              <a:rPr lang="en-US"/>
              <a:t>Say, e.g., for the attributes ‘cylinders’, the proportion of data elements belonging to the category 4 is 204 ÷ 398 = 0.513, i.e. 51.3%.</a:t>
            </a:r>
            <a:endParaRPr/>
          </a:p>
        </p:txBody>
      </p:sp>
      <p:pic>
        <p:nvPicPr>
          <p:cNvPr id="200" name="Google Shape;200;p16" descr="https://learning.oreilly.com/library/view/machine-learning/9789389588132/images/43-2.png"/>
          <p:cNvPicPr preferRelativeResize="0"/>
          <p:nvPr/>
        </p:nvPicPr>
        <p:blipFill rotWithShape="1">
          <a:blip r:embed="rId3">
            <a:alphaModFix/>
          </a:blip>
          <a:srcRect/>
          <a:stretch/>
        </p:blipFill>
        <p:spPr>
          <a:xfrm>
            <a:off x="654441" y="3571056"/>
            <a:ext cx="5143500" cy="30266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EXPLORING CATEGORICAL DATA</a:t>
            </a:r>
            <a:endParaRPr/>
          </a:p>
        </p:txBody>
      </p:sp>
      <p:pic>
        <p:nvPicPr>
          <p:cNvPr id="206" name="Google Shape;206;p17" descr="https://learning.oreilly.com/library/view/machine-learning/9789389588132/images/48-3.png"/>
          <p:cNvPicPr preferRelativeResize="0"/>
          <p:nvPr/>
        </p:nvPicPr>
        <p:blipFill rotWithShape="1">
          <a:blip r:embed="rId3">
            <a:alphaModFix/>
          </a:blip>
          <a:srcRect/>
          <a:stretch/>
        </p:blipFill>
        <p:spPr>
          <a:xfrm>
            <a:off x="2684584" y="2119752"/>
            <a:ext cx="6400800" cy="990600"/>
          </a:xfrm>
          <a:prstGeom prst="rect">
            <a:avLst/>
          </a:prstGeom>
          <a:noFill/>
          <a:ln>
            <a:noFill/>
          </a:ln>
        </p:spPr>
      </p:pic>
      <p:pic>
        <p:nvPicPr>
          <p:cNvPr id="207" name="Google Shape;207;p17" descr="https://learning.oreilly.com/library/view/machine-learning/9789389588132/images/48-4.png"/>
          <p:cNvPicPr preferRelativeResize="0"/>
          <p:nvPr/>
        </p:nvPicPr>
        <p:blipFill rotWithShape="1">
          <a:blip r:embed="rId4">
            <a:alphaModFix/>
          </a:blip>
          <a:srcRect/>
          <a:stretch/>
        </p:blipFill>
        <p:spPr>
          <a:xfrm>
            <a:off x="2895600" y="4100953"/>
            <a:ext cx="5734050" cy="638175"/>
          </a:xfrm>
          <a:prstGeom prst="rect">
            <a:avLst/>
          </a:prstGeom>
          <a:noFill/>
          <a:ln>
            <a:noFill/>
          </a:ln>
        </p:spPr>
      </p:pic>
      <p:sp>
        <p:nvSpPr>
          <p:cNvPr id="208" name="Google Shape;208;p17"/>
          <p:cNvSpPr/>
          <p:nvPr/>
        </p:nvSpPr>
        <p:spPr>
          <a:xfrm>
            <a:off x="3430045" y="4793439"/>
            <a:ext cx="533190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333333"/>
                </a:solidFill>
                <a:latin typeface="Georgia"/>
                <a:ea typeface="Georgia"/>
                <a:cs typeface="Georgia"/>
                <a:sym typeface="Georgia"/>
              </a:rPr>
              <a:t>Proportion of Categories for “Cylinders” Attribute</a:t>
            </a:r>
            <a:endParaRPr sz="1800">
              <a:solidFill>
                <a:schemeClr val="dk1"/>
              </a:solidFill>
              <a:latin typeface="Gill Sans"/>
              <a:ea typeface="Gill Sans"/>
              <a:cs typeface="Gill Sans"/>
              <a:sym typeface="Gill Sans"/>
            </a:endParaRPr>
          </a:p>
        </p:txBody>
      </p:sp>
      <p:sp>
        <p:nvSpPr>
          <p:cNvPr id="209" name="Google Shape;209;p17"/>
          <p:cNvSpPr/>
          <p:nvPr/>
        </p:nvSpPr>
        <p:spPr>
          <a:xfrm>
            <a:off x="3315375" y="3307978"/>
            <a:ext cx="531427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333333"/>
                </a:solidFill>
                <a:latin typeface="Georgia"/>
                <a:ea typeface="Georgia"/>
                <a:cs typeface="Georgia"/>
                <a:sym typeface="Georgia"/>
              </a:rPr>
              <a:t>Proportion of Categories for “car name” Attribute</a:t>
            </a:r>
            <a:endParaRPr sz="1800">
              <a:solidFill>
                <a:schemeClr val="dk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MODE: CATEGORICAL ATTRIBUTES</a:t>
            </a:r>
            <a:endParaRPr/>
          </a:p>
        </p:txBody>
      </p:sp>
      <p:sp>
        <p:nvSpPr>
          <p:cNvPr id="215" name="Google Shape;215;p18"/>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“mode” is applicable on categorical attributes.</a:t>
            </a:r>
            <a:endParaRPr/>
          </a:p>
          <a:p>
            <a:pPr marL="228600" lvl="0" indent="-228600" algn="l" rtl="0">
              <a:lnSpc>
                <a:spcPct val="120000"/>
              </a:lnSpc>
              <a:spcBef>
                <a:spcPts val="1000"/>
              </a:spcBef>
              <a:spcAft>
                <a:spcPts val="0"/>
              </a:spcAft>
              <a:buSzPts val="2000"/>
              <a:buChar char="•"/>
            </a:pPr>
            <a:r>
              <a:rPr lang="en-US"/>
              <a:t>Like mean and median, mode is also a statistical measure for central tendency of a data. </a:t>
            </a:r>
            <a:endParaRPr/>
          </a:p>
          <a:p>
            <a:pPr marL="228600" lvl="0" indent="-228600" algn="l" rtl="0">
              <a:lnSpc>
                <a:spcPct val="120000"/>
              </a:lnSpc>
              <a:spcBef>
                <a:spcPts val="1000"/>
              </a:spcBef>
              <a:spcAft>
                <a:spcPts val="0"/>
              </a:spcAft>
              <a:buSzPts val="2000"/>
              <a:buChar char="•"/>
            </a:pPr>
            <a:r>
              <a:rPr lang="en-US"/>
              <a:t>Mode of a data is the data value which appears most often</a:t>
            </a:r>
            <a:endParaRPr/>
          </a:p>
          <a:p>
            <a:pPr marL="228600" lvl="0" indent="-228600" algn="l" rtl="0">
              <a:lnSpc>
                <a:spcPct val="120000"/>
              </a:lnSpc>
              <a:spcBef>
                <a:spcPts val="1000"/>
              </a:spcBef>
              <a:spcAft>
                <a:spcPts val="0"/>
              </a:spcAft>
              <a:buSzPts val="2000"/>
              <a:buChar char="•"/>
            </a:pPr>
            <a:r>
              <a:rPr lang="en-US"/>
              <a:t>For cylinders, since the number of categories is less, we can see that the mode is 4</a:t>
            </a:r>
            <a:endParaRPr/>
          </a:p>
          <a:p>
            <a:pPr marL="228600" lvl="0" indent="-228600" algn="l" rtl="0">
              <a:lnSpc>
                <a:spcPct val="120000"/>
              </a:lnSpc>
              <a:spcBef>
                <a:spcPts val="1000"/>
              </a:spcBef>
              <a:spcAft>
                <a:spcPts val="0"/>
              </a:spcAft>
              <a:buSzPts val="2000"/>
              <a:buChar char="•"/>
            </a:pPr>
            <a:r>
              <a:rPr lang="en-US"/>
              <a:t>For car name, the mode is the category ‘ford pinto’ for which frequency is of highest value 6.</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EXPLORING RELATIONSHIP BETWEEN VARIABLES</a:t>
            </a:r>
            <a:endParaRPr/>
          </a:p>
        </p:txBody>
      </p:sp>
      <p:sp>
        <p:nvSpPr>
          <p:cNvPr id="221" name="Google Shape;221;p19"/>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120000"/>
              </a:lnSpc>
              <a:spcBef>
                <a:spcPts val="0"/>
              </a:spcBef>
              <a:spcAft>
                <a:spcPts val="0"/>
              </a:spcAft>
              <a:buSzPct val="100000"/>
              <a:buChar char="•"/>
            </a:pPr>
            <a:r>
              <a:rPr lang="en-US"/>
              <a:t>A scatter plot helps in visualizing bivariate relationships, i.e. relationship between two variables.</a:t>
            </a:r>
            <a:endParaRPr/>
          </a:p>
          <a:p>
            <a:pPr marL="228600" lvl="0" indent="-228600" algn="l" rtl="0">
              <a:lnSpc>
                <a:spcPct val="120000"/>
              </a:lnSpc>
              <a:spcBef>
                <a:spcPts val="1000"/>
              </a:spcBef>
              <a:spcAft>
                <a:spcPts val="0"/>
              </a:spcAft>
              <a:buSzPct val="100000"/>
              <a:buChar char="•"/>
            </a:pPr>
            <a:r>
              <a:rPr lang="en-US"/>
              <a:t>For example, in a data set there are two attributes – attr_1 and attr_2. </a:t>
            </a:r>
            <a:endParaRPr/>
          </a:p>
          <a:p>
            <a:pPr marL="228600" lvl="0" indent="-228600" algn="l" rtl="0">
              <a:lnSpc>
                <a:spcPct val="120000"/>
              </a:lnSpc>
              <a:spcBef>
                <a:spcPts val="1000"/>
              </a:spcBef>
              <a:spcAft>
                <a:spcPts val="0"/>
              </a:spcAft>
              <a:buSzPct val="100000"/>
              <a:buChar char="•"/>
            </a:pPr>
            <a:r>
              <a:rPr lang="en-US"/>
              <a:t>We want to understand the relationship between two attributes, i.e. </a:t>
            </a:r>
            <a:endParaRPr/>
          </a:p>
          <a:p>
            <a:pPr marL="685800" lvl="1" indent="-228600" algn="l" rtl="0">
              <a:lnSpc>
                <a:spcPct val="120000"/>
              </a:lnSpc>
              <a:spcBef>
                <a:spcPts val="500"/>
              </a:spcBef>
              <a:spcAft>
                <a:spcPts val="0"/>
              </a:spcAft>
              <a:buSzPct val="100000"/>
              <a:buChar char="•"/>
            </a:pPr>
            <a:r>
              <a:rPr lang="en-US"/>
              <a:t>with a change in value of one attribute, say attr_1, how does the value of the other attribute, say attr_2, changes. </a:t>
            </a:r>
            <a:endParaRPr/>
          </a:p>
          <a:p>
            <a:pPr marL="228600" lvl="0" indent="-228600" algn="l" rtl="0">
              <a:lnSpc>
                <a:spcPct val="120000"/>
              </a:lnSpc>
              <a:spcBef>
                <a:spcPts val="1000"/>
              </a:spcBef>
              <a:spcAft>
                <a:spcPts val="0"/>
              </a:spcAft>
              <a:buSzPct val="100000"/>
              <a:buChar char="•"/>
            </a:pPr>
            <a:r>
              <a:rPr lang="en-US"/>
              <a:t>We can draw a scatter plot, with attr_1 mapped to </a:t>
            </a:r>
            <a:r>
              <a:rPr lang="en-US" i="1"/>
              <a:t>x</a:t>
            </a:r>
            <a:r>
              <a:rPr lang="en-US"/>
              <a:t>-axis and attr_2 mapped in </a:t>
            </a:r>
            <a:r>
              <a:rPr lang="en-US" i="1"/>
              <a:t>y</a:t>
            </a:r>
            <a:r>
              <a:rPr lang="en-US"/>
              <a:t>-axis. </a:t>
            </a:r>
            <a:endParaRPr/>
          </a:p>
          <a:p>
            <a:pPr marL="228600" lvl="0" indent="-228600" algn="l" rtl="0">
              <a:lnSpc>
                <a:spcPct val="120000"/>
              </a:lnSpc>
              <a:spcBef>
                <a:spcPts val="1000"/>
              </a:spcBef>
              <a:spcAft>
                <a:spcPts val="0"/>
              </a:spcAft>
              <a:buSzPct val="100000"/>
              <a:buChar char="•"/>
            </a:pPr>
            <a:r>
              <a:rPr lang="en-US"/>
              <a:t>So, every point in the plot will have value of attr_1 in the </a:t>
            </a:r>
            <a:r>
              <a:rPr lang="en-US" i="1"/>
              <a:t>x</a:t>
            </a:r>
            <a:r>
              <a:rPr lang="en-US"/>
              <a:t>-coordinate and value of attr_2 in the </a:t>
            </a:r>
            <a:r>
              <a:rPr lang="en-US" i="1"/>
              <a:t>y</a:t>
            </a:r>
            <a:r>
              <a:rPr lang="en-US"/>
              <a:t>-coordinate. </a:t>
            </a:r>
            <a:endParaRPr/>
          </a:p>
          <a:p>
            <a:pPr marL="228600" lvl="0" indent="-228600" algn="l" rtl="0">
              <a:lnSpc>
                <a:spcPct val="120000"/>
              </a:lnSpc>
              <a:spcBef>
                <a:spcPts val="1000"/>
              </a:spcBef>
              <a:spcAft>
                <a:spcPts val="0"/>
              </a:spcAft>
              <a:buSzPct val="100000"/>
              <a:buChar char="•"/>
            </a:pPr>
            <a:r>
              <a:rPr lang="en-US"/>
              <a:t>As in a two-dimensional plot, attr_1 is said to be the independent variable and attr_2 as the dependent variable.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SCATTER PLOT OF ‘DISPLACEMENT’ AND ‘MPG’</a:t>
            </a:r>
            <a:endParaRPr/>
          </a:p>
        </p:txBody>
      </p:sp>
      <p:sp>
        <p:nvSpPr>
          <p:cNvPr id="227" name="Google Shape;227;p20"/>
          <p:cNvSpPr txBox="1">
            <a:spLocks noGrp="1"/>
          </p:cNvSpPr>
          <p:nvPr>
            <p:ph type="body" idx="1"/>
          </p:nvPr>
        </p:nvSpPr>
        <p:spPr>
          <a:xfrm>
            <a:off x="5809956" y="1825625"/>
            <a:ext cx="5543843"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The value of ‘mpg’ seems to steadily decrease with the increase in the value of ‘displacement’</a:t>
            </a:r>
            <a:endParaRPr/>
          </a:p>
          <a:p>
            <a:pPr marL="228600" lvl="0" indent="-228600" algn="l" rtl="0">
              <a:lnSpc>
                <a:spcPct val="120000"/>
              </a:lnSpc>
              <a:spcBef>
                <a:spcPts val="1000"/>
              </a:spcBef>
              <a:spcAft>
                <a:spcPts val="0"/>
              </a:spcAft>
              <a:buSzPts val="2000"/>
              <a:buChar char="•"/>
            </a:pPr>
            <a:r>
              <a:rPr lang="en-US"/>
              <a:t>it can be reviewed by calculating the correlation between the variables.</a:t>
            </a:r>
            <a:endParaRPr/>
          </a:p>
          <a:p>
            <a:pPr marL="228600" lvl="0" indent="-228600" algn="l" rtl="0">
              <a:lnSpc>
                <a:spcPct val="120000"/>
              </a:lnSpc>
              <a:spcBef>
                <a:spcPts val="1000"/>
              </a:spcBef>
              <a:spcAft>
                <a:spcPts val="0"/>
              </a:spcAft>
              <a:buSzPts val="2000"/>
              <a:buChar char="•"/>
            </a:pPr>
            <a:r>
              <a:rPr lang="en-US"/>
              <a:t>An indication of presence of outlier data values. </a:t>
            </a:r>
            <a:endParaRPr/>
          </a:p>
          <a:p>
            <a:pPr marL="685800" lvl="1" indent="-228600" algn="l" rtl="0">
              <a:lnSpc>
                <a:spcPct val="120000"/>
              </a:lnSpc>
              <a:spcBef>
                <a:spcPts val="500"/>
              </a:spcBef>
              <a:spcAft>
                <a:spcPts val="0"/>
              </a:spcAft>
              <a:buSzPts val="1800"/>
              <a:buChar char="•"/>
            </a:pPr>
            <a:r>
              <a:rPr lang="en-US"/>
              <a:t>there is one data element which has a mpg of 37 for a displacement of 250. </a:t>
            </a:r>
            <a:endParaRPr/>
          </a:p>
          <a:p>
            <a:pPr marL="685800" lvl="1" indent="-228600" algn="l" rtl="0">
              <a:lnSpc>
                <a:spcPct val="120000"/>
              </a:lnSpc>
              <a:spcBef>
                <a:spcPts val="500"/>
              </a:spcBef>
              <a:spcAft>
                <a:spcPts val="0"/>
              </a:spcAft>
              <a:buSzPts val="1800"/>
              <a:buChar char="•"/>
            </a:pPr>
            <a:r>
              <a:rPr lang="en-US"/>
              <a:t>This record is completely different from other data elements having similar displacement value but mpg value in the range of 15 to 25. </a:t>
            </a:r>
            <a:endParaRPr/>
          </a:p>
        </p:txBody>
      </p:sp>
      <p:pic>
        <p:nvPicPr>
          <p:cNvPr id="228" name="Google Shape;228;p20" descr="https://learning.oreilly.com/library/view/machine-learning/9789389588132/images/50-1.png"/>
          <p:cNvPicPr preferRelativeResize="0"/>
          <p:nvPr/>
        </p:nvPicPr>
        <p:blipFill rotWithShape="1">
          <a:blip r:embed="rId3">
            <a:alphaModFix/>
          </a:blip>
          <a:srcRect/>
          <a:stretch/>
        </p:blipFill>
        <p:spPr>
          <a:xfrm>
            <a:off x="401297" y="1901321"/>
            <a:ext cx="5211713" cy="42280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1"/>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i="1"/>
              <a:t>TWO-WAY CROSS-TABULATIONS</a:t>
            </a:r>
            <a:endParaRPr/>
          </a:p>
        </p:txBody>
      </p:sp>
      <p:sp>
        <p:nvSpPr>
          <p:cNvPr id="234" name="Google Shape;234;p21"/>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Two-way cross-tabulations (also called cross-tab or contingency table) are used to understand the relationship of two categorical attributes in a concise way. </a:t>
            </a:r>
            <a:endParaRPr/>
          </a:p>
          <a:p>
            <a:pPr marL="228600" lvl="0" indent="-228600" algn="l" rtl="0">
              <a:lnSpc>
                <a:spcPct val="120000"/>
              </a:lnSpc>
              <a:spcBef>
                <a:spcPts val="1000"/>
              </a:spcBef>
              <a:spcAft>
                <a:spcPts val="0"/>
              </a:spcAft>
              <a:buSzPts val="2000"/>
              <a:buChar char="•"/>
            </a:pPr>
            <a:r>
              <a:rPr lang="en-US"/>
              <a:t>It has a matrix format that presents a summarized view of the bivariate frequency distribution. </a:t>
            </a:r>
            <a:endParaRPr/>
          </a:p>
          <a:p>
            <a:pPr marL="228600" lvl="0" indent="-228600" algn="l" rtl="0">
              <a:lnSpc>
                <a:spcPct val="120000"/>
              </a:lnSpc>
              <a:spcBef>
                <a:spcPts val="1000"/>
              </a:spcBef>
              <a:spcAft>
                <a:spcPts val="0"/>
              </a:spcAft>
              <a:buSzPts val="2000"/>
              <a:buChar char="•"/>
            </a:pPr>
            <a:r>
              <a:rPr lang="en-US"/>
              <a:t>A cross-tab, very much like a scatter plot, helps to understand how much the data values of one attribute changes with the change in data values of another attribute.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endParaRPr/>
          </a:p>
        </p:txBody>
      </p:sp>
      <p:sp>
        <p:nvSpPr>
          <p:cNvPr id="240" name="Google Shape;240;p22"/>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Let’s assume the attributes ‘cylinders’, ‘model.year’, and ‘origin’ as categorical and try to examine the variation of one with respect to the other. </a:t>
            </a:r>
            <a:endParaRPr/>
          </a:p>
          <a:p>
            <a:pPr marL="228600" lvl="0" indent="-228600" algn="l" rtl="0">
              <a:lnSpc>
                <a:spcPct val="120000"/>
              </a:lnSpc>
              <a:spcBef>
                <a:spcPts val="1000"/>
              </a:spcBef>
              <a:spcAft>
                <a:spcPts val="0"/>
              </a:spcAft>
              <a:buSzPts val="2000"/>
              <a:buChar char="•"/>
            </a:pPr>
            <a:r>
              <a:rPr lang="en-US"/>
              <a:t>A ‘cylinders’ reflects the number of cylinders in a car and assumes values 3, 4, 5, 6, and 8. </a:t>
            </a:r>
            <a:endParaRPr/>
          </a:p>
          <a:p>
            <a:pPr marL="228600" lvl="0" indent="-228600" algn="l" rtl="0">
              <a:lnSpc>
                <a:spcPct val="120000"/>
              </a:lnSpc>
              <a:spcBef>
                <a:spcPts val="1000"/>
              </a:spcBef>
              <a:spcAft>
                <a:spcPts val="0"/>
              </a:spcAft>
              <a:buSzPts val="2000"/>
              <a:buChar char="•"/>
            </a:pPr>
            <a:r>
              <a:rPr lang="en-US"/>
              <a:t>Attribute ‘model.year’ captures the model year of each of the car </a:t>
            </a:r>
            <a:endParaRPr/>
          </a:p>
          <a:p>
            <a:pPr marL="228600" lvl="0" indent="-228600" algn="l" rtl="0">
              <a:lnSpc>
                <a:spcPct val="120000"/>
              </a:lnSpc>
              <a:spcBef>
                <a:spcPts val="1000"/>
              </a:spcBef>
              <a:spcAft>
                <a:spcPts val="0"/>
              </a:spcAft>
              <a:buSzPts val="2000"/>
              <a:buChar char="•"/>
            </a:pPr>
            <a:r>
              <a:rPr lang="en-US"/>
              <a:t>Attribute ‘origin’ gives the region of the car, the values for origin 1, 2, and 3 corresponding to North America, Europe, and Asia.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CROSS-TABS</a:t>
            </a:r>
            <a:endParaRPr/>
          </a:p>
        </p:txBody>
      </p:sp>
      <p:sp>
        <p:nvSpPr>
          <p:cNvPr id="246" name="Google Shape;246;p23"/>
          <p:cNvSpPr txBox="1">
            <a:spLocks noGrp="1"/>
          </p:cNvSpPr>
          <p:nvPr>
            <p:ph type="body" idx="1"/>
          </p:nvPr>
        </p:nvSpPr>
        <p:spPr>
          <a:xfrm>
            <a:off x="7104186" y="2096085"/>
            <a:ext cx="4569656" cy="4080877"/>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help us understand the number of vehicles per year in each of the regions North America, Europe, and Asia.  </a:t>
            </a:r>
            <a:endParaRPr/>
          </a:p>
          <a:p>
            <a:pPr marL="228600" lvl="0" indent="-101600" algn="l" rtl="0">
              <a:lnSpc>
                <a:spcPct val="120000"/>
              </a:lnSpc>
              <a:spcBef>
                <a:spcPts val="1000"/>
              </a:spcBef>
              <a:spcAft>
                <a:spcPts val="0"/>
              </a:spcAft>
              <a:buSzPts val="2000"/>
              <a:buNone/>
            </a:pPr>
            <a:endParaRPr/>
          </a:p>
          <a:p>
            <a:pPr marL="228600" lvl="0" indent="-101600" algn="l" rtl="0">
              <a:lnSpc>
                <a:spcPct val="120000"/>
              </a:lnSpc>
              <a:spcBef>
                <a:spcPts val="1000"/>
              </a:spcBef>
              <a:spcAft>
                <a:spcPts val="0"/>
              </a:spcAft>
              <a:buSzPts val="2000"/>
              <a:buNone/>
            </a:pPr>
            <a:endParaRPr/>
          </a:p>
          <a:p>
            <a:pPr marL="228600" lvl="0" indent="-228600" algn="l" rtl="0">
              <a:lnSpc>
                <a:spcPct val="120000"/>
              </a:lnSpc>
              <a:spcBef>
                <a:spcPts val="1000"/>
              </a:spcBef>
              <a:spcAft>
                <a:spcPts val="0"/>
              </a:spcAft>
              <a:buSzPts val="2000"/>
              <a:buChar char="•"/>
            </a:pPr>
            <a:r>
              <a:rPr lang="en-US"/>
              <a:t>it gives the number of 3, 4, 5, 6, or 8 cylinder cars in every region present in the sample data set. </a:t>
            </a:r>
            <a:endParaRPr/>
          </a:p>
        </p:txBody>
      </p:sp>
      <p:pic>
        <p:nvPicPr>
          <p:cNvPr id="247" name="Google Shape;247;p23" descr="https://learning.oreilly.com/library/view/machine-learning/9789389588132/images/52-1.png"/>
          <p:cNvPicPr preferRelativeResize="0"/>
          <p:nvPr/>
        </p:nvPicPr>
        <p:blipFill rotWithShape="1">
          <a:blip r:embed="rId3">
            <a:alphaModFix/>
          </a:blip>
          <a:srcRect/>
          <a:stretch/>
        </p:blipFill>
        <p:spPr>
          <a:xfrm>
            <a:off x="518159" y="2343150"/>
            <a:ext cx="6400800" cy="1085850"/>
          </a:xfrm>
          <a:prstGeom prst="rect">
            <a:avLst/>
          </a:prstGeom>
          <a:noFill/>
          <a:ln>
            <a:noFill/>
          </a:ln>
        </p:spPr>
      </p:pic>
      <p:sp>
        <p:nvSpPr>
          <p:cNvPr id="248" name="Google Shape;248;p23"/>
          <p:cNvSpPr/>
          <p:nvPr/>
        </p:nvSpPr>
        <p:spPr>
          <a:xfrm>
            <a:off x="1883506" y="3503627"/>
            <a:ext cx="367010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Cross-tab for ‘Model year’ vs. ‘Origin’</a:t>
            </a:r>
            <a:endParaRPr/>
          </a:p>
        </p:txBody>
      </p:sp>
      <p:pic>
        <p:nvPicPr>
          <p:cNvPr id="249" name="Google Shape;249;p23" descr="https://learning.oreilly.com/library/view/machine-learning/9789389588132/images/52-2.png"/>
          <p:cNvPicPr preferRelativeResize="0"/>
          <p:nvPr/>
        </p:nvPicPr>
        <p:blipFill rotWithShape="1">
          <a:blip r:embed="rId4">
            <a:alphaModFix/>
          </a:blip>
          <a:srcRect/>
          <a:stretch/>
        </p:blipFill>
        <p:spPr>
          <a:xfrm>
            <a:off x="518159" y="4136523"/>
            <a:ext cx="6400800" cy="1323975"/>
          </a:xfrm>
          <a:prstGeom prst="rect">
            <a:avLst/>
          </a:prstGeom>
          <a:noFill/>
          <a:ln>
            <a:noFill/>
          </a:ln>
        </p:spPr>
      </p:pic>
      <p:sp>
        <p:nvSpPr>
          <p:cNvPr id="250" name="Google Shape;250;p23"/>
          <p:cNvSpPr/>
          <p:nvPr/>
        </p:nvSpPr>
        <p:spPr>
          <a:xfrm>
            <a:off x="1883506" y="5460498"/>
            <a:ext cx="344870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Cross-tab for ‘Cylinders’ vs. ‘Origin’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CROSS-TAB</a:t>
            </a:r>
            <a:endParaRPr/>
          </a:p>
        </p:txBody>
      </p:sp>
      <p:sp>
        <p:nvSpPr>
          <p:cNvPr id="256" name="Google Shape;256;p24"/>
          <p:cNvSpPr txBox="1">
            <a:spLocks noGrp="1"/>
          </p:cNvSpPr>
          <p:nvPr>
            <p:ph type="body" idx="1"/>
          </p:nvPr>
        </p:nvSpPr>
        <p:spPr>
          <a:xfrm>
            <a:off x="6991643" y="2715065"/>
            <a:ext cx="4362156" cy="3461898"/>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 presents the number of 3, 4, 5, 6, or 8 cylinder cars every year.</a:t>
            </a:r>
            <a:endParaRPr/>
          </a:p>
        </p:txBody>
      </p:sp>
      <p:pic>
        <p:nvPicPr>
          <p:cNvPr id="257" name="Google Shape;257;p24" descr="https://learning.oreilly.com/library/view/machine-learning/9789389588132/images/52-3.png"/>
          <p:cNvPicPr preferRelativeResize="0"/>
          <p:nvPr/>
        </p:nvPicPr>
        <p:blipFill rotWithShape="1">
          <a:blip r:embed="rId3">
            <a:alphaModFix/>
          </a:blip>
          <a:srcRect/>
          <a:stretch/>
        </p:blipFill>
        <p:spPr>
          <a:xfrm>
            <a:off x="490025" y="2591594"/>
            <a:ext cx="6400800" cy="1409700"/>
          </a:xfrm>
          <a:prstGeom prst="rect">
            <a:avLst/>
          </a:prstGeom>
          <a:noFill/>
          <a:ln>
            <a:noFill/>
          </a:ln>
        </p:spPr>
      </p:pic>
      <p:sp>
        <p:nvSpPr>
          <p:cNvPr id="258" name="Google Shape;258;p24"/>
          <p:cNvSpPr/>
          <p:nvPr/>
        </p:nvSpPr>
        <p:spPr>
          <a:xfrm>
            <a:off x="1331742" y="4226707"/>
            <a:ext cx="4362156"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333333"/>
                </a:solidFill>
                <a:latin typeface="Georgia"/>
                <a:ea typeface="Georgia"/>
                <a:cs typeface="Georgia"/>
                <a:sym typeface="Georgia"/>
              </a:rPr>
              <a:t>Cross-tab for ‘Cylinders’ vs. ‘Model year’</a:t>
            </a:r>
            <a:endParaRPr sz="1800">
              <a:solidFill>
                <a:srgbClr val="333333"/>
              </a:solidFill>
              <a:latin typeface="Georgia"/>
              <a:ea typeface="Georgia"/>
              <a:cs typeface="Georgia"/>
              <a:sym typeface="Georgia"/>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
            </a:r>
            <a:br>
              <a:rPr lang="en-US" sz="1800">
                <a:solidFill>
                  <a:schemeClr val="dk1"/>
                </a:solidFill>
                <a:latin typeface="Gill Sans"/>
                <a:ea typeface="Gill Sans"/>
                <a:cs typeface="Gill Sans"/>
                <a:sym typeface="Gill Sans"/>
              </a:rPr>
            </a:br>
            <a:endParaRPr sz="1800">
              <a:solidFill>
                <a:schemeClr val="dk1"/>
              </a:solidFill>
              <a:latin typeface="Gill Sans"/>
              <a:ea typeface="Gill Sans"/>
              <a:cs typeface="Gill Sans"/>
              <a:sym typeface="Gill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DATA QUALITY AND REMEDIATION</a:t>
            </a:r>
            <a:endParaRPr/>
          </a:p>
        </p:txBody>
      </p:sp>
      <p:sp>
        <p:nvSpPr>
          <p:cNvPr id="264" name="Google Shape;264;p25"/>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120000"/>
              </a:lnSpc>
              <a:spcBef>
                <a:spcPts val="0"/>
              </a:spcBef>
              <a:spcAft>
                <a:spcPts val="0"/>
              </a:spcAft>
              <a:buSzPct val="100000"/>
              <a:buChar char="•"/>
            </a:pPr>
            <a:r>
              <a:rPr lang="en-US"/>
              <a:t>Data quality</a:t>
            </a:r>
            <a:endParaRPr/>
          </a:p>
          <a:p>
            <a:pPr marL="685800" lvl="1" indent="-228600" algn="l" rtl="0">
              <a:lnSpc>
                <a:spcPct val="120000"/>
              </a:lnSpc>
              <a:spcBef>
                <a:spcPts val="500"/>
              </a:spcBef>
              <a:spcAft>
                <a:spcPts val="0"/>
              </a:spcAft>
              <a:buSzPct val="100000"/>
              <a:buChar char="•"/>
            </a:pPr>
            <a:r>
              <a:rPr lang="en-US"/>
              <a:t>missing value</a:t>
            </a:r>
            <a:endParaRPr/>
          </a:p>
          <a:p>
            <a:pPr marL="685800" lvl="1" indent="-228600" algn="l" rtl="0">
              <a:lnSpc>
                <a:spcPct val="120000"/>
              </a:lnSpc>
              <a:spcBef>
                <a:spcPts val="500"/>
              </a:spcBef>
              <a:spcAft>
                <a:spcPts val="0"/>
              </a:spcAft>
              <a:buSzPct val="100000"/>
              <a:buChar char="•"/>
            </a:pPr>
            <a:r>
              <a:rPr lang="en-US"/>
              <a:t>Outliers</a:t>
            </a:r>
            <a:endParaRPr/>
          </a:p>
          <a:p>
            <a:pPr marL="228600" lvl="0" indent="-228600" algn="l" rtl="0">
              <a:lnSpc>
                <a:spcPct val="120000"/>
              </a:lnSpc>
              <a:spcBef>
                <a:spcPts val="1000"/>
              </a:spcBef>
              <a:spcAft>
                <a:spcPts val="0"/>
              </a:spcAft>
              <a:buSzPct val="100000"/>
              <a:buChar char="•"/>
            </a:pPr>
            <a:r>
              <a:rPr lang="en-US"/>
              <a:t>Reasons</a:t>
            </a:r>
            <a:endParaRPr/>
          </a:p>
          <a:p>
            <a:pPr marL="685800" lvl="1" indent="-228600" algn="l" rtl="0">
              <a:lnSpc>
                <a:spcPct val="120000"/>
              </a:lnSpc>
              <a:spcBef>
                <a:spcPts val="500"/>
              </a:spcBef>
              <a:spcAft>
                <a:spcPts val="0"/>
              </a:spcAft>
              <a:buSzPct val="100000"/>
              <a:buChar char="•"/>
            </a:pPr>
            <a:r>
              <a:rPr lang="en-US"/>
              <a:t>Incorrect sample set selection</a:t>
            </a:r>
            <a:endParaRPr/>
          </a:p>
          <a:p>
            <a:pPr marL="685800" lvl="1" indent="-228600" algn="l" rtl="0">
              <a:lnSpc>
                <a:spcPct val="120000"/>
              </a:lnSpc>
              <a:spcBef>
                <a:spcPts val="500"/>
              </a:spcBef>
              <a:spcAft>
                <a:spcPts val="0"/>
              </a:spcAft>
              <a:buSzPct val="100000"/>
              <a:buChar char="•"/>
            </a:pPr>
            <a:r>
              <a:rPr lang="en-US"/>
              <a:t>Errors in data collection</a:t>
            </a:r>
            <a:endParaRPr/>
          </a:p>
          <a:p>
            <a:pPr marL="228600" lvl="0" indent="-228600" algn="l" rtl="0">
              <a:lnSpc>
                <a:spcPct val="120000"/>
              </a:lnSpc>
              <a:spcBef>
                <a:spcPts val="1000"/>
              </a:spcBef>
              <a:spcAft>
                <a:spcPts val="0"/>
              </a:spcAft>
              <a:buSzPct val="100000"/>
              <a:buChar char="•"/>
            </a:pPr>
            <a:r>
              <a:rPr lang="en-US"/>
              <a:t>Data remediation</a:t>
            </a:r>
            <a:endParaRPr/>
          </a:p>
          <a:p>
            <a:pPr marL="685800" lvl="1" indent="-228600" algn="l" rtl="0">
              <a:lnSpc>
                <a:spcPct val="120000"/>
              </a:lnSpc>
              <a:spcBef>
                <a:spcPts val="500"/>
              </a:spcBef>
              <a:spcAft>
                <a:spcPts val="0"/>
              </a:spcAft>
              <a:buSzPct val="100000"/>
              <a:buChar char="•"/>
            </a:pPr>
            <a:r>
              <a:rPr lang="en-US"/>
              <a:t>by proper sampling technique</a:t>
            </a:r>
            <a:endParaRPr/>
          </a:p>
          <a:p>
            <a:pPr marL="685800" lvl="1" indent="-228600" algn="l" rtl="0">
              <a:lnSpc>
                <a:spcPct val="120000"/>
              </a:lnSpc>
              <a:spcBef>
                <a:spcPts val="500"/>
              </a:spcBef>
              <a:spcAft>
                <a:spcPts val="0"/>
              </a:spcAft>
              <a:buSzPct val="100000"/>
              <a:buChar char="•"/>
            </a:pPr>
            <a:r>
              <a:rPr lang="en-US"/>
              <a:t>Handling outliers</a:t>
            </a:r>
            <a:endParaRPr/>
          </a:p>
          <a:p>
            <a:pPr marL="685800" lvl="1" indent="-228600" algn="l" rtl="0">
              <a:lnSpc>
                <a:spcPct val="120000"/>
              </a:lnSpc>
              <a:spcBef>
                <a:spcPts val="500"/>
              </a:spcBef>
              <a:spcAft>
                <a:spcPts val="0"/>
              </a:spcAft>
              <a:buSzPct val="100000"/>
              <a:buChar char="•"/>
            </a:pPr>
            <a:r>
              <a:rPr lang="en-US" i="1"/>
              <a:t>Handling missing values</a:t>
            </a:r>
            <a:endParaRPr/>
          </a:p>
          <a:p>
            <a:pPr marL="685800" lvl="1" indent="-131444" algn="l" rtl="0">
              <a:lnSpc>
                <a:spcPct val="120000"/>
              </a:lnSpc>
              <a:spcBef>
                <a:spcPts val="500"/>
              </a:spcBef>
              <a:spcAft>
                <a:spcPts val="0"/>
              </a:spcAft>
              <a:buSzPct val="1000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i="1"/>
              <a:t>HANDLING OUTLIERS</a:t>
            </a:r>
            <a:endParaRPr/>
          </a:p>
        </p:txBody>
      </p:sp>
      <p:sp>
        <p:nvSpPr>
          <p:cNvPr id="270" name="Google Shape;270;p26"/>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20000"/>
              </a:lnSpc>
              <a:spcBef>
                <a:spcPts val="0"/>
              </a:spcBef>
              <a:spcAft>
                <a:spcPts val="0"/>
              </a:spcAft>
              <a:buSzPct val="100000"/>
              <a:buChar char="•"/>
            </a:pPr>
            <a:r>
              <a:rPr lang="en-US" b="1"/>
              <a:t>Remove outliers:</a:t>
            </a:r>
            <a:r>
              <a:rPr lang="en-US"/>
              <a:t> If the number of records which are outliers is not many, a simple approach may be to remove them.</a:t>
            </a:r>
            <a:endParaRPr/>
          </a:p>
          <a:p>
            <a:pPr marL="228600" lvl="0" indent="-228600" algn="l" rtl="0">
              <a:lnSpc>
                <a:spcPct val="120000"/>
              </a:lnSpc>
              <a:spcBef>
                <a:spcPts val="1000"/>
              </a:spcBef>
              <a:spcAft>
                <a:spcPts val="0"/>
              </a:spcAft>
              <a:buSzPct val="100000"/>
              <a:buChar char="•"/>
            </a:pPr>
            <a:r>
              <a:rPr lang="en-US" b="1"/>
              <a:t>Imputation:</a:t>
            </a:r>
            <a:r>
              <a:rPr lang="en-US"/>
              <a:t> </a:t>
            </a:r>
            <a:endParaRPr/>
          </a:p>
          <a:p>
            <a:pPr marL="685800" lvl="1" indent="-228600" algn="l" rtl="0">
              <a:lnSpc>
                <a:spcPct val="120000"/>
              </a:lnSpc>
              <a:spcBef>
                <a:spcPts val="500"/>
              </a:spcBef>
              <a:spcAft>
                <a:spcPts val="0"/>
              </a:spcAft>
              <a:buSzPct val="100000"/>
              <a:buChar char="•"/>
            </a:pPr>
            <a:r>
              <a:rPr lang="en-US"/>
              <a:t>Imputation is a method to assign a value to the data elements having outliers. </a:t>
            </a:r>
            <a:endParaRPr/>
          </a:p>
          <a:p>
            <a:pPr marL="685800" lvl="1" indent="-228600" algn="l" rtl="0">
              <a:lnSpc>
                <a:spcPct val="120000"/>
              </a:lnSpc>
              <a:spcBef>
                <a:spcPts val="500"/>
              </a:spcBef>
              <a:spcAft>
                <a:spcPts val="0"/>
              </a:spcAft>
              <a:buSzPct val="100000"/>
              <a:buChar char="•"/>
            </a:pPr>
            <a:r>
              <a:rPr lang="en-US"/>
              <a:t>One other way is to impute the value with mean or median or mode. </a:t>
            </a:r>
            <a:endParaRPr/>
          </a:p>
          <a:p>
            <a:pPr marL="685800" lvl="1" indent="-228600" algn="l" rtl="0">
              <a:lnSpc>
                <a:spcPct val="120000"/>
              </a:lnSpc>
              <a:spcBef>
                <a:spcPts val="500"/>
              </a:spcBef>
              <a:spcAft>
                <a:spcPts val="0"/>
              </a:spcAft>
              <a:buSzPct val="100000"/>
              <a:buChar char="•"/>
            </a:pPr>
            <a:r>
              <a:rPr lang="en-US"/>
              <a:t>The value of the most similar data element may also be used for imputation.</a:t>
            </a:r>
            <a:endParaRPr/>
          </a:p>
          <a:p>
            <a:pPr marL="228600" lvl="0" indent="-228600" algn="l" rtl="0">
              <a:lnSpc>
                <a:spcPct val="120000"/>
              </a:lnSpc>
              <a:spcBef>
                <a:spcPts val="1000"/>
              </a:spcBef>
              <a:spcAft>
                <a:spcPts val="0"/>
              </a:spcAft>
              <a:buSzPct val="100000"/>
              <a:buChar char="•"/>
            </a:pPr>
            <a:r>
              <a:rPr lang="en-US" b="1"/>
              <a:t>Capping:</a:t>
            </a:r>
            <a:r>
              <a:rPr lang="en-US"/>
              <a:t> For values that lie outside the 1.5|×| IQR limits, we can cap them by replacing those observations below the lower limit with the value of 5th percentile and those that lie above the upper limit, with the value of 95th percentile.</a:t>
            </a:r>
            <a:endParaRPr/>
          </a:p>
          <a:p>
            <a:pPr marL="228600" lvl="0" indent="-111125" algn="l" rtl="0">
              <a:lnSpc>
                <a:spcPct val="120000"/>
              </a:lnSpc>
              <a:spcBef>
                <a:spcPts val="1000"/>
              </a:spcBef>
              <a:spcAft>
                <a:spcPts val="0"/>
              </a:spcAft>
              <a:buSzPct val="10000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i="1"/>
              <a:t>HANDLING MISSING VALUES</a:t>
            </a:r>
            <a:endParaRPr/>
          </a:p>
        </p:txBody>
      </p:sp>
      <p:sp>
        <p:nvSpPr>
          <p:cNvPr id="276" name="Google Shape;276;p27"/>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120000"/>
              </a:lnSpc>
              <a:spcBef>
                <a:spcPts val="0"/>
              </a:spcBef>
              <a:spcAft>
                <a:spcPts val="0"/>
              </a:spcAft>
              <a:buSzPct val="100000"/>
              <a:buChar char="•"/>
            </a:pPr>
            <a:r>
              <a:rPr lang="en-US">
                <a:latin typeface="Arial"/>
                <a:ea typeface="Arial"/>
                <a:cs typeface="Arial"/>
                <a:sym typeface="Arial"/>
              </a:rPr>
              <a:t>Eliminate records having a missing value of data elements</a:t>
            </a:r>
            <a:endParaRPr/>
          </a:p>
          <a:p>
            <a:pPr marL="228600" lvl="0" indent="-228600" algn="l" rtl="0">
              <a:lnSpc>
                <a:spcPct val="120000"/>
              </a:lnSpc>
              <a:spcBef>
                <a:spcPts val="1000"/>
              </a:spcBef>
              <a:spcAft>
                <a:spcPts val="0"/>
              </a:spcAft>
              <a:buSzPct val="100000"/>
              <a:buChar char="•"/>
            </a:pPr>
            <a:r>
              <a:rPr lang="en-US">
                <a:latin typeface="Arial"/>
                <a:ea typeface="Arial"/>
                <a:cs typeface="Arial"/>
                <a:sym typeface="Arial"/>
              </a:rPr>
              <a:t>Imputing missing values</a:t>
            </a:r>
            <a:endParaRPr/>
          </a:p>
          <a:p>
            <a:pPr marL="685800" lvl="1" indent="-228600" algn="l" rtl="0">
              <a:lnSpc>
                <a:spcPct val="120000"/>
              </a:lnSpc>
              <a:spcBef>
                <a:spcPts val="500"/>
              </a:spcBef>
              <a:spcAft>
                <a:spcPts val="0"/>
              </a:spcAft>
              <a:buSzPct val="100000"/>
              <a:buChar char="•"/>
            </a:pPr>
            <a:r>
              <a:rPr lang="en-US">
                <a:latin typeface="Arial"/>
                <a:ea typeface="Arial"/>
                <a:cs typeface="Arial"/>
                <a:sym typeface="Arial"/>
              </a:rPr>
              <a:t>assign a value to the data elements having missing values. </a:t>
            </a:r>
            <a:endParaRPr/>
          </a:p>
          <a:p>
            <a:pPr marL="685800" lvl="1" indent="-228600" algn="l" rtl="0">
              <a:lnSpc>
                <a:spcPct val="120000"/>
              </a:lnSpc>
              <a:spcBef>
                <a:spcPts val="500"/>
              </a:spcBef>
              <a:spcAft>
                <a:spcPts val="0"/>
              </a:spcAft>
              <a:buSzPct val="100000"/>
              <a:buChar char="•"/>
            </a:pPr>
            <a:r>
              <a:rPr lang="en-US">
                <a:latin typeface="Arial"/>
                <a:ea typeface="Arial"/>
                <a:cs typeface="Arial"/>
                <a:sym typeface="Arial"/>
              </a:rPr>
              <a:t>Mean/mode/median is most frequently assigned value. </a:t>
            </a:r>
            <a:endParaRPr/>
          </a:p>
          <a:p>
            <a:pPr marL="1143000" lvl="2" indent="-228600" algn="l" rtl="0">
              <a:lnSpc>
                <a:spcPct val="120000"/>
              </a:lnSpc>
              <a:spcBef>
                <a:spcPts val="500"/>
              </a:spcBef>
              <a:spcAft>
                <a:spcPts val="0"/>
              </a:spcAft>
              <a:buSzPct val="100000"/>
              <a:buChar char="•"/>
            </a:pPr>
            <a:r>
              <a:rPr lang="en-US">
                <a:latin typeface="Arial"/>
                <a:ea typeface="Arial"/>
                <a:cs typeface="Arial"/>
                <a:sym typeface="Arial"/>
              </a:rPr>
              <a:t>For quantitative attributes</a:t>
            </a:r>
            <a:endParaRPr/>
          </a:p>
          <a:p>
            <a:pPr marL="1600200" lvl="3" indent="-228600" algn="l" rtl="0">
              <a:lnSpc>
                <a:spcPct val="120000"/>
              </a:lnSpc>
              <a:spcBef>
                <a:spcPts val="500"/>
              </a:spcBef>
              <a:spcAft>
                <a:spcPts val="0"/>
              </a:spcAft>
              <a:buSzPct val="100000"/>
              <a:buChar char="•"/>
            </a:pPr>
            <a:r>
              <a:rPr lang="en-US">
                <a:latin typeface="Arial"/>
                <a:ea typeface="Arial"/>
                <a:cs typeface="Arial"/>
                <a:sym typeface="Arial"/>
              </a:rPr>
              <a:t>all missing values are imputed with the mean, median, or mode of the remaining values under the same attribute. </a:t>
            </a:r>
            <a:r>
              <a:rPr lang="en-US" b="0" i="0">
                <a:solidFill>
                  <a:srgbClr val="222222"/>
                </a:solidFill>
                <a:latin typeface="Arial"/>
                <a:ea typeface="Arial"/>
                <a:cs typeface="Arial"/>
                <a:sym typeface="Arial"/>
              </a:rPr>
              <a:t> </a:t>
            </a:r>
            <a:endParaRPr>
              <a:latin typeface="Arial"/>
              <a:ea typeface="Arial"/>
              <a:cs typeface="Arial"/>
              <a:sym typeface="Arial"/>
            </a:endParaRPr>
          </a:p>
          <a:p>
            <a:pPr marL="1143000" lvl="2" indent="-228600" algn="l" rtl="0">
              <a:lnSpc>
                <a:spcPct val="120000"/>
              </a:lnSpc>
              <a:spcBef>
                <a:spcPts val="500"/>
              </a:spcBef>
              <a:spcAft>
                <a:spcPts val="0"/>
              </a:spcAft>
              <a:buSzPct val="100000"/>
              <a:buChar char="•"/>
            </a:pPr>
            <a:r>
              <a:rPr lang="en-US">
                <a:latin typeface="Arial"/>
                <a:ea typeface="Arial"/>
                <a:cs typeface="Arial"/>
                <a:sym typeface="Arial"/>
              </a:rPr>
              <a:t>For qualitative attributes</a:t>
            </a:r>
            <a:endParaRPr/>
          </a:p>
          <a:p>
            <a:pPr marL="1600200" lvl="3" indent="-228600" algn="l" rtl="0">
              <a:lnSpc>
                <a:spcPct val="120000"/>
              </a:lnSpc>
              <a:spcBef>
                <a:spcPts val="500"/>
              </a:spcBef>
              <a:spcAft>
                <a:spcPts val="0"/>
              </a:spcAft>
              <a:buSzPct val="100000"/>
              <a:buChar char="•"/>
            </a:pPr>
            <a:r>
              <a:rPr lang="en-US">
                <a:latin typeface="Arial"/>
                <a:ea typeface="Arial"/>
                <a:cs typeface="Arial"/>
                <a:sym typeface="Arial"/>
              </a:rPr>
              <a:t>all missing values are imputed by the mode of all remaining values of the same attribute. </a:t>
            </a:r>
            <a:endParaRPr/>
          </a:p>
          <a:p>
            <a:pPr marL="685800" lvl="1" indent="-228600" algn="l" rtl="0">
              <a:lnSpc>
                <a:spcPct val="120000"/>
              </a:lnSpc>
              <a:spcBef>
                <a:spcPts val="500"/>
              </a:spcBef>
              <a:spcAft>
                <a:spcPts val="0"/>
              </a:spcAft>
              <a:buSzPct val="100000"/>
              <a:buChar char="•"/>
            </a:pPr>
            <a:r>
              <a:rPr lang="en-US">
                <a:latin typeface="Arial"/>
                <a:ea typeface="Arial"/>
                <a:cs typeface="Arial"/>
                <a:sym typeface="Arial"/>
              </a:rPr>
              <a:t>However, another strategy may be identify the similar types of observations whose values are known and use the mean/median/mode of those known values.</a:t>
            </a:r>
            <a:endParaRPr/>
          </a:p>
          <a:p>
            <a:pPr marL="228600" lvl="0" indent="-228600" algn="l" rtl="0">
              <a:lnSpc>
                <a:spcPct val="120000"/>
              </a:lnSpc>
              <a:spcBef>
                <a:spcPts val="1000"/>
              </a:spcBef>
              <a:spcAft>
                <a:spcPts val="0"/>
              </a:spcAft>
              <a:buSzPct val="100000"/>
              <a:buChar char="•"/>
            </a:pPr>
            <a:r>
              <a:rPr lang="en-US" i="1">
                <a:latin typeface="Arial"/>
                <a:ea typeface="Arial"/>
                <a:cs typeface="Arial"/>
                <a:sym typeface="Arial"/>
              </a:rPr>
              <a:t>Estimate missing values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i="1"/>
              <a:t>HANDLING MISSING VALUES</a:t>
            </a:r>
            <a:endParaRPr/>
          </a:p>
        </p:txBody>
      </p:sp>
      <p:sp>
        <p:nvSpPr>
          <p:cNvPr id="282" name="Google Shape;282;p28"/>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i="1"/>
              <a:t>Estimate missing values</a:t>
            </a:r>
            <a:endParaRPr/>
          </a:p>
          <a:p>
            <a:pPr marL="685800" lvl="1" indent="-228600" algn="l" rtl="0">
              <a:lnSpc>
                <a:spcPct val="120000"/>
              </a:lnSpc>
              <a:spcBef>
                <a:spcPts val="500"/>
              </a:spcBef>
              <a:spcAft>
                <a:spcPts val="0"/>
              </a:spcAft>
              <a:buSzPts val="1800"/>
              <a:buChar char="•"/>
            </a:pPr>
            <a:r>
              <a:rPr lang="en-US"/>
              <a:t>If there are data points similar to the ones with missing attribute values, then the attribute values from those similar data points can be planted in place of the missing value. </a:t>
            </a:r>
            <a:endParaRPr/>
          </a:p>
          <a:p>
            <a:pPr marL="685800" lvl="1" indent="-228600" algn="l" rtl="0">
              <a:lnSpc>
                <a:spcPct val="120000"/>
              </a:lnSpc>
              <a:spcBef>
                <a:spcPts val="500"/>
              </a:spcBef>
              <a:spcAft>
                <a:spcPts val="0"/>
              </a:spcAft>
              <a:buSzPts val="1800"/>
              <a:buChar char="•"/>
            </a:pPr>
            <a:r>
              <a:rPr lang="en-US"/>
              <a:t>For finding similar data points or observations, distance function can be used.</a:t>
            </a:r>
            <a:endParaRPr/>
          </a:p>
          <a:p>
            <a:pPr marL="685800" lvl="1" indent="-228600" algn="l" rtl="0">
              <a:lnSpc>
                <a:spcPct val="120000"/>
              </a:lnSpc>
              <a:spcBef>
                <a:spcPts val="500"/>
              </a:spcBef>
              <a:spcAft>
                <a:spcPts val="0"/>
              </a:spcAft>
              <a:buSzPts val="1800"/>
              <a:buChar char="•"/>
            </a:pPr>
            <a:r>
              <a:rPr lang="en-US"/>
              <a:t>For example, let’s assume that the weight of a Russian student having age 12 years and height 5 ft. is missing. </a:t>
            </a:r>
            <a:endParaRPr/>
          </a:p>
          <a:p>
            <a:pPr marL="1143000" lvl="2" indent="-228600" algn="l" rtl="0">
              <a:lnSpc>
                <a:spcPct val="120000"/>
              </a:lnSpc>
              <a:spcBef>
                <a:spcPts val="500"/>
              </a:spcBef>
              <a:spcAft>
                <a:spcPts val="0"/>
              </a:spcAft>
              <a:buSzPts val="1600"/>
              <a:buChar char="•"/>
            </a:pPr>
            <a:r>
              <a:rPr lang="en-US"/>
              <a:t>Then the weight of any other Russian student having age close to 12 years and height close to 5 ft. can be assigned.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POPULAR DATASETS</a:t>
            </a:r>
            <a:endParaRPr/>
          </a:p>
        </p:txBody>
      </p:sp>
      <p:graphicFrame>
        <p:nvGraphicFramePr>
          <p:cNvPr id="288" name="Google Shape;288;p29"/>
          <p:cNvGraphicFramePr/>
          <p:nvPr/>
        </p:nvGraphicFramePr>
        <p:xfrm>
          <a:off x="904972" y="1825625"/>
          <a:ext cx="3000000" cy="3000000"/>
        </p:xfrm>
        <a:graphic>
          <a:graphicData uri="http://schemas.openxmlformats.org/drawingml/2006/table">
            <a:tbl>
              <a:tblPr firstRow="1" bandRow="1">
                <a:noFill/>
                <a:tableStyleId>{709CEF34-8E84-4821-AB24-1D7DF5614D03}</a:tableStyleId>
              </a:tblPr>
              <a:tblGrid>
                <a:gridCol w="5224425"/>
                <a:gridCol w="5224425"/>
              </a:tblGrid>
              <a:tr h="453925">
                <a:tc>
                  <a:txBody>
                    <a:bodyPr/>
                    <a:lstStyle/>
                    <a:p>
                      <a:pPr marL="0" marR="0" lvl="0" indent="0" algn="l" rtl="0">
                        <a:spcBef>
                          <a:spcPts val="0"/>
                        </a:spcBef>
                        <a:spcAft>
                          <a:spcPts val="0"/>
                        </a:spcAft>
                        <a:buNone/>
                      </a:pPr>
                      <a:r>
                        <a:rPr lang="en-US" sz="2400" b="0" i="0" u="none" strike="noStrike" cap="none">
                          <a:solidFill>
                            <a:schemeClr val="lt1"/>
                          </a:solidFill>
                          <a:latin typeface="Arial"/>
                          <a:ea typeface="Arial"/>
                          <a:cs typeface="Arial"/>
                          <a:sym typeface="Arial"/>
                        </a:rPr>
                        <a:t>Iris flower data set </a:t>
                      </a:r>
                      <a:endParaRPr sz="2400">
                        <a:solidFill>
                          <a:schemeClr val="lt1"/>
                        </a:solidFill>
                      </a:endParaRPr>
                    </a:p>
                  </a:txBody>
                  <a:tcPr marL="91450" marR="91450" marT="45725" marB="45725"/>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Contains various class of flowers</a:t>
                      </a:r>
                      <a:endParaRPr sz="1800"/>
                    </a:p>
                  </a:txBody>
                  <a:tcPr marL="91450" marR="91450" marT="45725" marB="45725"/>
                </a:tc>
              </a:tr>
              <a:tr h="907825">
                <a:tc>
                  <a:txBody>
                    <a:bodyPr/>
                    <a:lstStyle/>
                    <a:p>
                      <a:pPr marL="0" marR="0" lvl="0" indent="0" algn="l" rtl="0">
                        <a:spcBef>
                          <a:spcPts val="0"/>
                        </a:spcBef>
                        <a:spcAft>
                          <a:spcPts val="0"/>
                        </a:spcAft>
                        <a:buNone/>
                      </a:pPr>
                      <a:r>
                        <a:rPr lang="en-US" sz="1800" b="0" i="0" u="none" strike="noStrike">
                          <a:solidFill>
                            <a:srgbClr val="0645AD"/>
                          </a:solidFill>
                          <a:latin typeface="Arial"/>
                          <a:ea typeface="Arial"/>
                          <a:cs typeface="Arial"/>
                          <a:sym typeface="Arial"/>
                        </a:rPr>
                        <a:t>MNIST database</a:t>
                      </a:r>
                      <a:r>
                        <a:rPr lang="en-US" sz="1800" b="0" i="0">
                          <a:solidFill>
                            <a:srgbClr val="202122"/>
                          </a:solidFill>
                          <a:latin typeface="Arial"/>
                          <a:ea typeface="Arial"/>
                          <a:cs typeface="Arial"/>
                          <a:sym typeface="Arial"/>
                        </a:rPr>
                        <a:t> </a:t>
                      </a:r>
                      <a:endParaRPr sz="1800"/>
                    </a:p>
                  </a:txBody>
                  <a:tcPr marL="91450" marR="91450" marT="45725" marB="45725"/>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Images of handwritten digits commonly used to test classification, clustering, and image processing algorithms</a:t>
                      </a:r>
                      <a:endParaRPr sz="1800"/>
                    </a:p>
                  </a:txBody>
                  <a:tcPr marL="91450" marR="91450" marT="45725" marB="45725"/>
                </a:tc>
              </a:tr>
              <a:tr h="368175">
                <a:tc>
                  <a:txBody>
                    <a:bodyPr/>
                    <a:lstStyle/>
                    <a:p>
                      <a:pPr marL="0" marR="0" lvl="0" indent="0" algn="l" rtl="0">
                        <a:spcBef>
                          <a:spcPts val="0"/>
                        </a:spcBef>
                        <a:spcAft>
                          <a:spcPts val="0"/>
                        </a:spcAft>
                        <a:buNone/>
                      </a:pPr>
                      <a:r>
                        <a:rPr lang="en-US" sz="1800"/>
                        <a:t>ImageNet</a:t>
                      </a:r>
                      <a:endParaRPr/>
                    </a:p>
                  </a:txBody>
                  <a:tcPr marL="91450" marR="91450" marT="45725" marB="45725"/>
                </a:tc>
                <a:tc>
                  <a:txBody>
                    <a:bodyPr/>
                    <a:lstStyle/>
                    <a:p>
                      <a:pPr marL="0" marR="0" lvl="0" indent="0" algn="l" rtl="0">
                        <a:spcBef>
                          <a:spcPts val="0"/>
                        </a:spcBef>
                        <a:spcAft>
                          <a:spcPts val="0"/>
                        </a:spcAft>
                        <a:buNone/>
                      </a:pPr>
                      <a:r>
                        <a:rPr lang="en-US" sz="1800"/>
                        <a:t>Images of 1000 categories</a:t>
                      </a:r>
                      <a:endParaRPr/>
                    </a:p>
                  </a:txBody>
                  <a:tcPr marL="91450" marR="91450" marT="45725" marB="45725"/>
                </a:tc>
              </a:tr>
              <a:tr h="635475">
                <a:tc>
                  <a:txBody>
                    <a:bodyPr/>
                    <a:lstStyle/>
                    <a:p>
                      <a:pPr marL="0" marR="0" lvl="0" indent="0" algn="l" rtl="0">
                        <a:lnSpc>
                          <a:spcPct val="100000"/>
                        </a:lnSpc>
                        <a:spcBef>
                          <a:spcPts val="0"/>
                        </a:spcBef>
                        <a:spcAft>
                          <a:spcPts val="0"/>
                        </a:spcAft>
                        <a:buClr>
                          <a:schemeClr val="dk1"/>
                        </a:buClr>
                        <a:buSzPts val="1800"/>
                        <a:buFont typeface="Gill Sans"/>
                        <a:buNone/>
                      </a:pPr>
                      <a:r>
                        <a:rPr lang="en-US" sz="1800" b="1" i="0">
                          <a:solidFill>
                            <a:schemeClr val="dk1"/>
                          </a:solidFill>
                          <a:latin typeface="Gill Sans"/>
                          <a:ea typeface="Gill Sans"/>
                          <a:cs typeface="Gill Sans"/>
                          <a:sym typeface="Gill Sans"/>
                        </a:rPr>
                        <a:t>Twitter Sentiment Analysis Dataset</a:t>
                      </a:r>
                      <a:endParaRPr sz="1800" b="0" i="0">
                        <a:solidFill>
                          <a:schemeClr val="dk1"/>
                        </a:solidFill>
                        <a:latin typeface="Gill Sans"/>
                        <a:ea typeface="Gill Sans"/>
                        <a:cs typeface="Gill Sans"/>
                        <a:sym typeface="Gill Sans"/>
                      </a:endParaRPr>
                    </a:p>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Text data, emoji</a:t>
                      </a:r>
                      <a:endParaRPr/>
                    </a:p>
                  </a:txBody>
                  <a:tcPr marL="91450" marR="91450" marT="45725" marB="45725"/>
                </a:tc>
              </a:tr>
              <a:tr h="635475">
                <a:tc>
                  <a:txBody>
                    <a:bodyPr/>
                    <a:lstStyle/>
                    <a:p>
                      <a:pPr marL="0" marR="0" lvl="0" indent="0" algn="l" rtl="0">
                        <a:spcBef>
                          <a:spcPts val="0"/>
                        </a:spcBef>
                        <a:spcAft>
                          <a:spcPts val="0"/>
                        </a:spcAft>
                        <a:buNone/>
                      </a:pPr>
                      <a:r>
                        <a:rPr lang="en-US" sz="1800" b="1" i="0">
                          <a:solidFill>
                            <a:schemeClr val="dk1"/>
                          </a:solidFill>
                          <a:latin typeface="Gill Sans"/>
                          <a:ea typeface="Gill Sans"/>
                          <a:cs typeface="Gill Sans"/>
                          <a:sym typeface="Gill Sans"/>
                        </a:rPr>
                        <a:t>BBC News Datasets, Amazon Reviews Dataset</a:t>
                      </a:r>
                      <a:endParaRPr/>
                    </a:p>
                    <a:p>
                      <a:pPr marL="0" marR="0" lvl="0" indent="0" algn="l" rtl="0">
                        <a:lnSpc>
                          <a:spcPct val="100000"/>
                        </a:lnSpc>
                        <a:spcBef>
                          <a:spcPts val="0"/>
                        </a:spcBef>
                        <a:spcAft>
                          <a:spcPts val="0"/>
                        </a:spcAft>
                        <a:buClr>
                          <a:schemeClr val="dk1"/>
                        </a:buClr>
                        <a:buSzPts val="1800"/>
                        <a:buFont typeface="Gill Sans"/>
                        <a:buNone/>
                      </a:pPr>
                      <a:endParaRPr sz="1800" b="1" i="0">
                        <a:solidFill>
                          <a:schemeClr val="dk1"/>
                        </a:solidFill>
                        <a:latin typeface="Gill Sans"/>
                        <a:ea typeface="Gill Sans"/>
                        <a:cs typeface="Gill Sans"/>
                        <a:sym typeface="Gill Sans"/>
                      </a:endParaRPr>
                    </a:p>
                    <a:p>
                      <a:pPr marL="0" marR="0" lvl="0" indent="0" algn="l" rtl="0">
                        <a:lnSpc>
                          <a:spcPct val="100000"/>
                        </a:lnSpc>
                        <a:spcBef>
                          <a:spcPts val="0"/>
                        </a:spcBef>
                        <a:spcAft>
                          <a:spcPts val="0"/>
                        </a:spcAft>
                        <a:buClr>
                          <a:schemeClr val="dk1"/>
                        </a:buClr>
                        <a:buSzPts val="1800"/>
                        <a:buFont typeface="Gill Sans"/>
                        <a:buNone/>
                      </a:pPr>
                      <a:r>
                        <a:rPr lang="en-US" sz="1800" b="1" i="0">
                          <a:solidFill>
                            <a:schemeClr val="dk1"/>
                          </a:solidFill>
                          <a:latin typeface="Gill Sans"/>
                          <a:ea typeface="Gill Sans"/>
                          <a:cs typeface="Gill Sans"/>
                          <a:sym typeface="Gill Sans"/>
                        </a:rPr>
                        <a:t>YouTube Dataset</a:t>
                      </a:r>
                      <a:endParaRPr sz="1800" b="0" i="0">
                        <a:solidFill>
                          <a:schemeClr val="dk1"/>
                        </a:solidFill>
                        <a:latin typeface="Gill Sans"/>
                        <a:ea typeface="Gill Sans"/>
                        <a:cs typeface="Gill Sans"/>
                        <a:sym typeface="Gill Sans"/>
                      </a:endParaRPr>
                    </a:p>
                    <a:p>
                      <a:pPr marL="0" marR="0" lvl="0" indent="0" algn="l" rtl="0">
                        <a:spcBef>
                          <a:spcPts val="0"/>
                        </a:spcBef>
                        <a:spcAft>
                          <a:spcPts val="0"/>
                        </a:spcAft>
                        <a:buNone/>
                      </a:pPr>
                      <a:endParaRPr sz="1800" b="0" i="0">
                        <a:solidFill>
                          <a:schemeClr val="dk1"/>
                        </a:solidFill>
                        <a:latin typeface="Gill Sans"/>
                        <a:ea typeface="Gill Sans"/>
                        <a:cs typeface="Gill Sans"/>
                        <a:sym typeface="Gill Sans"/>
                      </a:endParaRPr>
                    </a:p>
                    <a:p>
                      <a:pPr marL="0" marR="0" lvl="0" indent="0" algn="l" rtl="0">
                        <a:lnSpc>
                          <a:spcPct val="100000"/>
                        </a:lnSpc>
                        <a:spcBef>
                          <a:spcPts val="0"/>
                        </a:spcBef>
                        <a:spcAft>
                          <a:spcPts val="0"/>
                        </a:spcAft>
                        <a:buClr>
                          <a:schemeClr val="dk1"/>
                        </a:buClr>
                        <a:buSzPts val="1800"/>
                        <a:buFont typeface="Gill Sans"/>
                        <a:buNone/>
                      </a:pPr>
                      <a:r>
                        <a:rPr lang="en-US" sz="1800"/>
                        <a:t>UCI machine learning repository</a:t>
                      </a:r>
                      <a:endParaRPr/>
                    </a:p>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Text data</a:t>
                      </a:r>
                      <a:endParaRPr/>
                    </a:p>
                    <a:p>
                      <a:pPr marL="0" marR="0" lvl="0" indent="0" algn="l" rtl="0">
                        <a:spcBef>
                          <a:spcPts val="0"/>
                        </a:spcBef>
                        <a:spcAft>
                          <a:spcPts val="0"/>
                        </a:spcAft>
                        <a:buNone/>
                      </a:pPr>
                      <a:endParaRPr sz="1800"/>
                    </a:p>
                    <a:p>
                      <a:pPr marL="0" marR="0" lvl="0" indent="0" algn="l" rtl="0">
                        <a:spcBef>
                          <a:spcPts val="0"/>
                        </a:spcBef>
                        <a:spcAft>
                          <a:spcPts val="0"/>
                        </a:spcAft>
                        <a:buNone/>
                      </a:pPr>
                      <a:r>
                        <a:rPr lang="en-US" sz="1800"/>
                        <a:t>Video data classification</a:t>
                      </a:r>
                      <a:endParaRPr/>
                    </a:p>
                  </a:txBody>
                  <a:tcPr marL="91450" marR="91450" marT="45725" marB="45725"/>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Calibri"/>
              <a:buNone/>
            </a:pPr>
            <a:r>
              <a:rPr lang="en-US" b="1">
                <a:latin typeface="Calibri"/>
                <a:ea typeface="Calibri"/>
                <a:cs typeface="Calibri"/>
                <a:sym typeface="Calibri"/>
              </a:rPr>
              <a:t>DATA MATRIX</a:t>
            </a:r>
            <a:endParaRPr b="1"/>
          </a:p>
        </p:txBody>
      </p:sp>
      <p:sp>
        <p:nvSpPr>
          <p:cNvPr id="294" name="Google Shape;294;p30"/>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n-US" b="0" i="0">
                <a:solidFill>
                  <a:srgbClr val="000000"/>
                </a:solidFill>
                <a:latin typeface="Arial"/>
                <a:ea typeface="Arial"/>
                <a:cs typeface="Arial"/>
                <a:sym typeface="Arial"/>
              </a:rPr>
              <a:t>To be analyzable with statistical tools, data needs to be presented as a </a:t>
            </a:r>
            <a:r>
              <a:rPr lang="en-US" b="1" i="1">
                <a:solidFill>
                  <a:srgbClr val="000000"/>
                </a:solidFill>
                <a:latin typeface="Arial"/>
                <a:ea typeface="Arial"/>
                <a:cs typeface="Arial"/>
                <a:sym typeface="Arial"/>
              </a:rPr>
              <a:t>rectangular data matrix</a:t>
            </a:r>
            <a:endParaRPr/>
          </a:p>
          <a:p>
            <a:pPr marL="228600" lvl="0" indent="-101600" algn="just" rtl="0">
              <a:lnSpc>
                <a:spcPct val="120000"/>
              </a:lnSpc>
              <a:spcBef>
                <a:spcPts val="1000"/>
              </a:spcBef>
              <a:spcAft>
                <a:spcPts val="0"/>
              </a:spcAft>
              <a:buSzPts val="2000"/>
              <a:buNone/>
            </a:pPr>
            <a:endParaRPr>
              <a:solidFill>
                <a:srgbClr val="000000"/>
              </a:solidFill>
              <a:latin typeface="Arial"/>
              <a:ea typeface="Arial"/>
              <a:cs typeface="Arial"/>
              <a:sym typeface="Arial"/>
            </a:endParaRPr>
          </a:p>
          <a:p>
            <a:pPr marL="228600" lvl="0" indent="-228600" algn="just" rtl="0">
              <a:lnSpc>
                <a:spcPct val="120000"/>
              </a:lnSpc>
              <a:spcBef>
                <a:spcPts val="1000"/>
              </a:spcBef>
              <a:spcAft>
                <a:spcPts val="0"/>
              </a:spcAft>
              <a:buSzPts val="2000"/>
              <a:buChar char="•"/>
            </a:pPr>
            <a:r>
              <a:rPr lang="en-US" b="0" i="0">
                <a:solidFill>
                  <a:srgbClr val="000000"/>
                </a:solidFill>
                <a:latin typeface="Arial"/>
                <a:ea typeface="Arial"/>
                <a:cs typeface="Arial"/>
                <a:sym typeface="Arial"/>
              </a:rPr>
              <a:t> Each column in a data matrix contains a </a:t>
            </a:r>
            <a:r>
              <a:rPr lang="en-US" b="1" i="1">
                <a:latin typeface="Arial"/>
                <a:ea typeface="Arial"/>
                <a:cs typeface="Arial"/>
                <a:sym typeface="Arial"/>
              </a:rPr>
              <a:t>variable</a:t>
            </a:r>
            <a:r>
              <a:rPr lang="en-US" b="0" i="0">
                <a:solidFill>
                  <a:srgbClr val="000000"/>
                </a:solidFill>
                <a:latin typeface="Arial"/>
                <a:ea typeface="Arial"/>
                <a:cs typeface="Arial"/>
                <a:sym typeface="Arial"/>
              </a:rPr>
              <a:t> (indicator, mesurement, questions in a survey...) and each row an </a:t>
            </a:r>
            <a:r>
              <a:rPr lang="en-US" b="1" i="1">
                <a:latin typeface="Arial"/>
                <a:ea typeface="Arial"/>
                <a:cs typeface="Arial"/>
                <a:sym typeface="Arial"/>
              </a:rPr>
              <a:t>observation</a:t>
            </a:r>
            <a:r>
              <a:rPr lang="en-US" b="1" i="0">
                <a:latin typeface="Arial"/>
                <a:ea typeface="Arial"/>
                <a:cs typeface="Arial"/>
                <a:sym typeface="Arial"/>
              </a:rPr>
              <a:t>(</a:t>
            </a:r>
            <a:r>
              <a:rPr lang="en-US" b="1" i="1">
                <a:latin typeface="Arial"/>
                <a:ea typeface="Arial"/>
                <a:cs typeface="Arial"/>
                <a:sym typeface="Arial"/>
              </a:rPr>
              <a:t>response</a:t>
            </a:r>
            <a:r>
              <a:rPr lang="en-US" b="1" i="0">
                <a:latin typeface="Arial"/>
                <a:ea typeface="Arial"/>
                <a:cs typeface="Arial"/>
                <a:sym typeface="Arial"/>
              </a:rPr>
              <a:t>)</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1"/>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000000"/>
              </a:buClr>
              <a:buSzPct val="100000"/>
              <a:buFont typeface="Arial"/>
              <a:buNone/>
            </a:pPr>
            <a:r>
              <a:rPr lang="en-US" sz="4400" b="0" i="0" u="none" strike="noStrike" cap="none">
                <a:solidFill>
                  <a:srgbClr val="000000"/>
                </a:solidFill>
                <a:latin typeface="Arial"/>
                <a:ea typeface="Arial"/>
                <a:cs typeface="Arial"/>
                <a:sym typeface="Arial"/>
              </a:rPr>
              <a:t>Schematic representation of a </a:t>
            </a:r>
            <a:r>
              <a:rPr lang="en-US" sz="4400" b="0" i="1" u="none" strike="noStrike" cap="none">
                <a:solidFill>
                  <a:srgbClr val="FF0000"/>
                </a:solidFill>
                <a:latin typeface="Arial"/>
                <a:ea typeface="Arial"/>
                <a:cs typeface="Arial"/>
                <a:sym typeface="Arial"/>
              </a:rPr>
              <a:t>Data Matrix</a:t>
            </a:r>
            <a:r>
              <a:rPr lang="en-US" sz="4400" b="0" i="0" u="none" strike="noStrike" cap="none">
                <a:solidFill>
                  <a:schemeClr val="dk1"/>
                </a:solidFill>
              </a:rPr>
              <a:t/>
            </a:r>
            <a:br>
              <a:rPr lang="en-US" sz="4400" b="0" i="0" u="none" strike="noStrike" cap="none">
                <a:solidFill>
                  <a:schemeClr val="dk1"/>
                </a:solidFill>
              </a:rPr>
            </a:br>
            <a:endParaRPr/>
          </a:p>
        </p:txBody>
      </p:sp>
      <p:graphicFrame>
        <p:nvGraphicFramePr>
          <p:cNvPr id="300" name="Google Shape;300;p31"/>
          <p:cNvGraphicFramePr/>
          <p:nvPr/>
        </p:nvGraphicFramePr>
        <p:xfrm>
          <a:off x="1272619" y="1998482"/>
          <a:ext cx="3000000" cy="3000000"/>
        </p:xfrm>
        <a:graphic>
          <a:graphicData uri="http://schemas.openxmlformats.org/drawingml/2006/table">
            <a:tbl>
              <a:tblPr>
                <a:noFill/>
                <a:tableStyleId>{80DA933C-2723-47EF-95B8-BE5FC27C64DC}</a:tableStyleId>
              </a:tblPr>
              <a:tblGrid>
                <a:gridCol w="1586275"/>
                <a:gridCol w="1502225"/>
                <a:gridCol w="1238400"/>
                <a:gridCol w="1866500"/>
                <a:gridCol w="1401800"/>
                <a:gridCol w="1502225"/>
                <a:gridCol w="1502225"/>
              </a:tblGrid>
              <a:tr h="598525">
                <a:tc>
                  <a:txBody>
                    <a:bodyPr/>
                    <a:lstStyle/>
                    <a:p>
                      <a:pPr marL="0" marR="0" lvl="0" indent="0" algn="l" rtl="0">
                        <a:spcBef>
                          <a:spcPts val="0"/>
                        </a:spcBef>
                        <a:spcAft>
                          <a:spcPts val="0"/>
                        </a:spcAft>
                        <a:buNone/>
                      </a:pPr>
                      <a:r>
                        <a:rPr lang="en-US" sz="1800" b="1" i="0">
                          <a:solidFill>
                            <a:srgbClr val="202122"/>
                          </a:solidFill>
                          <a:latin typeface="Arial"/>
                          <a:ea typeface="Arial"/>
                          <a:cs typeface="Arial"/>
                          <a:sym typeface="Arial"/>
                        </a:rPr>
                        <a:t>Country</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a:solidFill>
                            <a:srgbClr val="202122"/>
                          </a:solidFill>
                          <a:latin typeface="Arial"/>
                          <a:ea typeface="Arial"/>
                          <a:cs typeface="Arial"/>
                          <a:sym typeface="Arial"/>
                        </a:rPr>
                        <a:t>Continent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a:solidFill>
                            <a:srgbClr val="202122"/>
                          </a:solidFill>
                          <a:latin typeface="Arial"/>
                          <a:ea typeface="Arial"/>
                          <a:cs typeface="Arial"/>
                          <a:sym typeface="Arial"/>
                        </a:rPr>
                        <a:t>ContNum</a:t>
                      </a:r>
                      <a:endParaRPr sz="1800" b="1" i="0">
                        <a:solidFill>
                          <a:srgbClr val="202122"/>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a:solidFill>
                            <a:srgbClr val="202122"/>
                          </a:solidFill>
                          <a:latin typeface="Arial"/>
                          <a:ea typeface="Arial"/>
                          <a:cs typeface="Arial"/>
                          <a:sym typeface="Arial"/>
                        </a:rPr>
                        <a:t>GDPperCapita</a:t>
                      </a:r>
                      <a:endParaRPr sz="1800" b="1" i="0">
                        <a:solidFill>
                          <a:srgbClr val="202122"/>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a:solidFill>
                            <a:srgbClr val="202122"/>
                          </a:solidFill>
                          <a:latin typeface="Arial"/>
                          <a:ea typeface="Arial"/>
                          <a:cs typeface="Arial"/>
                          <a:sym typeface="Arial"/>
                        </a:rPr>
                        <a:t>Variablei</a:t>
                      </a:r>
                      <a:endParaRPr sz="1800" b="1" i="0">
                        <a:solidFill>
                          <a:srgbClr val="202122"/>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5">
                  <a:txBody>
                    <a:bodyPr/>
                    <a:lstStyle/>
                    <a:p>
                      <a:pPr marL="0" marR="0" lvl="0" indent="0" algn="l" rtl="0">
                        <a:spcBef>
                          <a:spcPts val="0"/>
                        </a:spcBef>
                        <a:spcAft>
                          <a:spcPts val="0"/>
                        </a:spcAft>
                        <a:buNone/>
                      </a:pPr>
                      <a:endParaRPr sz="1800" b="0" i="0">
                        <a:solidFill>
                          <a:srgbClr val="202122"/>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b="0" i="0">
                        <a:solidFill>
                          <a:srgbClr val="202122"/>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98525">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Afghanistan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Asia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value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value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lang="en-US"/>
                    </a:p>
                  </a:txBody>
                  <a:tcPr/>
                </a:tc>
                <a:tc>
                  <a:txBody>
                    <a:bodyPr/>
                    <a:lstStyle/>
                    <a:p>
                      <a:pPr marL="0" marR="0" lvl="0" indent="0" algn="l" rtl="0">
                        <a:spcBef>
                          <a:spcPts val="0"/>
                        </a:spcBef>
                        <a:spcAft>
                          <a:spcPts val="0"/>
                        </a:spcAft>
                        <a:buNone/>
                      </a:pPr>
                      <a:endParaRPr sz="1800" b="0" i="0">
                        <a:solidFill>
                          <a:srgbClr val="202122"/>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98525">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Albania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Europe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value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value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lang="en-US"/>
                    </a:p>
                  </a:txBody>
                  <a:tcPr/>
                </a:tc>
                <a:tc>
                  <a:txBody>
                    <a:bodyPr/>
                    <a:lstStyle/>
                    <a:p>
                      <a:pPr marL="0" marR="0" lvl="0" indent="0" algn="l" rtl="0">
                        <a:spcBef>
                          <a:spcPts val="0"/>
                        </a:spcBef>
                        <a:spcAft>
                          <a:spcPts val="0"/>
                        </a:spcAft>
                        <a:buNone/>
                      </a:pPr>
                      <a:endParaRPr sz="1800" b="0" i="0">
                        <a:solidFill>
                          <a:srgbClr val="202122"/>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98525">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lang="en-US"/>
                    </a:p>
                  </a:txBody>
                  <a:tcPr/>
                </a:tc>
                <a:tc>
                  <a:txBody>
                    <a:bodyPr/>
                    <a:lstStyle/>
                    <a:p>
                      <a:pPr marL="0" marR="0" lvl="0" indent="0" algn="l" rtl="0">
                        <a:spcBef>
                          <a:spcPts val="0"/>
                        </a:spcBef>
                        <a:spcAft>
                          <a:spcPts val="0"/>
                        </a:spcAft>
                        <a:buNone/>
                      </a:pPr>
                      <a:endParaRPr sz="1800" b="0" i="0">
                        <a:solidFill>
                          <a:srgbClr val="202122"/>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98525">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countryn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value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value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a:solidFill>
                            <a:srgbClr val="202122"/>
                          </a:solidFill>
                          <a:latin typeface="Arial"/>
                          <a:ea typeface="Arial"/>
                          <a:cs typeface="Arial"/>
                          <a:sym typeface="Arial"/>
                        </a:rPr>
                        <a:t>value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lang="en-US"/>
                    </a:p>
                  </a:txBody>
                  <a:tcPr/>
                </a:tc>
                <a:tc>
                  <a:txBody>
                    <a:bodyPr/>
                    <a:lstStyle/>
                    <a:p>
                      <a:pPr marL="0" marR="0" lvl="0" indent="0" algn="l" rtl="0">
                        <a:spcBef>
                          <a:spcPts val="0"/>
                        </a:spcBef>
                        <a:spcAft>
                          <a:spcPts val="0"/>
                        </a:spcAft>
                        <a:buNone/>
                      </a:pPr>
                      <a:endParaRPr sz="1800" b="0" i="0">
                        <a:solidFill>
                          <a:srgbClr val="202122"/>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301" name="Google Shape;301;p31"/>
          <p:cNvSpPr/>
          <p:nvPr/>
        </p:nvSpPr>
        <p:spPr>
          <a:xfrm>
            <a:off x="0" y="-94565"/>
            <a:ext cx="184731" cy="6463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
            </a:r>
            <a:br>
              <a:rPr lang="en-US" sz="18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GRAPH DATA</a:t>
            </a:r>
            <a:endParaRPr/>
          </a:p>
        </p:txBody>
      </p:sp>
      <p:sp>
        <p:nvSpPr>
          <p:cNvPr id="307" name="Google Shape;307;p32"/>
          <p:cNvSpPr txBox="1">
            <a:spLocks noGrp="1"/>
          </p:cNvSpPr>
          <p:nvPr>
            <p:ph type="body" idx="1"/>
          </p:nvPr>
        </p:nvSpPr>
        <p:spPr>
          <a:xfrm>
            <a:off x="1451578" y="1853754"/>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n-US" b="0" i="0">
                <a:solidFill>
                  <a:srgbClr val="202124"/>
                </a:solidFill>
                <a:latin typeface="arial"/>
                <a:ea typeface="arial"/>
                <a:cs typeface="arial"/>
                <a:sym typeface="arial"/>
              </a:rPr>
              <a:t>A graph data structure consists of a finite (and possibly mutable) </a:t>
            </a:r>
            <a:r>
              <a:rPr lang="en-US" b="1" i="0">
                <a:solidFill>
                  <a:srgbClr val="202124"/>
                </a:solidFill>
                <a:latin typeface="arial"/>
                <a:ea typeface="arial"/>
                <a:cs typeface="arial"/>
                <a:sym typeface="arial"/>
              </a:rPr>
              <a:t>set of vertices</a:t>
            </a:r>
            <a:r>
              <a:rPr lang="en-US" b="0" i="0">
                <a:solidFill>
                  <a:srgbClr val="202124"/>
                </a:solidFill>
                <a:latin typeface="arial"/>
                <a:ea typeface="arial"/>
                <a:cs typeface="arial"/>
                <a:sym typeface="arial"/>
              </a:rPr>
              <a:t> (also called nodes or points), together with a set of unordered pairs of these vertices for an undirected graph or a set of ordered pairs for a directed graph</a:t>
            </a:r>
            <a:endParaRPr/>
          </a:p>
        </p:txBody>
      </p:sp>
      <p:pic>
        <p:nvPicPr>
          <p:cNvPr id="308" name="Google Shape;308;p32"/>
          <p:cNvPicPr preferRelativeResize="0"/>
          <p:nvPr/>
        </p:nvPicPr>
        <p:blipFill rotWithShape="1">
          <a:blip r:embed="rId3">
            <a:alphaModFix/>
          </a:blip>
          <a:srcRect/>
          <a:stretch/>
        </p:blipFill>
        <p:spPr>
          <a:xfrm>
            <a:off x="2757424" y="3112568"/>
            <a:ext cx="8297429" cy="283357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Calibri"/>
              <a:buNone/>
            </a:pPr>
            <a:r>
              <a:rPr lang="en-US" b="1">
                <a:latin typeface="Calibri"/>
                <a:ea typeface="Calibri"/>
                <a:cs typeface="Calibri"/>
                <a:sym typeface="Calibri"/>
              </a:rPr>
              <a:t>GRAPH BASED DATA MINING</a:t>
            </a:r>
            <a:endParaRPr b="1"/>
          </a:p>
        </p:txBody>
      </p:sp>
      <p:sp>
        <p:nvSpPr>
          <p:cNvPr id="314" name="Google Shape;314;p33"/>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n-US"/>
              <a:t>Graph mining is central to web mining because the web links form a huge graph and mining its properties has a large significance. </a:t>
            </a:r>
            <a:endParaRPr/>
          </a:p>
          <a:p>
            <a:pPr marL="228600" lvl="0" indent="-101600" algn="just" rtl="0">
              <a:lnSpc>
                <a:spcPct val="120000"/>
              </a:lnSpc>
              <a:spcBef>
                <a:spcPts val="1000"/>
              </a:spcBef>
              <a:spcAft>
                <a:spcPts val="0"/>
              </a:spcAft>
              <a:buSzPts val="2000"/>
              <a:buNone/>
            </a:pPr>
            <a:endParaRPr/>
          </a:p>
          <a:p>
            <a:pPr marL="228600" lvl="0" indent="-228600" algn="just" rtl="0">
              <a:lnSpc>
                <a:spcPct val="120000"/>
              </a:lnSpc>
              <a:spcBef>
                <a:spcPts val="1000"/>
              </a:spcBef>
              <a:spcAft>
                <a:spcPts val="0"/>
              </a:spcAft>
              <a:buSzPts val="2000"/>
              <a:buChar char="•"/>
            </a:pPr>
            <a:r>
              <a:rPr lang="en-US" b="0" i="0">
                <a:solidFill>
                  <a:srgbClr val="202124"/>
                </a:solidFill>
                <a:latin typeface="arial"/>
                <a:ea typeface="arial"/>
                <a:cs typeface="arial"/>
                <a:sym typeface="arial"/>
              </a:rPr>
              <a:t>Graph data mining is </a:t>
            </a:r>
            <a:r>
              <a:rPr lang="en-US" b="1" i="0">
                <a:solidFill>
                  <a:srgbClr val="202124"/>
                </a:solidFill>
                <a:latin typeface="arial"/>
                <a:ea typeface="arial"/>
                <a:cs typeface="arial"/>
                <a:sym typeface="arial"/>
              </a:rPr>
              <a:t>used to discover useful information and knowledge from graph data</a:t>
            </a:r>
            <a:r>
              <a:rPr lang="en-US" b="0" i="0">
                <a:solidFill>
                  <a:srgbClr val="202124"/>
                </a:solidFill>
                <a:latin typeface="arial"/>
                <a:ea typeface="arial"/>
                <a:cs typeface="arial"/>
                <a:sym typeface="arial"/>
              </a:rP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Calibri"/>
              <a:buNone/>
            </a:pPr>
            <a:r>
              <a:rPr lang="en-US" b="1">
                <a:latin typeface="Calibri"/>
                <a:ea typeface="Calibri"/>
                <a:cs typeface="Calibri"/>
                <a:sym typeface="Calibri"/>
              </a:rPr>
              <a:t>DOCUMENT TERM MATRIX</a:t>
            </a:r>
            <a:endParaRPr b="1"/>
          </a:p>
        </p:txBody>
      </p:sp>
      <p:sp>
        <p:nvSpPr>
          <p:cNvPr id="320" name="Google Shape;320;p34"/>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n-US" b="0" i="0">
                <a:solidFill>
                  <a:srgbClr val="202122"/>
                </a:solidFill>
                <a:latin typeface="Arial"/>
                <a:ea typeface="Arial"/>
                <a:cs typeface="Arial"/>
                <a:sym typeface="Arial"/>
              </a:rPr>
              <a:t>A </a:t>
            </a:r>
            <a:r>
              <a:rPr lang="en-US" b="1" i="0">
                <a:solidFill>
                  <a:srgbClr val="202122"/>
                </a:solidFill>
                <a:latin typeface="Arial"/>
                <a:ea typeface="Arial"/>
                <a:cs typeface="Arial"/>
                <a:sym typeface="Arial"/>
              </a:rPr>
              <a:t>document-term matrix</a:t>
            </a:r>
            <a:r>
              <a:rPr lang="en-US" b="0" i="0">
                <a:solidFill>
                  <a:srgbClr val="202122"/>
                </a:solidFill>
                <a:latin typeface="Arial"/>
                <a:ea typeface="Arial"/>
                <a:cs typeface="Arial"/>
                <a:sym typeface="Arial"/>
              </a:rPr>
              <a:t> is a mathematical</a:t>
            </a:r>
            <a:r>
              <a:rPr lang="en-US">
                <a:solidFill>
                  <a:srgbClr val="202122"/>
                </a:solidFill>
                <a:latin typeface="Arial"/>
                <a:ea typeface="Arial"/>
                <a:cs typeface="Arial"/>
                <a:sym typeface="Arial"/>
              </a:rPr>
              <a:t> matrix </a:t>
            </a:r>
            <a:r>
              <a:rPr lang="en-US" b="0" i="0">
                <a:solidFill>
                  <a:srgbClr val="202122"/>
                </a:solidFill>
                <a:latin typeface="Arial"/>
                <a:ea typeface="Arial"/>
                <a:cs typeface="Arial"/>
                <a:sym typeface="Arial"/>
              </a:rPr>
              <a:t>that describes the frequency of terms that occur in a collection of documents</a:t>
            </a:r>
            <a:endParaRPr/>
          </a:p>
          <a:p>
            <a:pPr marL="228600" lvl="0" indent="-228600" algn="just" rtl="0">
              <a:lnSpc>
                <a:spcPct val="120000"/>
              </a:lnSpc>
              <a:spcBef>
                <a:spcPts val="1000"/>
              </a:spcBef>
              <a:spcAft>
                <a:spcPts val="0"/>
              </a:spcAft>
              <a:buSzPts val="2000"/>
              <a:buChar char="•"/>
            </a:pPr>
            <a:r>
              <a:rPr lang="en-US" b="0" i="0">
                <a:solidFill>
                  <a:srgbClr val="202122"/>
                </a:solidFill>
                <a:latin typeface="Arial"/>
                <a:ea typeface="Arial"/>
                <a:cs typeface="Arial"/>
                <a:sym typeface="Arial"/>
              </a:rPr>
              <a:t>It is also common to encounter the transpose, or </a:t>
            </a:r>
            <a:r>
              <a:rPr lang="en-US" b="1" i="0">
                <a:solidFill>
                  <a:srgbClr val="202122"/>
                </a:solidFill>
                <a:latin typeface="Arial"/>
                <a:ea typeface="Arial"/>
                <a:cs typeface="Arial"/>
                <a:sym typeface="Arial"/>
              </a:rPr>
              <a:t>term-document matrix</a:t>
            </a:r>
            <a:r>
              <a:rPr lang="en-US" b="0" i="0">
                <a:solidFill>
                  <a:srgbClr val="202122"/>
                </a:solidFill>
                <a:latin typeface="Arial"/>
                <a:ea typeface="Arial"/>
                <a:cs typeface="Arial"/>
                <a:sym typeface="Arial"/>
              </a:rPr>
              <a:t> where documents are the columns and terms are the rows</a:t>
            </a:r>
            <a:endParaRPr/>
          </a:p>
          <a:p>
            <a:pPr marL="228600" lvl="0" indent="-228600" algn="just" rtl="0">
              <a:lnSpc>
                <a:spcPct val="120000"/>
              </a:lnSpc>
              <a:spcBef>
                <a:spcPts val="1000"/>
              </a:spcBef>
              <a:spcAft>
                <a:spcPts val="0"/>
              </a:spcAft>
              <a:buSzPts val="2000"/>
              <a:buChar char="•"/>
            </a:pPr>
            <a:r>
              <a:rPr lang="en-US">
                <a:solidFill>
                  <a:srgbClr val="202122"/>
                </a:solidFill>
                <a:latin typeface="Arial"/>
                <a:ea typeface="Arial"/>
                <a:cs typeface="Arial"/>
                <a:sym typeface="Arial"/>
              </a:rPr>
              <a:t>They are useful in the field of natural language processing and computational text analysis</a:t>
            </a:r>
            <a:endParaRPr/>
          </a:p>
          <a:p>
            <a:pPr marL="228600" lvl="0" indent="-101600" algn="l" rtl="0">
              <a:lnSpc>
                <a:spcPct val="120000"/>
              </a:lnSpc>
              <a:spcBef>
                <a:spcPts val="1000"/>
              </a:spcBef>
              <a:spcAft>
                <a:spcPts val="0"/>
              </a:spcAft>
              <a:buSzPts val="2000"/>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DOCUMENT TERM MATRIX - EXAMPLE</a:t>
            </a:r>
            <a:endParaRPr/>
          </a:p>
        </p:txBody>
      </p:sp>
      <p:pic>
        <p:nvPicPr>
          <p:cNvPr id="326" name="Google Shape;326;p35"/>
          <p:cNvPicPr preferRelativeResize="0">
            <a:picLocks noGrp="1"/>
          </p:cNvPicPr>
          <p:nvPr>
            <p:ph type="body" idx="1"/>
          </p:nvPr>
        </p:nvPicPr>
        <p:blipFill rotWithShape="1">
          <a:blip r:embed="rId3">
            <a:alphaModFix/>
          </a:blip>
          <a:srcRect/>
          <a:stretch/>
        </p:blipFill>
        <p:spPr>
          <a:xfrm>
            <a:off x="1506724" y="2114010"/>
            <a:ext cx="8981312" cy="308957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Calibri"/>
              <a:buNone/>
            </a:pPr>
            <a:r>
              <a:rPr lang="en-US" b="1">
                <a:latin typeface="Calibri"/>
                <a:ea typeface="Calibri"/>
                <a:cs typeface="Calibri"/>
                <a:sym typeface="Calibri"/>
              </a:rPr>
              <a:t>SEQUENTIAL DATA</a:t>
            </a:r>
            <a:endParaRPr b="1"/>
          </a:p>
        </p:txBody>
      </p:sp>
      <p:sp>
        <p:nvSpPr>
          <p:cNvPr id="332" name="Google Shape;332;p36"/>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n-US" b="0" i="0">
                <a:solidFill>
                  <a:srgbClr val="292929"/>
                </a:solidFill>
                <a:latin typeface="Arial"/>
                <a:ea typeface="Arial"/>
                <a:cs typeface="Arial"/>
                <a:sym typeface="Arial"/>
              </a:rPr>
              <a:t>Whenever the points in the dataset are dependent on the other points in the dataset the data is said to be Sequential data.</a:t>
            </a:r>
            <a:endParaRPr/>
          </a:p>
          <a:p>
            <a:pPr marL="228600" lvl="0" indent="-228600" algn="just" rtl="0">
              <a:lnSpc>
                <a:spcPct val="120000"/>
              </a:lnSpc>
              <a:spcBef>
                <a:spcPts val="1000"/>
              </a:spcBef>
              <a:spcAft>
                <a:spcPts val="0"/>
              </a:spcAft>
              <a:buSzPts val="2000"/>
              <a:buChar char="•"/>
            </a:pPr>
            <a:r>
              <a:rPr lang="en-US" b="0" i="0">
                <a:solidFill>
                  <a:srgbClr val="292929"/>
                </a:solidFill>
                <a:latin typeface="Arial"/>
                <a:ea typeface="Arial"/>
                <a:cs typeface="Arial"/>
                <a:sym typeface="Arial"/>
              </a:rPr>
              <a:t> A common example of this is a Timeseries such as a stock price or a sensor data where each point represents an observation at a certain point in time.</a:t>
            </a:r>
            <a:endParaRPr/>
          </a:p>
          <a:p>
            <a:pPr marL="228600" lvl="0" indent="-228600" algn="just" rtl="0">
              <a:lnSpc>
                <a:spcPct val="120000"/>
              </a:lnSpc>
              <a:spcBef>
                <a:spcPts val="1000"/>
              </a:spcBef>
              <a:spcAft>
                <a:spcPts val="0"/>
              </a:spcAft>
              <a:buSzPts val="2000"/>
              <a:buChar char="•"/>
            </a:pPr>
            <a:r>
              <a:rPr lang="en-US">
                <a:solidFill>
                  <a:srgbClr val="FF0000"/>
                </a:solidFill>
                <a:latin typeface="Arial"/>
                <a:ea typeface="Arial"/>
                <a:cs typeface="Arial"/>
                <a:sym typeface="Arial"/>
              </a:rPr>
              <a:t>Human action recognition from video data ??? Is this sequential data ?</a:t>
            </a:r>
            <a:endParaRPr>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Calibri"/>
              <a:buNone/>
            </a:pPr>
            <a:r>
              <a:rPr lang="en-US" b="1">
                <a:latin typeface="Calibri"/>
                <a:ea typeface="Calibri"/>
                <a:cs typeface="Calibri"/>
                <a:sym typeface="Calibri"/>
              </a:rPr>
              <a:t>SPARSE DATA MATRIX</a:t>
            </a:r>
            <a:endParaRPr b="1"/>
          </a:p>
        </p:txBody>
      </p:sp>
      <p:sp>
        <p:nvSpPr>
          <p:cNvPr id="338" name="Google Shape;338;p37"/>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n-US" b="0">
                <a:latin typeface="Helvetica Neue"/>
                <a:ea typeface="Helvetica Neue"/>
                <a:cs typeface="Helvetica Neue"/>
                <a:sym typeface="Helvetica Neue"/>
              </a:rPr>
              <a:t>A sparse matrix is a matrix that is comprised of mostly zero values.</a:t>
            </a:r>
            <a:endParaRPr/>
          </a:p>
          <a:p>
            <a:pPr marL="228600" lvl="0" indent="-228600" algn="just" rtl="0">
              <a:lnSpc>
                <a:spcPct val="120000"/>
              </a:lnSpc>
              <a:spcBef>
                <a:spcPts val="1000"/>
              </a:spcBef>
              <a:spcAft>
                <a:spcPts val="0"/>
              </a:spcAft>
              <a:buSzPts val="2000"/>
              <a:buChar char="•"/>
            </a:pPr>
            <a:r>
              <a:rPr lang="en-US" b="0" i="0">
                <a:latin typeface="Helvetica Neue"/>
                <a:ea typeface="Helvetica Neue"/>
                <a:cs typeface="Helvetica Neue"/>
                <a:sym typeface="Helvetica Neue"/>
              </a:rPr>
              <a:t>An example of a smaller sparse matrix might be a word or term occurrence matrix for words in one book against all known words in English.</a:t>
            </a:r>
            <a:endParaRPr/>
          </a:p>
          <a:p>
            <a:pPr marL="228600" lvl="0" indent="-228600" algn="just" rtl="0">
              <a:lnSpc>
                <a:spcPct val="120000"/>
              </a:lnSpc>
              <a:spcBef>
                <a:spcPts val="1000"/>
              </a:spcBef>
              <a:spcAft>
                <a:spcPts val="0"/>
              </a:spcAft>
              <a:buSzPts val="2000"/>
              <a:buChar char="•"/>
            </a:pPr>
            <a:r>
              <a:rPr lang="en-US" b="0" i="0">
                <a:latin typeface="Helvetica Neue"/>
                <a:ea typeface="Helvetica Neue"/>
                <a:cs typeface="Helvetica Neue"/>
                <a:sym typeface="Helvetica Neue"/>
              </a:rPr>
              <a:t>This is clearly a waste of memory resources as those zero values do not contain any information.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8"/>
          <p:cNvSpPr txBox="1">
            <a:spLocks noGrp="1"/>
          </p:cNvSpPr>
          <p:nvPr>
            <p:ph type="title"/>
          </p:nvPr>
        </p:nvSpPr>
        <p:spPr>
          <a:xfrm>
            <a:off x="1294362" y="143338"/>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020202"/>
              </a:buClr>
              <a:buSzPct val="100000"/>
              <a:buFont typeface="Montserrat"/>
              <a:buNone/>
            </a:pPr>
            <a:r>
              <a:rPr lang="en-US" b="1" i="0">
                <a:solidFill>
                  <a:srgbClr val="020202"/>
                </a:solidFill>
                <a:latin typeface="Montserrat"/>
                <a:ea typeface="Montserrat"/>
                <a:cs typeface="Montserrat"/>
                <a:sym typeface="Montserrat"/>
              </a:rPr>
              <a:t/>
            </a:r>
            <a:br>
              <a:rPr lang="en-US" b="1" i="0">
                <a:solidFill>
                  <a:srgbClr val="020202"/>
                </a:solidFill>
                <a:latin typeface="Montserrat"/>
                <a:ea typeface="Montserrat"/>
                <a:cs typeface="Montserrat"/>
                <a:sym typeface="Montserrat"/>
              </a:rPr>
            </a:br>
            <a:r>
              <a:rPr lang="en-US" b="1" i="0">
                <a:solidFill>
                  <a:srgbClr val="020202"/>
                </a:solidFill>
                <a:latin typeface="Montserrat"/>
                <a:ea typeface="Montserrat"/>
                <a:cs typeface="Montserrat"/>
                <a:sym typeface="Montserrat"/>
              </a:rPr>
              <a:t/>
            </a:r>
            <a:br>
              <a:rPr lang="en-US" b="1" i="0">
                <a:solidFill>
                  <a:srgbClr val="020202"/>
                </a:solidFill>
                <a:latin typeface="Montserrat"/>
                <a:ea typeface="Montserrat"/>
                <a:cs typeface="Montserrat"/>
                <a:sym typeface="Montserrat"/>
              </a:rPr>
            </a:br>
            <a:r>
              <a:rPr lang="en-US" b="1" i="0">
                <a:solidFill>
                  <a:srgbClr val="020202"/>
                </a:solidFill>
                <a:latin typeface="Gill Sans"/>
                <a:ea typeface="Gill Sans"/>
                <a:cs typeface="Gill Sans"/>
                <a:sym typeface="Gill Sans"/>
              </a:rPr>
              <a:t>WHAT IS HIGH DIMENSIONAL DATA?  </a:t>
            </a:r>
            <a:r>
              <a:rPr lang="en-US" b="1" i="0">
                <a:solidFill>
                  <a:srgbClr val="020202"/>
                </a:solidFill>
                <a:latin typeface="Montserrat"/>
                <a:ea typeface="Montserrat"/>
                <a:cs typeface="Montserrat"/>
                <a:sym typeface="Montserrat"/>
              </a:rPr>
              <a:t/>
            </a:r>
            <a:br>
              <a:rPr lang="en-US" b="1" i="0">
                <a:solidFill>
                  <a:srgbClr val="020202"/>
                </a:solidFill>
                <a:latin typeface="Montserrat"/>
                <a:ea typeface="Montserrat"/>
                <a:cs typeface="Montserrat"/>
                <a:sym typeface="Montserrat"/>
              </a:rPr>
            </a:br>
            <a:r>
              <a:rPr lang="en-US"/>
              <a:t/>
            </a:r>
            <a:br>
              <a:rPr lang="en-US"/>
            </a:br>
            <a:endParaRPr/>
          </a:p>
        </p:txBody>
      </p:sp>
      <p:sp>
        <p:nvSpPr>
          <p:cNvPr id="344" name="Google Shape;344;p38"/>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b="1" i="0"/>
              <a:t>High dimensional data</a:t>
            </a:r>
            <a:r>
              <a:rPr lang="en-US" b="0" i="0"/>
              <a:t> refers to a dataset in which the number of features </a:t>
            </a:r>
            <a:r>
              <a:rPr lang="en-US" b="0" i="1"/>
              <a:t>p</a:t>
            </a:r>
            <a:r>
              <a:rPr lang="en-US" b="0" i="0"/>
              <a:t> is larger than the number of </a:t>
            </a:r>
            <a:r>
              <a:rPr lang="en-US" b="0" i="0" u="none" strike="noStrike"/>
              <a:t>observations</a:t>
            </a:r>
            <a:r>
              <a:rPr lang="en-US" b="0" i="0"/>
              <a:t> </a:t>
            </a:r>
            <a:r>
              <a:rPr lang="en-US" b="0" i="1"/>
              <a:t>N</a:t>
            </a:r>
            <a:r>
              <a:rPr lang="en-US" b="0" i="0"/>
              <a:t>, often written as </a:t>
            </a:r>
            <a:r>
              <a:rPr lang="en-US" b="0" i="1"/>
              <a:t>p</a:t>
            </a:r>
            <a:r>
              <a:rPr lang="en-US" b="0" i="0"/>
              <a:t> &gt;&gt; </a:t>
            </a:r>
            <a:r>
              <a:rPr lang="en-US" b="0" i="1"/>
              <a:t>N</a:t>
            </a:r>
            <a:endParaRPr/>
          </a:p>
          <a:p>
            <a:pPr marL="228600" lvl="0" indent="-228600" algn="l" rtl="0">
              <a:lnSpc>
                <a:spcPct val="120000"/>
              </a:lnSpc>
              <a:spcBef>
                <a:spcPts val="1000"/>
              </a:spcBef>
              <a:spcAft>
                <a:spcPts val="0"/>
              </a:spcAft>
              <a:buSzPts val="2400"/>
              <a:buChar char="•"/>
            </a:pPr>
            <a:r>
              <a:rPr lang="en-US" sz="2400" b="0" i="0">
                <a:solidFill>
                  <a:srgbClr val="000000"/>
                </a:solidFill>
                <a:latin typeface="Helvetica Neue"/>
                <a:ea typeface="Helvetica Neue"/>
                <a:cs typeface="Helvetica Neue"/>
                <a:sym typeface="Helvetica Neue"/>
              </a:rPr>
              <a:t>For example, a dataset that has </a:t>
            </a:r>
            <a:r>
              <a:rPr lang="en-US" sz="2400" b="0" i="1">
                <a:solidFill>
                  <a:srgbClr val="000000"/>
                </a:solidFill>
                <a:latin typeface="Helvetica Neue"/>
                <a:ea typeface="Helvetica Neue"/>
                <a:cs typeface="Helvetica Neue"/>
                <a:sym typeface="Helvetica Neue"/>
              </a:rPr>
              <a:t>p</a:t>
            </a:r>
            <a:r>
              <a:rPr lang="en-US" sz="2400" b="0" i="0">
                <a:solidFill>
                  <a:srgbClr val="000000"/>
                </a:solidFill>
                <a:latin typeface="Helvetica Neue"/>
                <a:ea typeface="Helvetica Neue"/>
                <a:cs typeface="Helvetica Neue"/>
                <a:sym typeface="Helvetica Neue"/>
              </a:rPr>
              <a:t> = 6 features and only </a:t>
            </a:r>
            <a:r>
              <a:rPr lang="en-US" sz="2400" b="0" i="1">
                <a:solidFill>
                  <a:srgbClr val="000000"/>
                </a:solidFill>
                <a:latin typeface="Helvetica Neue"/>
                <a:ea typeface="Helvetica Neue"/>
                <a:cs typeface="Helvetica Neue"/>
                <a:sym typeface="Helvetica Neue"/>
              </a:rPr>
              <a:t>N</a:t>
            </a:r>
            <a:r>
              <a:rPr lang="en-US" sz="2400" b="0" i="0">
                <a:solidFill>
                  <a:srgbClr val="000000"/>
                </a:solidFill>
                <a:latin typeface="Helvetica Neue"/>
                <a:ea typeface="Helvetica Neue"/>
                <a:cs typeface="Helvetica Neue"/>
                <a:sym typeface="Helvetica Neue"/>
              </a:rPr>
              <a:t> = 3 observations would be considered high dimensional data because the number of features is larger than the number of observations</a:t>
            </a:r>
            <a:endParaRPr sz="2400" b="0" i="0"/>
          </a:p>
          <a:p>
            <a:pPr marL="228600" lvl="0" indent="-101600" algn="l" rtl="0">
              <a:lnSpc>
                <a:spcPct val="120000"/>
              </a:lnSpc>
              <a:spcBef>
                <a:spcPts val="1000"/>
              </a:spcBef>
              <a:spcAft>
                <a:spcPts val="0"/>
              </a:spcAft>
              <a:buSzPts val="2000"/>
              <a:buNone/>
            </a:pPr>
            <a:endParaRPr/>
          </a:p>
        </p:txBody>
      </p:sp>
      <p:pic>
        <p:nvPicPr>
          <p:cNvPr id="345" name="Google Shape;345;p38"/>
          <p:cNvPicPr preferRelativeResize="0"/>
          <p:nvPr/>
        </p:nvPicPr>
        <p:blipFill rotWithShape="1">
          <a:blip r:embed="rId3">
            <a:alphaModFix/>
          </a:blip>
          <a:srcRect/>
          <a:stretch/>
        </p:blipFill>
        <p:spPr>
          <a:xfrm>
            <a:off x="1979968" y="4064488"/>
            <a:ext cx="7315200" cy="1905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WHAT IS NOT HIGH DIMENSIONALITY</a:t>
            </a:r>
            <a:endParaRPr/>
          </a:p>
        </p:txBody>
      </p:sp>
      <p:sp>
        <p:nvSpPr>
          <p:cNvPr id="351" name="Google Shape;351;p39"/>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b="0" i="0">
                <a:solidFill>
                  <a:srgbClr val="000000"/>
                </a:solidFill>
                <a:latin typeface="Helvetica Neue"/>
                <a:ea typeface="Helvetica Neue"/>
                <a:cs typeface="Helvetica Neue"/>
                <a:sym typeface="Helvetica Neue"/>
              </a:rPr>
              <a:t>One common mistake people make is assuming that “high dimensional data” simply means a dataset that has a lot of features</a:t>
            </a:r>
            <a:endParaRPr/>
          </a:p>
          <a:p>
            <a:pPr marL="228600" lvl="0" indent="-228600" algn="l" rtl="0">
              <a:lnSpc>
                <a:spcPct val="120000"/>
              </a:lnSpc>
              <a:spcBef>
                <a:spcPts val="1000"/>
              </a:spcBef>
              <a:spcAft>
                <a:spcPts val="0"/>
              </a:spcAft>
              <a:buSzPts val="2000"/>
              <a:buChar char="•"/>
            </a:pPr>
            <a:r>
              <a:rPr lang="en-US" b="0" i="0">
                <a:solidFill>
                  <a:srgbClr val="000000"/>
                </a:solidFill>
                <a:latin typeface="Helvetica Neue"/>
                <a:ea typeface="Helvetica Neue"/>
                <a:cs typeface="Helvetica Neue"/>
                <a:sym typeface="Helvetica Neue"/>
              </a:rPr>
              <a:t>That’s incorrect. A dataset could have 10,000 features, but if it has 100,000 observations th</a:t>
            </a:r>
            <a:r>
              <a:rPr lang="en-US">
                <a:solidFill>
                  <a:srgbClr val="000000"/>
                </a:solidFill>
                <a:latin typeface="Helvetica Neue"/>
                <a:ea typeface="Helvetica Neue"/>
                <a:cs typeface="Helvetica Neue"/>
                <a:sym typeface="Helvetica Neue"/>
              </a:rPr>
              <a:t>e</a:t>
            </a:r>
            <a:r>
              <a:rPr lang="en-US" b="0" i="0">
                <a:solidFill>
                  <a:srgbClr val="000000"/>
                </a:solidFill>
                <a:latin typeface="Helvetica Neue"/>
                <a:ea typeface="Helvetica Neue"/>
                <a:cs typeface="Helvetica Neue"/>
                <a:sym typeface="Helvetica Neue"/>
              </a:rPr>
              <a:t>n it’s not high dimensional.</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0000"/>
              </a:buClr>
              <a:buSzPts val="3200"/>
              <a:buFont typeface="Arial"/>
              <a:buNone/>
            </a:pPr>
            <a:r>
              <a:rPr lang="en-US" b="1" i="0">
                <a:solidFill>
                  <a:srgbClr val="000000"/>
                </a:solidFill>
                <a:latin typeface="Arial"/>
                <a:ea typeface="Arial"/>
                <a:cs typeface="Arial"/>
                <a:sym typeface="Arial"/>
              </a:rPr>
              <a:t>WHY IS HIGH DIMENSIONAL DATA A PROBLEM?</a:t>
            </a:r>
            <a:r>
              <a:rPr lang="en-US" b="1" i="0">
                <a:solidFill>
                  <a:srgbClr val="020202"/>
                </a:solidFill>
                <a:latin typeface="Montserrat"/>
                <a:ea typeface="Montserrat"/>
                <a:cs typeface="Montserrat"/>
                <a:sym typeface="Montserrat"/>
              </a:rPr>
              <a:t/>
            </a:r>
            <a:br>
              <a:rPr lang="en-US" b="1" i="0">
                <a:solidFill>
                  <a:srgbClr val="020202"/>
                </a:solidFill>
                <a:latin typeface="Montserrat"/>
                <a:ea typeface="Montserrat"/>
                <a:cs typeface="Montserrat"/>
                <a:sym typeface="Montserrat"/>
              </a:rPr>
            </a:br>
            <a:endParaRPr/>
          </a:p>
        </p:txBody>
      </p:sp>
      <p:sp>
        <p:nvSpPr>
          <p:cNvPr id="357" name="Google Shape;357;p40"/>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b="0" i="0">
                <a:solidFill>
                  <a:srgbClr val="000000"/>
                </a:solidFill>
                <a:latin typeface="Helvetica Neue"/>
                <a:ea typeface="Helvetica Neue"/>
                <a:cs typeface="Helvetica Neue"/>
                <a:sym typeface="Helvetica Neue"/>
              </a:rPr>
              <a:t>When the number of features in a dataset exceeds the number of observations, we will never have a deterministic answer</a:t>
            </a:r>
            <a:endParaRPr/>
          </a:p>
          <a:p>
            <a:pPr marL="228600" lvl="0" indent="-228600" algn="l" rtl="0">
              <a:lnSpc>
                <a:spcPct val="120000"/>
              </a:lnSpc>
              <a:spcBef>
                <a:spcPts val="1000"/>
              </a:spcBef>
              <a:spcAft>
                <a:spcPts val="0"/>
              </a:spcAft>
              <a:buSzPts val="2000"/>
              <a:buChar char="•"/>
            </a:pPr>
            <a:r>
              <a:rPr lang="en-US">
                <a:solidFill>
                  <a:srgbClr val="000000"/>
                </a:solidFill>
                <a:latin typeface="Helvetica Neue"/>
                <a:ea typeface="Helvetica Neue"/>
                <a:cs typeface="Helvetica Neue"/>
                <a:sym typeface="Helvetica Neue"/>
              </a:rPr>
              <a:t>I</a:t>
            </a:r>
            <a:r>
              <a:rPr lang="en-US" b="0" i="0">
                <a:solidFill>
                  <a:srgbClr val="000000"/>
                </a:solidFill>
                <a:latin typeface="Helvetica Neue"/>
                <a:ea typeface="Helvetica Neue"/>
                <a:cs typeface="Helvetica Neue"/>
                <a:sym typeface="Helvetica Neue"/>
              </a:rPr>
              <a:t>t becomes impossible to find a model that can describe the relationship between the predictor variables and the</a:t>
            </a:r>
            <a:r>
              <a:rPr lang="en-US">
                <a:solidFill>
                  <a:srgbClr val="000000"/>
                </a:solidFill>
                <a:latin typeface="Helvetica Neue"/>
                <a:ea typeface="Helvetica Neue"/>
                <a:cs typeface="Helvetica Neue"/>
                <a:sym typeface="Helvetica Neue"/>
              </a:rPr>
              <a:t> response variable </a:t>
            </a:r>
            <a:endParaRPr/>
          </a:p>
          <a:p>
            <a:pPr marL="228600" lvl="0" indent="-228600" algn="l" rtl="0">
              <a:lnSpc>
                <a:spcPct val="120000"/>
              </a:lnSpc>
              <a:spcBef>
                <a:spcPts val="1000"/>
              </a:spcBef>
              <a:spcAft>
                <a:spcPts val="0"/>
              </a:spcAft>
              <a:buSzPts val="2000"/>
              <a:buChar char="•"/>
            </a:pPr>
            <a:r>
              <a:rPr lang="en-US">
                <a:solidFill>
                  <a:srgbClr val="000000"/>
                </a:solidFill>
                <a:latin typeface="Helvetica Neue"/>
                <a:ea typeface="Helvetica Neue"/>
                <a:cs typeface="Helvetica Neue"/>
                <a:sym typeface="Helvetica Neue"/>
              </a:rPr>
              <a:t>because we don’t have enough observations </a:t>
            </a:r>
            <a:r>
              <a:rPr lang="en-US" b="0" i="0">
                <a:solidFill>
                  <a:srgbClr val="000000"/>
                </a:solidFill>
                <a:latin typeface="Helvetica Neue"/>
                <a:ea typeface="Helvetica Neue"/>
                <a:cs typeface="Helvetica Neue"/>
                <a:sym typeface="Helvetica Neue"/>
              </a:rPr>
              <a:t>to train the model 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1"/>
          <p:cNvSpPr txBox="1">
            <a:spLocks noGrp="1"/>
          </p:cNvSpPr>
          <p:nvPr>
            <p:ph type="title"/>
          </p:nvPr>
        </p:nvSpPr>
        <p:spPr>
          <a:xfrm>
            <a:off x="1294362" y="683444"/>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000000"/>
              </a:buClr>
              <a:buSzPct val="100000"/>
              <a:buFont typeface="Arial"/>
              <a:buNone/>
            </a:pPr>
            <a:r>
              <a:rPr lang="en-US" b="1" i="0">
                <a:solidFill>
                  <a:srgbClr val="000000"/>
                </a:solidFill>
                <a:latin typeface="Arial"/>
                <a:ea typeface="Arial"/>
                <a:cs typeface="Arial"/>
                <a:sym typeface="Arial"/>
              </a:rPr>
              <a:t>EXAMPLES OF HIGH DIMENSIONAL DATA</a:t>
            </a:r>
            <a:br>
              <a:rPr lang="en-US" b="1" i="0">
                <a:solidFill>
                  <a:srgbClr val="000000"/>
                </a:solidFill>
                <a:latin typeface="Arial"/>
                <a:ea typeface="Arial"/>
                <a:cs typeface="Arial"/>
                <a:sym typeface="Arial"/>
              </a:rPr>
            </a:br>
            <a:r>
              <a:rPr lang="en-US" sz="2200" b="1" i="0" u="sng">
                <a:solidFill>
                  <a:schemeClr val="accent1"/>
                </a:solidFill>
                <a:latin typeface="Helvetica Neue"/>
                <a:ea typeface="Helvetica Neue"/>
                <a:cs typeface="Helvetica Neue"/>
                <a:sym typeface="Helvetica Neue"/>
              </a:rPr>
              <a:t>EXAMPLE 1: HEALTHCARE DATA</a:t>
            </a:r>
            <a:r>
              <a:rPr lang="en-US" sz="3200" b="1" i="0" u="sng">
                <a:solidFill>
                  <a:schemeClr val="accent1"/>
                </a:solidFill>
                <a:latin typeface="Helvetica Neue"/>
                <a:ea typeface="Helvetica Neue"/>
                <a:cs typeface="Helvetica Neue"/>
                <a:sym typeface="Helvetica Neue"/>
              </a:rPr>
              <a:t/>
            </a:r>
            <a:br>
              <a:rPr lang="en-US" sz="3200" b="1" i="0" u="sng">
                <a:solidFill>
                  <a:schemeClr val="accent1"/>
                </a:solidFill>
                <a:latin typeface="Helvetica Neue"/>
                <a:ea typeface="Helvetica Neue"/>
                <a:cs typeface="Helvetica Neue"/>
                <a:sym typeface="Helvetica Neue"/>
              </a:rPr>
            </a:br>
            <a:r>
              <a:rPr lang="en-US" b="1" i="0">
                <a:solidFill>
                  <a:srgbClr val="020202"/>
                </a:solidFill>
                <a:latin typeface="Montserrat"/>
                <a:ea typeface="Montserrat"/>
                <a:cs typeface="Montserrat"/>
                <a:sym typeface="Montserrat"/>
              </a:rPr>
              <a:t/>
            </a:r>
            <a:br>
              <a:rPr lang="en-US" b="1" i="0">
                <a:solidFill>
                  <a:srgbClr val="020202"/>
                </a:solidFill>
                <a:latin typeface="Montserrat"/>
                <a:ea typeface="Montserrat"/>
                <a:cs typeface="Montserrat"/>
                <a:sym typeface="Montserrat"/>
              </a:rPr>
            </a:br>
            <a:endParaRPr/>
          </a:p>
        </p:txBody>
      </p:sp>
      <p:sp>
        <p:nvSpPr>
          <p:cNvPr id="363" name="Google Shape;363;p41"/>
          <p:cNvSpPr txBox="1">
            <a:spLocks noGrp="1"/>
          </p:cNvSpPr>
          <p:nvPr>
            <p:ph type="body" idx="1"/>
          </p:nvPr>
        </p:nvSpPr>
        <p:spPr>
          <a:xfrm>
            <a:off x="687371" y="1580528"/>
            <a:ext cx="10515600" cy="5037088"/>
          </a:xfrm>
          <a:prstGeom prst="rect">
            <a:avLst/>
          </a:prstGeom>
          <a:noFill/>
          <a:ln>
            <a:noFill/>
          </a:ln>
        </p:spPr>
        <p:txBody>
          <a:bodyPr spcFirstLastPara="1" wrap="square" lIns="91425" tIns="45700" rIns="91425" bIns="45700" anchor="t" anchorCtr="0">
            <a:normAutofit/>
          </a:bodyPr>
          <a:lstStyle/>
          <a:p>
            <a:pPr marL="228600" lvl="0" indent="-101600" algn="l" rtl="0">
              <a:lnSpc>
                <a:spcPct val="120000"/>
              </a:lnSpc>
              <a:spcBef>
                <a:spcPts val="0"/>
              </a:spcBef>
              <a:spcAft>
                <a:spcPts val="0"/>
              </a:spcAft>
              <a:buSzPts val="2000"/>
              <a:buNone/>
            </a:pPr>
            <a:endParaRPr b="0" i="0">
              <a:solidFill>
                <a:srgbClr val="000000"/>
              </a:solidFill>
              <a:latin typeface="Helvetica Neue"/>
              <a:ea typeface="Helvetica Neue"/>
              <a:cs typeface="Helvetica Neue"/>
              <a:sym typeface="Helvetica Neue"/>
            </a:endParaRPr>
          </a:p>
          <a:p>
            <a:pPr marL="228600" lvl="0" indent="-228600" algn="l" rtl="0">
              <a:lnSpc>
                <a:spcPct val="120000"/>
              </a:lnSpc>
              <a:spcBef>
                <a:spcPts val="1000"/>
              </a:spcBef>
              <a:spcAft>
                <a:spcPts val="0"/>
              </a:spcAft>
              <a:buSzPts val="2000"/>
              <a:buChar char="•"/>
            </a:pPr>
            <a:r>
              <a:rPr lang="en-US" b="0" i="0">
                <a:solidFill>
                  <a:srgbClr val="000000"/>
                </a:solidFill>
                <a:latin typeface="Helvetica Neue"/>
                <a:ea typeface="Helvetica Neue"/>
                <a:cs typeface="Helvetica Neue"/>
                <a:sym typeface="Helvetica Neue"/>
              </a:rPr>
              <a:t>High dimensional data is common in healthcare datasets where the number of features for a given individual can be massive (i.e. blood pressure, resting heart rate, immune system status, surgery history, height, weight, existing conditions, etc.)</a:t>
            </a:r>
            <a:endParaRPr/>
          </a:p>
          <a:p>
            <a:pPr marL="228600" lvl="0" indent="-228600" algn="l" rtl="0">
              <a:lnSpc>
                <a:spcPct val="120000"/>
              </a:lnSpc>
              <a:spcBef>
                <a:spcPts val="1000"/>
              </a:spcBef>
              <a:spcAft>
                <a:spcPts val="0"/>
              </a:spcAft>
              <a:buSzPts val="2000"/>
              <a:buChar char="•"/>
            </a:pPr>
            <a:r>
              <a:rPr lang="en-US" b="0" i="0">
                <a:solidFill>
                  <a:srgbClr val="000000"/>
                </a:solidFill>
                <a:latin typeface="Helvetica Neue"/>
                <a:ea typeface="Helvetica Neue"/>
                <a:cs typeface="Helvetica Neue"/>
                <a:sym typeface="Helvetica Neue"/>
              </a:rPr>
              <a:t>In these datasets, it’s common for the number of features to be larger than the number of observations</a:t>
            </a:r>
            <a:endParaRPr/>
          </a:p>
          <a:p>
            <a:pPr marL="0" lvl="0" indent="0" algn="l" rtl="0">
              <a:lnSpc>
                <a:spcPct val="120000"/>
              </a:lnSpc>
              <a:spcBef>
                <a:spcPts val="1000"/>
              </a:spcBef>
              <a:spcAft>
                <a:spcPts val="0"/>
              </a:spcAft>
              <a:buSzPts val="2000"/>
              <a:buNone/>
            </a:pPr>
            <a:r>
              <a:rPr lang="en-US">
                <a:solidFill>
                  <a:srgbClr val="000000"/>
                </a:solidFill>
                <a:latin typeface="Helvetica Neue"/>
                <a:ea typeface="Helvetica Neue"/>
                <a:cs typeface="Helvetica Neue"/>
                <a:sym typeface="Helvetica Neue"/>
              </a:rPr>
              <a:t>  </a:t>
            </a:r>
            <a:endParaRPr/>
          </a:p>
        </p:txBody>
      </p:sp>
      <p:pic>
        <p:nvPicPr>
          <p:cNvPr id="364" name="Google Shape;364;p41"/>
          <p:cNvPicPr preferRelativeResize="0"/>
          <p:nvPr/>
        </p:nvPicPr>
        <p:blipFill rotWithShape="1">
          <a:blip r:embed="rId3">
            <a:alphaModFix/>
          </a:blip>
          <a:srcRect/>
          <a:stretch/>
        </p:blipFill>
        <p:spPr>
          <a:xfrm>
            <a:off x="2438399" y="4099072"/>
            <a:ext cx="7315200" cy="15906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2"/>
          <p:cNvSpPr txBox="1">
            <a:spLocks noGrp="1"/>
          </p:cNvSpPr>
          <p:nvPr>
            <p:ph type="title"/>
          </p:nvPr>
        </p:nvSpPr>
        <p:spPr>
          <a:xfrm>
            <a:off x="1437512" y="449191"/>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000000"/>
              </a:buClr>
              <a:buSzPct val="100000"/>
              <a:buFont typeface="Arial"/>
              <a:buNone/>
            </a:pPr>
            <a:r>
              <a:rPr lang="en-US" b="1" i="0">
                <a:solidFill>
                  <a:srgbClr val="000000"/>
                </a:solidFill>
                <a:latin typeface="Arial"/>
                <a:ea typeface="Arial"/>
                <a:cs typeface="Arial"/>
                <a:sym typeface="Arial"/>
              </a:rPr>
              <a:t>EXAMPLES OF HIGH DIMENSIONAL DATA</a:t>
            </a:r>
            <a:br>
              <a:rPr lang="en-US" b="1" i="0">
                <a:solidFill>
                  <a:srgbClr val="000000"/>
                </a:solidFill>
                <a:latin typeface="Arial"/>
                <a:ea typeface="Arial"/>
                <a:cs typeface="Arial"/>
                <a:sym typeface="Arial"/>
              </a:rPr>
            </a:br>
            <a:r>
              <a:rPr lang="en-US" sz="2000" b="1" u="sng">
                <a:solidFill>
                  <a:schemeClr val="accent1"/>
                </a:solidFill>
                <a:latin typeface="Helvetica Neue"/>
                <a:ea typeface="Helvetica Neue"/>
                <a:cs typeface="Helvetica Neue"/>
                <a:sym typeface="Helvetica Neue"/>
              </a:rPr>
              <a:t>EXAMPLE 2: FINANCIAL DATA</a:t>
            </a:r>
            <a:r>
              <a:rPr lang="en-US" sz="3200" b="1" u="sng">
                <a:solidFill>
                  <a:schemeClr val="accent1"/>
                </a:solidFill>
                <a:latin typeface="Helvetica Neue"/>
                <a:ea typeface="Helvetica Neue"/>
                <a:cs typeface="Helvetica Neue"/>
                <a:sym typeface="Helvetica Neue"/>
              </a:rPr>
              <a:t/>
            </a:r>
            <a:br>
              <a:rPr lang="en-US" sz="3200" b="1" u="sng">
                <a:solidFill>
                  <a:schemeClr val="accent1"/>
                </a:solidFill>
                <a:latin typeface="Helvetica Neue"/>
                <a:ea typeface="Helvetica Neue"/>
                <a:cs typeface="Helvetica Neue"/>
                <a:sym typeface="Helvetica Neue"/>
              </a:rPr>
            </a:br>
            <a:r>
              <a:rPr lang="en-US" b="1" i="0">
                <a:solidFill>
                  <a:srgbClr val="020202"/>
                </a:solidFill>
                <a:latin typeface="Montserrat"/>
                <a:ea typeface="Montserrat"/>
                <a:cs typeface="Montserrat"/>
                <a:sym typeface="Montserrat"/>
              </a:rPr>
              <a:t/>
            </a:r>
            <a:br>
              <a:rPr lang="en-US" b="1" i="0">
                <a:solidFill>
                  <a:srgbClr val="020202"/>
                </a:solidFill>
                <a:latin typeface="Montserrat"/>
                <a:ea typeface="Montserrat"/>
                <a:cs typeface="Montserrat"/>
                <a:sym typeface="Montserrat"/>
              </a:rPr>
            </a:br>
            <a:endParaRPr/>
          </a:p>
        </p:txBody>
      </p:sp>
      <p:sp>
        <p:nvSpPr>
          <p:cNvPr id="370" name="Google Shape;370;p42"/>
          <p:cNvSpPr txBox="1">
            <a:spLocks noGrp="1"/>
          </p:cNvSpPr>
          <p:nvPr>
            <p:ph type="body" idx="1"/>
          </p:nvPr>
        </p:nvSpPr>
        <p:spPr>
          <a:xfrm>
            <a:off x="687371" y="1580528"/>
            <a:ext cx="10515600" cy="5037088"/>
          </a:xfrm>
          <a:prstGeom prst="rect">
            <a:avLst/>
          </a:prstGeom>
          <a:no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SzPts val="2000"/>
              <a:buNone/>
            </a:pPr>
            <a:r>
              <a:rPr lang="en-US" b="0" i="0">
                <a:solidFill>
                  <a:srgbClr val="000000"/>
                </a:solidFill>
                <a:latin typeface="Helvetica Neue"/>
                <a:ea typeface="Helvetica Neue"/>
                <a:cs typeface="Helvetica Neue"/>
                <a:sym typeface="Helvetica Neue"/>
              </a:rPr>
              <a:t> </a:t>
            </a:r>
            <a:endParaRPr/>
          </a:p>
          <a:p>
            <a:pPr marL="228600" lvl="0" indent="-228600" algn="l" rtl="0">
              <a:lnSpc>
                <a:spcPct val="120000"/>
              </a:lnSpc>
              <a:spcBef>
                <a:spcPts val="1000"/>
              </a:spcBef>
              <a:spcAft>
                <a:spcPts val="0"/>
              </a:spcAft>
              <a:buSzPts val="2000"/>
              <a:buChar char="•"/>
            </a:pPr>
            <a:r>
              <a:rPr lang="en-US" b="0" i="0">
                <a:solidFill>
                  <a:srgbClr val="000000"/>
                </a:solidFill>
                <a:latin typeface="Helvetica Neue"/>
                <a:ea typeface="Helvetica Neue"/>
                <a:cs typeface="Helvetica Neue"/>
                <a:sym typeface="Helvetica Neue"/>
              </a:rPr>
              <a:t>Number of features for a given stock can be quite large (i.e. PE Ratio, Market Cap, Trading Volume, Dividend Rate, etc.)</a:t>
            </a:r>
            <a:endParaRPr/>
          </a:p>
          <a:p>
            <a:pPr marL="228600" lvl="0" indent="-228600" algn="l" rtl="0">
              <a:lnSpc>
                <a:spcPct val="120000"/>
              </a:lnSpc>
              <a:spcBef>
                <a:spcPts val="1000"/>
              </a:spcBef>
              <a:spcAft>
                <a:spcPts val="0"/>
              </a:spcAft>
              <a:buSzPts val="2000"/>
              <a:buChar char="•"/>
            </a:pPr>
            <a:r>
              <a:rPr lang="en-US" b="0" i="0">
                <a:solidFill>
                  <a:srgbClr val="000000"/>
                </a:solidFill>
                <a:latin typeface="Helvetica Neue"/>
                <a:ea typeface="Helvetica Neue"/>
                <a:cs typeface="Helvetica Neue"/>
                <a:sym typeface="Helvetica Neue"/>
              </a:rPr>
              <a:t>In these datasets, it’s common for the number of features to be larger than the number of observations</a:t>
            </a:r>
            <a:endParaRPr/>
          </a:p>
          <a:p>
            <a:pPr marL="0" lvl="0" indent="0" algn="l" rtl="0">
              <a:lnSpc>
                <a:spcPct val="120000"/>
              </a:lnSpc>
              <a:spcBef>
                <a:spcPts val="1000"/>
              </a:spcBef>
              <a:spcAft>
                <a:spcPts val="0"/>
              </a:spcAft>
              <a:buSzPts val="2000"/>
              <a:buNone/>
            </a:pPr>
            <a:r>
              <a:rPr lang="en-US">
                <a:solidFill>
                  <a:srgbClr val="000000"/>
                </a:solidFill>
                <a:latin typeface="Helvetica Neue"/>
                <a:ea typeface="Helvetica Neue"/>
                <a:cs typeface="Helvetica Neue"/>
                <a:sym typeface="Helvetica Neue"/>
              </a:rPr>
              <a:t>  </a:t>
            </a:r>
            <a:endParaRPr/>
          </a:p>
        </p:txBody>
      </p:sp>
      <p:pic>
        <p:nvPicPr>
          <p:cNvPr id="371" name="Google Shape;371;p42"/>
          <p:cNvPicPr preferRelativeResize="0"/>
          <p:nvPr/>
        </p:nvPicPr>
        <p:blipFill rotWithShape="1">
          <a:blip r:embed="rId3">
            <a:alphaModFix/>
          </a:blip>
          <a:srcRect/>
          <a:stretch/>
        </p:blipFill>
        <p:spPr>
          <a:xfrm>
            <a:off x="2042909" y="3911001"/>
            <a:ext cx="7315200" cy="14668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ct val="100000"/>
              <a:buFont typeface="Gill Sans"/>
              <a:buNone/>
            </a:pPr>
            <a:r>
              <a:rPr lang="en-US" sz="4000" b="1">
                <a:latin typeface="Gill Sans"/>
                <a:ea typeface="Gill Sans"/>
                <a:cs typeface="Gill Sans"/>
                <a:sym typeface="Gill Sans"/>
              </a:rPr>
              <a:t>ISSUES WITH HIGH-DIMENSIONAL DATA </a:t>
            </a:r>
            <a:r>
              <a:rPr lang="en-US" sz="4000">
                <a:latin typeface="Gill Sans"/>
                <a:ea typeface="Gill Sans"/>
                <a:cs typeface="Gill Sans"/>
                <a:sym typeface="Gill Sans"/>
              </a:rPr>
              <a:t>(</a:t>
            </a:r>
            <a:r>
              <a:rPr lang="en-US" sz="4000" i="0">
                <a:solidFill>
                  <a:srgbClr val="292929"/>
                </a:solidFill>
                <a:latin typeface="Gill Sans"/>
                <a:ea typeface="Gill Sans"/>
                <a:cs typeface="Gill Sans"/>
                <a:sym typeface="Gill Sans"/>
              </a:rPr>
              <a:t>THE CURSE OF DIMENSIONALITY</a:t>
            </a:r>
            <a:r>
              <a:rPr lang="en-US" sz="4000">
                <a:latin typeface="Gill Sans"/>
                <a:ea typeface="Gill Sans"/>
                <a:cs typeface="Gill Sans"/>
                <a:sym typeface="Gill Sans"/>
              </a:rPr>
              <a:t>)</a:t>
            </a:r>
            <a:endParaRPr sz="4000">
              <a:latin typeface="Gill Sans"/>
              <a:ea typeface="Gill Sans"/>
              <a:cs typeface="Gill Sans"/>
              <a:sym typeface="Gill Sans"/>
            </a:endParaRPr>
          </a:p>
        </p:txBody>
      </p:sp>
      <p:sp>
        <p:nvSpPr>
          <p:cNvPr id="377" name="Google Shape;377;p43"/>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Overfitting (Low biasing and high variance)</a:t>
            </a:r>
            <a:endParaRPr/>
          </a:p>
          <a:p>
            <a:pPr marL="228600" lvl="0" indent="-228600" algn="l" rtl="0">
              <a:lnSpc>
                <a:spcPct val="120000"/>
              </a:lnSpc>
              <a:spcBef>
                <a:spcPts val="1000"/>
              </a:spcBef>
              <a:spcAft>
                <a:spcPts val="0"/>
              </a:spcAft>
              <a:buSzPts val="2000"/>
              <a:buChar char="•"/>
            </a:pPr>
            <a:r>
              <a:rPr lang="en-US"/>
              <a:t>Underfitting (High biasing and low variance)</a:t>
            </a:r>
            <a:endParaRPr/>
          </a:p>
          <a:p>
            <a:pPr marL="0" lvl="0" indent="0" algn="l" rtl="0">
              <a:lnSpc>
                <a:spcPct val="120000"/>
              </a:lnSpc>
              <a:spcBef>
                <a:spcPts val="1000"/>
              </a:spcBef>
              <a:spcAft>
                <a:spcPts val="0"/>
              </a:spcAft>
              <a:buSzPts val="2000"/>
              <a:buNone/>
            </a:pPr>
            <a:r>
              <a:rPr lang="en-US"/>
              <a:t>Bias = Training error</a:t>
            </a:r>
            <a:endParaRPr/>
          </a:p>
          <a:p>
            <a:pPr marL="0" lvl="0" indent="0" algn="l" rtl="0">
              <a:lnSpc>
                <a:spcPct val="120000"/>
              </a:lnSpc>
              <a:spcBef>
                <a:spcPts val="1000"/>
              </a:spcBef>
              <a:spcAft>
                <a:spcPts val="0"/>
              </a:spcAft>
              <a:buSzPts val="2000"/>
              <a:buNone/>
            </a:pPr>
            <a:r>
              <a:rPr lang="en-US"/>
              <a:t>Variance= test error</a:t>
            </a:r>
            <a:endParaRPr/>
          </a:p>
          <a:p>
            <a:pPr marL="0" lvl="0" indent="0" algn="l" rtl="0">
              <a:lnSpc>
                <a:spcPct val="120000"/>
              </a:lnSpc>
              <a:spcBef>
                <a:spcPts val="1000"/>
              </a:spcBef>
              <a:spcAft>
                <a:spcPts val="0"/>
              </a:spcAft>
              <a:buSzPts val="2000"/>
              <a:buNone/>
            </a:pPr>
            <a:endParaRPr/>
          </a:p>
          <a:p>
            <a:pPr marL="228600" lvl="0" indent="-228600" algn="l" rtl="0">
              <a:lnSpc>
                <a:spcPct val="120000"/>
              </a:lnSpc>
              <a:spcBef>
                <a:spcPts val="1000"/>
              </a:spcBef>
              <a:spcAft>
                <a:spcPts val="0"/>
              </a:spcAft>
              <a:buSzPts val="2000"/>
              <a:buChar char="•"/>
            </a:pPr>
            <a:r>
              <a:rPr lang="en-US"/>
              <a:t>Curse of Dimensionality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0000"/>
              </a:buClr>
              <a:buSzPts val="3200"/>
              <a:buFont typeface="Arial"/>
              <a:buNone/>
            </a:pPr>
            <a:r>
              <a:rPr lang="en-US" b="1" i="0">
                <a:solidFill>
                  <a:srgbClr val="000000"/>
                </a:solidFill>
                <a:latin typeface="Arial"/>
                <a:ea typeface="Arial"/>
                <a:cs typeface="Arial"/>
                <a:sym typeface="Arial"/>
              </a:rPr>
              <a:t>HOW TO HANDLE HIGH DIMENSIONAL DATA</a:t>
            </a:r>
            <a:r>
              <a:rPr lang="en-US" b="1" i="0">
                <a:solidFill>
                  <a:srgbClr val="020202"/>
                </a:solidFill>
                <a:latin typeface="Montserrat"/>
                <a:ea typeface="Montserrat"/>
                <a:cs typeface="Montserrat"/>
                <a:sym typeface="Montserrat"/>
              </a:rPr>
              <a:t/>
            </a:r>
            <a:br>
              <a:rPr lang="en-US" b="1" i="0">
                <a:solidFill>
                  <a:srgbClr val="020202"/>
                </a:solidFill>
                <a:latin typeface="Montserrat"/>
                <a:ea typeface="Montserrat"/>
                <a:cs typeface="Montserrat"/>
                <a:sym typeface="Montserrat"/>
              </a:rPr>
            </a:br>
            <a:endParaRPr/>
          </a:p>
        </p:txBody>
      </p:sp>
      <p:sp>
        <p:nvSpPr>
          <p:cNvPr id="383" name="Google Shape;383;p44"/>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20000"/>
              </a:lnSpc>
              <a:spcBef>
                <a:spcPts val="0"/>
              </a:spcBef>
              <a:spcAft>
                <a:spcPts val="0"/>
              </a:spcAft>
              <a:buSzPct val="100000"/>
              <a:buChar char="•"/>
            </a:pPr>
            <a:r>
              <a:rPr lang="en-US" b="0" i="0">
                <a:solidFill>
                  <a:srgbClr val="000000"/>
                </a:solidFill>
                <a:latin typeface="Helvetica Neue"/>
                <a:ea typeface="Helvetica Neue"/>
                <a:cs typeface="Helvetica Neue"/>
                <a:sym typeface="Helvetica Neue"/>
              </a:rPr>
              <a:t>There are two common ways to deal with high dimensional data:</a:t>
            </a:r>
            <a:endParaRPr/>
          </a:p>
          <a:p>
            <a:pPr marL="0" lvl="0" indent="0" algn="l" rtl="0">
              <a:lnSpc>
                <a:spcPct val="120000"/>
              </a:lnSpc>
              <a:spcBef>
                <a:spcPts val="1000"/>
              </a:spcBef>
              <a:spcAft>
                <a:spcPts val="0"/>
              </a:spcAft>
              <a:buSzPct val="100000"/>
              <a:buNone/>
            </a:pPr>
            <a:endParaRPr b="1" i="0">
              <a:solidFill>
                <a:srgbClr val="000000"/>
              </a:solidFill>
              <a:latin typeface="Helvetica Neue"/>
              <a:ea typeface="Helvetica Neue"/>
              <a:cs typeface="Helvetica Neue"/>
              <a:sym typeface="Helvetica Neue"/>
            </a:endParaRPr>
          </a:p>
          <a:p>
            <a:pPr marL="514350" lvl="0" indent="-514350" algn="l" rtl="0">
              <a:lnSpc>
                <a:spcPct val="120000"/>
              </a:lnSpc>
              <a:spcBef>
                <a:spcPts val="1000"/>
              </a:spcBef>
              <a:spcAft>
                <a:spcPts val="0"/>
              </a:spcAft>
              <a:buSzPct val="100000"/>
              <a:buAutoNum type="arabicPeriod"/>
            </a:pPr>
            <a:r>
              <a:rPr lang="en-US" b="1" i="0">
                <a:solidFill>
                  <a:srgbClr val="000000"/>
                </a:solidFill>
                <a:latin typeface="Helvetica Neue"/>
                <a:ea typeface="Helvetica Neue"/>
                <a:cs typeface="Helvetica Neue"/>
                <a:sym typeface="Helvetica Neue"/>
              </a:rPr>
              <a:t>Choose to include fewer features</a:t>
            </a:r>
            <a:endParaRPr/>
          </a:p>
          <a:p>
            <a:pPr marL="0" lvl="0" indent="0" algn="l" rtl="0">
              <a:lnSpc>
                <a:spcPct val="120000"/>
              </a:lnSpc>
              <a:spcBef>
                <a:spcPts val="1000"/>
              </a:spcBef>
              <a:spcAft>
                <a:spcPts val="0"/>
              </a:spcAft>
              <a:buSzPct val="100000"/>
              <a:buNone/>
            </a:pPr>
            <a:r>
              <a:rPr lang="en-US" b="0" i="0">
                <a:solidFill>
                  <a:srgbClr val="000000"/>
                </a:solidFill>
                <a:latin typeface="Helvetica Neue"/>
                <a:ea typeface="Helvetica Neue"/>
                <a:cs typeface="Helvetica Neue"/>
                <a:sym typeface="Helvetica Neue"/>
              </a:rPr>
              <a:t>The most obvious way to avoid dealing with high dimensional data is to simply include fewer features in the dataset</a:t>
            </a:r>
            <a:endParaRPr/>
          </a:p>
          <a:p>
            <a:pPr marL="0" lvl="0" indent="0" algn="l" rtl="0">
              <a:lnSpc>
                <a:spcPct val="120000"/>
              </a:lnSpc>
              <a:spcBef>
                <a:spcPts val="1000"/>
              </a:spcBef>
              <a:spcAft>
                <a:spcPts val="0"/>
              </a:spcAft>
              <a:buSzPct val="100000"/>
              <a:buNone/>
            </a:pPr>
            <a:r>
              <a:rPr lang="en-US" b="1" i="0">
                <a:solidFill>
                  <a:srgbClr val="000000"/>
                </a:solidFill>
                <a:latin typeface="Helvetica Neue"/>
                <a:ea typeface="Helvetica Neue"/>
                <a:cs typeface="Helvetica Neue"/>
                <a:sym typeface="Helvetica Neue"/>
              </a:rPr>
              <a:t>    </a:t>
            </a:r>
            <a:r>
              <a:rPr lang="en-US" sz="2000" b="1">
                <a:solidFill>
                  <a:schemeClr val="accent1"/>
                </a:solidFill>
                <a:latin typeface="Helvetica Neue"/>
                <a:ea typeface="Helvetica Neue"/>
                <a:cs typeface="Helvetica Neue"/>
                <a:sym typeface="Helvetica Neue"/>
              </a:rPr>
              <a:t>Drop features with many missing values</a:t>
            </a:r>
            <a:endParaRPr/>
          </a:p>
          <a:p>
            <a:pPr marL="0" lvl="0" indent="0" algn="l" rtl="0">
              <a:lnSpc>
                <a:spcPct val="120000"/>
              </a:lnSpc>
              <a:spcBef>
                <a:spcPts val="1000"/>
              </a:spcBef>
              <a:spcAft>
                <a:spcPts val="0"/>
              </a:spcAft>
              <a:buSzPct val="100000"/>
              <a:buNone/>
            </a:pPr>
            <a:r>
              <a:rPr lang="en-US" sz="2000" b="1">
                <a:solidFill>
                  <a:schemeClr val="accent1"/>
                </a:solidFill>
                <a:latin typeface="Helvetica Neue"/>
                <a:ea typeface="Helvetica Neue"/>
                <a:cs typeface="Helvetica Neue"/>
                <a:sym typeface="Helvetica Neue"/>
              </a:rPr>
              <a:t>      Drop features with low variance</a:t>
            </a:r>
            <a:endParaRPr/>
          </a:p>
          <a:p>
            <a:pPr marL="0" lvl="0" indent="0" algn="l" rtl="0">
              <a:lnSpc>
                <a:spcPct val="120000"/>
              </a:lnSpc>
              <a:spcBef>
                <a:spcPts val="1000"/>
              </a:spcBef>
              <a:spcAft>
                <a:spcPts val="0"/>
              </a:spcAft>
              <a:buSzPct val="100000"/>
              <a:buNone/>
            </a:pPr>
            <a:r>
              <a:rPr lang="en-US" sz="2000" b="1">
                <a:solidFill>
                  <a:schemeClr val="accent1"/>
                </a:solidFill>
                <a:latin typeface="Helvetica Neue"/>
                <a:ea typeface="Helvetica Neue"/>
                <a:cs typeface="Helvetica Neue"/>
                <a:sym typeface="Helvetica Neue"/>
              </a:rPr>
              <a:t>      Drop features with low correlation with the response variable</a:t>
            </a:r>
            <a:endParaRPr/>
          </a:p>
          <a:p>
            <a:pPr marL="514350" lvl="0" indent="-396875" algn="l" rtl="0">
              <a:lnSpc>
                <a:spcPct val="120000"/>
              </a:lnSpc>
              <a:spcBef>
                <a:spcPts val="1000"/>
              </a:spcBef>
              <a:spcAft>
                <a:spcPts val="0"/>
              </a:spcAft>
              <a:buSzPct val="10000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0000"/>
              </a:buClr>
              <a:buSzPts val="4000"/>
              <a:buFont typeface="Arial"/>
              <a:buNone/>
            </a:pPr>
            <a:r>
              <a:rPr lang="en-US" sz="4000" b="1" i="0">
                <a:solidFill>
                  <a:srgbClr val="000000"/>
                </a:solidFill>
                <a:latin typeface="Arial"/>
                <a:ea typeface="Arial"/>
                <a:cs typeface="Arial"/>
                <a:sym typeface="Arial"/>
              </a:rPr>
              <a:t>HOW TO HANDLE HIGH DIMENSIONAL DATA</a:t>
            </a:r>
            <a:endParaRPr sz="4000"/>
          </a:p>
        </p:txBody>
      </p:sp>
      <p:sp>
        <p:nvSpPr>
          <p:cNvPr id="389" name="Google Shape;389;p45"/>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SzPts val="2000"/>
              <a:buNone/>
            </a:pPr>
            <a:r>
              <a:rPr lang="en-US" b="1" i="0">
                <a:solidFill>
                  <a:srgbClr val="000000"/>
                </a:solidFill>
                <a:latin typeface="Helvetica Neue"/>
                <a:ea typeface="Helvetica Neue"/>
                <a:cs typeface="Helvetica Neue"/>
                <a:sym typeface="Helvetica Neue"/>
              </a:rPr>
              <a:t>2. Use a regularization method</a:t>
            </a:r>
            <a:endParaRPr/>
          </a:p>
          <a:p>
            <a:pPr marL="228600" lvl="0" indent="-228600" algn="l" rtl="0">
              <a:lnSpc>
                <a:spcPct val="120000"/>
              </a:lnSpc>
              <a:spcBef>
                <a:spcPts val="1000"/>
              </a:spcBef>
              <a:spcAft>
                <a:spcPts val="0"/>
              </a:spcAft>
              <a:buSzPts val="2000"/>
              <a:buChar char="•"/>
            </a:pPr>
            <a:r>
              <a:rPr lang="en-US" b="0" i="0" u="none" strike="noStrike">
                <a:latin typeface="Arial"/>
                <a:ea typeface="Arial"/>
                <a:cs typeface="Arial"/>
                <a:sym typeface="Arial"/>
              </a:rPr>
              <a:t>Principal Components Analysis</a:t>
            </a:r>
            <a:endParaRPr b="0" i="0">
              <a:latin typeface="Arial"/>
              <a:ea typeface="Arial"/>
              <a:cs typeface="Arial"/>
              <a:sym typeface="Arial"/>
            </a:endParaRPr>
          </a:p>
          <a:p>
            <a:pPr marL="228600" lvl="0" indent="-228600" algn="l" rtl="0">
              <a:lnSpc>
                <a:spcPct val="120000"/>
              </a:lnSpc>
              <a:spcBef>
                <a:spcPts val="1000"/>
              </a:spcBef>
              <a:spcAft>
                <a:spcPts val="0"/>
              </a:spcAft>
              <a:buSzPts val="2000"/>
              <a:buChar char="•"/>
            </a:pPr>
            <a:r>
              <a:rPr lang="en-US" b="0" i="0" u="none" strike="noStrike">
                <a:latin typeface="Arial"/>
                <a:ea typeface="Arial"/>
                <a:cs typeface="Arial"/>
                <a:sym typeface="Arial"/>
              </a:rPr>
              <a:t>Principal Components Regression</a:t>
            </a:r>
            <a:endParaRPr b="0" i="0">
              <a:latin typeface="Arial"/>
              <a:ea typeface="Arial"/>
              <a:cs typeface="Arial"/>
              <a:sym typeface="Arial"/>
            </a:endParaRPr>
          </a:p>
          <a:p>
            <a:pPr marL="228600" lvl="0" indent="-228600" algn="l" rtl="0">
              <a:lnSpc>
                <a:spcPct val="120000"/>
              </a:lnSpc>
              <a:spcBef>
                <a:spcPts val="1000"/>
              </a:spcBef>
              <a:spcAft>
                <a:spcPts val="0"/>
              </a:spcAft>
              <a:buSzPts val="2000"/>
              <a:buChar char="•"/>
            </a:pPr>
            <a:r>
              <a:rPr lang="en-US" b="0" i="0" u="none" strike="noStrike">
                <a:latin typeface="Arial"/>
                <a:ea typeface="Arial"/>
                <a:cs typeface="Arial"/>
                <a:sym typeface="Arial"/>
              </a:rPr>
              <a:t>Ridge Regression</a:t>
            </a:r>
            <a:endParaRPr b="0" i="0">
              <a:latin typeface="Arial"/>
              <a:ea typeface="Arial"/>
              <a:cs typeface="Arial"/>
              <a:sym typeface="Arial"/>
            </a:endParaRPr>
          </a:p>
          <a:p>
            <a:pPr marL="228600" lvl="0" indent="-228600" algn="l" rtl="0">
              <a:lnSpc>
                <a:spcPct val="120000"/>
              </a:lnSpc>
              <a:spcBef>
                <a:spcPts val="1000"/>
              </a:spcBef>
              <a:spcAft>
                <a:spcPts val="0"/>
              </a:spcAft>
              <a:buSzPts val="2000"/>
              <a:buChar char="•"/>
            </a:pPr>
            <a:r>
              <a:rPr lang="en-US" b="0" i="0" u="none" strike="noStrike">
                <a:latin typeface="Arial"/>
                <a:ea typeface="Arial"/>
                <a:cs typeface="Arial"/>
                <a:sym typeface="Arial"/>
              </a:rPr>
              <a:t>Lasso Regression</a:t>
            </a:r>
            <a:endParaRPr b="0" i="0">
              <a:latin typeface="Arial"/>
              <a:ea typeface="Arial"/>
              <a:cs typeface="Arial"/>
              <a:sym typeface="Arial"/>
            </a:endParaRPr>
          </a:p>
          <a:p>
            <a:pPr marL="0" lvl="0" indent="0" algn="l" rtl="0">
              <a:lnSpc>
                <a:spcPct val="120000"/>
              </a:lnSpc>
              <a:spcBef>
                <a:spcPts val="1000"/>
              </a:spcBef>
              <a:spcAft>
                <a:spcPts val="0"/>
              </a:spcAft>
              <a:buSzPts val="2000"/>
              <a:buNone/>
            </a:pPr>
            <a:endParaRPr/>
          </a:p>
        </p:txBody>
      </p:sp>
      <p:sp>
        <p:nvSpPr>
          <p:cNvPr id="390" name="Google Shape;390;p45"/>
          <p:cNvSpPr txBox="1"/>
          <p:nvPr/>
        </p:nvSpPr>
        <p:spPr>
          <a:xfrm>
            <a:off x="1036163" y="4976634"/>
            <a:ext cx="1125639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sng">
                <a:solidFill>
                  <a:schemeClr val="dk1"/>
                </a:solidFill>
                <a:latin typeface="Gill Sans"/>
                <a:ea typeface="Gill Sans"/>
                <a:cs typeface="Gill Sans"/>
                <a:sym typeface="Gill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https://www.youtube.com/watch?v=OFyyWcw2cyM</a:t>
            </a: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800" u="sng">
                <a:solidFill>
                  <a:schemeClr val="dk1"/>
                </a:solidFill>
                <a:latin typeface="Gill Sans"/>
                <a:ea typeface="Gill Sans"/>
                <a:cs typeface="Gill Sans"/>
                <a:sym typeface="Gill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https://github.com/krishnaik06/Dimesnsionality-Reduction/blob/master/01-Principal%20Component%20Analysis.ipynb</a:t>
            </a: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46"/>
          <p:cNvSpPr txBox="1">
            <a:spLocks noGrp="1"/>
          </p:cNvSpPr>
          <p:nvPr>
            <p:ph type="title"/>
          </p:nvPr>
        </p:nvSpPr>
        <p:spPr>
          <a:xfrm>
            <a:off x="1294361" y="312150"/>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sz="3600" b="1">
                <a:latin typeface="Calibri"/>
                <a:ea typeface="Calibri"/>
                <a:cs typeface="Calibri"/>
                <a:sym typeface="Calibri"/>
              </a:rPr>
              <a:t>PRACTICAL SESSION OF WEKA SOFTWARE FOR DATA MINING ON IRIS DATASET</a:t>
            </a:r>
            <a:endParaRPr sz="3600" b="1"/>
          </a:p>
        </p:txBody>
      </p:sp>
      <p:pic>
        <p:nvPicPr>
          <p:cNvPr id="396" name="Google Shape;396;p46"/>
          <p:cNvPicPr preferRelativeResize="0">
            <a:picLocks noGrp="1"/>
          </p:cNvPicPr>
          <p:nvPr>
            <p:ph type="body" idx="1"/>
          </p:nvPr>
        </p:nvPicPr>
        <p:blipFill rotWithShape="1">
          <a:blip r:embed="rId3">
            <a:alphaModFix/>
          </a:blip>
          <a:srcRect/>
          <a:stretch/>
        </p:blipFill>
        <p:spPr>
          <a:xfrm>
            <a:off x="2603620" y="1361385"/>
            <a:ext cx="6647135" cy="435133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WEKA – IRIS ARFF FILE AND CLASSIFICATION </a:t>
            </a:r>
            <a:endParaRPr/>
          </a:p>
        </p:txBody>
      </p:sp>
      <p:pic>
        <p:nvPicPr>
          <p:cNvPr id="402" name="Google Shape;402;p47"/>
          <p:cNvPicPr preferRelativeResize="0">
            <a:picLocks noGrp="1"/>
          </p:cNvPicPr>
          <p:nvPr>
            <p:ph type="body" idx="1"/>
          </p:nvPr>
        </p:nvPicPr>
        <p:blipFill rotWithShape="1">
          <a:blip r:embed="rId3">
            <a:alphaModFix/>
          </a:blip>
          <a:srcRect/>
          <a:stretch/>
        </p:blipFill>
        <p:spPr>
          <a:xfrm>
            <a:off x="504470" y="1869796"/>
            <a:ext cx="5591530" cy="3858738"/>
          </a:xfrm>
          <a:prstGeom prst="rect">
            <a:avLst/>
          </a:prstGeom>
          <a:noFill/>
          <a:ln>
            <a:noFill/>
          </a:ln>
        </p:spPr>
      </p:pic>
      <p:pic>
        <p:nvPicPr>
          <p:cNvPr id="403" name="Google Shape;403;p47"/>
          <p:cNvPicPr preferRelativeResize="0"/>
          <p:nvPr/>
        </p:nvPicPr>
        <p:blipFill rotWithShape="1">
          <a:blip r:embed="rId4">
            <a:alphaModFix/>
          </a:blip>
          <a:srcRect/>
          <a:stretch/>
        </p:blipFill>
        <p:spPr>
          <a:xfrm>
            <a:off x="6253216" y="1659280"/>
            <a:ext cx="5486883" cy="4279769"/>
          </a:xfrm>
          <a:prstGeom prst="rect">
            <a:avLst/>
          </a:prstGeom>
          <a:noFill/>
          <a:ln>
            <a:noFill/>
          </a:ln>
        </p:spPr>
      </p:pic>
    </p:spTree>
  </p:cSld>
  <p:clrMapOvr>
    <a:masterClrMapping/>
  </p:clrMapOvr>
</p:sld>
</file>

<file path=ppt/theme/theme1.xml><?xml version="1.0" encoding="utf-8"?>
<a:theme xmlns:a="http://schemas.openxmlformats.org/drawingml/2006/main" name="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2471</Words>
  <PresentationFormat>Custom</PresentationFormat>
  <Paragraphs>270</Paragraphs>
  <Slides>47</Slides>
  <Notes>47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Gill Sans</vt:lpstr>
      <vt:lpstr>Georgia</vt:lpstr>
      <vt:lpstr>Gill Sans MT</vt:lpstr>
      <vt:lpstr>Calibri</vt:lpstr>
      <vt:lpstr>Helvetica Neue</vt:lpstr>
      <vt:lpstr>Montserrat</vt:lpstr>
      <vt:lpstr>Gallery</vt:lpstr>
      <vt:lpstr>EXPLORING (&amp; PLOTTING) NUMERICAL AND CATEGORICAL DATA </vt:lpstr>
      <vt:lpstr>BOX PLOTS</vt:lpstr>
      <vt:lpstr>BOX PLOTS</vt:lpstr>
      <vt:lpstr>LOWER WHISKER       BOX PLOTS</vt:lpstr>
      <vt:lpstr>UPPER WHISKER       BOX PLOTS</vt:lpstr>
      <vt:lpstr>BOX PLOT OF AUTO MPG ATTRIBUTES</vt:lpstr>
      <vt:lpstr>FREQUENCY OF “CYLINDERS” ATTRIBUTE</vt:lpstr>
      <vt:lpstr>ANALYSING BOXPLOT OF CYLINDERS</vt:lpstr>
      <vt:lpstr>HISTOGRAM</vt:lpstr>
      <vt:lpstr>DIFFERENT SHAPES OF HISTOGRAMS DEPENDING ON THE NATURE OF THE DATA, E.G. SKEWNESS</vt:lpstr>
      <vt:lpstr>HISTOGRAM AUTO MPG ATTRIBUTES</vt:lpstr>
      <vt:lpstr>HISTOGRAM OF ACCELERATION</vt:lpstr>
      <vt:lpstr>Slide 13</vt:lpstr>
      <vt:lpstr>EXPLORING CATEGORICAL DATA</vt:lpstr>
      <vt:lpstr>EXPLORING CATEGORICAL DATA</vt:lpstr>
      <vt:lpstr>EXPLORING CATEGORICAL DATA</vt:lpstr>
      <vt:lpstr>EXPLORING CATEGORICAL DATA</vt:lpstr>
      <vt:lpstr>MODE: CATEGORICAL ATTRIBUTES</vt:lpstr>
      <vt:lpstr>EXPLORING RELATIONSHIP BETWEEN VARIABLES</vt:lpstr>
      <vt:lpstr>SCATTER PLOT OF ‘DISPLACEMENT’ AND ‘MPG’</vt:lpstr>
      <vt:lpstr>TWO-WAY CROSS-TABULATIONS</vt:lpstr>
      <vt:lpstr>Slide 22</vt:lpstr>
      <vt:lpstr>CROSS-TABS</vt:lpstr>
      <vt:lpstr>CROSS-TAB</vt:lpstr>
      <vt:lpstr>DATA QUALITY AND REMEDIATION</vt:lpstr>
      <vt:lpstr>HANDLING OUTLIERS</vt:lpstr>
      <vt:lpstr>HANDLING MISSING VALUES</vt:lpstr>
      <vt:lpstr>HANDLING MISSING VALUES</vt:lpstr>
      <vt:lpstr>POPULAR DATASETS</vt:lpstr>
      <vt:lpstr>DATA MATRIX</vt:lpstr>
      <vt:lpstr>Schematic representation of a Data Matrix </vt:lpstr>
      <vt:lpstr>GRAPH DATA</vt:lpstr>
      <vt:lpstr>GRAPH BASED DATA MINING</vt:lpstr>
      <vt:lpstr>DOCUMENT TERM MATRIX</vt:lpstr>
      <vt:lpstr>DOCUMENT TERM MATRIX - EXAMPLE</vt:lpstr>
      <vt:lpstr>SEQUENTIAL DATA</vt:lpstr>
      <vt:lpstr>SPARSE DATA MATRIX</vt:lpstr>
      <vt:lpstr>  WHAT IS HIGH DIMENSIONAL DATA?    </vt:lpstr>
      <vt:lpstr>WHAT IS NOT HIGH DIMENSIONALITY</vt:lpstr>
      <vt:lpstr>WHY IS HIGH DIMENSIONAL DATA A PROBLEM? </vt:lpstr>
      <vt:lpstr>EXAMPLES OF HIGH DIMENSIONAL DATA EXAMPLE 1: HEALTHCARE DATA  </vt:lpstr>
      <vt:lpstr>EXAMPLES OF HIGH DIMENSIONAL DATA EXAMPLE 2: FINANCIAL DATA  </vt:lpstr>
      <vt:lpstr>ISSUES WITH HIGH-DIMENSIONAL DATA (THE CURSE OF DIMENSIONALITY)</vt:lpstr>
      <vt:lpstr>HOW TO HANDLE HIGH DIMENSIONAL DATA </vt:lpstr>
      <vt:lpstr>HOW TO HANDLE HIGH DIMENSIONAL DATA</vt:lpstr>
      <vt:lpstr>PRACTICAL SESSION OF WEKA SOFTWARE FOR DATA MINING ON IRIS DATASET</vt:lpstr>
      <vt:lpstr>WEKA – IRIS ARFF FILE AND CLASSIFICATION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EXPLORING (&amp; PLOTTING) NUMERICAL AND CATEGORICAL DATA </dc:title>
  <dc:creator>Lenovo</dc:creator>
  <cp:lastModifiedBy>Student</cp:lastModifiedBy>
  <cp:revision>1</cp:revision>
  <dcterms:created xsi:type="dcterms:W3CDTF">2021-03-09T05:04:32Z</dcterms:created>
  <dcterms:modified xsi:type="dcterms:W3CDTF">2025-08-25T07:29:45Z</dcterms:modified>
</cp:coreProperties>
</file>