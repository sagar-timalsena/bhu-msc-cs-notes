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25"/>
  </p:notesMasterIdLst>
  <p:sldIdLst>
    <p:sldId id="256" r:id="rId2"/>
    <p:sldId id="264" r:id="rId3"/>
    <p:sldId id="265" r:id="rId4"/>
    <p:sldId id="257" r:id="rId5"/>
    <p:sldId id="258" r:id="rId6"/>
    <p:sldId id="276" r:id="rId7"/>
    <p:sldId id="325" r:id="rId8"/>
    <p:sldId id="327" r:id="rId9"/>
    <p:sldId id="328" r:id="rId10"/>
    <p:sldId id="326" r:id="rId11"/>
    <p:sldId id="290" r:id="rId12"/>
    <p:sldId id="329" r:id="rId13"/>
    <p:sldId id="324" r:id="rId14"/>
    <p:sldId id="259" r:id="rId15"/>
    <p:sldId id="297" r:id="rId16"/>
    <p:sldId id="260" r:id="rId17"/>
    <p:sldId id="261" r:id="rId18"/>
    <p:sldId id="262" r:id="rId19"/>
    <p:sldId id="263" r:id="rId20"/>
    <p:sldId id="295" r:id="rId21"/>
    <p:sldId id="298" r:id="rId22"/>
    <p:sldId id="299" r:id="rId23"/>
    <p:sldId id="300" r:id="rId24"/>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73" roundtripDataSignature="AMtx7mgn0jOvg3hla2t59Mt3ZqO9hOiUq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628A026D-4CC2-4EBE-A18E-F3CC7BA11F84}">
  <a:tblStyle styleId="{628A026D-4CC2-4EBE-A18E-F3CC7BA11F84}"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83" d="100"/>
          <a:sy n="83" d="100"/>
        </p:scale>
        <p:origin x="408"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76"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75"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7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10" Type="http://schemas.openxmlformats.org/officeDocument/2006/relationships/slide" Target="slides/slide9.xml"/><Relationship Id="rId19" Type="http://schemas.openxmlformats.org/officeDocument/2006/relationships/slide" Target="slides/slide18.xml"/><Relationship Id="rId73" Type="http://customschemas.google.com/relationships/presentationmetadata" Target="metadata"/><Relationship Id="rId78"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77"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njari Gupta" userId="3b377422717859a0" providerId="LiveId" clId="{C83FF257-21DA-4A2F-9612-9FAFF8EB38B1}"/>
    <pc:docChg chg="custSel modSld">
      <pc:chgData name="Manjari Gupta" userId="3b377422717859a0" providerId="LiveId" clId="{C83FF257-21DA-4A2F-9612-9FAFF8EB38B1}" dt="2025-08-28T17:54:32.812" v="18" actId="20577"/>
      <pc:docMkLst>
        <pc:docMk/>
      </pc:docMkLst>
      <pc:sldChg chg="modSp mod">
        <pc:chgData name="Manjari Gupta" userId="3b377422717859a0" providerId="LiveId" clId="{C83FF257-21DA-4A2F-9612-9FAFF8EB38B1}" dt="2025-08-28T17:53:38.204" v="7" actId="27636"/>
        <pc:sldMkLst>
          <pc:docMk/>
          <pc:sldMk cId="1225550657" sldId="298"/>
        </pc:sldMkLst>
        <pc:spChg chg="mod">
          <ac:chgData name="Manjari Gupta" userId="3b377422717859a0" providerId="LiveId" clId="{C83FF257-21DA-4A2F-9612-9FAFF8EB38B1}" dt="2025-08-28T17:53:38.204" v="7" actId="27636"/>
          <ac:spMkLst>
            <pc:docMk/>
            <pc:sldMk cId="1225550657" sldId="298"/>
            <ac:spMk id="361" creationId="{00000000-0000-0000-0000-000000000000}"/>
          </ac:spMkLst>
        </pc:spChg>
      </pc:sldChg>
      <pc:sldChg chg="modSp mod">
        <pc:chgData name="Manjari Gupta" userId="3b377422717859a0" providerId="LiveId" clId="{C83FF257-21DA-4A2F-9612-9FAFF8EB38B1}" dt="2025-08-28T17:51:51.153" v="5" actId="20577"/>
        <pc:sldMkLst>
          <pc:docMk/>
          <pc:sldMk cId="3644258596" sldId="299"/>
        </pc:sldMkLst>
        <pc:spChg chg="mod">
          <ac:chgData name="Manjari Gupta" userId="3b377422717859a0" providerId="LiveId" clId="{C83FF257-21DA-4A2F-9612-9FAFF8EB38B1}" dt="2025-08-28T17:51:51.153" v="5" actId="20577"/>
          <ac:spMkLst>
            <pc:docMk/>
            <pc:sldMk cId="3644258596" sldId="299"/>
            <ac:spMk id="367" creationId="{00000000-0000-0000-0000-000000000000}"/>
          </ac:spMkLst>
        </pc:spChg>
      </pc:sldChg>
      <pc:sldChg chg="modSp mod">
        <pc:chgData name="Manjari Gupta" userId="3b377422717859a0" providerId="LiveId" clId="{C83FF257-21DA-4A2F-9612-9FAFF8EB38B1}" dt="2025-08-28T17:54:32.812" v="18" actId="20577"/>
        <pc:sldMkLst>
          <pc:docMk/>
          <pc:sldMk cId="3060366059" sldId="300"/>
        </pc:sldMkLst>
        <pc:spChg chg="mod">
          <ac:chgData name="Manjari Gupta" userId="3b377422717859a0" providerId="LiveId" clId="{C83FF257-21DA-4A2F-9612-9FAFF8EB38B1}" dt="2025-08-28T17:54:32.812" v="18" actId="20577"/>
          <ac:spMkLst>
            <pc:docMk/>
            <pc:sldMk cId="3060366059" sldId="300"/>
            <ac:spMk id="372" creationId="{00000000-0000-0000-0000-000000000000}"/>
          </ac:spMkLst>
        </pc:spChg>
        <pc:spChg chg="mod">
          <ac:chgData name="Manjari Gupta" userId="3b377422717859a0" providerId="LiveId" clId="{C83FF257-21DA-4A2F-9612-9FAFF8EB38B1}" dt="2025-08-28T17:49:09.986" v="3" actId="20577"/>
          <ac:spMkLst>
            <pc:docMk/>
            <pc:sldMk cId="3060366059" sldId="300"/>
            <ac:spMk id="373"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 name="Google Shape;82;p1: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0" name="Google Shape;110;p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32333144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p:cNvGrpSpPr/>
        <p:nvPr/>
      </p:nvGrpSpPr>
      <p:grpSpPr>
        <a:xfrm>
          <a:off x="0" y="0"/>
          <a:ext cx="0" cy="0"/>
          <a:chOff x="0" y="0"/>
          <a:chExt cx="0" cy="0"/>
        </a:xfrm>
      </p:grpSpPr>
      <p:sp>
        <p:nvSpPr>
          <p:cNvPr id="115" name="Google Shape;115;p10: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6" name="Google Shape;116;p1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76975227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
        <p:cNvGrpSpPr/>
        <p:nvPr/>
      </p:nvGrpSpPr>
      <p:grpSpPr>
        <a:xfrm>
          <a:off x="0" y="0"/>
          <a:ext cx="0" cy="0"/>
          <a:chOff x="0" y="0"/>
          <a:chExt cx="0" cy="0"/>
        </a:xfrm>
      </p:grpSpPr>
      <p:sp>
        <p:nvSpPr>
          <p:cNvPr id="64" name="Google Shape;64;g317c76c1d4d_0_6: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5" name="Google Shape;65;g317c76c1d4d_0_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
        <p:cNvGrpSpPr/>
        <p:nvPr/>
      </p:nvGrpSpPr>
      <p:grpSpPr>
        <a:xfrm>
          <a:off x="0" y="0"/>
          <a:ext cx="0" cy="0"/>
          <a:chOff x="0" y="0"/>
          <a:chExt cx="0" cy="0"/>
        </a:xfrm>
      </p:grpSpPr>
      <p:sp>
        <p:nvSpPr>
          <p:cNvPr id="70" name="Google Shape;70;g317c76c1d4d_0_11: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1" name="Google Shape;71;g317c76c1d4d_0_1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0"/>
        <p:cNvGrpSpPr/>
        <p:nvPr/>
      </p:nvGrpSpPr>
      <p:grpSpPr>
        <a:xfrm>
          <a:off x="0" y="0"/>
          <a:ext cx="0" cy="0"/>
          <a:chOff x="0" y="0"/>
          <a:chExt cx="0" cy="0"/>
        </a:xfrm>
      </p:grpSpPr>
      <p:sp>
        <p:nvSpPr>
          <p:cNvPr id="211" name="Google Shape;211;p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12" name="Google Shape;212;p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6"/>
        <p:cNvGrpSpPr/>
        <p:nvPr/>
      </p:nvGrpSpPr>
      <p:grpSpPr>
        <a:xfrm>
          <a:off x="0" y="0"/>
          <a:ext cx="0" cy="0"/>
          <a:chOff x="0" y="0"/>
          <a:chExt cx="0" cy="0"/>
        </a:xfrm>
      </p:grpSpPr>
      <p:sp>
        <p:nvSpPr>
          <p:cNvPr id="307" name="Google Shape;307;p3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8" name="Google Shape;308;p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5396656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
        <p:cNvGrpSpPr/>
        <p:nvPr/>
      </p:nvGrpSpPr>
      <p:grpSpPr>
        <a:xfrm>
          <a:off x="0" y="0"/>
          <a:ext cx="0" cy="0"/>
          <a:chOff x="0" y="0"/>
          <a:chExt cx="0" cy="0"/>
        </a:xfrm>
      </p:grpSpPr>
      <p:sp>
        <p:nvSpPr>
          <p:cNvPr id="77" name="Google Shape;77;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8" name="Google Shape;78;p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9"/>
        <p:cNvGrpSpPr/>
        <p:nvPr/>
      </p:nvGrpSpPr>
      <p:grpSpPr>
        <a:xfrm>
          <a:off x="0" y="0"/>
          <a:ext cx="0" cy="0"/>
          <a:chOff x="0" y="0"/>
          <a:chExt cx="0" cy="0"/>
        </a:xfrm>
      </p:grpSpPr>
      <p:sp>
        <p:nvSpPr>
          <p:cNvPr id="350" name="Google Shape;350;p4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51" name="Google Shape;351;p4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158710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
        <p:cNvGrpSpPr/>
        <p:nvPr/>
      </p:nvGrpSpPr>
      <p:grpSpPr>
        <a:xfrm>
          <a:off x="0" y="0"/>
          <a:ext cx="0" cy="0"/>
          <a:chOff x="0" y="0"/>
          <a:chExt cx="0" cy="0"/>
        </a:xfrm>
      </p:grpSpPr>
      <p:sp>
        <p:nvSpPr>
          <p:cNvPr id="83" name="Google Shape;83;p5: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4" name="Google Shape;84;p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
        <p:cNvGrpSpPr/>
        <p:nvPr/>
      </p:nvGrpSpPr>
      <p:grpSpPr>
        <a:xfrm>
          <a:off x="0" y="0"/>
          <a:ext cx="0" cy="0"/>
          <a:chOff x="0" y="0"/>
          <a:chExt cx="0" cy="0"/>
        </a:xfrm>
      </p:grpSpPr>
      <p:sp>
        <p:nvSpPr>
          <p:cNvPr id="89" name="Google Shape;89;p6: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0" name="Google Shape;90;p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6" name="Google Shape;96;p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
        <p:cNvGrpSpPr/>
        <p:nvPr/>
      </p:nvGrpSpPr>
      <p:grpSpPr>
        <a:xfrm>
          <a:off x="0" y="0"/>
          <a:ext cx="0" cy="0"/>
          <a:chOff x="0" y="0"/>
          <a:chExt cx="0" cy="0"/>
        </a:xfrm>
      </p:grpSpPr>
      <p:sp>
        <p:nvSpPr>
          <p:cNvPr id="103" name="Google Shape;103;p8: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4" name="Google Shape;104;p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6"/>
        <p:cNvGrpSpPr/>
        <p:nvPr/>
      </p:nvGrpSpPr>
      <p:grpSpPr>
        <a:xfrm>
          <a:off x="0" y="0"/>
          <a:ext cx="0" cy="0"/>
          <a:chOff x="0" y="0"/>
          <a:chExt cx="0" cy="0"/>
        </a:xfrm>
      </p:grpSpPr>
      <p:sp>
        <p:nvSpPr>
          <p:cNvPr id="337" name="Google Shape;337;p3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38" name="Google Shape;338;p3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7308373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6"/>
        <p:cNvGrpSpPr/>
        <p:nvPr/>
      </p:nvGrpSpPr>
      <p:grpSpPr>
        <a:xfrm>
          <a:off x="0" y="0"/>
          <a:ext cx="0" cy="0"/>
          <a:chOff x="0" y="0"/>
          <a:chExt cx="0" cy="0"/>
        </a:xfrm>
      </p:grpSpPr>
      <p:sp>
        <p:nvSpPr>
          <p:cNvPr id="357" name="Google Shape;357;p4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58" name="Google Shape;358;p4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24020200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2"/>
        <p:cNvGrpSpPr/>
        <p:nvPr/>
      </p:nvGrpSpPr>
      <p:grpSpPr>
        <a:xfrm>
          <a:off x="0" y="0"/>
          <a:ext cx="0" cy="0"/>
          <a:chOff x="0" y="0"/>
          <a:chExt cx="0" cy="0"/>
        </a:xfrm>
      </p:grpSpPr>
      <p:sp>
        <p:nvSpPr>
          <p:cNvPr id="363" name="Google Shape;363;p4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64" name="Google Shape;364;p4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14562490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8"/>
        <p:cNvGrpSpPr/>
        <p:nvPr/>
      </p:nvGrpSpPr>
      <p:grpSpPr>
        <a:xfrm>
          <a:off x="0" y="0"/>
          <a:ext cx="0" cy="0"/>
          <a:chOff x="0" y="0"/>
          <a:chExt cx="0" cy="0"/>
        </a:xfrm>
      </p:grpSpPr>
      <p:sp>
        <p:nvSpPr>
          <p:cNvPr id="369" name="Google Shape;369;p4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70" name="Google Shape;370;p4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59648508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1"/>
        <p:cNvGrpSpPr/>
        <p:nvPr/>
      </p:nvGrpSpPr>
      <p:grpSpPr>
        <a:xfrm>
          <a:off x="0" y="0"/>
          <a:ext cx="0" cy="0"/>
          <a:chOff x="0" y="0"/>
          <a:chExt cx="0" cy="0"/>
        </a:xfrm>
      </p:grpSpPr>
      <p:sp>
        <p:nvSpPr>
          <p:cNvPr id="12" name="Google Shape;12;p68"/>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3" name="Google Shape;13;p68"/>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4" name="Google Shape;14;p6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5" name="Google Shape;15;p6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6" name="Google Shape;16;p6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69"/>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69"/>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6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6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6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70"/>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70"/>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7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7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7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7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71"/>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71"/>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7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7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7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72"/>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72"/>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72"/>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72"/>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72"/>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7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7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7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7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7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7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7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7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7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7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75"/>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75"/>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75"/>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7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7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7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76"/>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76"/>
          <p:cNvSpPr>
            <a:spLocks noGrp="1"/>
          </p:cNvSpPr>
          <p:nvPr>
            <p:ph type="pic" idx="2"/>
          </p:nvPr>
        </p:nvSpPr>
        <p:spPr>
          <a:xfrm>
            <a:off x="5183188" y="987425"/>
            <a:ext cx="6172200" cy="4873625"/>
          </a:xfrm>
          <a:prstGeom prst="rect">
            <a:avLst/>
          </a:prstGeom>
          <a:noFill/>
          <a:ln>
            <a:noFill/>
          </a:ln>
        </p:spPr>
      </p:sp>
      <p:sp>
        <p:nvSpPr>
          <p:cNvPr id="64" name="Google Shape;64;p76"/>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7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7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7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7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77"/>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7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7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7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78"/>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78"/>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7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7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7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6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67"/>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6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6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6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Google Shape;84;p1"/>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p>
            <a:pPr marL="0" lvl="0" indent="0" algn="ctr" rtl="0">
              <a:lnSpc>
                <a:spcPct val="90000"/>
              </a:lnSpc>
              <a:spcBef>
                <a:spcPts val="0"/>
              </a:spcBef>
              <a:spcAft>
                <a:spcPts val="0"/>
              </a:spcAft>
              <a:buClr>
                <a:schemeClr val="dk1"/>
              </a:buClr>
              <a:buSzPts val="6000"/>
              <a:buFont typeface="Calibri"/>
              <a:buNone/>
            </a:pPr>
            <a:r>
              <a:rPr lang="en-US"/>
              <a:t>Multiple Linear Regression</a:t>
            </a:r>
            <a:endParaRPr/>
          </a:p>
        </p:txBody>
      </p:sp>
      <p:sp>
        <p:nvSpPr>
          <p:cNvPr id="85" name="Google Shape;85;p1"/>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Clr>
                <a:schemeClr val="dk1"/>
              </a:buClr>
              <a:buSzPts val="2400"/>
              <a:buNone/>
            </a:pP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11"/>
        <p:cNvGrpSpPr/>
        <p:nvPr/>
      </p:nvGrpSpPr>
      <p:grpSpPr>
        <a:xfrm>
          <a:off x="0" y="0"/>
          <a:ext cx="0" cy="0"/>
          <a:chOff x="0" y="0"/>
          <a:chExt cx="0" cy="0"/>
        </a:xfrm>
      </p:grpSpPr>
      <p:sp>
        <p:nvSpPr>
          <p:cNvPr id="112" name="Google Shape;112;p9"/>
          <p:cNvSpPr txBox="1">
            <a:spLocks noGrp="1"/>
          </p:cNvSpPr>
          <p:nvPr>
            <p:ph type="title"/>
          </p:nvPr>
        </p:nvSpPr>
        <p:spPr>
          <a:xfrm>
            <a:off x="838200" y="365125"/>
            <a:ext cx="10515600" cy="1325600"/>
          </a:xfrm>
          <a:prstGeom prst="rect">
            <a:avLst/>
          </a:prstGeom>
          <a:noFill/>
          <a:ln>
            <a:noFill/>
          </a:ln>
        </p:spPr>
        <p:txBody>
          <a:bodyPr spcFirstLastPara="1" wrap="square" lIns="91433" tIns="45700" rIns="91433" bIns="45700" anchor="ctr" anchorCtr="0">
            <a:normAutofit/>
          </a:bodyPr>
          <a:lstStyle/>
          <a:p>
            <a:pPr>
              <a:buSzPts val="1400"/>
            </a:pPr>
            <a:r>
              <a:rPr lang="en"/>
              <a:t>Confounding vars</a:t>
            </a:r>
            <a:endParaRPr/>
          </a:p>
        </p:txBody>
      </p:sp>
      <p:sp>
        <p:nvSpPr>
          <p:cNvPr id="113" name="Google Shape;113;p9"/>
          <p:cNvSpPr txBox="1">
            <a:spLocks noGrp="1"/>
          </p:cNvSpPr>
          <p:nvPr>
            <p:ph type="body" idx="1"/>
          </p:nvPr>
        </p:nvSpPr>
        <p:spPr>
          <a:xfrm>
            <a:off x="838200" y="1825625"/>
            <a:ext cx="10515600" cy="4351200"/>
          </a:xfrm>
          <a:prstGeom prst="rect">
            <a:avLst/>
          </a:prstGeom>
          <a:noFill/>
          <a:ln>
            <a:noFill/>
          </a:ln>
        </p:spPr>
        <p:txBody>
          <a:bodyPr spcFirstLastPara="1" wrap="square" lIns="91433" tIns="45700" rIns="91433" bIns="45700" anchor="t" anchorCtr="0">
            <a:normAutofit fontScale="92500" lnSpcReduction="20000"/>
          </a:bodyPr>
          <a:lstStyle/>
          <a:p>
            <a:pPr marL="228600" indent="-228600">
              <a:spcBef>
                <a:spcPts val="0"/>
              </a:spcBef>
              <a:buSzPts val="2800"/>
            </a:pPr>
            <a:r>
              <a:rPr lang="en-US" dirty="0">
                <a:latin typeface="+mn-lt"/>
                <a:ea typeface="Arial"/>
                <a:cs typeface="Arial"/>
                <a:sym typeface="Arial"/>
              </a:rPr>
              <a:t>A confounding variable is a variable that is related to both the independent variable and the dependent variable, and can potentially affect the observed relationship between them. </a:t>
            </a:r>
          </a:p>
          <a:p>
            <a:pPr marL="228600" lvl="0" indent="-228600">
              <a:buSzPts val="2800"/>
            </a:pPr>
            <a:r>
              <a:rPr lang="en-US" dirty="0">
                <a:latin typeface="+mn-lt"/>
                <a:ea typeface="Arial"/>
                <a:cs typeface="Arial"/>
                <a:sym typeface="Arial"/>
              </a:rPr>
              <a:t>For example</a:t>
            </a:r>
          </a:p>
          <a:p>
            <a:pPr marL="685800" lvl="1" indent="-228600">
              <a:spcBef>
                <a:spcPts val="1000"/>
              </a:spcBef>
              <a:buSzPts val="2800"/>
            </a:pPr>
            <a:r>
              <a:rPr lang="en-US" dirty="0">
                <a:latin typeface="+mn-lt"/>
                <a:ea typeface="Arial"/>
                <a:cs typeface="Arial"/>
                <a:sym typeface="Arial"/>
              </a:rPr>
              <a:t>in a study examining the effect of a new drug on blood pressure, </a:t>
            </a:r>
          </a:p>
          <a:p>
            <a:pPr marL="1143000" lvl="2" indent="-228600">
              <a:spcBef>
                <a:spcPts val="1000"/>
              </a:spcBef>
              <a:buSzPts val="2800"/>
            </a:pPr>
            <a:r>
              <a:rPr lang="en-US" dirty="0">
                <a:latin typeface="+mn-lt"/>
                <a:ea typeface="Arial"/>
                <a:cs typeface="Arial"/>
                <a:sym typeface="Arial"/>
              </a:rPr>
              <a:t>age may be a confounding variable because it is related to both the drug and blood pressure. </a:t>
            </a:r>
            <a:endParaRPr lang="en-US" sz="2800" dirty="0">
              <a:latin typeface="+mn-lt"/>
              <a:ea typeface="Arial"/>
              <a:cs typeface="Arial"/>
              <a:sym typeface="Arial"/>
            </a:endParaRPr>
          </a:p>
          <a:p>
            <a:pPr marL="685800" lvl="1" indent="-228600">
              <a:buSzPts val="2800"/>
            </a:pPr>
            <a:r>
              <a:rPr lang="en" dirty="0">
                <a:latin typeface="+mn-lt"/>
              </a:rPr>
              <a:t>To</a:t>
            </a:r>
            <a:r>
              <a:rPr lang="en" dirty="0">
                <a:latin typeface="+mn-lt"/>
                <a:ea typeface="Arial"/>
                <a:cs typeface="Arial"/>
                <a:sym typeface="Arial"/>
              </a:rPr>
              <a:t> study the effect of exercise on weight loss</a:t>
            </a:r>
            <a:r>
              <a:rPr lang="en" sz="2933" dirty="0">
                <a:latin typeface="+mn-lt"/>
              </a:rPr>
              <a:t>,</a:t>
            </a:r>
            <a:r>
              <a:rPr lang="en" sz="2933" dirty="0">
                <a:latin typeface="+mn-lt"/>
                <a:ea typeface="Arial"/>
                <a:cs typeface="Arial"/>
                <a:sym typeface="Arial"/>
              </a:rPr>
              <a:t> </a:t>
            </a:r>
          </a:p>
          <a:p>
            <a:pPr marL="1143000" lvl="2" indent="-228600">
              <a:buSzPts val="2800"/>
            </a:pPr>
            <a:r>
              <a:rPr lang="en" sz="2100" dirty="0">
                <a:latin typeface="+mn-lt"/>
                <a:ea typeface="Arial"/>
                <a:cs typeface="Arial"/>
                <a:sym typeface="Arial"/>
              </a:rPr>
              <a:t>calorie may be a confounding var</a:t>
            </a:r>
          </a:p>
          <a:p>
            <a:pPr marL="1143000" lvl="2" indent="-228600">
              <a:buSzPts val="2800"/>
            </a:pPr>
            <a:r>
              <a:rPr lang="en" sz="2100" dirty="0">
                <a:latin typeface="+mn-lt"/>
                <a:ea typeface="Arial"/>
                <a:cs typeface="Arial"/>
                <a:sym typeface="Arial"/>
              </a:rPr>
              <a:t>If </a:t>
            </a:r>
            <a:r>
              <a:rPr lang="en" sz="2100" dirty="0">
                <a:latin typeface="+mn-lt"/>
              </a:rPr>
              <a:t>we </a:t>
            </a:r>
            <a:r>
              <a:rPr lang="en" sz="2100" dirty="0">
                <a:latin typeface="+mn-lt"/>
                <a:ea typeface="Arial"/>
                <a:cs typeface="Arial"/>
                <a:sym typeface="Arial"/>
              </a:rPr>
              <a:t>omit calorie intake, </a:t>
            </a:r>
            <a:r>
              <a:rPr lang="en" sz="2100" dirty="0">
                <a:latin typeface="+mn-lt"/>
              </a:rPr>
              <a:t>the </a:t>
            </a:r>
            <a:r>
              <a:rPr lang="en" sz="2100" dirty="0">
                <a:latin typeface="+mn-lt"/>
                <a:ea typeface="Arial"/>
                <a:cs typeface="Arial"/>
                <a:sym typeface="Arial"/>
              </a:rPr>
              <a:t>model might incorrectly attribute the effect of calorie intake (a confounder) to exercise. </a:t>
            </a:r>
          </a:p>
          <a:p>
            <a:pPr marL="1143000" lvl="2" indent="-228600">
              <a:buSzPts val="2800"/>
            </a:pPr>
            <a:r>
              <a:rPr lang="en" sz="2100" dirty="0">
                <a:latin typeface="+mn-lt"/>
                <a:ea typeface="Arial"/>
                <a:cs typeface="Arial"/>
                <a:sym typeface="Arial"/>
              </a:rPr>
              <a:t>In reality, both exercise and calorie intake influence weight loss, but calorie intake might be the stronger factor. </a:t>
            </a:r>
          </a:p>
          <a:p>
            <a:pPr marL="1143000" lvl="2" indent="-228600">
              <a:buSzPts val="2800"/>
            </a:pPr>
            <a:r>
              <a:rPr lang="en" sz="2100" dirty="0">
                <a:latin typeface="+mn-lt"/>
              </a:rPr>
              <a:t>Not considering </a:t>
            </a:r>
            <a:r>
              <a:rPr lang="en" sz="2100" dirty="0">
                <a:latin typeface="+mn-lt"/>
                <a:ea typeface="Arial"/>
                <a:cs typeface="Arial"/>
                <a:sym typeface="Arial"/>
              </a:rPr>
              <a:t>calorie intake can make it seem like exercise has a greater effect on weight loss than it actually does.</a:t>
            </a:r>
            <a:endParaRPr sz="2100" dirty="0">
              <a:latin typeface="+mn-lt"/>
              <a:ea typeface="Arial"/>
              <a:cs typeface="Arial"/>
              <a:sym typeface="Arial"/>
            </a:endParaRPr>
          </a:p>
        </p:txBody>
      </p:sp>
    </p:spTree>
    <p:extLst>
      <p:ext uri="{BB962C8B-B14F-4D97-AF65-F5344CB8AC3E}">
        <p14:creationId xmlns:p14="http://schemas.microsoft.com/office/powerpoint/2010/main" val="177288352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17"/>
        <p:cNvGrpSpPr/>
        <p:nvPr/>
      </p:nvGrpSpPr>
      <p:grpSpPr>
        <a:xfrm>
          <a:off x="0" y="0"/>
          <a:ext cx="0" cy="0"/>
          <a:chOff x="0" y="0"/>
          <a:chExt cx="0" cy="0"/>
        </a:xfrm>
      </p:grpSpPr>
      <p:sp>
        <p:nvSpPr>
          <p:cNvPr id="118" name="Google Shape;118;p10"/>
          <p:cNvSpPr txBox="1">
            <a:spLocks noGrp="1"/>
          </p:cNvSpPr>
          <p:nvPr>
            <p:ph type="title"/>
          </p:nvPr>
        </p:nvSpPr>
        <p:spPr>
          <a:xfrm>
            <a:off x="838200" y="365125"/>
            <a:ext cx="10515600" cy="1325600"/>
          </a:xfrm>
          <a:prstGeom prst="rect">
            <a:avLst/>
          </a:prstGeom>
          <a:noFill/>
          <a:ln>
            <a:noFill/>
          </a:ln>
        </p:spPr>
        <p:txBody>
          <a:bodyPr spcFirstLastPara="1" wrap="square" lIns="91433" tIns="45700" rIns="91433" bIns="45700" anchor="ctr" anchorCtr="0">
            <a:normAutofit/>
          </a:bodyPr>
          <a:lstStyle/>
          <a:p>
            <a:pPr>
              <a:buSzPts val="800"/>
            </a:pPr>
            <a:r>
              <a:rPr lang="en"/>
              <a:t>Mitigation</a:t>
            </a:r>
            <a:endParaRPr/>
          </a:p>
        </p:txBody>
      </p:sp>
      <p:sp>
        <p:nvSpPr>
          <p:cNvPr id="119" name="Google Shape;119;p10"/>
          <p:cNvSpPr txBox="1">
            <a:spLocks noGrp="1"/>
          </p:cNvSpPr>
          <p:nvPr>
            <p:ph type="body" idx="1"/>
          </p:nvPr>
        </p:nvSpPr>
        <p:spPr>
          <a:xfrm>
            <a:off x="838200" y="1825625"/>
            <a:ext cx="10515600" cy="4351200"/>
          </a:xfrm>
          <a:prstGeom prst="rect">
            <a:avLst/>
          </a:prstGeom>
          <a:noFill/>
          <a:ln>
            <a:noFill/>
          </a:ln>
        </p:spPr>
        <p:txBody>
          <a:bodyPr spcFirstLastPara="1" wrap="square" lIns="91433" tIns="45700" rIns="91433" bIns="45700" anchor="t" anchorCtr="0">
            <a:normAutofit/>
          </a:bodyPr>
          <a:lstStyle/>
          <a:p>
            <a:pPr marL="457189" indent="-355591">
              <a:spcBef>
                <a:spcPts val="1067"/>
              </a:spcBef>
              <a:buSzPts val="1600"/>
              <a:buFont typeface="Arial"/>
              <a:buChar char="●"/>
            </a:pPr>
            <a:r>
              <a:rPr lang="en" sz="2133" b="1">
                <a:latin typeface="Arial"/>
                <a:ea typeface="Arial"/>
                <a:cs typeface="Arial"/>
                <a:sym typeface="Arial"/>
              </a:rPr>
              <a:t>Include potential confounders in the regression model</a:t>
            </a:r>
            <a:endParaRPr sz="2133" b="1">
              <a:latin typeface="Arial"/>
              <a:ea typeface="Arial"/>
              <a:cs typeface="Arial"/>
              <a:sym typeface="Arial"/>
            </a:endParaRPr>
          </a:p>
          <a:p>
            <a:pPr marL="914377" lvl="1" indent="-355591">
              <a:spcBef>
                <a:spcPts val="0"/>
              </a:spcBef>
              <a:buSzPts val="1600"/>
              <a:buFont typeface="Arial"/>
              <a:buChar char="○"/>
            </a:pPr>
            <a:r>
              <a:rPr lang="en" sz="2133">
                <a:latin typeface="Arial"/>
                <a:ea typeface="Arial"/>
                <a:cs typeface="Arial"/>
                <a:sym typeface="Arial"/>
              </a:rPr>
              <a:t>This helps isolate the effect of the independent variable by controlling for other variables that might be influencing the outcome.</a:t>
            </a:r>
            <a:endParaRPr sz="2133">
              <a:latin typeface="Arial"/>
              <a:ea typeface="Arial"/>
              <a:cs typeface="Arial"/>
              <a:sym typeface="Arial"/>
            </a:endParaRPr>
          </a:p>
          <a:p>
            <a:pPr marL="457189" indent="-355591">
              <a:spcBef>
                <a:spcPts val="0"/>
              </a:spcBef>
              <a:buSzPts val="1600"/>
              <a:buFont typeface="Arial"/>
              <a:buChar char="●"/>
            </a:pPr>
            <a:r>
              <a:rPr lang="en" sz="2133" b="1">
                <a:latin typeface="Arial"/>
                <a:ea typeface="Arial"/>
                <a:cs typeface="Arial"/>
                <a:sym typeface="Arial"/>
              </a:rPr>
              <a:t>Use techniques like stratification or matching</a:t>
            </a:r>
            <a:endParaRPr sz="2133">
              <a:latin typeface="Arial"/>
              <a:ea typeface="Arial"/>
              <a:cs typeface="Arial"/>
              <a:sym typeface="Arial"/>
            </a:endParaRPr>
          </a:p>
          <a:p>
            <a:pPr marL="914377" lvl="1" indent="-355591">
              <a:spcBef>
                <a:spcPts val="0"/>
              </a:spcBef>
              <a:buSzPts val="1600"/>
              <a:buFont typeface="Arial"/>
              <a:buChar char="○"/>
            </a:pPr>
            <a:r>
              <a:rPr lang="en" sz="2133">
                <a:latin typeface="Arial"/>
                <a:ea typeface="Arial"/>
                <a:cs typeface="Arial"/>
                <a:sym typeface="Arial"/>
              </a:rPr>
              <a:t>In more complex scenarios, techniques like stratification (analyzing groups separately) or matching (comparing similar groups) can help reduce confounding.</a:t>
            </a:r>
            <a:endParaRPr sz="2133">
              <a:latin typeface="Arial"/>
              <a:ea typeface="Arial"/>
              <a:cs typeface="Arial"/>
              <a:sym typeface="Arial"/>
            </a:endParaRPr>
          </a:p>
          <a:p>
            <a:pPr marL="0" indent="0">
              <a:spcBef>
                <a:spcPts val="1600"/>
              </a:spcBef>
              <a:spcAft>
                <a:spcPts val="1600"/>
              </a:spcAft>
              <a:buSzPts val="1400"/>
              <a:buNone/>
            </a:pPr>
            <a:endParaRPr/>
          </a:p>
        </p:txBody>
      </p:sp>
    </p:spTree>
    <p:extLst>
      <p:ext uri="{BB962C8B-B14F-4D97-AF65-F5344CB8AC3E}">
        <p14:creationId xmlns:p14="http://schemas.microsoft.com/office/powerpoint/2010/main" val="87363675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66"/>
        <p:cNvGrpSpPr/>
        <p:nvPr/>
      </p:nvGrpSpPr>
      <p:grpSpPr>
        <a:xfrm>
          <a:off x="0" y="0"/>
          <a:ext cx="0" cy="0"/>
          <a:chOff x="0" y="0"/>
          <a:chExt cx="0" cy="0"/>
        </a:xfrm>
      </p:grpSpPr>
      <p:sp>
        <p:nvSpPr>
          <p:cNvPr id="67" name="Google Shape;67;p15"/>
          <p:cNvSpPr txBox="1">
            <a:spLocks noGrp="1"/>
          </p:cNvSpPr>
          <p:nvPr>
            <p:ph type="title"/>
          </p:nvPr>
        </p:nvSpPr>
        <p:spPr>
          <a:xfrm>
            <a:off x="838200" y="365125"/>
            <a:ext cx="10515600" cy="1325600"/>
          </a:xfrm>
          <a:prstGeom prst="rect">
            <a:avLst/>
          </a:prstGeom>
          <a:noFill/>
          <a:ln>
            <a:noFill/>
          </a:ln>
        </p:spPr>
        <p:txBody>
          <a:bodyPr spcFirstLastPara="1" wrap="square" lIns="91433" tIns="45700" rIns="91433" bIns="45700" anchor="ctr" anchorCtr="0">
            <a:normAutofit/>
          </a:bodyPr>
          <a:lstStyle/>
          <a:p>
            <a:pPr>
              <a:buSzPts val="1400"/>
            </a:pPr>
            <a:r>
              <a:rPr lang="en"/>
              <a:t>Stratification</a:t>
            </a:r>
            <a:endParaRPr/>
          </a:p>
        </p:txBody>
      </p:sp>
      <p:sp>
        <p:nvSpPr>
          <p:cNvPr id="68" name="Google Shape;68;p15"/>
          <p:cNvSpPr txBox="1">
            <a:spLocks noGrp="1"/>
          </p:cNvSpPr>
          <p:nvPr>
            <p:ph type="body" idx="1"/>
          </p:nvPr>
        </p:nvSpPr>
        <p:spPr>
          <a:xfrm>
            <a:off x="838200" y="1825625"/>
            <a:ext cx="10515600" cy="4351200"/>
          </a:xfrm>
          <a:prstGeom prst="rect">
            <a:avLst/>
          </a:prstGeom>
          <a:noFill/>
          <a:ln>
            <a:noFill/>
          </a:ln>
        </p:spPr>
        <p:txBody>
          <a:bodyPr spcFirstLastPara="1" wrap="square" lIns="91433" tIns="45700" rIns="91433" bIns="45700" anchor="t" anchorCtr="0">
            <a:normAutofit/>
          </a:bodyPr>
          <a:lstStyle/>
          <a:p>
            <a:pPr marL="457189" indent="-338658">
              <a:spcBef>
                <a:spcPts val="1067"/>
              </a:spcBef>
              <a:buSzPts val="1400"/>
              <a:buChar char="●"/>
            </a:pPr>
            <a:r>
              <a:rPr lang="en">
                <a:solidFill>
                  <a:schemeClr val="dk1"/>
                </a:solidFill>
              </a:rPr>
              <a:t>divide the data into subgroups, or "strata," based on the levels of a confounding variable. </a:t>
            </a:r>
            <a:endParaRPr>
              <a:solidFill>
                <a:schemeClr val="dk1"/>
              </a:solidFill>
            </a:endParaRPr>
          </a:p>
          <a:p>
            <a:pPr marL="457189" indent="-338658">
              <a:spcBef>
                <a:spcPts val="0"/>
              </a:spcBef>
              <a:buSzPts val="1400"/>
              <a:buChar char="●"/>
            </a:pPr>
            <a:r>
              <a:rPr lang="en">
                <a:solidFill>
                  <a:schemeClr val="dk1"/>
                </a:solidFill>
              </a:rPr>
              <a:t>examine relationship between the independent and dependent variable within each stratum</a:t>
            </a:r>
            <a:endParaRPr>
              <a:solidFill>
                <a:schemeClr val="dk1"/>
              </a:solidFill>
            </a:endParaRPr>
          </a:p>
          <a:p>
            <a:pPr marL="457189" indent="-338658">
              <a:spcBef>
                <a:spcPts val="0"/>
              </a:spcBef>
              <a:buSzPts val="1400"/>
              <a:buChar char="●"/>
            </a:pPr>
            <a:r>
              <a:rPr lang="en">
                <a:solidFill>
                  <a:schemeClr val="dk1"/>
                </a:solidFill>
              </a:rPr>
              <a:t>generalize the relationship by combining results</a:t>
            </a:r>
            <a:endParaRPr>
              <a:solidFill>
                <a:schemeClr val="dk1"/>
              </a:solidFill>
            </a:endParaRPr>
          </a:p>
          <a:p>
            <a:pPr marL="457189" indent="0">
              <a:spcBef>
                <a:spcPts val="1600"/>
              </a:spcBef>
              <a:spcAft>
                <a:spcPts val="1600"/>
              </a:spcAft>
              <a:buSzPts val="1400"/>
              <a:buNone/>
            </a:pPr>
            <a:endParaRPr>
              <a:solidFill>
                <a:schemeClr val="dk1"/>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2"/>
        <p:cNvGrpSpPr/>
        <p:nvPr/>
      </p:nvGrpSpPr>
      <p:grpSpPr>
        <a:xfrm>
          <a:off x="0" y="0"/>
          <a:ext cx="0" cy="0"/>
          <a:chOff x="0" y="0"/>
          <a:chExt cx="0" cy="0"/>
        </a:xfrm>
      </p:grpSpPr>
      <p:sp>
        <p:nvSpPr>
          <p:cNvPr id="73" name="Google Shape;73;p16"/>
          <p:cNvSpPr txBox="1">
            <a:spLocks noGrp="1"/>
          </p:cNvSpPr>
          <p:nvPr>
            <p:ph type="title"/>
          </p:nvPr>
        </p:nvSpPr>
        <p:spPr>
          <a:xfrm>
            <a:off x="838200" y="365125"/>
            <a:ext cx="10515600" cy="1325600"/>
          </a:xfrm>
          <a:prstGeom prst="rect">
            <a:avLst/>
          </a:prstGeom>
          <a:noFill/>
          <a:ln>
            <a:noFill/>
          </a:ln>
        </p:spPr>
        <p:txBody>
          <a:bodyPr spcFirstLastPara="1" wrap="square" lIns="91433" tIns="45700" rIns="91433" bIns="45700" anchor="ctr" anchorCtr="0">
            <a:normAutofit/>
          </a:bodyPr>
          <a:lstStyle/>
          <a:p>
            <a:pPr>
              <a:buSzPts val="1400"/>
            </a:pPr>
            <a:r>
              <a:rPr lang="en"/>
              <a:t>Stratification Example</a:t>
            </a:r>
            <a:endParaRPr/>
          </a:p>
        </p:txBody>
      </p:sp>
      <p:sp>
        <p:nvSpPr>
          <p:cNvPr id="74" name="Google Shape;74;p16"/>
          <p:cNvSpPr txBox="1">
            <a:spLocks noGrp="1"/>
          </p:cNvSpPr>
          <p:nvPr>
            <p:ph type="body" idx="1"/>
          </p:nvPr>
        </p:nvSpPr>
        <p:spPr>
          <a:xfrm>
            <a:off x="838200" y="1825625"/>
            <a:ext cx="10515600" cy="4351200"/>
          </a:xfrm>
          <a:prstGeom prst="rect">
            <a:avLst/>
          </a:prstGeom>
          <a:noFill/>
          <a:ln>
            <a:noFill/>
          </a:ln>
        </p:spPr>
        <p:txBody>
          <a:bodyPr spcFirstLastPara="1" wrap="square" lIns="91433" tIns="45700" rIns="91433" bIns="45700" anchor="t" anchorCtr="0">
            <a:normAutofit/>
          </a:bodyPr>
          <a:lstStyle/>
          <a:p>
            <a:pPr marL="457189" indent="-397923">
              <a:spcBef>
                <a:spcPts val="533"/>
              </a:spcBef>
              <a:buSzPts val="2100"/>
              <a:buChar char="●"/>
            </a:pPr>
            <a:r>
              <a:rPr lang="en">
                <a:solidFill>
                  <a:schemeClr val="dk1"/>
                </a:solidFill>
              </a:rPr>
              <a:t>to study the effect of a new drug (independent variable) on blood pressure reduction (dependent variable) and</a:t>
            </a:r>
            <a:endParaRPr>
              <a:solidFill>
                <a:schemeClr val="dk1"/>
              </a:solidFill>
            </a:endParaRPr>
          </a:p>
          <a:p>
            <a:pPr marL="914377" lvl="1" indent="-397923">
              <a:spcBef>
                <a:spcPts val="0"/>
              </a:spcBef>
              <a:buSzPts val="2100"/>
              <a:buChar char="○"/>
            </a:pPr>
            <a:r>
              <a:rPr lang="en">
                <a:solidFill>
                  <a:schemeClr val="dk1"/>
                </a:solidFill>
              </a:rPr>
              <a:t>you suspect that gender is a confounder because </a:t>
            </a:r>
            <a:endParaRPr>
              <a:solidFill>
                <a:schemeClr val="dk1"/>
              </a:solidFill>
            </a:endParaRPr>
          </a:p>
          <a:p>
            <a:pPr marL="1371566" lvl="2" indent="-397923">
              <a:spcBef>
                <a:spcPts val="0"/>
              </a:spcBef>
              <a:buSzPts val="2100"/>
              <a:buFont typeface="Arial"/>
              <a:buChar char="■"/>
            </a:pPr>
            <a:r>
              <a:rPr lang="en">
                <a:solidFill>
                  <a:schemeClr val="dk1"/>
                </a:solidFill>
              </a:rPr>
              <a:t>it influences both drug response and baseline blood pressure levels.</a:t>
            </a:r>
            <a:endParaRPr>
              <a:solidFill>
                <a:schemeClr val="dk1"/>
              </a:solidFill>
            </a:endParaRPr>
          </a:p>
          <a:p>
            <a:pPr marL="457189" indent="-397923">
              <a:spcBef>
                <a:spcPts val="0"/>
              </a:spcBef>
              <a:buSzPts val="2100"/>
              <a:buFont typeface="Arial"/>
              <a:buChar char="●"/>
            </a:pPr>
            <a:r>
              <a:rPr lang="en" b="1">
                <a:solidFill>
                  <a:schemeClr val="dk1"/>
                </a:solidFill>
                <a:latin typeface="Arial"/>
                <a:ea typeface="Arial"/>
                <a:cs typeface="Arial"/>
                <a:sym typeface="Arial"/>
              </a:rPr>
              <a:t>Step 1:</a:t>
            </a:r>
            <a:r>
              <a:rPr lang="en">
                <a:solidFill>
                  <a:schemeClr val="dk1"/>
                </a:solidFill>
                <a:latin typeface="Arial"/>
                <a:ea typeface="Arial"/>
                <a:cs typeface="Arial"/>
                <a:sym typeface="Arial"/>
              </a:rPr>
              <a:t> Stratify the data into two groups based on gender (e.g., male and female).</a:t>
            </a:r>
            <a:endParaRPr>
              <a:solidFill>
                <a:schemeClr val="dk1"/>
              </a:solidFill>
              <a:latin typeface="Arial"/>
              <a:ea typeface="Arial"/>
              <a:cs typeface="Arial"/>
              <a:sym typeface="Arial"/>
            </a:endParaRPr>
          </a:p>
          <a:p>
            <a:pPr marL="457189" indent="-397923">
              <a:spcBef>
                <a:spcPts val="0"/>
              </a:spcBef>
              <a:buSzPts val="2100"/>
              <a:buFont typeface="Arial"/>
              <a:buChar char="●"/>
            </a:pPr>
            <a:r>
              <a:rPr lang="en" b="1">
                <a:solidFill>
                  <a:schemeClr val="dk1"/>
                </a:solidFill>
                <a:latin typeface="Arial"/>
                <a:ea typeface="Arial"/>
                <a:cs typeface="Arial"/>
                <a:sym typeface="Arial"/>
              </a:rPr>
              <a:t>Step 2:</a:t>
            </a:r>
            <a:r>
              <a:rPr lang="en">
                <a:solidFill>
                  <a:schemeClr val="dk1"/>
                </a:solidFill>
                <a:latin typeface="Arial"/>
                <a:ea typeface="Arial"/>
                <a:cs typeface="Arial"/>
                <a:sym typeface="Arial"/>
              </a:rPr>
              <a:t> Analyze the effect of the drug on blood pressure separately within the male group and the female group.</a:t>
            </a:r>
            <a:endParaRPr>
              <a:solidFill>
                <a:schemeClr val="dk1"/>
              </a:solidFill>
              <a:latin typeface="Arial"/>
              <a:ea typeface="Arial"/>
              <a:cs typeface="Arial"/>
              <a:sym typeface="Arial"/>
            </a:endParaRPr>
          </a:p>
          <a:p>
            <a:pPr marL="457189" indent="-397923">
              <a:spcBef>
                <a:spcPts val="0"/>
              </a:spcBef>
              <a:buSzPts val="2100"/>
              <a:buFont typeface="Arial"/>
              <a:buChar char="●"/>
            </a:pPr>
            <a:r>
              <a:rPr lang="en" b="1">
                <a:solidFill>
                  <a:schemeClr val="dk1"/>
                </a:solidFill>
                <a:latin typeface="Arial"/>
                <a:ea typeface="Arial"/>
                <a:cs typeface="Arial"/>
                <a:sym typeface="Arial"/>
              </a:rPr>
              <a:t>Step 3:</a:t>
            </a:r>
            <a:r>
              <a:rPr lang="en">
                <a:solidFill>
                  <a:schemeClr val="dk1"/>
                </a:solidFill>
                <a:latin typeface="Arial"/>
                <a:ea typeface="Arial"/>
                <a:cs typeface="Arial"/>
                <a:sym typeface="Arial"/>
              </a:rPr>
              <a:t> Compare the results to see if the effect of the drug is consistent across genders or if gender was indeed a confounder.</a:t>
            </a:r>
            <a:endParaRPr>
              <a:solidFill>
                <a:schemeClr val="dk1"/>
              </a:solidFill>
              <a:latin typeface="Arial"/>
              <a:ea typeface="Arial"/>
              <a:cs typeface="Arial"/>
              <a:sym typeface="Arial"/>
            </a:endParaRPr>
          </a:p>
          <a:p>
            <a:pPr marL="0" indent="0">
              <a:spcBef>
                <a:spcPts val="1600"/>
              </a:spcBef>
              <a:spcAft>
                <a:spcPts val="1600"/>
              </a:spcAft>
              <a:buSzPts val="1400"/>
              <a:buNone/>
            </a:pPr>
            <a:endParaRPr>
              <a:solidFill>
                <a:schemeClr val="dk1"/>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13"/>
        <p:cNvGrpSpPr/>
        <p:nvPr/>
      </p:nvGrpSpPr>
      <p:grpSpPr>
        <a:xfrm>
          <a:off x="0" y="0"/>
          <a:ext cx="0" cy="0"/>
          <a:chOff x="0" y="0"/>
          <a:chExt cx="0" cy="0"/>
        </a:xfrm>
      </p:grpSpPr>
      <p:sp>
        <p:nvSpPr>
          <p:cNvPr id="214" name="Google Shape;214;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lvl="0">
              <a:buSzPts val="4400"/>
            </a:pPr>
            <a:r>
              <a:rPr lang="en-US" dirty="0"/>
              <a:t>Controlling for confounding variables</a:t>
            </a:r>
            <a:endParaRPr dirty="0"/>
          </a:p>
        </p:txBody>
      </p:sp>
      <p:sp>
        <p:nvSpPr>
          <p:cNvPr id="215" name="Google Shape;215;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Autofit/>
          </a:bodyPr>
          <a:lstStyle/>
          <a:p>
            <a:pPr marL="228600" lvl="0" indent="-252730" algn="just" rtl="0">
              <a:lnSpc>
                <a:spcPct val="90000"/>
              </a:lnSpc>
              <a:spcBef>
                <a:spcPts val="0"/>
              </a:spcBef>
              <a:spcAft>
                <a:spcPts val="0"/>
              </a:spcAft>
              <a:buClr>
                <a:schemeClr val="dk1"/>
              </a:buClr>
              <a:buSzPts val="2600"/>
              <a:buFont typeface="Calibri"/>
              <a:buChar char="•"/>
            </a:pPr>
            <a:r>
              <a:rPr lang="en-US" sz="2600" i="0" dirty="0"/>
              <a:t>we can include covariates, such as age, as independent variables in the MLR model to control for their effects on the dependent variable. </a:t>
            </a:r>
            <a:endParaRPr sz="2600" dirty="0"/>
          </a:p>
          <a:p>
            <a:pPr marL="228600" lvl="0" indent="-252730" algn="just" rtl="0">
              <a:lnSpc>
                <a:spcPct val="90000"/>
              </a:lnSpc>
              <a:spcBef>
                <a:spcPts val="1000"/>
              </a:spcBef>
              <a:spcAft>
                <a:spcPts val="0"/>
              </a:spcAft>
              <a:buClr>
                <a:schemeClr val="dk1"/>
              </a:buClr>
              <a:buSzPts val="2600"/>
              <a:buFont typeface="Calibri"/>
              <a:buChar char="•"/>
            </a:pPr>
            <a:r>
              <a:rPr lang="en-US" sz="2600" i="0" dirty="0"/>
              <a:t>By controlling for confounding variables, we can isolate the effect of the independent variable on the dependent variable and determine if there is a causal relationship.</a:t>
            </a:r>
            <a:endParaRPr sz="2600" dirty="0"/>
          </a:p>
          <a:p>
            <a:pPr marL="228600" lvl="0" indent="-252730" algn="just" rtl="0">
              <a:lnSpc>
                <a:spcPct val="90000"/>
              </a:lnSpc>
              <a:spcBef>
                <a:spcPts val="1000"/>
              </a:spcBef>
              <a:spcAft>
                <a:spcPts val="0"/>
              </a:spcAft>
              <a:buClr>
                <a:schemeClr val="dk1"/>
              </a:buClr>
              <a:buSzPts val="2600"/>
              <a:buFont typeface="Calibri"/>
              <a:buChar char="•"/>
            </a:pPr>
            <a:r>
              <a:rPr lang="en-US" sz="2600" dirty="0"/>
              <a:t>Y=β</a:t>
            </a:r>
            <a:r>
              <a:rPr lang="en-US" sz="2600" baseline="-25000" dirty="0"/>
              <a:t>0​</a:t>
            </a:r>
            <a:r>
              <a:rPr lang="en-US" sz="2600" dirty="0"/>
              <a:t>+β</a:t>
            </a:r>
            <a:r>
              <a:rPr lang="en-US" sz="2600" baseline="-25000" dirty="0"/>
              <a:t>1</a:t>
            </a:r>
            <a:r>
              <a:rPr lang="en-US" sz="2600" dirty="0"/>
              <a:t>​X+β</a:t>
            </a:r>
            <a:r>
              <a:rPr lang="en-US" sz="2600" baseline="-25000" dirty="0"/>
              <a:t>2</a:t>
            </a:r>
            <a:r>
              <a:rPr lang="en-US" sz="2600" dirty="0"/>
              <a:t>​Z+ϵ</a:t>
            </a:r>
            <a:endParaRPr sz="2600" dirty="0"/>
          </a:p>
          <a:p>
            <a:pPr marL="228600" lvl="0" indent="-279400" algn="just" rtl="0">
              <a:spcBef>
                <a:spcPts val="1000"/>
              </a:spcBef>
              <a:spcAft>
                <a:spcPts val="0"/>
              </a:spcAft>
              <a:buSzPts val="2600"/>
              <a:buFont typeface="Calibri"/>
              <a:buChar char="•"/>
            </a:pPr>
            <a:r>
              <a:rPr lang="en-US" sz="2600" dirty="0"/>
              <a:t>Y = outcome (heart disease risk)</a:t>
            </a:r>
            <a:endParaRPr sz="2600" dirty="0"/>
          </a:p>
          <a:p>
            <a:pPr marL="228600" lvl="0" indent="-279400" algn="just" rtl="0">
              <a:spcBef>
                <a:spcPts val="1000"/>
              </a:spcBef>
              <a:spcAft>
                <a:spcPts val="0"/>
              </a:spcAft>
              <a:buSzPts val="2600"/>
              <a:buFont typeface="Calibri"/>
              <a:buChar char="•"/>
            </a:pPr>
            <a:r>
              <a:rPr lang="en-US" sz="2600" dirty="0"/>
              <a:t>X = main predictor of interest (exercise)</a:t>
            </a:r>
            <a:endParaRPr sz="2600" dirty="0"/>
          </a:p>
          <a:p>
            <a:pPr marL="228600" lvl="0" indent="-279400" algn="just" rtl="0">
              <a:spcBef>
                <a:spcPts val="1000"/>
              </a:spcBef>
              <a:spcAft>
                <a:spcPts val="0"/>
              </a:spcAft>
              <a:buSzPts val="2600"/>
              <a:buFont typeface="Calibri"/>
              <a:buChar char="•"/>
            </a:pPr>
            <a:r>
              <a:rPr lang="en-US" sz="2600" dirty="0"/>
              <a:t>Z = potential confounder (age)</a:t>
            </a:r>
            <a:endParaRPr sz="2600" dirty="0"/>
          </a:p>
          <a:p>
            <a:pPr marL="228600" lvl="0" indent="-279400" algn="l" rtl="0">
              <a:lnSpc>
                <a:spcPct val="115000"/>
              </a:lnSpc>
              <a:spcBef>
                <a:spcPts val="0"/>
              </a:spcBef>
              <a:spcAft>
                <a:spcPts val="0"/>
              </a:spcAft>
              <a:buSzPts val="2600"/>
              <a:buChar char="•"/>
            </a:pPr>
            <a:r>
              <a:rPr lang="en-US" sz="2600" dirty="0"/>
              <a:t>β1​ estimates the effect of X on Y, </a:t>
            </a:r>
            <a:r>
              <a:rPr lang="en-US" sz="2600" b="1" dirty="0"/>
              <a:t>holding Z constant</a:t>
            </a:r>
            <a:r>
              <a:rPr lang="en-US" sz="2600" dirty="0"/>
              <a:t>.</a:t>
            </a:r>
            <a:endParaRPr sz="2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44EB06-DA56-DC19-6064-EA051666A502}"/>
              </a:ext>
            </a:extLst>
          </p:cNvPr>
          <p:cNvSpPr>
            <a:spLocks noGrp="1"/>
          </p:cNvSpPr>
          <p:nvPr>
            <p:ph type="title"/>
          </p:nvPr>
        </p:nvSpPr>
        <p:spPr/>
        <p:txBody>
          <a:bodyPr/>
          <a:lstStyle/>
          <a:p>
            <a:r>
              <a:rPr lang="en-US" dirty="0"/>
              <a:t>mediator variable</a:t>
            </a:r>
            <a:endParaRPr lang="en-IN" dirty="0"/>
          </a:p>
        </p:txBody>
      </p:sp>
      <p:sp>
        <p:nvSpPr>
          <p:cNvPr id="3" name="Text Placeholder 2">
            <a:extLst>
              <a:ext uri="{FF2B5EF4-FFF2-40B4-BE49-F238E27FC236}">
                <a16:creationId xmlns:a16="http://schemas.microsoft.com/office/drawing/2014/main" id="{BD094DE0-C3C0-C094-4E41-B3CD42573090}"/>
              </a:ext>
            </a:extLst>
          </p:cNvPr>
          <p:cNvSpPr>
            <a:spLocks noGrp="1"/>
          </p:cNvSpPr>
          <p:nvPr>
            <p:ph type="body" idx="1"/>
          </p:nvPr>
        </p:nvSpPr>
        <p:spPr/>
        <p:txBody>
          <a:bodyPr>
            <a:normAutofit fontScale="92500" lnSpcReduction="10000"/>
          </a:bodyPr>
          <a:lstStyle/>
          <a:p>
            <a:r>
              <a:rPr lang="en-US" dirty="0"/>
              <a:t>A </a:t>
            </a:r>
            <a:r>
              <a:rPr lang="en-US" b="1" dirty="0"/>
              <a:t>mediator</a:t>
            </a:r>
            <a:r>
              <a:rPr lang="en-US" dirty="0"/>
              <a:t> is a variable that lies </a:t>
            </a:r>
            <a:r>
              <a:rPr lang="en-US" b="1" dirty="0"/>
              <a:t>on the causal pathway</a:t>
            </a:r>
            <a:r>
              <a:rPr lang="en-US" dirty="0"/>
              <a:t> between a predictor (independent variable) and an outcome (dependent variable).</a:t>
            </a:r>
          </a:p>
          <a:p>
            <a:pPr lvl="1"/>
            <a:r>
              <a:rPr lang="en-US" dirty="0"/>
              <a:t>It helps </a:t>
            </a:r>
            <a:r>
              <a:rPr lang="en-US" i="1" dirty="0"/>
              <a:t>explain how or why</a:t>
            </a:r>
            <a:r>
              <a:rPr lang="en-US" dirty="0"/>
              <a:t> the predictor affects the outcome.</a:t>
            </a:r>
          </a:p>
          <a:p>
            <a:pPr lvl="1"/>
            <a:r>
              <a:rPr lang="en-US" dirty="0"/>
              <a:t>So the predictor influences the mediator, and the mediator in turn influences the outcome.</a:t>
            </a:r>
          </a:p>
          <a:p>
            <a:r>
              <a:rPr lang="en-IN" dirty="0"/>
              <a:t>Example of a mediator</a:t>
            </a:r>
          </a:p>
          <a:p>
            <a:r>
              <a:rPr lang="en-US" dirty="0"/>
              <a:t>to study the effect of </a:t>
            </a:r>
            <a:r>
              <a:rPr lang="en-US" b="1" dirty="0"/>
              <a:t>education level</a:t>
            </a:r>
            <a:r>
              <a:rPr lang="en-US" dirty="0"/>
              <a:t> on </a:t>
            </a:r>
            <a:r>
              <a:rPr lang="en-US" b="1" dirty="0"/>
              <a:t>income</a:t>
            </a:r>
            <a:r>
              <a:rPr lang="en-US" dirty="0"/>
              <a:t>.</a:t>
            </a:r>
          </a:p>
          <a:p>
            <a:pPr lvl="1"/>
            <a:r>
              <a:rPr lang="en-US" dirty="0"/>
              <a:t>Higher education → improves </a:t>
            </a:r>
            <a:r>
              <a:rPr lang="en-US" b="1" dirty="0"/>
              <a:t>skills</a:t>
            </a:r>
            <a:r>
              <a:rPr lang="en-US" dirty="0"/>
              <a:t> (mediator) → leads to higher income.</a:t>
            </a:r>
            <a:br>
              <a:rPr lang="en-US" dirty="0"/>
            </a:br>
            <a:r>
              <a:rPr lang="en-US" dirty="0"/>
              <a:t>Here, </a:t>
            </a:r>
            <a:r>
              <a:rPr lang="en-US" b="1" dirty="0"/>
              <a:t>skills</a:t>
            </a:r>
            <a:r>
              <a:rPr lang="en-US" dirty="0"/>
              <a:t> is a mediator between education and income.</a:t>
            </a:r>
          </a:p>
          <a:p>
            <a:r>
              <a:rPr lang="en-US" dirty="0"/>
              <a:t>If you control for </a:t>
            </a:r>
            <a:r>
              <a:rPr lang="en-US" b="1" dirty="0"/>
              <a:t>skills</a:t>
            </a:r>
            <a:r>
              <a:rPr lang="en-US" dirty="0"/>
              <a:t> in your regression, the estimated effect of education on income will shrink,</a:t>
            </a:r>
            <a:endParaRPr lang="en-IN" b="1" dirty="0"/>
          </a:p>
        </p:txBody>
      </p:sp>
    </p:spTree>
    <p:extLst>
      <p:ext uri="{BB962C8B-B14F-4D97-AF65-F5344CB8AC3E}">
        <p14:creationId xmlns:p14="http://schemas.microsoft.com/office/powerpoint/2010/main" val="44285272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85E332-6915-A12C-2A3E-5385D563AA51}"/>
              </a:ext>
            </a:extLst>
          </p:cNvPr>
          <p:cNvSpPr>
            <a:spLocks noGrp="1"/>
          </p:cNvSpPr>
          <p:nvPr>
            <p:ph type="title"/>
          </p:nvPr>
        </p:nvSpPr>
        <p:spPr/>
        <p:txBody>
          <a:bodyPr/>
          <a:lstStyle/>
          <a:p>
            <a:r>
              <a:rPr lang="en-IN" dirty="0"/>
              <a:t>Another example of mediator var</a:t>
            </a:r>
          </a:p>
        </p:txBody>
      </p:sp>
      <p:sp>
        <p:nvSpPr>
          <p:cNvPr id="3" name="Text Placeholder 2">
            <a:extLst>
              <a:ext uri="{FF2B5EF4-FFF2-40B4-BE49-F238E27FC236}">
                <a16:creationId xmlns:a16="http://schemas.microsoft.com/office/drawing/2014/main" id="{33B8393F-9048-C972-08FD-80E0A268875F}"/>
              </a:ext>
            </a:extLst>
          </p:cNvPr>
          <p:cNvSpPr>
            <a:spLocks noGrp="1"/>
          </p:cNvSpPr>
          <p:nvPr>
            <p:ph type="body" idx="1"/>
          </p:nvPr>
        </p:nvSpPr>
        <p:spPr/>
        <p:txBody>
          <a:bodyPr/>
          <a:lstStyle/>
          <a:p>
            <a:r>
              <a:rPr lang="en-US" b="1" dirty="0"/>
              <a:t>Smoking → Lung Damage → Lung Cancer</a:t>
            </a:r>
            <a:br>
              <a:rPr lang="en-US" dirty="0"/>
            </a:br>
            <a:r>
              <a:rPr lang="en-US" dirty="0"/>
              <a:t>Here, </a:t>
            </a:r>
            <a:r>
              <a:rPr lang="en-US" b="1" dirty="0"/>
              <a:t>lung damage is the mediator</a:t>
            </a:r>
            <a:r>
              <a:rPr lang="en-US" dirty="0"/>
              <a:t>.</a:t>
            </a:r>
          </a:p>
          <a:p>
            <a:r>
              <a:rPr lang="en-US" dirty="0"/>
              <a:t>Smoking does not directly “cause” cancer as much as it causes lung damage, which then leads to cancer.</a:t>
            </a:r>
          </a:p>
          <a:p>
            <a:endParaRPr lang="en-IN" dirty="0"/>
          </a:p>
        </p:txBody>
      </p:sp>
    </p:spTree>
    <p:extLst>
      <p:ext uri="{BB962C8B-B14F-4D97-AF65-F5344CB8AC3E}">
        <p14:creationId xmlns:p14="http://schemas.microsoft.com/office/powerpoint/2010/main" val="60649734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F6CE3B-FD22-E257-277F-FC3BFB75D244}"/>
              </a:ext>
            </a:extLst>
          </p:cNvPr>
          <p:cNvSpPr>
            <a:spLocks noGrp="1"/>
          </p:cNvSpPr>
          <p:nvPr>
            <p:ph type="title"/>
          </p:nvPr>
        </p:nvSpPr>
        <p:spPr/>
        <p:txBody>
          <a:bodyPr/>
          <a:lstStyle/>
          <a:p>
            <a:r>
              <a:rPr lang="en-US" dirty="0"/>
              <a:t>What happens when you </a:t>
            </a:r>
            <a:r>
              <a:rPr lang="en-US" b="1" dirty="0"/>
              <a:t>control for the mediator</a:t>
            </a:r>
            <a:r>
              <a:rPr lang="en-US" dirty="0"/>
              <a:t> (lung damage)?</a:t>
            </a:r>
            <a:endParaRPr lang="en-IN" dirty="0"/>
          </a:p>
        </p:txBody>
      </p:sp>
      <p:sp>
        <p:nvSpPr>
          <p:cNvPr id="3" name="Text Placeholder 2">
            <a:extLst>
              <a:ext uri="{FF2B5EF4-FFF2-40B4-BE49-F238E27FC236}">
                <a16:creationId xmlns:a16="http://schemas.microsoft.com/office/drawing/2014/main" id="{3370EE7E-22D2-5146-2721-38C75C4A2076}"/>
              </a:ext>
            </a:extLst>
          </p:cNvPr>
          <p:cNvSpPr>
            <a:spLocks noGrp="1"/>
          </p:cNvSpPr>
          <p:nvPr>
            <p:ph type="body" idx="1"/>
          </p:nvPr>
        </p:nvSpPr>
        <p:spPr/>
        <p:txBody>
          <a:bodyPr/>
          <a:lstStyle/>
          <a:p>
            <a:r>
              <a:rPr lang="en-US" dirty="0"/>
              <a:t>Cancer=β0​+β1​(Smoking)+β2​(Lung Damage)+ε</a:t>
            </a:r>
          </a:p>
          <a:p>
            <a:r>
              <a:rPr lang="en-US" altLang="en-US" dirty="0">
                <a:solidFill>
                  <a:schemeClr val="tx1"/>
                </a:solidFill>
                <a:latin typeface="Arial" panose="020B0604020202020204" pitchFamily="34" charset="0"/>
              </a:rPr>
              <a:t>Once you include </a:t>
            </a:r>
            <a:r>
              <a:rPr lang="en-US" altLang="en-US" b="1" dirty="0">
                <a:solidFill>
                  <a:schemeClr val="tx1"/>
                </a:solidFill>
                <a:latin typeface="Arial" panose="020B0604020202020204" pitchFamily="34" charset="0"/>
              </a:rPr>
              <a:t>lung damage</a:t>
            </a:r>
            <a:r>
              <a:rPr lang="en-US" altLang="en-US" dirty="0">
                <a:solidFill>
                  <a:schemeClr val="tx1"/>
                </a:solidFill>
                <a:latin typeface="Arial" panose="020B0604020202020204" pitchFamily="34" charset="0"/>
              </a:rPr>
              <a:t>, the model asks:</a:t>
            </a:r>
          </a:p>
          <a:p>
            <a:pPr lvl="1"/>
            <a:r>
              <a:rPr lang="en-US" dirty="0"/>
              <a:t>For two people with the </a:t>
            </a:r>
            <a:r>
              <a:rPr lang="en-US" i="1" dirty="0"/>
              <a:t>same level of lung damage</a:t>
            </a:r>
            <a:r>
              <a:rPr lang="en-US" dirty="0"/>
              <a:t>, but different smoking habits, how different is their risk of cancer?</a:t>
            </a:r>
          </a:p>
          <a:p>
            <a:r>
              <a:rPr lang="en-US" dirty="0"/>
              <a:t>But if lung damage is the </a:t>
            </a:r>
            <a:r>
              <a:rPr lang="en-US" i="1" dirty="0"/>
              <a:t>main way smoking leads to cancer</a:t>
            </a:r>
            <a:r>
              <a:rPr lang="en-US" dirty="0"/>
              <a:t>, then among people with equal lung damage, smoking won’t explain much anymore</a:t>
            </a:r>
          </a:p>
          <a:p>
            <a:r>
              <a:rPr lang="en-US" dirty="0"/>
              <a:t>So it looks like “removing the effect” </a:t>
            </a:r>
            <a:endParaRPr lang="en-IN" dirty="0"/>
          </a:p>
        </p:txBody>
      </p:sp>
    </p:spTree>
    <p:extLst>
      <p:ext uri="{BB962C8B-B14F-4D97-AF65-F5344CB8AC3E}">
        <p14:creationId xmlns:p14="http://schemas.microsoft.com/office/powerpoint/2010/main" val="325284151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936D77-D8A9-2955-99A0-CD3A4BE28456}"/>
              </a:ext>
            </a:extLst>
          </p:cNvPr>
          <p:cNvSpPr>
            <a:spLocks noGrp="1"/>
          </p:cNvSpPr>
          <p:nvPr>
            <p:ph type="title"/>
          </p:nvPr>
        </p:nvSpPr>
        <p:spPr/>
        <p:txBody>
          <a:bodyPr/>
          <a:lstStyle/>
          <a:p>
            <a:r>
              <a:rPr lang="en-IN" dirty="0"/>
              <a:t>Mediator vs. Confounder</a:t>
            </a:r>
          </a:p>
        </p:txBody>
      </p:sp>
      <p:sp>
        <p:nvSpPr>
          <p:cNvPr id="5" name="Text Placeholder 4">
            <a:extLst>
              <a:ext uri="{FF2B5EF4-FFF2-40B4-BE49-F238E27FC236}">
                <a16:creationId xmlns:a16="http://schemas.microsoft.com/office/drawing/2014/main" id="{58BE33A2-8105-4F6C-AD0F-8A8F1E4FEE18}"/>
              </a:ext>
            </a:extLst>
          </p:cNvPr>
          <p:cNvSpPr>
            <a:spLocks noGrp="1"/>
          </p:cNvSpPr>
          <p:nvPr>
            <p:ph type="body" idx="1"/>
          </p:nvPr>
        </p:nvSpPr>
        <p:spPr/>
        <p:txBody>
          <a:bodyPr/>
          <a:lstStyle/>
          <a:p>
            <a:pPr marL="0" lvl="0" indent="0" eaLnBrk="0" fontAlgn="base" hangingPunct="0">
              <a:lnSpc>
                <a:spcPct val="100000"/>
              </a:lnSpc>
              <a:spcBef>
                <a:spcPct val="0"/>
              </a:spcBef>
              <a:spcAft>
                <a:spcPct val="0"/>
              </a:spcAft>
              <a:buClrTx/>
              <a:buSzTx/>
              <a:buFontTx/>
              <a:buChar char="•"/>
            </a:pPr>
            <a:r>
              <a:rPr lang="en-US" altLang="en-US" b="1" dirty="0">
                <a:solidFill>
                  <a:schemeClr val="tx1"/>
                </a:solidFill>
                <a:latin typeface="Arial" panose="020B0604020202020204" pitchFamily="34" charset="0"/>
              </a:rPr>
              <a:t>Confounder</a:t>
            </a:r>
            <a:r>
              <a:rPr lang="en-US" altLang="en-US" dirty="0">
                <a:solidFill>
                  <a:schemeClr val="tx1"/>
                </a:solidFill>
                <a:latin typeface="Arial" panose="020B0604020202020204" pitchFamily="34" charset="0"/>
              </a:rPr>
              <a:t>: A variable that affects both the predictor and the outcome, creating a spurious association. </a:t>
            </a:r>
          </a:p>
          <a:p>
            <a:pPr marL="457200" lvl="1" indent="0" eaLnBrk="0" fontAlgn="base" hangingPunct="0">
              <a:lnSpc>
                <a:spcPct val="100000"/>
              </a:lnSpc>
              <a:spcBef>
                <a:spcPct val="0"/>
              </a:spcBef>
              <a:spcAft>
                <a:spcPct val="0"/>
              </a:spcAft>
              <a:buClrTx/>
              <a:buSzTx/>
              <a:buFontTx/>
              <a:buChar char="•"/>
            </a:pPr>
            <a:r>
              <a:rPr lang="en-US" altLang="en-US" dirty="0">
                <a:solidFill>
                  <a:schemeClr val="tx1"/>
                </a:solidFill>
                <a:latin typeface="Arial" panose="020B0604020202020204" pitchFamily="34" charset="0"/>
              </a:rPr>
              <a:t>You </a:t>
            </a:r>
            <a:r>
              <a:rPr lang="en-US" altLang="en-US" i="1" dirty="0">
                <a:solidFill>
                  <a:schemeClr val="tx1"/>
                </a:solidFill>
                <a:latin typeface="Arial" panose="020B0604020202020204" pitchFamily="34" charset="0"/>
              </a:rPr>
              <a:t>should</a:t>
            </a:r>
            <a:r>
              <a:rPr lang="en-US" altLang="en-US" dirty="0">
                <a:solidFill>
                  <a:schemeClr val="tx1"/>
                </a:solidFill>
                <a:latin typeface="Arial" panose="020B0604020202020204" pitchFamily="34" charset="0"/>
              </a:rPr>
              <a:t> control for it.</a:t>
            </a:r>
          </a:p>
          <a:p>
            <a:pPr marL="0" lvl="0" indent="0" eaLnBrk="0" fontAlgn="base" hangingPunct="0">
              <a:lnSpc>
                <a:spcPct val="100000"/>
              </a:lnSpc>
              <a:spcBef>
                <a:spcPct val="0"/>
              </a:spcBef>
              <a:spcAft>
                <a:spcPct val="0"/>
              </a:spcAft>
              <a:buClrTx/>
              <a:buSzTx/>
              <a:buFontTx/>
              <a:buChar char="•"/>
            </a:pPr>
            <a:r>
              <a:rPr lang="en-US" altLang="en-US" b="1" dirty="0">
                <a:solidFill>
                  <a:schemeClr val="tx1"/>
                </a:solidFill>
                <a:latin typeface="Arial" panose="020B0604020202020204" pitchFamily="34" charset="0"/>
              </a:rPr>
              <a:t>Mediator</a:t>
            </a:r>
            <a:r>
              <a:rPr lang="en-US" altLang="en-US" dirty="0">
                <a:solidFill>
                  <a:schemeClr val="tx1"/>
                </a:solidFill>
                <a:latin typeface="Arial" panose="020B0604020202020204" pitchFamily="34" charset="0"/>
              </a:rPr>
              <a:t>: A variable that transmits part of the effect from predictor to outcome. </a:t>
            </a:r>
          </a:p>
          <a:p>
            <a:pPr marL="457200" lvl="1" indent="0" eaLnBrk="0" fontAlgn="base" hangingPunct="0">
              <a:lnSpc>
                <a:spcPct val="100000"/>
              </a:lnSpc>
              <a:spcBef>
                <a:spcPct val="0"/>
              </a:spcBef>
              <a:spcAft>
                <a:spcPct val="0"/>
              </a:spcAft>
              <a:buClrTx/>
              <a:buSzTx/>
              <a:buFontTx/>
              <a:buChar char="•"/>
            </a:pPr>
            <a:r>
              <a:rPr lang="en-US" altLang="en-US" dirty="0">
                <a:solidFill>
                  <a:schemeClr val="tx1"/>
                </a:solidFill>
                <a:latin typeface="Arial" panose="020B0604020202020204" pitchFamily="34" charset="0"/>
              </a:rPr>
              <a:t>Whether to control depends on your research question:</a:t>
            </a:r>
          </a:p>
          <a:p>
            <a:pPr marL="914400" lvl="2" indent="0" eaLnBrk="0" fontAlgn="base" hangingPunct="0">
              <a:lnSpc>
                <a:spcPct val="100000"/>
              </a:lnSpc>
              <a:spcBef>
                <a:spcPct val="0"/>
              </a:spcBef>
              <a:spcAft>
                <a:spcPct val="0"/>
              </a:spcAft>
              <a:buClrTx/>
              <a:buSzTx/>
              <a:buFontTx/>
              <a:buChar char="•"/>
            </a:pPr>
            <a:r>
              <a:rPr lang="en-US" altLang="en-US" dirty="0">
                <a:solidFill>
                  <a:schemeClr val="tx1"/>
                </a:solidFill>
                <a:latin typeface="Arial" panose="020B0604020202020204" pitchFamily="34" charset="0"/>
              </a:rPr>
              <a:t>If you want the </a:t>
            </a:r>
            <a:r>
              <a:rPr lang="en-US" altLang="en-US" b="1" dirty="0">
                <a:solidFill>
                  <a:schemeClr val="tx1"/>
                </a:solidFill>
                <a:latin typeface="Arial" panose="020B0604020202020204" pitchFamily="34" charset="0"/>
              </a:rPr>
              <a:t>total effect</a:t>
            </a:r>
            <a:r>
              <a:rPr lang="en-US" altLang="en-US" dirty="0">
                <a:solidFill>
                  <a:schemeClr val="tx1"/>
                </a:solidFill>
                <a:latin typeface="Arial" panose="020B0604020202020204" pitchFamily="34" charset="0"/>
              </a:rPr>
              <a:t> → do </a:t>
            </a:r>
            <a:r>
              <a:rPr lang="en-US" altLang="en-US" b="1" dirty="0">
                <a:solidFill>
                  <a:schemeClr val="tx1"/>
                </a:solidFill>
                <a:latin typeface="Arial" panose="020B0604020202020204" pitchFamily="34" charset="0"/>
              </a:rPr>
              <a:t>not</a:t>
            </a:r>
            <a:r>
              <a:rPr lang="en-US" altLang="en-US" dirty="0">
                <a:solidFill>
                  <a:schemeClr val="tx1"/>
                </a:solidFill>
                <a:latin typeface="Arial" panose="020B0604020202020204" pitchFamily="34" charset="0"/>
              </a:rPr>
              <a:t> control.</a:t>
            </a:r>
          </a:p>
          <a:p>
            <a:pPr marL="914400" lvl="2" indent="0" eaLnBrk="0" fontAlgn="base" hangingPunct="0">
              <a:lnSpc>
                <a:spcPct val="100000"/>
              </a:lnSpc>
              <a:spcBef>
                <a:spcPct val="0"/>
              </a:spcBef>
              <a:spcAft>
                <a:spcPct val="0"/>
              </a:spcAft>
              <a:buClrTx/>
              <a:buSzTx/>
              <a:buFontTx/>
              <a:buChar char="•"/>
            </a:pPr>
            <a:r>
              <a:rPr lang="en-US" altLang="en-US" dirty="0">
                <a:solidFill>
                  <a:schemeClr val="tx1"/>
                </a:solidFill>
                <a:latin typeface="Arial" panose="020B0604020202020204" pitchFamily="34" charset="0"/>
              </a:rPr>
              <a:t>If you want the </a:t>
            </a:r>
            <a:r>
              <a:rPr lang="en-US" altLang="en-US" b="1" dirty="0">
                <a:solidFill>
                  <a:schemeClr val="tx1"/>
                </a:solidFill>
                <a:latin typeface="Arial" panose="020B0604020202020204" pitchFamily="34" charset="0"/>
              </a:rPr>
              <a:t>direct effect</a:t>
            </a:r>
            <a:r>
              <a:rPr lang="en-US" altLang="en-US" dirty="0">
                <a:solidFill>
                  <a:schemeClr val="tx1"/>
                </a:solidFill>
                <a:latin typeface="Arial" panose="020B0604020202020204" pitchFamily="34" charset="0"/>
              </a:rPr>
              <a:t> (excluding mediation) → do control.</a:t>
            </a:r>
          </a:p>
          <a:p>
            <a:endParaRPr lang="en-IN" dirty="0"/>
          </a:p>
        </p:txBody>
      </p:sp>
    </p:spTree>
    <p:extLst>
      <p:ext uri="{BB962C8B-B14F-4D97-AF65-F5344CB8AC3E}">
        <p14:creationId xmlns:p14="http://schemas.microsoft.com/office/powerpoint/2010/main" val="227451483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309"/>
        <p:cNvGrpSpPr/>
        <p:nvPr/>
      </p:nvGrpSpPr>
      <p:grpSpPr>
        <a:xfrm>
          <a:off x="0" y="0"/>
          <a:ext cx="0" cy="0"/>
          <a:chOff x="0" y="0"/>
          <a:chExt cx="0" cy="0"/>
        </a:xfrm>
      </p:grpSpPr>
      <p:sp>
        <p:nvSpPr>
          <p:cNvPr id="310" name="Google Shape;310;p3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333333"/>
              </a:buClr>
              <a:buSzPts val="4400"/>
              <a:buFont typeface="Arial"/>
              <a:buNone/>
            </a:pPr>
            <a:r>
              <a:rPr lang="en-US" b="0" i="0" dirty="0">
                <a:solidFill>
                  <a:srgbClr val="333333"/>
                </a:solidFill>
                <a:latin typeface="Arial"/>
                <a:ea typeface="Arial"/>
                <a:cs typeface="Arial"/>
                <a:sym typeface="Arial"/>
              </a:rPr>
              <a:t>Which Variables Should You Include In A Regression Model?</a:t>
            </a:r>
            <a:endParaRPr dirty="0"/>
          </a:p>
        </p:txBody>
      </p:sp>
      <p:sp>
        <p:nvSpPr>
          <p:cNvPr id="311" name="Google Shape;311;p34"/>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333333"/>
              </a:buClr>
              <a:buSzPct val="100000"/>
              <a:buChar char="•"/>
            </a:pPr>
            <a:r>
              <a:rPr lang="en-US" b="0" i="0" dirty="0">
                <a:solidFill>
                  <a:srgbClr val="333333"/>
                </a:solidFill>
                <a:latin typeface="Arial"/>
                <a:ea typeface="Arial"/>
                <a:cs typeface="Arial"/>
                <a:sym typeface="Arial"/>
              </a:rPr>
              <a:t>When building a linear or logistic regression model, you should consider including:</a:t>
            </a:r>
            <a:endParaRPr dirty="0"/>
          </a:p>
          <a:p>
            <a:pPr marL="685800" lvl="1" indent="-228600" algn="l" rtl="0">
              <a:lnSpc>
                <a:spcPct val="90000"/>
              </a:lnSpc>
              <a:spcBef>
                <a:spcPts val="500"/>
              </a:spcBef>
              <a:spcAft>
                <a:spcPts val="0"/>
              </a:spcAft>
              <a:buClr>
                <a:srgbClr val="333333"/>
              </a:buClr>
              <a:buSzPct val="100000"/>
              <a:buFont typeface="Calibri"/>
              <a:buAutoNum type="arabicPeriod"/>
            </a:pPr>
            <a:r>
              <a:rPr lang="en-US" b="0" i="0" dirty="0">
                <a:solidFill>
                  <a:srgbClr val="333333"/>
                </a:solidFill>
                <a:latin typeface="Arial"/>
                <a:ea typeface="Arial"/>
                <a:cs typeface="Arial"/>
                <a:sym typeface="Arial"/>
              </a:rPr>
              <a:t>Variables that are already proven in the literature to be related to the outcome</a:t>
            </a:r>
            <a:endParaRPr dirty="0"/>
          </a:p>
          <a:p>
            <a:pPr marL="685800" lvl="1" indent="-228600" algn="l" rtl="0">
              <a:lnSpc>
                <a:spcPct val="90000"/>
              </a:lnSpc>
              <a:spcBef>
                <a:spcPts val="500"/>
              </a:spcBef>
              <a:spcAft>
                <a:spcPts val="0"/>
              </a:spcAft>
              <a:buClr>
                <a:srgbClr val="333333"/>
              </a:buClr>
              <a:buSzPct val="100000"/>
              <a:buFont typeface="Calibri"/>
              <a:buAutoNum type="arabicPeriod"/>
            </a:pPr>
            <a:r>
              <a:rPr lang="en-US" b="0" i="0" dirty="0">
                <a:solidFill>
                  <a:srgbClr val="333333"/>
                </a:solidFill>
                <a:latin typeface="Arial"/>
                <a:ea typeface="Arial"/>
                <a:cs typeface="Arial"/>
                <a:sym typeface="Arial"/>
              </a:rPr>
              <a:t>Variables that can either be considered the cause of the exposure (independent var), the outcome (response var), or both</a:t>
            </a:r>
          </a:p>
          <a:p>
            <a:pPr marL="685800" lvl="1" indent="-228600" algn="l" rtl="0">
              <a:lnSpc>
                <a:spcPct val="90000"/>
              </a:lnSpc>
              <a:spcBef>
                <a:spcPts val="500"/>
              </a:spcBef>
              <a:spcAft>
                <a:spcPts val="0"/>
              </a:spcAft>
              <a:buClr>
                <a:srgbClr val="333333"/>
              </a:buClr>
              <a:buSzPct val="100000"/>
              <a:buFont typeface="Calibri"/>
              <a:buAutoNum type="arabicPeriod"/>
            </a:pPr>
            <a:r>
              <a:rPr lang="en-US" b="0" i="0" dirty="0">
                <a:solidFill>
                  <a:srgbClr val="333333"/>
                </a:solidFill>
                <a:latin typeface="Arial"/>
                <a:ea typeface="Arial"/>
                <a:cs typeface="Arial"/>
                <a:sym typeface="Arial"/>
              </a:rPr>
              <a:t>Interaction terms of variables that have large main effects</a:t>
            </a:r>
            <a:endParaRPr dirty="0"/>
          </a:p>
          <a:p>
            <a:pPr marL="621665" indent="-457200">
              <a:buSzPct val="100000"/>
            </a:pPr>
            <a:r>
              <a:rPr lang="en-US" dirty="0"/>
              <a:t>Interaction terms:</a:t>
            </a:r>
          </a:p>
          <a:p>
            <a:pPr marL="1078865" lvl="1" indent="-457200">
              <a:buSzPct val="100000"/>
            </a:pPr>
            <a:r>
              <a:rPr lang="en-US" dirty="0"/>
              <a:t>Income=β0​+β1​(Education)+β2​(Gender)+β3​(</a:t>
            </a:r>
            <a:r>
              <a:rPr lang="en-US" dirty="0" err="1"/>
              <a:t>Education×Gender</a:t>
            </a:r>
            <a:r>
              <a:rPr lang="en-US" dirty="0"/>
              <a:t>)+ε</a:t>
            </a:r>
          </a:p>
          <a:p>
            <a:pPr marL="1078865" lvl="1" indent="-457200">
              <a:buSzPct val="100000"/>
            </a:pPr>
            <a:r>
              <a:rPr lang="en-US" dirty="0"/>
              <a:t>If β3≠0, then education doesn’t have the same effect for men and women.</a:t>
            </a:r>
            <a:endParaRPr dirty="0"/>
          </a:p>
        </p:txBody>
      </p:sp>
    </p:spTree>
    <p:extLst>
      <p:ext uri="{BB962C8B-B14F-4D97-AF65-F5344CB8AC3E}">
        <p14:creationId xmlns:p14="http://schemas.microsoft.com/office/powerpoint/2010/main" val="171827402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8B9659-684D-8E21-74D3-B63587D2EAD7}"/>
              </a:ext>
            </a:extLst>
          </p:cNvPr>
          <p:cNvSpPr>
            <a:spLocks noGrp="1"/>
          </p:cNvSpPr>
          <p:nvPr>
            <p:ph type="title"/>
          </p:nvPr>
        </p:nvSpPr>
        <p:spPr/>
        <p:txBody>
          <a:bodyPr/>
          <a:lstStyle/>
          <a:p>
            <a:r>
              <a:rPr lang="en-US" dirty="0">
                <a:solidFill>
                  <a:srgbClr val="333333"/>
                </a:solidFill>
                <a:latin typeface="Arial"/>
                <a:ea typeface="Arial"/>
                <a:cs typeface="Arial"/>
                <a:sym typeface="Arial"/>
              </a:rPr>
              <a:t>Which Variables Should You not Include In A Regression Model?</a:t>
            </a:r>
            <a:endParaRPr lang="en-IN" dirty="0"/>
          </a:p>
        </p:txBody>
      </p:sp>
      <p:sp>
        <p:nvSpPr>
          <p:cNvPr id="3" name="Text Placeholder 2">
            <a:extLst>
              <a:ext uri="{FF2B5EF4-FFF2-40B4-BE49-F238E27FC236}">
                <a16:creationId xmlns:a16="http://schemas.microsoft.com/office/drawing/2014/main" id="{33F1F9DE-F566-B0B3-EB96-C133B3456B18}"/>
              </a:ext>
            </a:extLst>
          </p:cNvPr>
          <p:cNvSpPr>
            <a:spLocks noGrp="1"/>
          </p:cNvSpPr>
          <p:nvPr>
            <p:ph type="body" idx="1"/>
          </p:nvPr>
        </p:nvSpPr>
        <p:spPr/>
        <p:txBody>
          <a:bodyPr/>
          <a:lstStyle/>
          <a:p>
            <a:pPr marL="228600" lvl="0" indent="-228600">
              <a:buClr>
                <a:srgbClr val="333333"/>
              </a:buClr>
              <a:buSzPct val="100000"/>
            </a:pPr>
            <a:r>
              <a:rPr lang="en-US" dirty="0">
                <a:solidFill>
                  <a:srgbClr val="333333"/>
                </a:solidFill>
                <a:latin typeface="Arial"/>
                <a:ea typeface="Arial"/>
                <a:cs typeface="Arial"/>
                <a:sym typeface="Arial"/>
              </a:rPr>
              <a:t>However, you should watch out for:</a:t>
            </a:r>
            <a:endParaRPr lang="en-US" dirty="0"/>
          </a:p>
          <a:p>
            <a:pPr marL="685800" lvl="1" indent="-228600">
              <a:buClr>
                <a:srgbClr val="333333"/>
              </a:buClr>
              <a:buSzPct val="100000"/>
              <a:buFont typeface="Calibri"/>
              <a:buAutoNum type="arabicPeriod"/>
            </a:pPr>
            <a:r>
              <a:rPr lang="en-US" dirty="0">
                <a:solidFill>
                  <a:srgbClr val="333333"/>
                </a:solidFill>
                <a:latin typeface="Arial"/>
                <a:ea typeface="Arial"/>
                <a:cs typeface="Arial"/>
                <a:sym typeface="Arial"/>
              </a:rPr>
              <a:t>Variables that have a large number of missing values or low variability</a:t>
            </a:r>
            <a:endParaRPr lang="en-US" dirty="0"/>
          </a:p>
          <a:p>
            <a:pPr marL="685800" lvl="1" indent="-228600">
              <a:buClr>
                <a:srgbClr val="333333"/>
              </a:buClr>
              <a:buSzPct val="100000"/>
              <a:buFont typeface="Calibri"/>
              <a:buAutoNum type="arabicPeriod"/>
            </a:pPr>
            <a:r>
              <a:rPr lang="en-US" dirty="0">
                <a:solidFill>
                  <a:srgbClr val="333333"/>
                </a:solidFill>
                <a:latin typeface="Arial"/>
                <a:ea typeface="Arial"/>
                <a:cs typeface="Arial"/>
                <a:sym typeface="Arial"/>
              </a:rPr>
              <a:t>Variables that are highly correlated with other predictors in the model (causing a collinearity problem)</a:t>
            </a:r>
            <a:endParaRPr lang="en-US" dirty="0"/>
          </a:p>
          <a:p>
            <a:pPr marL="685800" lvl="1" indent="-228600">
              <a:buClr>
                <a:srgbClr val="333333"/>
              </a:buClr>
              <a:buSzPct val="100000"/>
              <a:buFont typeface="Calibri"/>
              <a:buAutoNum type="arabicPeriod"/>
            </a:pPr>
            <a:r>
              <a:rPr lang="en-US" dirty="0">
                <a:solidFill>
                  <a:srgbClr val="333333"/>
                </a:solidFill>
                <a:latin typeface="Arial"/>
                <a:ea typeface="Arial"/>
                <a:cs typeface="Arial"/>
                <a:sym typeface="Arial"/>
              </a:rPr>
              <a:t>Variables that are not linearly related to the outcome (in case you’re running a linear regression)</a:t>
            </a:r>
            <a:endParaRPr lang="en-US" dirty="0"/>
          </a:p>
          <a:p>
            <a:endParaRPr lang="en-IN" dirty="0"/>
          </a:p>
        </p:txBody>
      </p:sp>
    </p:spTree>
    <p:extLst>
      <p:ext uri="{BB962C8B-B14F-4D97-AF65-F5344CB8AC3E}">
        <p14:creationId xmlns:p14="http://schemas.microsoft.com/office/powerpoint/2010/main" val="352157092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6FC609E7-9FE5-B9F5-B582-697C5D67F537}"/>
              </a:ext>
            </a:extLst>
          </p:cNvPr>
          <p:cNvSpPr>
            <a:spLocks noGrp="1"/>
          </p:cNvSpPr>
          <p:nvPr>
            <p:ph type="title"/>
          </p:nvPr>
        </p:nvSpPr>
        <p:spPr/>
        <p:txBody>
          <a:bodyPr>
            <a:normAutofit/>
          </a:bodyPr>
          <a:lstStyle/>
          <a:p>
            <a:r>
              <a:rPr lang="en-IN" sz="4000" dirty="0"/>
              <a:t>Which var to control for (include in the model)</a:t>
            </a:r>
          </a:p>
        </p:txBody>
      </p:sp>
      <p:sp>
        <p:nvSpPr>
          <p:cNvPr id="6" name="Text Placeholder 5">
            <a:extLst>
              <a:ext uri="{FF2B5EF4-FFF2-40B4-BE49-F238E27FC236}">
                <a16:creationId xmlns:a16="http://schemas.microsoft.com/office/drawing/2014/main" id="{F674C998-C697-757D-47A5-D575492116B4}"/>
              </a:ext>
            </a:extLst>
          </p:cNvPr>
          <p:cNvSpPr>
            <a:spLocks noGrp="1"/>
          </p:cNvSpPr>
          <p:nvPr>
            <p:ph type="body" idx="1"/>
          </p:nvPr>
        </p:nvSpPr>
        <p:spPr/>
        <p:txBody>
          <a:bodyPr/>
          <a:lstStyle/>
          <a:p>
            <a:pPr marL="0" lvl="0" indent="0" eaLnBrk="0" fontAlgn="base" hangingPunct="0">
              <a:lnSpc>
                <a:spcPct val="100000"/>
              </a:lnSpc>
              <a:spcBef>
                <a:spcPct val="0"/>
              </a:spcBef>
              <a:spcAft>
                <a:spcPct val="0"/>
              </a:spcAft>
              <a:buClrTx/>
              <a:buSzTx/>
              <a:buFontTx/>
              <a:buChar char="•"/>
            </a:pPr>
            <a:r>
              <a:rPr lang="en-US" altLang="en-US" dirty="0">
                <a:solidFill>
                  <a:schemeClr val="tx1"/>
                </a:solidFill>
                <a:latin typeface="Arial" panose="020B0604020202020204" pitchFamily="34" charset="0"/>
              </a:rPr>
              <a:t>If the variable is a </a:t>
            </a:r>
            <a:r>
              <a:rPr lang="en-US" altLang="en-US" b="1" dirty="0">
                <a:solidFill>
                  <a:schemeClr val="tx1"/>
                </a:solidFill>
                <a:latin typeface="Arial" panose="020B0604020202020204" pitchFamily="34" charset="0"/>
              </a:rPr>
              <a:t>confounder</a:t>
            </a:r>
            <a:r>
              <a:rPr lang="en-US" altLang="en-US" dirty="0">
                <a:solidFill>
                  <a:schemeClr val="tx1"/>
                </a:solidFill>
                <a:latin typeface="Arial" panose="020B0604020202020204" pitchFamily="34" charset="0"/>
              </a:rPr>
              <a:t> (affects both predictor and outcome)</a:t>
            </a:r>
          </a:p>
          <a:p>
            <a:pPr marL="457200" lvl="1" indent="0" eaLnBrk="0" fontAlgn="base" hangingPunct="0">
              <a:lnSpc>
                <a:spcPct val="100000"/>
              </a:lnSpc>
              <a:spcBef>
                <a:spcPct val="0"/>
              </a:spcBef>
              <a:spcAft>
                <a:spcPct val="0"/>
              </a:spcAft>
              <a:buClrTx/>
              <a:buSzTx/>
              <a:buFontTx/>
              <a:buChar char="•"/>
            </a:pPr>
            <a:r>
              <a:rPr lang="en-US" altLang="en-US" dirty="0">
                <a:solidFill>
                  <a:schemeClr val="tx1"/>
                </a:solidFill>
                <a:latin typeface="Arial" panose="020B0604020202020204" pitchFamily="34" charset="0"/>
              </a:rPr>
              <a:t>you </a:t>
            </a:r>
            <a:r>
              <a:rPr lang="en-US" altLang="en-US" i="1" dirty="0">
                <a:solidFill>
                  <a:schemeClr val="tx1"/>
                </a:solidFill>
                <a:latin typeface="Arial" panose="020B0604020202020204" pitchFamily="34" charset="0"/>
              </a:rPr>
              <a:t>should</a:t>
            </a:r>
            <a:r>
              <a:rPr lang="en-US" altLang="en-US" dirty="0">
                <a:solidFill>
                  <a:schemeClr val="tx1"/>
                </a:solidFill>
                <a:latin typeface="Arial" panose="020B0604020202020204" pitchFamily="34" charset="0"/>
              </a:rPr>
              <a:t> control.</a:t>
            </a:r>
          </a:p>
          <a:p>
            <a:pPr marL="0" lvl="0" indent="0" eaLnBrk="0" fontAlgn="base" hangingPunct="0">
              <a:lnSpc>
                <a:spcPct val="100000"/>
              </a:lnSpc>
              <a:spcBef>
                <a:spcPct val="0"/>
              </a:spcBef>
              <a:spcAft>
                <a:spcPct val="0"/>
              </a:spcAft>
              <a:buClrTx/>
              <a:buSzTx/>
              <a:buFontTx/>
              <a:buChar char="•"/>
            </a:pPr>
            <a:r>
              <a:rPr lang="en-US" altLang="en-US" dirty="0">
                <a:solidFill>
                  <a:schemeClr val="tx1"/>
                </a:solidFill>
                <a:latin typeface="Arial" panose="020B0604020202020204" pitchFamily="34" charset="0"/>
              </a:rPr>
              <a:t>If it’s a </a:t>
            </a:r>
            <a:r>
              <a:rPr lang="en-US" altLang="en-US" b="1" dirty="0">
                <a:solidFill>
                  <a:schemeClr val="tx1"/>
                </a:solidFill>
                <a:latin typeface="Arial" panose="020B0604020202020204" pitchFamily="34" charset="0"/>
              </a:rPr>
              <a:t>mediator</a:t>
            </a:r>
            <a:r>
              <a:rPr lang="en-US" altLang="en-US" dirty="0">
                <a:solidFill>
                  <a:schemeClr val="tx1"/>
                </a:solidFill>
                <a:latin typeface="Arial" panose="020B0604020202020204" pitchFamily="34" charset="0"/>
              </a:rPr>
              <a:t> (lies on the causal path)</a:t>
            </a:r>
          </a:p>
          <a:p>
            <a:pPr marL="457200" lvl="1" indent="0" eaLnBrk="0" fontAlgn="base" hangingPunct="0">
              <a:lnSpc>
                <a:spcPct val="100000"/>
              </a:lnSpc>
              <a:spcBef>
                <a:spcPct val="0"/>
              </a:spcBef>
              <a:spcAft>
                <a:spcPct val="0"/>
              </a:spcAft>
              <a:buClrTx/>
              <a:buSzTx/>
              <a:buFontTx/>
              <a:buChar char="•"/>
            </a:pPr>
            <a:r>
              <a:rPr lang="en-US" altLang="en-US" dirty="0">
                <a:solidFill>
                  <a:schemeClr val="tx1"/>
                </a:solidFill>
                <a:latin typeface="Arial" panose="020B0604020202020204" pitchFamily="34" charset="0"/>
              </a:rPr>
              <a:t>controlling might “block” the effect you want to measure.</a:t>
            </a:r>
          </a:p>
          <a:p>
            <a:pPr marL="0" lvl="0" indent="0" eaLnBrk="0" fontAlgn="base" hangingPunct="0">
              <a:lnSpc>
                <a:spcPct val="100000"/>
              </a:lnSpc>
              <a:spcBef>
                <a:spcPct val="0"/>
              </a:spcBef>
              <a:spcAft>
                <a:spcPct val="0"/>
              </a:spcAft>
              <a:buClrTx/>
              <a:buSzTx/>
              <a:buFontTx/>
              <a:buChar char="•"/>
            </a:pPr>
            <a:r>
              <a:rPr lang="en-US" altLang="en-US" dirty="0">
                <a:solidFill>
                  <a:schemeClr val="tx1"/>
                </a:solidFill>
                <a:latin typeface="Arial" panose="020B0604020202020204" pitchFamily="34" charset="0"/>
              </a:rPr>
              <a:t>If it’s irrelevant</a:t>
            </a:r>
          </a:p>
          <a:p>
            <a:pPr marL="457200" lvl="1" indent="0" eaLnBrk="0" fontAlgn="base" hangingPunct="0">
              <a:lnSpc>
                <a:spcPct val="100000"/>
              </a:lnSpc>
              <a:spcBef>
                <a:spcPct val="0"/>
              </a:spcBef>
              <a:spcAft>
                <a:spcPct val="0"/>
              </a:spcAft>
              <a:buClrTx/>
              <a:buSzTx/>
              <a:buFontTx/>
              <a:buChar char="•"/>
            </a:pPr>
            <a:r>
              <a:rPr lang="en-US" altLang="en-US" dirty="0">
                <a:solidFill>
                  <a:schemeClr val="tx1"/>
                </a:solidFill>
                <a:latin typeface="Arial" panose="020B0604020202020204" pitchFamily="34" charset="0"/>
              </a:rPr>
              <a:t>controlling adds unnecessary noise.</a:t>
            </a:r>
          </a:p>
          <a:p>
            <a:endParaRPr lang="en-IN" dirty="0"/>
          </a:p>
        </p:txBody>
      </p:sp>
    </p:spTree>
    <p:extLst>
      <p:ext uri="{BB962C8B-B14F-4D97-AF65-F5344CB8AC3E}">
        <p14:creationId xmlns:p14="http://schemas.microsoft.com/office/powerpoint/2010/main" val="182484418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79"/>
        <p:cNvGrpSpPr/>
        <p:nvPr/>
      </p:nvGrpSpPr>
      <p:grpSpPr>
        <a:xfrm>
          <a:off x="0" y="0"/>
          <a:ext cx="0" cy="0"/>
          <a:chOff x="0" y="0"/>
          <a:chExt cx="0" cy="0"/>
        </a:xfrm>
      </p:grpSpPr>
      <p:sp>
        <p:nvSpPr>
          <p:cNvPr id="80" name="Google Shape;80;p4"/>
          <p:cNvSpPr txBox="1">
            <a:spLocks noGrp="1"/>
          </p:cNvSpPr>
          <p:nvPr>
            <p:ph type="title"/>
          </p:nvPr>
        </p:nvSpPr>
        <p:spPr>
          <a:xfrm>
            <a:off x="838200" y="365125"/>
            <a:ext cx="10515600" cy="1325600"/>
          </a:xfrm>
          <a:prstGeom prst="rect">
            <a:avLst/>
          </a:prstGeom>
          <a:noFill/>
          <a:ln>
            <a:noFill/>
          </a:ln>
        </p:spPr>
        <p:txBody>
          <a:bodyPr spcFirstLastPara="1" wrap="square" lIns="91433" tIns="45700" rIns="91433" bIns="45700" anchor="ctr" anchorCtr="0">
            <a:normAutofit/>
          </a:bodyPr>
          <a:lstStyle/>
          <a:p>
            <a:pPr>
              <a:buSzPts val="1400"/>
            </a:pPr>
            <a:r>
              <a:rPr lang="en"/>
              <a:t>Collinearity </a:t>
            </a:r>
            <a:endParaRPr/>
          </a:p>
        </p:txBody>
      </p:sp>
      <p:sp>
        <p:nvSpPr>
          <p:cNvPr id="81" name="Google Shape;81;p4"/>
          <p:cNvSpPr txBox="1">
            <a:spLocks noGrp="1"/>
          </p:cNvSpPr>
          <p:nvPr>
            <p:ph type="body" idx="1"/>
          </p:nvPr>
        </p:nvSpPr>
        <p:spPr>
          <a:xfrm>
            <a:off x="838200" y="1825625"/>
            <a:ext cx="10515600" cy="4351200"/>
          </a:xfrm>
          <a:prstGeom prst="rect">
            <a:avLst/>
          </a:prstGeom>
          <a:noFill/>
          <a:ln>
            <a:noFill/>
          </a:ln>
        </p:spPr>
        <p:txBody>
          <a:bodyPr spcFirstLastPara="1" wrap="square" lIns="91433" tIns="45700" rIns="91433" bIns="45700" anchor="t" anchorCtr="0">
            <a:normAutofit/>
          </a:bodyPr>
          <a:lstStyle/>
          <a:p>
            <a:pPr marL="457189" indent="-372524">
              <a:spcBef>
                <a:spcPts val="1067"/>
              </a:spcBef>
              <a:buChar char="●"/>
            </a:pPr>
            <a:r>
              <a:rPr lang="en" sz="2400" dirty="0"/>
              <a:t>A situation in which two or more independent variables in a regression model are highly correlated with each other. </a:t>
            </a:r>
            <a:endParaRPr sz="2400" dirty="0"/>
          </a:p>
          <a:p>
            <a:pPr marL="914377" lvl="1" indent="-347125">
              <a:spcBef>
                <a:spcPts val="0"/>
              </a:spcBef>
              <a:buSzPts val="1500"/>
              <a:buChar char="○"/>
            </a:pPr>
            <a:r>
              <a:rPr lang="en" sz="2000" dirty="0"/>
              <a:t>which means they share some degree of linear relationship. </a:t>
            </a:r>
            <a:endParaRPr sz="1467" dirty="0"/>
          </a:p>
          <a:p>
            <a:pPr marL="457189" indent="-372524">
              <a:spcBef>
                <a:spcPts val="0"/>
              </a:spcBef>
              <a:buChar char="●"/>
            </a:pPr>
            <a:r>
              <a:rPr lang="en" sz="2400" dirty="0">
                <a:solidFill>
                  <a:schemeClr val="dk1"/>
                </a:solidFill>
              </a:rPr>
              <a:t>Makes it</a:t>
            </a:r>
            <a:r>
              <a:rPr lang="en" sz="2400" dirty="0"/>
              <a:t> difficult to determine the individual effect of each variable on the dependent variable because their effects are not easily separable.</a:t>
            </a:r>
            <a:endParaRPr sz="2400" dirty="0"/>
          </a:p>
          <a:p>
            <a:pPr marL="457189" indent="-372524">
              <a:spcBef>
                <a:spcPts val="0"/>
              </a:spcBef>
              <a:buChar char="●"/>
            </a:pPr>
            <a:r>
              <a:rPr lang="en" sz="2400" dirty="0"/>
              <a:t>Example</a:t>
            </a:r>
            <a:endParaRPr sz="2400" dirty="0"/>
          </a:p>
          <a:p>
            <a:pPr marL="914377" lvl="1" indent="-372524">
              <a:spcBef>
                <a:spcPts val="0"/>
              </a:spcBef>
              <a:buChar char="○"/>
            </a:pPr>
            <a:r>
              <a:rPr lang="en" dirty="0"/>
              <a:t>if you're predicting house prices and include both the number of bedrooms and the square footage of the house as predictors, </a:t>
            </a:r>
            <a:endParaRPr dirty="0"/>
          </a:p>
          <a:p>
            <a:pPr marL="1371566" lvl="2" indent="-372524">
              <a:spcBef>
                <a:spcPts val="0"/>
              </a:spcBef>
              <a:buChar char="■"/>
            </a:pPr>
            <a:r>
              <a:rPr lang="en" sz="2400" dirty="0"/>
              <a:t>these two variables might be highly correlated (bigger houses tend to have more bedrooms).</a:t>
            </a:r>
            <a:endParaRPr sz="2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52"/>
        <p:cNvGrpSpPr/>
        <p:nvPr/>
      </p:nvGrpSpPr>
      <p:grpSpPr>
        <a:xfrm>
          <a:off x="0" y="0"/>
          <a:ext cx="0" cy="0"/>
          <a:chOff x="0" y="0"/>
          <a:chExt cx="0" cy="0"/>
        </a:xfrm>
      </p:grpSpPr>
      <p:sp>
        <p:nvSpPr>
          <p:cNvPr id="353" name="Google Shape;353;p4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333333"/>
              </a:buClr>
              <a:buSzPts val="4400"/>
              <a:buFont typeface="Arial"/>
              <a:buNone/>
            </a:pPr>
            <a:r>
              <a:rPr lang="en-US" b="1" i="0">
                <a:solidFill>
                  <a:srgbClr val="333333"/>
                </a:solidFill>
                <a:latin typeface="Arial"/>
                <a:ea typeface="Arial"/>
                <a:cs typeface="Arial"/>
                <a:sym typeface="Arial"/>
              </a:rPr>
              <a:t>How to detect collinearity?</a:t>
            </a:r>
            <a:endParaRPr/>
          </a:p>
        </p:txBody>
      </p:sp>
      <p:sp>
        <p:nvSpPr>
          <p:cNvPr id="354" name="Google Shape;354;p4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fontScale="92500" lnSpcReduction="20000"/>
          </a:bodyPr>
          <a:lstStyle/>
          <a:p>
            <a:pPr marL="228600" lvl="0" indent="-228600" algn="l" rtl="0">
              <a:lnSpc>
                <a:spcPct val="90000"/>
              </a:lnSpc>
              <a:spcBef>
                <a:spcPts val="0"/>
              </a:spcBef>
              <a:spcAft>
                <a:spcPts val="0"/>
              </a:spcAft>
              <a:buClr>
                <a:srgbClr val="333333"/>
              </a:buClr>
              <a:buSzPct val="100000"/>
              <a:buChar char="•"/>
            </a:pPr>
            <a:r>
              <a:rPr lang="en-US" b="0" i="0" dirty="0">
                <a:solidFill>
                  <a:srgbClr val="333333"/>
                </a:solidFill>
                <a:latin typeface="Arial"/>
                <a:ea typeface="Arial"/>
                <a:cs typeface="Arial"/>
                <a:sym typeface="Arial"/>
              </a:rPr>
              <a:t>Not all collinearity problems can be detected by inspection of the correlation matrix. </a:t>
            </a:r>
          </a:p>
          <a:p>
            <a:pPr marL="685800" lvl="1" indent="-228600">
              <a:spcBef>
                <a:spcPts val="0"/>
              </a:spcBef>
              <a:buClr>
                <a:srgbClr val="333333"/>
              </a:buClr>
              <a:buSzPct val="100000"/>
            </a:pPr>
            <a:r>
              <a:rPr lang="en-US" b="0" i="0" dirty="0">
                <a:solidFill>
                  <a:srgbClr val="333333"/>
                </a:solidFill>
                <a:latin typeface="Arial"/>
                <a:ea typeface="Arial"/>
                <a:cs typeface="Arial"/>
                <a:sym typeface="Arial"/>
              </a:rPr>
              <a:t>This is because a correlation matrix shows correlation between PAIRS of variables.</a:t>
            </a:r>
            <a:endParaRPr dirty="0"/>
          </a:p>
          <a:p>
            <a:pPr marL="228600" lvl="0" indent="-228600" algn="l" rtl="0">
              <a:lnSpc>
                <a:spcPct val="90000"/>
              </a:lnSpc>
              <a:spcBef>
                <a:spcPts val="1000"/>
              </a:spcBef>
              <a:spcAft>
                <a:spcPts val="0"/>
              </a:spcAft>
              <a:buClr>
                <a:srgbClr val="333333"/>
              </a:buClr>
              <a:buSzPct val="100000"/>
              <a:buChar char="•"/>
            </a:pPr>
            <a:r>
              <a:rPr lang="en-US" b="0" i="0" dirty="0">
                <a:solidFill>
                  <a:srgbClr val="333333"/>
                </a:solidFill>
                <a:latin typeface="Arial"/>
                <a:ea typeface="Arial"/>
                <a:cs typeface="Arial"/>
                <a:sym typeface="Arial"/>
              </a:rPr>
              <a:t>Sometimes collinearity exists between 3 or more variables — multicollinearity, </a:t>
            </a:r>
          </a:p>
          <a:p>
            <a:pPr marL="685800" lvl="1" indent="-228600">
              <a:spcBef>
                <a:spcPts val="1000"/>
              </a:spcBef>
              <a:buClr>
                <a:srgbClr val="333333"/>
              </a:buClr>
              <a:buSzPct val="100000"/>
            </a:pPr>
            <a:r>
              <a:rPr lang="en-US" b="0" i="0" dirty="0">
                <a:solidFill>
                  <a:srgbClr val="333333"/>
                </a:solidFill>
                <a:latin typeface="Arial"/>
                <a:ea typeface="Arial"/>
                <a:cs typeface="Arial"/>
                <a:sym typeface="Arial"/>
              </a:rPr>
              <a:t>this can be detected by looking at the VIF (Variance Inflation Factor).</a:t>
            </a:r>
            <a:endParaRPr dirty="0"/>
          </a:p>
          <a:p>
            <a:pPr marL="228600" lvl="0" indent="-228600" algn="l" rtl="0">
              <a:lnSpc>
                <a:spcPct val="90000"/>
              </a:lnSpc>
              <a:spcBef>
                <a:spcPts val="1000"/>
              </a:spcBef>
              <a:spcAft>
                <a:spcPts val="0"/>
              </a:spcAft>
              <a:buClr>
                <a:srgbClr val="333333"/>
              </a:buClr>
              <a:buSzPct val="100000"/>
              <a:buChar char="•"/>
            </a:pPr>
            <a:r>
              <a:rPr lang="en-US" b="0" i="0" dirty="0">
                <a:solidFill>
                  <a:srgbClr val="333333"/>
                </a:solidFill>
                <a:latin typeface="Arial"/>
                <a:ea typeface="Arial"/>
                <a:cs typeface="Arial"/>
                <a:sym typeface="Arial"/>
              </a:rPr>
              <a:t>In general, a VIF &gt; 10 indicates a multicollinearity issue. </a:t>
            </a:r>
          </a:p>
          <a:p>
            <a:pPr marL="685800" lvl="1" indent="-228600">
              <a:spcBef>
                <a:spcPts val="1000"/>
              </a:spcBef>
              <a:buClr>
                <a:srgbClr val="333333"/>
              </a:buClr>
              <a:buSzPct val="100000"/>
            </a:pPr>
            <a:r>
              <a:rPr lang="en-US" dirty="0">
                <a:solidFill>
                  <a:srgbClr val="333333"/>
                </a:solidFill>
                <a:latin typeface="Arial"/>
                <a:ea typeface="Arial"/>
                <a:cs typeface="Arial"/>
                <a:sym typeface="Arial"/>
              </a:rPr>
              <a:t>Not hard and fast: </a:t>
            </a:r>
            <a:r>
              <a:rPr lang="en-US" b="0" i="0" dirty="0">
                <a:solidFill>
                  <a:srgbClr val="333333"/>
                </a:solidFill>
                <a:latin typeface="Arial"/>
                <a:ea typeface="Arial"/>
                <a:cs typeface="Arial"/>
                <a:sym typeface="Arial"/>
              </a:rPr>
              <a:t>sometimes multicollinearity can be present even with a VIF &lt; 5</a:t>
            </a:r>
            <a:endParaRPr dirty="0"/>
          </a:p>
          <a:p>
            <a:pPr marL="228600" lvl="0" indent="-228600" algn="l" rtl="0">
              <a:lnSpc>
                <a:spcPct val="90000"/>
              </a:lnSpc>
              <a:spcBef>
                <a:spcPts val="1000"/>
              </a:spcBef>
              <a:spcAft>
                <a:spcPts val="0"/>
              </a:spcAft>
              <a:buClr>
                <a:srgbClr val="333333"/>
              </a:buClr>
              <a:buSzPct val="100000"/>
              <a:buChar char="•"/>
            </a:pPr>
            <a:r>
              <a:rPr lang="en-US" sz="2800" b="0" i="0" u="none" strike="noStrike" cap="none" dirty="0">
                <a:solidFill>
                  <a:srgbClr val="333333"/>
                </a:solidFill>
                <a:latin typeface="Arial"/>
                <a:ea typeface="Arial"/>
                <a:cs typeface="Arial"/>
                <a:sym typeface="Arial"/>
              </a:rPr>
              <a:t>Once collinearity is detected: Solution:</a:t>
            </a:r>
          </a:p>
          <a:p>
            <a:pPr marL="685800" lvl="1" indent="-228600">
              <a:spcBef>
                <a:spcPts val="1000"/>
              </a:spcBef>
              <a:buClr>
                <a:srgbClr val="333333"/>
              </a:buClr>
              <a:buSzPct val="100000"/>
            </a:pPr>
            <a:r>
              <a:rPr lang="en-US" b="0" i="0" u="none" strike="noStrike" cap="none" dirty="0">
                <a:solidFill>
                  <a:srgbClr val="333333"/>
                </a:solidFill>
                <a:latin typeface="Arial"/>
                <a:ea typeface="Arial"/>
                <a:cs typeface="Arial"/>
                <a:sym typeface="Arial"/>
              </a:rPr>
              <a:t>the simplest solution is to keep the most important of the variables and drop the rest.</a:t>
            </a:r>
            <a:r>
              <a:rPr lang="en-US" sz="1600" b="0" i="0" u="none" strike="noStrike" cap="none" dirty="0">
                <a:solidFill>
                  <a:schemeClr val="dk1"/>
                </a:solidFill>
              </a:rPr>
              <a:t> </a:t>
            </a:r>
            <a:endParaRPr sz="3200" b="0" i="0" u="none" strike="noStrike" cap="none" dirty="0">
              <a:solidFill>
                <a:schemeClr val="dk1"/>
              </a:solidFill>
              <a:latin typeface="Arial"/>
              <a:ea typeface="Arial"/>
              <a:cs typeface="Arial"/>
              <a:sym typeface="Arial"/>
            </a:endParaRPr>
          </a:p>
          <a:p>
            <a:pPr marL="228600" lvl="0" indent="-64135" algn="l" rtl="0">
              <a:lnSpc>
                <a:spcPct val="90000"/>
              </a:lnSpc>
              <a:spcBef>
                <a:spcPts val="1000"/>
              </a:spcBef>
              <a:spcAft>
                <a:spcPts val="0"/>
              </a:spcAft>
              <a:buClr>
                <a:schemeClr val="dk1"/>
              </a:buClr>
              <a:buSzPct val="100000"/>
              <a:buNone/>
            </a:pPr>
            <a:endParaRPr b="0" i="0" dirty="0">
              <a:solidFill>
                <a:srgbClr val="333333"/>
              </a:solidFill>
              <a:latin typeface="Arial"/>
              <a:ea typeface="Arial"/>
              <a:cs typeface="Arial"/>
              <a:sym typeface="Arial"/>
            </a:endParaRPr>
          </a:p>
          <a:p>
            <a:pPr marL="228600" lvl="0" indent="-64135" algn="l" rtl="0">
              <a:lnSpc>
                <a:spcPct val="90000"/>
              </a:lnSpc>
              <a:spcBef>
                <a:spcPts val="1000"/>
              </a:spcBef>
              <a:spcAft>
                <a:spcPts val="0"/>
              </a:spcAft>
              <a:buClr>
                <a:schemeClr val="dk1"/>
              </a:buClr>
              <a:buSzPct val="100000"/>
              <a:buNone/>
            </a:pPr>
            <a:endParaRPr dirty="0"/>
          </a:p>
        </p:txBody>
      </p:sp>
      <p:sp>
        <p:nvSpPr>
          <p:cNvPr id="355" name="Google Shape;355;p41"/>
          <p:cNvSpPr/>
          <p:nvPr/>
        </p:nvSpPr>
        <p:spPr>
          <a:xfrm>
            <a:off x="0" y="-38099"/>
            <a:ext cx="65" cy="533399"/>
          </a:xfrm>
          <a:prstGeom prst="rect">
            <a:avLst/>
          </a:prstGeom>
          <a:noFill/>
          <a:ln>
            <a:noFill/>
          </a:ln>
        </p:spPr>
        <p:txBody>
          <a:bodyPr spcFirstLastPara="1" wrap="square" lIns="0" tIns="0" rIns="0" bIns="253900" anchor="ctr" anchorCtr="0">
            <a:sp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41077700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85"/>
        <p:cNvGrpSpPr/>
        <p:nvPr/>
      </p:nvGrpSpPr>
      <p:grpSpPr>
        <a:xfrm>
          <a:off x="0" y="0"/>
          <a:ext cx="0" cy="0"/>
          <a:chOff x="0" y="0"/>
          <a:chExt cx="0" cy="0"/>
        </a:xfrm>
      </p:grpSpPr>
      <p:sp>
        <p:nvSpPr>
          <p:cNvPr id="86" name="Google Shape;86;p5"/>
          <p:cNvSpPr txBox="1">
            <a:spLocks noGrp="1"/>
          </p:cNvSpPr>
          <p:nvPr>
            <p:ph type="title"/>
          </p:nvPr>
        </p:nvSpPr>
        <p:spPr>
          <a:xfrm>
            <a:off x="838200" y="365125"/>
            <a:ext cx="10515600" cy="1325600"/>
          </a:xfrm>
          <a:prstGeom prst="rect">
            <a:avLst/>
          </a:prstGeom>
          <a:noFill/>
          <a:ln>
            <a:noFill/>
          </a:ln>
        </p:spPr>
        <p:txBody>
          <a:bodyPr spcFirstLastPara="1" wrap="square" lIns="91433" tIns="45700" rIns="91433" bIns="45700" anchor="ctr" anchorCtr="0">
            <a:normAutofit/>
          </a:bodyPr>
          <a:lstStyle/>
          <a:p>
            <a:pPr>
              <a:buSzPts val="1400"/>
            </a:pPr>
            <a:r>
              <a:rPr lang="en"/>
              <a:t>Impact on Regression Model</a:t>
            </a:r>
            <a:endParaRPr/>
          </a:p>
        </p:txBody>
      </p:sp>
      <p:sp>
        <p:nvSpPr>
          <p:cNvPr id="87" name="Google Shape;87;p5"/>
          <p:cNvSpPr txBox="1">
            <a:spLocks noGrp="1"/>
          </p:cNvSpPr>
          <p:nvPr>
            <p:ph type="body" idx="1"/>
          </p:nvPr>
        </p:nvSpPr>
        <p:spPr>
          <a:xfrm>
            <a:off x="838200" y="1825625"/>
            <a:ext cx="10515600" cy="4351200"/>
          </a:xfrm>
          <a:prstGeom prst="rect">
            <a:avLst/>
          </a:prstGeom>
          <a:noFill/>
          <a:ln>
            <a:noFill/>
          </a:ln>
        </p:spPr>
        <p:txBody>
          <a:bodyPr spcFirstLastPara="1" wrap="square" lIns="91433" tIns="45700" rIns="91433" bIns="45700" anchor="t" anchorCtr="0">
            <a:normAutofit/>
          </a:bodyPr>
          <a:lstStyle/>
          <a:p>
            <a:pPr marL="457189" indent="-355591">
              <a:spcBef>
                <a:spcPts val="1067"/>
              </a:spcBef>
              <a:buSzPts val="1600"/>
              <a:buFont typeface="Arial"/>
              <a:buChar char="●"/>
            </a:pPr>
            <a:r>
              <a:rPr lang="en" sz="2133" b="1">
                <a:latin typeface="Arial"/>
                <a:ea typeface="Arial"/>
                <a:cs typeface="Arial"/>
                <a:sym typeface="Arial"/>
              </a:rPr>
              <a:t>Unstable Coefficient Estimates</a:t>
            </a:r>
            <a:endParaRPr sz="2133">
              <a:latin typeface="Arial"/>
              <a:ea typeface="Arial"/>
              <a:cs typeface="Arial"/>
              <a:sym typeface="Arial"/>
            </a:endParaRPr>
          </a:p>
          <a:p>
            <a:pPr marL="914377" lvl="1" indent="-355591">
              <a:spcBef>
                <a:spcPts val="0"/>
              </a:spcBef>
              <a:buSzPts val="1600"/>
              <a:buFont typeface="Arial"/>
              <a:buChar char="○"/>
            </a:pPr>
            <a:r>
              <a:rPr lang="en" sz="2133">
                <a:latin typeface="Arial"/>
                <a:ea typeface="Arial"/>
                <a:cs typeface="Arial"/>
                <a:sym typeface="Arial"/>
              </a:rPr>
              <a:t>The coefficients of the correlated variables may become highly sensitive to small changes in the model, leading to large variances in the estimated coefficients.</a:t>
            </a:r>
            <a:endParaRPr sz="2133">
              <a:latin typeface="Arial"/>
              <a:ea typeface="Arial"/>
              <a:cs typeface="Arial"/>
              <a:sym typeface="Arial"/>
            </a:endParaRPr>
          </a:p>
          <a:p>
            <a:pPr marL="457189" indent="-355591">
              <a:spcBef>
                <a:spcPts val="0"/>
              </a:spcBef>
              <a:buSzPts val="1600"/>
              <a:buFont typeface="Arial"/>
              <a:buChar char="●"/>
            </a:pPr>
            <a:r>
              <a:rPr lang="en" sz="2133" b="1">
                <a:latin typeface="Arial"/>
                <a:ea typeface="Arial"/>
                <a:cs typeface="Arial"/>
                <a:sym typeface="Arial"/>
              </a:rPr>
              <a:t>Interpretation Challenges</a:t>
            </a:r>
            <a:endParaRPr sz="2133">
              <a:latin typeface="Arial"/>
              <a:ea typeface="Arial"/>
              <a:cs typeface="Arial"/>
              <a:sym typeface="Arial"/>
            </a:endParaRPr>
          </a:p>
          <a:p>
            <a:pPr marL="914377" lvl="1" indent="-355591">
              <a:spcBef>
                <a:spcPts val="0"/>
              </a:spcBef>
              <a:buSzPts val="1600"/>
              <a:buFont typeface="Arial"/>
              <a:buChar char="○"/>
            </a:pPr>
            <a:r>
              <a:rPr lang="en" sz="2133">
                <a:latin typeface="Arial"/>
                <a:ea typeface="Arial"/>
                <a:cs typeface="Arial"/>
                <a:sym typeface="Arial"/>
              </a:rPr>
              <a:t>It becomes difficult to interpret the individual effect of each variable because their contributions to the model are not independent.</a:t>
            </a:r>
            <a:endParaRPr sz="2133">
              <a:latin typeface="Arial"/>
              <a:ea typeface="Arial"/>
              <a:cs typeface="Arial"/>
              <a:sym typeface="Arial"/>
            </a:endParaRPr>
          </a:p>
          <a:p>
            <a:pPr marL="457189" indent="-355591">
              <a:spcBef>
                <a:spcPts val="0"/>
              </a:spcBef>
              <a:buSzPts val="1600"/>
              <a:buFont typeface="Arial"/>
              <a:buChar char="●"/>
            </a:pPr>
            <a:r>
              <a:rPr lang="en" sz="2133" b="1">
                <a:latin typeface="Arial"/>
                <a:ea typeface="Arial"/>
                <a:cs typeface="Arial"/>
                <a:sym typeface="Arial"/>
              </a:rPr>
              <a:t>Reduced Model Reliability</a:t>
            </a:r>
            <a:endParaRPr sz="2133">
              <a:latin typeface="Arial"/>
              <a:ea typeface="Arial"/>
              <a:cs typeface="Arial"/>
              <a:sym typeface="Arial"/>
            </a:endParaRPr>
          </a:p>
          <a:p>
            <a:pPr marL="914377" lvl="1" indent="-355591">
              <a:spcBef>
                <a:spcPts val="0"/>
              </a:spcBef>
              <a:buSzPts val="1600"/>
              <a:buFont typeface="Arial"/>
              <a:buChar char="○"/>
            </a:pPr>
            <a:r>
              <a:rPr lang="en" sz="2133">
                <a:latin typeface="Arial"/>
                <a:ea typeface="Arial"/>
                <a:cs typeface="Arial"/>
                <a:sym typeface="Arial"/>
              </a:rPr>
              <a:t>High collinearity can make the model less reliable and less generalizable to new data.</a:t>
            </a:r>
            <a:endParaRPr sz="2133">
              <a:latin typeface="Arial"/>
              <a:ea typeface="Arial"/>
              <a:cs typeface="Arial"/>
              <a:sym typeface="Arial"/>
            </a:endParaRPr>
          </a:p>
          <a:p>
            <a:pPr marL="0" indent="0">
              <a:spcBef>
                <a:spcPts val="1600"/>
              </a:spcBef>
              <a:spcAft>
                <a:spcPts val="1600"/>
              </a:spcAft>
              <a:buSzPts val="1400"/>
              <a:buNone/>
            </a:pPr>
            <a:endParaRPr>
              <a:solidFill>
                <a:schemeClr val="dk1"/>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91"/>
        <p:cNvGrpSpPr/>
        <p:nvPr/>
      </p:nvGrpSpPr>
      <p:grpSpPr>
        <a:xfrm>
          <a:off x="0" y="0"/>
          <a:ext cx="0" cy="0"/>
          <a:chOff x="0" y="0"/>
          <a:chExt cx="0" cy="0"/>
        </a:xfrm>
      </p:grpSpPr>
      <p:sp>
        <p:nvSpPr>
          <p:cNvPr id="92" name="Google Shape;92;p6"/>
          <p:cNvSpPr txBox="1">
            <a:spLocks noGrp="1"/>
          </p:cNvSpPr>
          <p:nvPr>
            <p:ph type="title"/>
          </p:nvPr>
        </p:nvSpPr>
        <p:spPr>
          <a:xfrm>
            <a:off x="838200" y="365125"/>
            <a:ext cx="10515600" cy="1325600"/>
          </a:xfrm>
          <a:prstGeom prst="rect">
            <a:avLst/>
          </a:prstGeom>
          <a:noFill/>
          <a:ln>
            <a:noFill/>
          </a:ln>
        </p:spPr>
        <p:txBody>
          <a:bodyPr spcFirstLastPara="1" wrap="square" lIns="91433" tIns="45700" rIns="91433" bIns="45700" anchor="ctr" anchorCtr="0">
            <a:normAutofit/>
          </a:bodyPr>
          <a:lstStyle/>
          <a:p>
            <a:pPr>
              <a:buSzPts val="1400"/>
            </a:pPr>
            <a:r>
              <a:rPr lang="en"/>
              <a:t>Detection and Mitigation</a:t>
            </a:r>
            <a:endParaRPr/>
          </a:p>
        </p:txBody>
      </p:sp>
      <p:sp>
        <p:nvSpPr>
          <p:cNvPr id="93" name="Google Shape;93;p6"/>
          <p:cNvSpPr txBox="1">
            <a:spLocks noGrp="1"/>
          </p:cNvSpPr>
          <p:nvPr>
            <p:ph type="body" idx="1"/>
          </p:nvPr>
        </p:nvSpPr>
        <p:spPr>
          <a:xfrm>
            <a:off x="838200" y="1825625"/>
            <a:ext cx="10515600" cy="4351200"/>
          </a:xfrm>
          <a:prstGeom prst="rect">
            <a:avLst/>
          </a:prstGeom>
          <a:noFill/>
          <a:ln>
            <a:noFill/>
          </a:ln>
        </p:spPr>
        <p:txBody>
          <a:bodyPr spcFirstLastPara="1" wrap="square" lIns="91433" tIns="45700" rIns="91433" bIns="45700" anchor="t" anchorCtr="0">
            <a:normAutofit/>
          </a:bodyPr>
          <a:lstStyle/>
          <a:p>
            <a:pPr marL="457189" indent="-355591">
              <a:spcBef>
                <a:spcPts val="1067"/>
              </a:spcBef>
              <a:buSzPts val="1600"/>
              <a:buFont typeface="Arial"/>
              <a:buChar char="●"/>
            </a:pPr>
            <a:r>
              <a:rPr lang="en" sz="2133" b="1">
                <a:latin typeface="Arial"/>
                <a:ea typeface="Arial"/>
                <a:cs typeface="Arial"/>
                <a:sym typeface="Arial"/>
              </a:rPr>
              <a:t>Variance Inflation Factor (VIF)</a:t>
            </a:r>
            <a:endParaRPr sz="2133" b="1">
              <a:latin typeface="Arial"/>
              <a:ea typeface="Arial"/>
              <a:cs typeface="Arial"/>
              <a:sym typeface="Arial"/>
            </a:endParaRPr>
          </a:p>
          <a:p>
            <a:pPr marL="914377" lvl="1" indent="-355591">
              <a:spcBef>
                <a:spcPts val="0"/>
              </a:spcBef>
              <a:buSzPts val="1600"/>
              <a:buFont typeface="Arial"/>
              <a:buChar char="○"/>
            </a:pPr>
            <a:r>
              <a:rPr lang="en" sz="2133">
                <a:latin typeface="Arial"/>
                <a:ea typeface="Arial"/>
                <a:cs typeface="Arial"/>
                <a:sym typeface="Arial"/>
              </a:rPr>
              <a:t>A common method to detect multicollinearity is to calculate the VIF for each predictor. </a:t>
            </a:r>
            <a:endParaRPr sz="2133">
              <a:latin typeface="Arial"/>
              <a:ea typeface="Arial"/>
              <a:cs typeface="Arial"/>
              <a:sym typeface="Arial"/>
            </a:endParaRPr>
          </a:p>
          <a:p>
            <a:pPr marL="914377" lvl="1" indent="-355591">
              <a:spcBef>
                <a:spcPts val="0"/>
              </a:spcBef>
              <a:buSzPts val="1600"/>
              <a:buFont typeface="Arial"/>
              <a:buChar char="○"/>
            </a:pPr>
            <a:r>
              <a:rPr lang="en" sz="2133">
                <a:latin typeface="Arial"/>
                <a:ea typeface="Arial"/>
                <a:cs typeface="Arial"/>
                <a:sym typeface="Arial"/>
              </a:rPr>
              <a:t>A VIF value above 10 is often considered indicative of high multicollinearity.</a:t>
            </a:r>
            <a:endParaRPr sz="2133">
              <a:latin typeface="Arial"/>
              <a:ea typeface="Arial"/>
              <a:cs typeface="Arial"/>
              <a:sym typeface="Arial"/>
            </a:endParaRPr>
          </a:p>
          <a:p>
            <a:pPr marL="457189" indent="-355591">
              <a:spcBef>
                <a:spcPts val="0"/>
              </a:spcBef>
              <a:buSzPts val="1600"/>
              <a:buFont typeface="Arial"/>
              <a:buChar char="●"/>
            </a:pPr>
            <a:r>
              <a:rPr lang="en" sz="2133" b="1">
                <a:latin typeface="Arial"/>
                <a:ea typeface="Arial"/>
                <a:cs typeface="Arial"/>
                <a:sym typeface="Arial"/>
              </a:rPr>
              <a:t>Removing or Combining Variables</a:t>
            </a:r>
            <a:endParaRPr sz="2133" b="1">
              <a:latin typeface="Arial"/>
              <a:ea typeface="Arial"/>
              <a:cs typeface="Arial"/>
              <a:sym typeface="Arial"/>
            </a:endParaRPr>
          </a:p>
          <a:p>
            <a:pPr marL="914377" lvl="1" indent="-355591">
              <a:spcBef>
                <a:spcPts val="0"/>
              </a:spcBef>
              <a:buSzPts val="1600"/>
              <a:buFont typeface="Arial"/>
              <a:buChar char="○"/>
            </a:pPr>
            <a:r>
              <a:rPr lang="en" sz="2133">
                <a:latin typeface="Arial"/>
                <a:ea typeface="Arial"/>
                <a:cs typeface="Arial"/>
                <a:sym typeface="Arial"/>
              </a:rPr>
              <a:t>You can address collinearity by removing one of the correlated variables, combining them into a single variable, or using techniques like principal component analysis (PCA).</a:t>
            </a:r>
            <a:endParaRPr sz="2133">
              <a:latin typeface="Arial"/>
              <a:ea typeface="Arial"/>
              <a:cs typeface="Arial"/>
              <a:sym typeface="Arial"/>
            </a:endParaRPr>
          </a:p>
          <a:p>
            <a:pPr marL="457189" indent="-355591">
              <a:spcBef>
                <a:spcPts val="0"/>
              </a:spcBef>
              <a:buSzPts val="1600"/>
              <a:buFont typeface="Arial"/>
              <a:buChar char="●"/>
            </a:pPr>
            <a:r>
              <a:rPr lang="en" sz="2133" b="1">
                <a:latin typeface="Arial"/>
                <a:ea typeface="Arial"/>
                <a:cs typeface="Arial"/>
                <a:sym typeface="Arial"/>
              </a:rPr>
              <a:t>Regularization Techniques</a:t>
            </a:r>
            <a:endParaRPr sz="2133" b="1">
              <a:latin typeface="Arial"/>
              <a:ea typeface="Arial"/>
              <a:cs typeface="Arial"/>
              <a:sym typeface="Arial"/>
            </a:endParaRPr>
          </a:p>
          <a:p>
            <a:pPr marL="0" indent="0">
              <a:spcBef>
                <a:spcPts val="1600"/>
              </a:spcBef>
              <a:spcAft>
                <a:spcPts val="1600"/>
              </a:spcAft>
              <a:buSzPts val="1400"/>
              <a:buNone/>
            </a:pPr>
            <a:endParaRPr>
              <a:solidFill>
                <a:schemeClr val="dk1"/>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sp>
        <p:nvSpPr>
          <p:cNvPr id="98" name="Google Shape;98;p7"/>
          <p:cNvSpPr txBox="1">
            <a:spLocks noGrp="1"/>
          </p:cNvSpPr>
          <p:nvPr>
            <p:ph type="title"/>
          </p:nvPr>
        </p:nvSpPr>
        <p:spPr>
          <a:xfrm>
            <a:off x="838200" y="365125"/>
            <a:ext cx="10515600" cy="1325600"/>
          </a:xfrm>
          <a:prstGeom prst="rect">
            <a:avLst/>
          </a:prstGeom>
          <a:noFill/>
          <a:ln>
            <a:noFill/>
          </a:ln>
        </p:spPr>
        <p:txBody>
          <a:bodyPr spcFirstLastPara="1" wrap="square" lIns="91433" tIns="45700" rIns="91433" bIns="45700" anchor="ctr" anchorCtr="0">
            <a:normAutofit/>
          </a:bodyPr>
          <a:lstStyle/>
          <a:p>
            <a:pPr>
              <a:buSzPts val="1400"/>
            </a:pPr>
            <a:r>
              <a:rPr lang="en"/>
              <a:t>Variance Inflation Factor (VIF)</a:t>
            </a:r>
            <a:endParaRPr/>
          </a:p>
        </p:txBody>
      </p:sp>
      <p:sp>
        <p:nvSpPr>
          <p:cNvPr id="99" name="Google Shape;99;p7"/>
          <p:cNvSpPr txBox="1">
            <a:spLocks noGrp="1"/>
          </p:cNvSpPr>
          <p:nvPr>
            <p:ph type="body" idx="1"/>
          </p:nvPr>
        </p:nvSpPr>
        <p:spPr>
          <a:xfrm>
            <a:off x="838200" y="1690733"/>
            <a:ext cx="10515600" cy="4535200"/>
          </a:xfrm>
          <a:prstGeom prst="rect">
            <a:avLst/>
          </a:prstGeom>
          <a:noFill/>
          <a:ln>
            <a:noFill/>
          </a:ln>
        </p:spPr>
        <p:txBody>
          <a:bodyPr spcFirstLastPara="1" wrap="square" lIns="91433" tIns="45700" rIns="91433" bIns="45700" anchor="t" anchorCtr="0">
            <a:noAutofit/>
          </a:bodyPr>
          <a:lstStyle/>
          <a:p>
            <a:pPr marL="457189" indent="-338658">
              <a:spcBef>
                <a:spcPts val="1067"/>
              </a:spcBef>
              <a:buSzPts val="1400"/>
              <a:buChar char="●"/>
            </a:pPr>
            <a:r>
              <a:rPr lang="en" dirty="0">
                <a:solidFill>
                  <a:schemeClr val="dk1"/>
                </a:solidFill>
              </a:rPr>
              <a:t>is a statistical measure used to detect the presence and severity of multicollinearity in a regression model. </a:t>
            </a:r>
            <a:endParaRPr dirty="0">
              <a:solidFill>
                <a:schemeClr val="dk1"/>
              </a:solidFill>
            </a:endParaRPr>
          </a:p>
          <a:p>
            <a:pPr marL="457189" indent="-338658">
              <a:spcBef>
                <a:spcPts val="0"/>
              </a:spcBef>
              <a:buSzPts val="1400"/>
              <a:buFont typeface="Arial"/>
              <a:buChar char="●"/>
            </a:pPr>
            <a:r>
              <a:rPr lang="en" b="1" dirty="0">
                <a:solidFill>
                  <a:schemeClr val="dk1"/>
                </a:solidFill>
                <a:latin typeface="Arial"/>
                <a:ea typeface="Arial"/>
                <a:cs typeface="Arial"/>
                <a:sym typeface="Arial"/>
              </a:rPr>
              <a:t>VIF Calculation</a:t>
            </a:r>
            <a:r>
              <a:rPr lang="en" dirty="0">
                <a:solidFill>
                  <a:schemeClr val="dk1"/>
                </a:solidFill>
                <a:latin typeface="Arial"/>
                <a:ea typeface="Arial"/>
                <a:cs typeface="Arial"/>
                <a:sym typeface="Arial"/>
              </a:rPr>
              <a:t>: For each independent variable in a regression model, VIF is calculated as:</a:t>
            </a:r>
            <a:endParaRPr dirty="0">
              <a:solidFill>
                <a:schemeClr val="dk1"/>
              </a:solidFill>
              <a:latin typeface="Arial"/>
              <a:ea typeface="Arial"/>
              <a:cs typeface="Arial"/>
              <a:sym typeface="Arial"/>
            </a:endParaRPr>
          </a:p>
          <a:p>
            <a:pPr marL="914377" indent="0">
              <a:spcBef>
                <a:spcPts val="1600"/>
              </a:spcBef>
              <a:buSzPts val="1400"/>
              <a:buNone/>
            </a:pPr>
            <a:endParaRPr dirty="0">
              <a:solidFill>
                <a:schemeClr val="dk1"/>
              </a:solidFill>
            </a:endParaRPr>
          </a:p>
          <a:p>
            <a:pPr marL="914377" lvl="1" indent="-338658">
              <a:spcBef>
                <a:spcPts val="1600"/>
              </a:spcBef>
              <a:buSzPts val="1400"/>
              <a:buFont typeface="Arial"/>
              <a:buChar char="○"/>
            </a:pPr>
            <a:r>
              <a:rPr lang="en" dirty="0">
                <a:solidFill>
                  <a:schemeClr val="dk1"/>
                </a:solidFill>
                <a:latin typeface="Arial"/>
                <a:ea typeface="Arial"/>
                <a:cs typeface="Arial"/>
                <a:sym typeface="Arial"/>
              </a:rPr>
              <a:t>where Rj</a:t>
            </a:r>
            <a:r>
              <a:rPr lang="en" baseline="30000" dirty="0">
                <a:solidFill>
                  <a:schemeClr val="dk1"/>
                </a:solidFill>
                <a:latin typeface="Arial"/>
                <a:ea typeface="Arial"/>
                <a:cs typeface="Arial"/>
                <a:sym typeface="Arial"/>
              </a:rPr>
              <a:t>2​</a:t>
            </a:r>
            <a:r>
              <a:rPr lang="en" dirty="0">
                <a:solidFill>
                  <a:schemeClr val="dk1"/>
                </a:solidFill>
                <a:latin typeface="Arial"/>
                <a:ea typeface="Arial"/>
                <a:cs typeface="Arial"/>
                <a:sym typeface="Arial"/>
              </a:rPr>
              <a:t> is the coefficient of determination (R-squared) obtained by regressing the j-th independent variable on all the other independent variables in the model.</a:t>
            </a:r>
            <a:endParaRPr dirty="0">
              <a:solidFill>
                <a:schemeClr val="dk1"/>
              </a:solidFill>
              <a:latin typeface="Arial"/>
              <a:ea typeface="Arial"/>
              <a:cs typeface="Arial"/>
              <a:sym typeface="Arial"/>
            </a:endParaRPr>
          </a:p>
          <a:p>
            <a:pPr marL="1371566" lvl="2" indent="-338658">
              <a:spcBef>
                <a:spcPts val="0"/>
              </a:spcBef>
              <a:buSzPts val="1400"/>
              <a:buFont typeface="Arial"/>
              <a:buChar char="■"/>
            </a:pPr>
            <a:r>
              <a:rPr lang="en" dirty="0">
                <a:solidFill>
                  <a:schemeClr val="dk1"/>
                </a:solidFill>
                <a:latin typeface="Arial"/>
                <a:ea typeface="Arial"/>
                <a:cs typeface="Arial"/>
                <a:sym typeface="Arial"/>
              </a:rPr>
              <a:t>treat the j-th independent variable (predictor) as the dependent variable in a new regression model, and all the other independent variables from the original model are treated as the predictors in this new regression.</a:t>
            </a:r>
            <a:endParaRPr dirty="0">
              <a:solidFill>
                <a:schemeClr val="dk1"/>
              </a:solidFill>
              <a:latin typeface="Arial"/>
              <a:ea typeface="Arial"/>
              <a:cs typeface="Arial"/>
              <a:sym typeface="Arial"/>
            </a:endParaRPr>
          </a:p>
          <a:p>
            <a:pPr marL="457189" indent="-338658">
              <a:spcBef>
                <a:spcPts val="0"/>
              </a:spcBef>
              <a:buSzPts val="1400"/>
              <a:buFont typeface="Arial"/>
              <a:buChar char="●"/>
            </a:pPr>
            <a:r>
              <a:rPr lang="en" dirty="0">
                <a:solidFill>
                  <a:schemeClr val="dk1"/>
                </a:solidFill>
                <a:latin typeface="Arial"/>
                <a:ea typeface="Arial"/>
                <a:cs typeface="Arial"/>
                <a:sym typeface="Arial"/>
              </a:rPr>
              <a:t>for x</a:t>
            </a:r>
            <a:r>
              <a:rPr lang="en" baseline="-25000" dirty="0">
                <a:solidFill>
                  <a:schemeClr val="dk1"/>
                </a:solidFill>
                <a:latin typeface="Arial"/>
                <a:ea typeface="Arial"/>
                <a:cs typeface="Arial"/>
                <a:sym typeface="Arial"/>
              </a:rPr>
              <a:t>1</a:t>
            </a:r>
            <a:r>
              <a:rPr lang="en" dirty="0">
                <a:solidFill>
                  <a:schemeClr val="dk1"/>
                </a:solidFill>
                <a:latin typeface="Arial"/>
                <a:ea typeface="Arial"/>
                <a:cs typeface="Arial"/>
                <a:sym typeface="Arial"/>
              </a:rPr>
              <a:t>= b</a:t>
            </a:r>
            <a:r>
              <a:rPr lang="en" baseline="-25000" dirty="0">
                <a:solidFill>
                  <a:schemeClr val="dk1"/>
                </a:solidFill>
                <a:latin typeface="Arial"/>
                <a:ea typeface="Arial"/>
                <a:cs typeface="Arial"/>
                <a:sym typeface="Arial"/>
              </a:rPr>
              <a:t>0</a:t>
            </a:r>
            <a:r>
              <a:rPr lang="en" dirty="0">
                <a:solidFill>
                  <a:schemeClr val="dk1"/>
                </a:solidFill>
                <a:latin typeface="Arial"/>
                <a:ea typeface="Arial"/>
                <a:cs typeface="Arial"/>
                <a:sym typeface="Arial"/>
              </a:rPr>
              <a:t>+b</a:t>
            </a:r>
            <a:r>
              <a:rPr lang="en" baseline="-25000" dirty="0">
                <a:solidFill>
                  <a:schemeClr val="dk1"/>
                </a:solidFill>
                <a:latin typeface="Arial"/>
                <a:ea typeface="Arial"/>
                <a:cs typeface="Arial"/>
                <a:sym typeface="Arial"/>
              </a:rPr>
              <a:t>1</a:t>
            </a:r>
            <a:r>
              <a:rPr lang="en" dirty="0">
                <a:solidFill>
                  <a:schemeClr val="dk1"/>
                </a:solidFill>
                <a:latin typeface="Arial"/>
                <a:ea typeface="Arial"/>
                <a:cs typeface="Arial"/>
                <a:sym typeface="Arial"/>
              </a:rPr>
              <a:t>*x</a:t>
            </a:r>
            <a:r>
              <a:rPr lang="en" baseline="-25000" dirty="0">
                <a:solidFill>
                  <a:schemeClr val="dk1"/>
                </a:solidFill>
                <a:latin typeface="Arial"/>
                <a:ea typeface="Arial"/>
                <a:cs typeface="Arial"/>
                <a:sym typeface="Arial"/>
              </a:rPr>
              <a:t>2</a:t>
            </a:r>
            <a:r>
              <a:rPr lang="en" dirty="0">
                <a:solidFill>
                  <a:schemeClr val="dk1"/>
                </a:solidFill>
                <a:latin typeface="Arial"/>
                <a:ea typeface="Arial"/>
                <a:cs typeface="Arial"/>
                <a:sym typeface="Arial"/>
              </a:rPr>
              <a:t>+b</a:t>
            </a:r>
            <a:r>
              <a:rPr lang="en" baseline="-25000" dirty="0">
                <a:solidFill>
                  <a:schemeClr val="dk1"/>
                </a:solidFill>
                <a:latin typeface="Arial"/>
                <a:ea typeface="Arial"/>
                <a:cs typeface="Arial"/>
                <a:sym typeface="Arial"/>
              </a:rPr>
              <a:t>2</a:t>
            </a:r>
            <a:r>
              <a:rPr lang="en" dirty="0">
                <a:solidFill>
                  <a:schemeClr val="dk1"/>
                </a:solidFill>
                <a:latin typeface="Arial"/>
                <a:ea typeface="Arial"/>
                <a:cs typeface="Arial"/>
                <a:sym typeface="Arial"/>
              </a:rPr>
              <a:t>*x</a:t>
            </a:r>
            <a:r>
              <a:rPr lang="en" baseline="-25000" dirty="0">
                <a:solidFill>
                  <a:schemeClr val="dk1"/>
                </a:solidFill>
                <a:latin typeface="Arial"/>
                <a:ea typeface="Arial"/>
                <a:cs typeface="Arial"/>
                <a:sym typeface="Arial"/>
              </a:rPr>
              <a:t>3</a:t>
            </a:r>
            <a:endParaRPr baseline="-25000" dirty="0">
              <a:solidFill>
                <a:schemeClr val="dk1"/>
              </a:solidFill>
              <a:latin typeface="Arial"/>
              <a:ea typeface="Arial"/>
              <a:cs typeface="Arial"/>
              <a:sym typeface="Arial"/>
            </a:endParaRPr>
          </a:p>
          <a:p>
            <a:pPr marL="914377" lvl="1" indent="-338658">
              <a:spcBef>
                <a:spcPts val="0"/>
              </a:spcBef>
              <a:buSzPts val="1400"/>
              <a:buFont typeface="Arial"/>
              <a:buChar char="○"/>
            </a:pPr>
            <a:r>
              <a:rPr lang="en" dirty="0">
                <a:solidFill>
                  <a:schemeClr val="dk1"/>
                </a:solidFill>
                <a:latin typeface="Arial"/>
                <a:ea typeface="Arial"/>
                <a:cs typeface="Arial"/>
                <a:sym typeface="Arial"/>
              </a:rPr>
              <a:t>R</a:t>
            </a:r>
            <a:r>
              <a:rPr lang="en" baseline="-25000" dirty="0">
                <a:solidFill>
                  <a:schemeClr val="dk1"/>
                </a:solidFill>
                <a:latin typeface="Arial"/>
                <a:ea typeface="Arial"/>
                <a:cs typeface="Arial"/>
                <a:sym typeface="Arial"/>
              </a:rPr>
              <a:t>1</a:t>
            </a:r>
            <a:r>
              <a:rPr lang="en" baseline="30000" dirty="0">
                <a:solidFill>
                  <a:schemeClr val="dk1"/>
                </a:solidFill>
                <a:latin typeface="Arial"/>
                <a:ea typeface="Arial"/>
                <a:cs typeface="Arial"/>
                <a:sym typeface="Arial"/>
              </a:rPr>
              <a:t>2</a:t>
            </a:r>
            <a:r>
              <a:rPr lang="en" dirty="0">
                <a:solidFill>
                  <a:schemeClr val="dk1"/>
                </a:solidFill>
                <a:latin typeface="Arial"/>
                <a:ea typeface="Arial"/>
                <a:cs typeface="Arial"/>
                <a:sym typeface="Arial"/>
              </a:rPr>
              <a:t>​ represents the proportion of the variance in X</a:t>
            </a:r>
            <a:r>
              <a:rPr lang="en" baseline="-25000" dirty="0">
                <a:solidFill>
                  <a:schemeClr val="dk1"/>
                </a:solidFill>
                <a:latin typeface="Arial"/>
                <a:ea typeface="Arial"/>
                <a:cs typeface="Arial"/>
                <a:sym typeface="Arial"/>
              </a:rPr>
              <a:t>1​</a:t>
            </a:r>
            <a:r>
              <a:rPr lang="en" dirty="0">
                <a:solidFill>
                  <a:schemeClr val="dk1"/>
                </a:solidFill>
                <a:latin typeface="Arial"/>
                <a:ea typeface="Arial"/>
                <a:cs typeface="Arial"/>
                <a:sym typeface="Arial"/>
              </a:rPr>
              <a:t> that can be explained by X</a:t>
            </a:r>
            <a:r>
              <a:rPr lang="en" baseline="-25000" dirty="0">
                <a:solidFill>
                  <a:schemeClr val="dk1"/>
                </a:solidFill>
                <a:latin typeface="Arial"/>
                <a:ea typeface="Arial"/>
                <a:cs typeface="Arial"/>
                <a:sym typeface="Arial"/>
              </a:rPr>
              <a:t>2</a:t>
            </a:r>
            <a:r>
              <a:rPr lang="en" dirty="0">
                <a:solidFill>
                  <a:schemeClr val="dk1"/>
                </a:solidFill>
                <a:latin typeface="Arial"/>
                <a:ea typeface="Arial"/>
                <a:cs typeface="Arial"/>
                <a:sym typeface="Arial"/>
              </a:rPr>
              <a:t>​ and X</a:t>
            </a:r>
            <a:r>
              <a:rPr lang="en" baseline="-25000" dirty="0">
                <a:solidFill>
                  <a:schemeClr val="dk1"/>
                </a:solidFill>
                <a:latin typeface="Arial"/>
                <a:ea typeface="Arial"/>
                <a:cs typeface="Arial"/>
                <a:sym typeface="Arial"/>
              </a:rPr>
              <a:t>3​</a:t>
            </a:r>
            <a:r>
              <a:rPr lang="en" dirty="0">
                <a:solidFill>
                  <a:schemeClr val="dk1"/>
                </a:solidFill>
                <a:latin typeface="Arial"/>
                <a:ea typeface="Arial"/>
                <a:cs typeface="Arial"/>
                <a:sym typeface="Arial"/>
              </a:rPr>
              <a:t>.</a:t>
            </a:r>
            <a:endParaRPr dirty="0">
              <a:solidFill>
                <a:schemeClr val="dk1"/>
              </a:solidFill>
              <a:latin typeface="Arial"/>
              <a:ea typeface="Arial"/>
              <a:cs typeface="Arial"/>
              <a:sym typeface="Arial"/>
            </a:endParaRPr>
          </a:p>
        </p:txBody>
      </p:sp>
      <p:pic>
        <p:nvPicPr>
          <p:cNvPr id="100" name="Google Shape;100;p7"/>
          <p:cNvPicPr preferRelativeResize="0"/>
          <p:nvPr/>
        </p:nvPicPr>
        <p:blipFill rotWithShape="1">
          <a:blip r:embed="rId3">
            <a:alphaModFix/>
          </a:blip>
          <a:srcRect/>
          <a:stretch/>
        </p:blipFill>
        <p:spPr>
          <a:xfrm>
            <a:off x="4473925" y="3429000"/>
            <a:ext cx="1622075" cy="611051"/>
          </a:xfrm>
          <a:prstGeom prst="rect">
            <a:avLst/>
          </a:prstGeom>
          <a:noFill/>
          <a:ln>
            <a:noFill/>
          </a:ln>
        </p:spPr>
      </p:pic>
      <p:sp>
        <p:nvSpPr>
          <p:cNvPr id="101" name="Google Shape;101;p7"/>
          <p:cNvSpPr txBox="1"/>
          <p:nvPr/>
        </p:nvSpPr>
        <p:spPr>
          <a:xfrm>
            <a:off x="6940867" y="2854467"/>
            <a:ext cx="4000000" cy="930086"/>
          </a:xfrm>
          <a:prstGeom prst="rect">
            <a:avLst/>
          </a:prstGeom>
          <a:noFill/>
          <a:ln>
            <a:noFill/>
          </a:ln>
        </p:spPr>
        <p:txBody>
          <a:bodyPr spcFirstLastPara="1" wrap="square" lIns="121900" tIns="121900" rIns="121900" bIns="121900" anchor="t" anchorCtr="0">
            <a:spAutoFit/>
          </a:bodyPr>
          <a:lstStyle/>
          <a:p>
            <a:pPr marL="914377" lvl="1" indent="-338658">
              <a:lnSpc>
                <a:spcPct val="90000"/>
              </a:lnSpc>
              <a:spcBef>
                <a:spcPts val="1333"/>
              </a:spcBef>
              <a:buClr>
                <a:schemeClr val="dk1"/>
              </a:buClr>
              <a:buSzPts val="1400"/>
              <a:buFont typeface="Arial"/>
              <a:buChar char="○"/>
            </a:pPr>
            <a:r>
              <a:rPr lang="en" sz="1867">
                <a:solidFill>
                  <a:schemeClr val="dk1"/>
                </a:solidFill>
                <a:latin typeface="Calibri"/>
                <a:ea typeface="Calibri"/>
                <a:cs typeface="Calibri"/>
                <a:sym typeface="Calibri"/>
              </a:rPr>
              <a:t>R</a:t>
            </a:r>
            <a:r>
              <a:rPr lang="en" sz="1867" baseline="30000">
                <a:solidFill>
                  <a:schemeClr val="dk1"/>
                </a:solidFill>
                <a:latin typeface="Calibri"/>
                <a:ea typeface="Calibri"/>
                <a:cs typeface="Calibri"/>
                <a:sym typeface="Calibri"/>
              </a:rPr>
              <a:t>2</a:t>
            </a:r>
            <a:r>
              <a:rPr lang="en" sz="1867">
                <a:solidFill>
                  <a:schemeClr val="dk1"/>
                </a:solidFill>
                <a:latin typeface="Calibri"/>
                <a:ea typeface="Calibri"/>
                <a:cs typeface="Calibri"/>
                <a:sym typeface="Calibri"/>
              </a:rPr>
              <a:t> gives how well your model is fitted to the data</a:t>
            </a:r>
            <a:endParaRPr sz="1867"/>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05"/>
        <p:cNvGrpSpPr/>
        <p:nvPr/>
      </p:nvGrpSpPr>
      <p:grpSpPr>
        <a:xfrm>
          <a:off x="0" y="0"/>
          <a:ext cx="0" cy="0"/>
          <a:chOff x="0" y="0"/>
          <a:chExt cx="0" cy="0"/>
        </a:xfrm>
      </p:grpSpPr>
      <p:sp>
        <p:nvSpPr>
          <p:cNvPr id="106" name="Google Shape;106;p8"/>
          <p:cNvSpPr txBox="1">
            <a:spLocks noGrp="1"/>
          </p:cNvSpPr>
          <p:nvPr>
            <p:ph type="title"/>
          </p:nvPr>
        </p:nvSpPr>
        <p:spPr>
          <a:xfrm>
            <a:off x="838200" y="365125"/>
            <a:ext cx="10515600" cy="1325600"/>
          </a:xfrm>
          <a:prstGeom prst="rect">
            <a:avLst/>
          </a:prstGeom>
          <a:noFill/>
          <a:ln>
            <a:noFill/>
          </a:ln>
        </p:spPr>
        <p:txBody>
          <a:bodyPr spcFirstLastPara="1" wrap="square" lIns="91433" tIns="45700" rIns="91433" bIns="45700" anchor="ctr" anchorCtr="0">
            <a:normAutofit/>
          </a:bodyPr>
          <a:lstStyle/>
          <a:p>
            <a:pPr>
              <a:buSzPts val="1400"/>
            </a:pPr>
            <a:r>
              <a:rPr lang="en"/>
              <a:t>VIF values: interpretation</a:t>
            </a:r>
            <a:endParaRPr/>
          </a:p>
        </p:txBody>
      </p:sp>
      <p:sp>
        <p:nvSpPr>
          <p:cNvPr id="107" name="Google Shape;107;p8"/>
          <p:cNvSpPr txBox="1">
            <a:spLocks noGrp="1"/>
          </p:cNvSpPr>
          <p:nvPr>
            <p:ph type="body" idx="1"/>
          </p:nvPr>
        </p:nvSpPr>
        <p:spPr>
          <a:xfrm>
            <a:off x="838200" y="1825625"/>
            <a:ext cx="10515600" cy="4351200"/>
          </a:xfrm>
          <a:prstGeom prst="rect">
            <a:avLst/>
          </a:prstGeom>
          <a:noFill/>
          <a:ln>
            <a:noFill/>
          </a:ln>
        </p:spPr>
        <p:txBody>
          <a:bodyPr spcFirstLastPara="1" wrap="square" lIns="91433" tIns="45700" rIns="91433" bIns="45700" anchor="t" anchorCtr="0">
            <a:noAutofit/>
          </a:bodyPr>
          <a:lstStyle/>
          <a:p>
            <a:pPr marL="0" indent="0">
              <a:spcBef>
                <a:spcPts val="1067"/>
              </a:spcBef>
              <a:buSzPts val="800"/>
              <a:buNone/>
            </a:pPr>
            <a:r>
              <a:rPr lang="en" b="1">
                <a:solidFill>
                  <a:schemeClr val="dk1"/>
                </a:solidFill>
                <a:latin typeface="Arial"/>
                <a:ea typeface="Arial"/>
                <a:cs typeface="Arial"/>
                <a:sym typeface="Arial"/>
              </a:rPr>
              <a:t>VIF = 1</a:t>
            </a:r>
            <a:r>
              <a:rPr lang="en">
                <a:solidFill>
                  <a:schemeClr val="dk1"/>
                </a:solidFill>
                <a:latin typeface="Arial"/>
                <a:ea typeface="Arial"/>
                <a:cs typeface="Arial"/>
                <a:sym typeface="Arial"/>
              </a:rPr>
              <a:t>: The independent variable is not correlated with any other variables. There is no multicollinearity.</a:t>
            </a:r>
            <a:endParaRPr>
              <a:solidFill>
                <a:schemeClr val="dk1"/>
              </a:solidFill>
              <a:latin typeface="Arial"/>
              <a:ea typeface="Arial"/>
              <a:cs typeface="Arial"/>
              <a:sym typeface="Arial"/>
            </a:endParaRPr>
          </a:p>
          <a:p>
            <a:pPr marL="0" indent="0">
              <a:spcBef>
                <a:spcPts val="1600"/>
              </a:spcBef>
              <a:buSzPts val="800"/>
              <a:buNone/>
            </a:pPr>
            <a:r>
              <a:rPr lang="en" b="1">
                <a:solidFill>
                  <a:schemeClr val="dk1"/>
                </a:solidFill>
                <a:latin typeface="Arial"/>
                <a:ea typeface="Arial"/>
                <a:cs typeface="Arial"/>
                <a:sym typeface="Arial"/>
              </a:rPr>
              <a:t>1 &lt; VIF ≤ 5</a:t>
            </a:r>
            <a:r>
              <a:rPr lang="en">
                <a:solidFill>
                  <a:schemeClr val="dk1"/>
                </a:solidFill>
                <a:latin typeface="Arial"/>
                <a:ea typeface="Arial"/>
                <a:cs typeface="Arial"/>
                <a:sym typeface="Arial"/>
              </a:rPr>
              <a:t>: There is moderate correlation, but it is generally not severe enough to be problematic.</a:t>
            </a:r>
            <a:endParaRPr>
              <a:solidFill>
                <a:schemeClr val="dk1"/>
              </a:solidFill>
              <a:latin typeface="Arial"/>
              <a:ea typeface="Arial"/>
              <a:cs typeface="Arial"/>
              <a:sym typeface="Arial"/>
            </a:endParaRPr>
          </a:p>
          <a:p>
            <a:pPr marL="0" indent="0">
              <a:spcBef>
                <a:spcPts val="1600"/>
              </a:spcBef>
              <a:buSzPts val="800"/>
              <a:buNone/>
            </a:pPr>
            <a:r>
              <a:rPr lang="en" b="1">
                <a:solidFill>
                  <a:schemeClr val="dk1"/>
                </a:solidFill>
                <a:latin typeface="Arial"/>
                <a:ea typeface="Arial"/>
                <a:cs typeface="Arial"/>
                <a:sym typeface="Arial"/>
              </a:rPr>
              <a:t>VIF &gt; 5</a:t>
            </a:r>
            <a:r>
              <a:rPr lang="en">
                <a:solidFill>
                  <a:schemeClr val="dk1"/>
                </a:solidFill>
                <a:latin typeface="Arial"/>
                <a:ea typeface="Arial"/>
                <a:cs typeface="Arial"/>
                <a:sym typeface="Arial"/>
              </a:rPr>
              <a:t>: </a:t>
            </a:r>
            <a:r>
              <a:rPr lang="en">
                <a:solidFill>
                  <a:schemeClr val="dk1"/>
                </a:solidFill>
              </a:rPr>
              <a:t>indicates</a:t>
            </a:r>
            <a:r>
              <a:rPr lang="en">
                <a:solidFill>
                  <a:schemeClr val="dk1"/>
                </a:solidFill>
                <a:latin typeface="Arial"/>
                <a:ea typeface="Arial"/>
                <a:cs typeface="Arial"/>
                <a:sym typeface="Arial"/>
              </a:rPr>
              <a:t> a high correlation, and there might be a problem with multicollinearity.</a:t>
            </a:r>
            <a:endParaRPr>
              <a:solidFill>
                <a:schemeClr val="dk1"/>
              </a:solidFill>
              <a:latin typeface="Arial"/>
              <a:ea typeface="Arial"/>
              <a:cs typeface="Arial"/>
              <a:sym typeface="Arial"/>
            </a:endParaRPr>
          </a:p>
          <a:p>
            <a:pPr marL="0" indent="0">
              <a:spcBef>
                <a:spcPts val="1600"/>
              </a:spcBef>
              <a:buSzPts val="800"/>
              <a:buNone/>
            </a:pPr>
            <a:r>
              <a:rPr lang="en" b="1">
                <a:solidFill>
                  <a:schemeClr val="dk1"/>
                </a:solidFill>
                <a:latin typeface="Arial"/>
                <a:ea typeface="Arial"/>
                <a:cs typeface="Arial"/>
                <a:sym typeface="Arial"/>
              </a:rPr>
              <a:t>VIF &gt; 10</a:t>
            </a:r>
            <a:r>
              <a:rPr lang="en">
                <a:solidFill>
                  <a:schemeClr val="dk1"/>
                </a:solidFill>
                <a:latin typeface="Arial"/>
                <a:ea typeface="Arial"/>
                <a:cs typeface="Arial"/>
                <a:sym typeface="Arial"/>
              </a:rPr>
              <a:t>: Indicates serious multicollinearity, which likely requires corrective </a:t>
            </a:r>
            <a:r>
              <a:rPr lang="en">
                <a:solidFill>
                  <a:schemeClr val="dk1"/>
                </a:solidFill>
              </a:rPr>
              <a:t>action</a:t>
            </a:r>
            <a:r>
              <a:rPr lang="en">
                <a:solidFill>
                  <a:schemeClr val="dk1"/>
                </a:solidFill>
                <a:latin typeface="Arial"/>
                <a:ea typeface="Arial"/>
                <a:cs typeface="Arial"/>
                <a:sym typeface="Arial"/>
              </a:rPr>
              <a:t> as the estimates of the regression coefficients are unreliable.</a:t>
            </a:r>
            <a:endParaRPr>
              <a:solidFill>
                <a:schemeClr val="dk1"/>
              </a:solidFill>
              <a:latin typeface="Arial"/>
              <a:ea typeface="Arial"/>
              <a:cs typeface="Arial"/>
              <a:sym typeface="Arial"/>
            </a:endParaRPr>
          </a:p>
          <a:p>
            <a:pPr marL="0" indent="0">
              <a:spcBef>
                <a:spcPts val="1600"/>
              </a:spcBef>
              <a:spcAft>
                <a:spcPts val="1600"/>
              </a:spcAft>
              <a:buSzPts val="1400"/>
              <a:buNone/>
            </a:pPr>
            <a:endParaRPr>
              <a:solidFill>
                <a:schemeClr val="dk1"/>
              </a:solidFill>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39"/>
        <p:cNvGrpSpPr/>
        <p:nvPr/>
      </p:nvGrpSpPr>
      <p:grpSpPr>
        <a:xfrm>
          <a:off x="0" y="0"/>
          <a:ext cx="0" cy="0"/>
          <a:chOff x="0" y="0"/>
          <a:chExt cx="0" cy="0"/>
        </a:xfrm>
      </p:grpSpPr>
      <p:sp>
        <p:nvSpPr>
          <p:cNvPr id="340" name="Google Shape;340;p39"/>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333333"/>
              </a:buClr>
              <a:buSzPts val="4400"/>
              <a:buFont typeface="Arial"/>
              <a:buNone/>
            </a:pPr>
            <a:r>
              <a:rPr lang="en-US" b="1" i="0">
                <a:solidFill>
                  <a:srgbClr val="333333"/>
                </a:solidFill>
                <a:latin typeface="Arial"/>
                <a:ea typeface="Arial"/>
                <a:cs typeface="Arial"/>
                <a:sym typeface="Arial"/>
              </a:rPr>
              <a:t>Avoiding collinearity when selecting predictors</a:t>
            </a:r>
            <a:endParaRPr/>
          </a:p>
        </p:txBody>
      </p:sp>
      <p:sp>
        <p:nvSpPr>
          <p:cNvPr id="341" name="Google Shape;341;p39"/>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333333"/>
              </a:buClr>
              <a:buSzPts val="2800"/>
              <a:buChar char="•"/>
            </a:pPr>
            <a:r>
              <a:rPr lang="en-US" b="0" i="0" dirty="0">
                <a:solidFill>
                  <a:srgbClr val="333333"/>
                </a:solidFill>
                <a:latin typeface="Arial"/>
                <a:ea typeface="Arial"/>
                <a:cs typeface="Arial"/>
                <a:sym typeface="Arial"/>
              </a:rPr>
              <a:t>When 2 or more independent variables in a model are highly correlated we say that we have a collinearity problem.</a:t>
            </a:r>
            <a:endParaRPr dirty="0"/>
          </a:p>
          <a:p>
            <a:pPr marL="228600" lvl="0" indent="-228600" algn="l" rtl="0">
              <a:lnSpc>
                <a:spcPct val="90000"/>
              </a:lnSpc>
              <a:spcBef>
                <a:spcPts val="1000"/>
              </a:spcBef>
              <a:spcAft>
                <a:spcPts val="0"/>
              </a:spcAft>
              <a:buClr>
                <a:srgbClr val="333333"/>
              </a:buClr>
              <a:buSzPts val="2800"/>
              <a:buChar char="•"/>
            </a:pPr>
            <a:r>
              <a:rPr lang="en-US" b="0" i="0" dirty="0">
                <a:solidFill>
                  <a:srgbClr val="333333"/>
                </a:solidFill>
                <a:latin typeface="Arial"/>
                <a:ea typeface="Arial"/>
                <a:cs typeface="Arial"/>
                <a:sym typeface="Arial"/>
              </a:rPr>
              <a:t>Collinearity is not a binary issue: either we have it or we don’t. </a:t>
            </a:r>
          </a:p>
          <a:p>
            <a:pPr marL="685800" lvl="1" indent="-228600">
              <a:spcBef>
                <a:spcPts val="1000"/>
              </a:spcBef>
              <a:buClr>
                <a:srgbClr val="333333"/>
              </a:buClr>
              <a:buSzPts val="2800"/>
            </a:pPr>
            <a:r>
              <a:rPr lang="en-US" b="0" i="0" dirty="0">
                <a:solidFill>
                  <a:srgbClr val="333333"/>
                </a:solidFill>
                <a:latin typeface="Arial"/>
                <a:ea typeface="Arial"/>
                <a:cs typeface="Arial"/>
                <a:sym typeface="Arial"/>
              </a:rPr>
              <a:t>the stronger the correlation between inputs of the regression model, the more serious the problem is.</a:t>
            </a:r>
            <a:endParaRPr dirty="0"/>
          </a:p>
          <a:p>
            <a:pPr marL="228600" lvl="0" indent="-228600" algn="l" rtl="0">
              <a:lnSpc>
                <a:spcPct val="90000"/>
              </a:lnSpc>
              <a:spcBef>
                <a:spcPts val="1000"/>
              </a:spcBef>
              <a:spcAft>
                <a:spcPts val="0"/>
              </a:spcAft>
              <a:buClr>
                <a:srgbClr val="333333"/>
              </a:buClr>
              <a:buSzPts val="2800"/>
              <a:buChar char="•"/>
            </a:pPr>
            <a:r>
              <a:rPr lang="en-US" b="0" i="0" dirty="0">
                <a:solidFill>
                  <a:srgbClr val="333333"/>
                </a:solidFill>
                <a:latin typeface="Arial"/>
                <a:ea typeface="Arial"/>
                <a:cs typeface="Arial"/>
                <a:sym typeface="Arial"/>
              </a:rPr>
              <a:t>When variables are highly correlated, it becomes hard to correctly estimate the contribution of each single one of them.</a:t>
            </a:r>
            <a:endParaRPr dirty="0"/>
          </a:p>
        </p:txBody>
      </p:sp>
    </p:spTree>
    <p:extLst>
      <p:ext uri="{BB962C8B-B14F-4D97-AF65-F5344CB8AC3E}">
        <p14:creationId xmlns:p14="http://schemas.microsoft.com/office/powerpoint/2010/main" val="200385973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59"/>
        <p:cNvGrpSpPr/>
        <p:nvPr/>
      </p:nvGrpSpPr>
      <p:grpSpPr>
        <a:xfrm>
          <a:off x="0" y="0"/>
          <a:ext cx="0" cy="0"/>
          <a:chOff x="0" y="0"/>
          <a:chExt cx="0" cy="0"/>
        </a:xfrm>
      </p:grpSpPr>
      <p:sp>
        <p:nvSpPr>
          <p:cNvPr id="360" name="Google Shape;360;p4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333333"/>
              </a:buClr>
              <a:buSzPts val="4400"/>
              <a:buFont typeface="Arial"/>
              <a:buNone/>
            </a:pPr>
            <a:r>
              <a:rPr lang="en-US" b="1" i="0">
                <a:solidFill>
                  <a:srgbClr val="333333"/>
                </a:solidFill>
                <a:latin typeface="Arial"/>
                <a:ea typeface="Arial"/>
                <a:cs typeface="Arial"/>
                <a:sym typeface="Arial"/>
              </a:rPr>
              <a:t>Including variables that are not linearly related to the outcome</a:t>
            </a:r>
            <a:endParaRPr/>
          </a:p>
        </p:txBody>
      </p:sp>
      <p:sp>
        <p:nvSpPr>
          <p:cNvPr id="361" name="Google Shape;361;p42"/>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333333"/>
              </a:buClr>
              <a:buSzPts val="2800"/>
              <a:buChar char="•"/>
            </a:pPr>
            <a:r>
              <a:rPr lang="en-US" b="0" i="0" dirty="0">
                <a:solidFill>
                  <a:srgbClr val="333333"/>
                </a:solidFill>
                <a:latin typeface="Arial"/>
                <a:ea typeface="Arial"/>
                <a:cs typeface="Arial"/>
                <a:sym typeface="Arial"/>
              </a:rPr>
              <a:t>This part only applies to linear regression, where we assume that the relationship between predictors and outcome should be a straight line.</a:t>
            </a:r>
            <a:endParaRPr dirty="0"/>
          </a:p>
          <a:p>
            <a:pPr marL="228600" lvl="0" indent="-228600" algn="l" rtl="0">
              <a:lnSpc>
                <a:spcPct val="90000"/>
              </a:lnSpc>
              <a:spcBef>
                <a:spcPts val="1000"/>
              </a:spcBef>
              <a:spcAft>
                <a:spcPts val="0"/>
              </a:spcAft>
              <a:buClr>
                <a:srgbClr val="333333"/>
              </a:buClr>
              <a:buSzPts val="2800"/>
              <a:buChar char="•"/>
            </a:pPr>
            <a:r>
              <a:rPr lang="en-US" b="0" i="0" dirty="0">
                <a:solidFill>
                  <a:srgbClr val="333333"/>
                </a:solidFill>
                <a:latin typeface="Arial"/>
                <a:ea typeface="Arial"/>
                <a:cs typeface="Arial"/>
                <a:sym typeface="Arial"/>
              </a:rPr>
              <a:t>Don’t underestimate the importance of this assumption, because when violated, all of the linear model’s output is USELESS.</a:t>
            </a:r>
            <a:endParaRPr dirty="0"/>
          </a:p>
          <a:p>
            <a:pPr marL="228600" lvl="0" indent="-50800" algn="l" rtl="0">
              <a:lnSpc>
                <a:spcPct val="90000"/>
              </a:lnSpc>
              <a:spcBef>
                <a:spcPts val="1000"/>
              </a:spcBef>
              <a:spcAft>
                <a:spcPts val="0"/>
              </a:spcAft>
              <a:buClr>
                <a:schemeClr val="dk1"/>
              </a:buClr>
              <a:buSzPts val="2800"/>
              <a:buNone/>
            </a:pPr>
            <a:endParaRPr dirty="0"/>
          </a:p>
        </p:txBody>
      </p:sp>
    </p:spTree>
    <p:extLst>
      <p:ext uri="{BB962C8B-B14F-4D97-AF65-F5344CB8AC3E}">
        <p14:creationId xmlns:p14="http://schemas.microsoft.com/office/powerpoint/2010/main" val="122555065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365"/>
        <p:cNvGrpSpPr/>
        <p:nvPr/>
      </p:nvGrpSpPr>
      <p:grpSpPr>
        <a:xfrm>
          <a:off x="0" y="0"/>
          <a:ext cx="0" cy="0"/>
          <a:chOff x="0" y="0"/>
          <a:chExt cx="0" cy="0"/>
        </a:xfrm>
      </p:grpSpPr>
      <p:sp>
        <p:nvSpPr>
          <p:cNvPr id="366" name="Google Shape;366;p4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333333"/>
              </a:buClr>
              <a:buSzPts val="4400"/>
              <a:buFont typeface="Arial"/>
              <a:buNone/>
            </a:pPr>
            <a:r>
              <a:rPr lang="en-US" b="1" i="0">
                <a:solidFill>
                  <a:srgbClr val="333333"/>
                </a:solidFill>
                <a:latin typeface="Arial"/>
                <a:ea typeface="Arial"/>
                <a:cs typeface="Arial"/>
                <a:sym typeface="Arial"/>
              </a:rPr>
              <a:t>What if you ended up with a large number of predictors?</a:t>
            </a:r>
            <a:endParaRPr/>
          </a:p>
        </p:txBody>
      </p:sp>
      <p:sp>
        <p:nvSpPr>
          <p:cNvPr id="367" name="Google Shape;367;p4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333333"/>
              </a:buClr>
              <a:buSzPts val="2800"/>
              <a:buChar char="•"/>
            </a:pPr>
            <a:r>
              <a:rPr lang="en-US" b="0" i="0" dirty="0">
                <a:solidFill>
                  <a:srgbClr val="333333"/>
                </a:solidFill>
                <a:latin typeface="Arial"/>
                <a:ea typeface="Arial"/>
                <a:cs typeface="Arial"/>
                <a:sym typeface="Arial"/>
              </a:rPr>
              <a:t>When fitting a linear regression model, the number of observations should be at least 15 times larger than the number of predictors in the model. </a:t>
            </a:r>
          </a:p>
          <a:p>
            <a:pPr marL="228600" lvl="0" indent="-228600" algn="l" rtl="0">
              <a:lnSpc>
                <a:spcPct val="90000"/>
              </a:lnSpc>
              <a:spcBef>
                <a:spcPts val="0"/>
              </a:spcBef>
              <a:spcAft>
                <a:spcPts val="0"/>
              </a:spcAft>
              <a:buClr>
                <a:srgbClr val="333333"/>
              </a:buClr>
              <a:buSzPts val="2800"/>
              <a:buChar char="•"/>
            </a:pPr>
            <a:r>
              <a:rPr lang="en-US" b="0" i="0" dirty="0">
                <a:solidFill>
                  <a:srgbClr val="333333"/>
                </a:solidFill>
                <a:latin typeface="Arial"/>
                <a:ea typeface="Arial"/>
                <a:cs typeface="Arial"/>
                <a:sym typeface="Arial"/>
              </a:rPr>
              <a:t>For a logistic regression, the count of the smallest group in the outcome variable should be at least 15 times the number of predictors. </a:t>
            </a:r>
          </a:p>
          <a:p>
            <a:pPr marL="228600" lvl="0" indent="-228600" algn="l" rtl="0">
              <a:lnSpc>
                <a:spcPct val="90000"/>
              </a:lnSpc>
              <a:spcBef>
                <a:spcPts val="0"/>
              </a:spcBef>
              <a:spcAft>
                <a:spcPts val="0"/>
              </a:spcAft>
              <a:buClr>
                <a:srgbClr val="333333"/>
              </a:buClr>
              <a:buSzPts val="2800"/>
              <a:buChar char="•"/>
            </a:pPr>
            <a:r>
              <a:rPr lang="en-US" b="0" i="0" dirty="0">
                <a:solidFill>
                  <a:srgbClr val="333333"/>
                </a:solidFill>
                <a:latin typeface="Arial"/>
                <a:ea typeface="Arial"/>
                <a:cs typeface="Arial"/>
                <a:sym typeface="Arial"/>
              </a:rPr>
              <a:t>Otherwise, the model will not be generalizable — its out of sample accuracy will be low because of overfitting.</a:t>
            </a:r>
            <a:endParaRPr dirty="0"/>
          </a:p>
        </p:txBody>
      </p:sp>
    </p:spTree>
    <p:extLst>
      <p:ext uri="{BB962C8B-B14F-4D97-AF65-F5344CB8AC3E}">
        <p14:creationId xmlns:p14="http://schemas.microsoft.com/office/powerpoint/2010/main" val="364425859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371"/>
        <p:cNvGrpSpPr/>
        <p:nvPr/>
      </p:nvGrpSpPr>
      <p:grpSpPr>
        <a:xfrm>
          <a:off x="0" y="0"/>
          <a:ext cx="0" cy="0"/>
          <a:chOff x="0" y="0"/>
          <a:chExt cx="0" cy="0"/>
        </a:xfrm>
      </p:grpSpPr>
      <p:sp>
        <p:nvSpPr>
          <p:cNvPr id="372" name="Google Shape;372;p4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333333"/>
              </a:buClr>
              <a:buSzPts val="4400"/>
              <a:buFont typeface="Arial"/>
              <a:buNone/>
            </a:pPr>
            <a:r>
              <a:rPr lang="en-US">
                <a:solidFill>
                  <a:srgbClr val="333333"/>
                </a:solidFill>
                <a:latin typeface="Arial"/>
                <a:ea typeface="Arial"/>
                <a:cs typeface="Arial"/>
                <a:sym typeface="Arial"/>
              </a:rPr>
              <a:t>R</a:t>
            </a:r>
            <a:r>
              <a:rPr lang="en-US" b="0" i="0">
                <a:solidFill>
                  <a:srgbClr val="333333"/>
                </a:solidFill>
                <a:latin typeface="Arial"/>
                <a:ea typeface="Arial"/>
                <a:cs typeface="Arial"/>
                <a:sym typeface="Arial"/>
              </a:rPr>
              <a:t>educe </a:t>
            </a:r>
            <a:r>
              <a:rPr lang="en-US" b="0" i="0" dirty="0">
                <a:solidFill>
                  <a:srgbClr val="333333"/>
                </a:solidFill>
                <a:latin typeface="Arial"/>
                <a:ea typeface="Arial"/>
                <a:cs typeface="Arial"/>
                <a:sym typeface="Arial"/>
              </a:rPr>
              <a:t>the number of candidate </a:t>
            </a:r>
            <a:r>
              <a:rPr lang="en-US" b="0" i="0">
                <a:solidFill>
                  <a:srgbClr val="333333"/>
                </a:solidFill>
                <a:latin typeface="Arial"/>
                <a:ea typeface="Arial"/>
                <a:cs typeface="Arial"/>
                <a:sym typeface="Arial"/>
              </a:rPr>
              <a:t>predictors by</a:t>
            </a:r>
            <a:endParaRPr dirty="0"/>
          </a:p>
        </p:txBody>
      </p:sp>
      <p:sp>
        <p:nvSpPr>
          <p:cNvPr id="373" name="Google Shape;373;p44"/>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fontScale="55000" lnSpcReduction="20000"/>
          </a:bodyPr>
          <a:lstStyle/>
          <a:p>
            <a:pPr marL="228600" lvl="0" indent="-228600" algn="l" rtl="0">
              <a:lnSpc>
                <a:spcPct val="90000"/>
              </a:lnSpc>
              <a:spcBef>
                <a:spcPts val="0"/>
              </a:spcBef>
              <a:spcAft>
                <a:spcPts val="0"/>
              </a:spcAft>
              <a:buClr>
                <a:srgbClr val="333333"/>
              </a:buClr>
              <a:buSzPct val="100000"/>
              <a:buFont typeface="Arial"/>
              <a:buChar char="•"/>
            </a:pPr>
            <a:r>
              <a:rPr lang="en-US" b="1" i="0" dirty="0">
                <a:solidFill>
                  <a:srgbClr val="333333"/>
                </a:solidFill>
                <a:latin typeface="Arial"/>
                <a:ea typeface="Arial"/>
                <a:cs typeface="Arial"/>
                <a:sym typeface="Arial"/>
              </a:rPr>
              <a:t>Grouping similar variables:</a:t>
            </a:r>
            <a:r>
              <a:rPr lang="en-US" b="0" i="0" dirty="0">
                <a:solidFill>
                  <a:srgbClr val="333333"/>
                </a:solidFill>
                <a:latin typeface="Arial"/>
                <a:ea typeface="Arial"/>
                <a:cs typeface="Arial"/>
                <a:sym typeface="Arial"/>
              </a:rPr>
              <a:t> Either by using domain knowledge, for example replacing all diseases that affect heart muscles, valves, rhythm and blood vessels with one variable — cardiovascular disease. Or based on statistical methods like PCA (Principle Components Analysis) which summarizes the large initial set of variables by replacing them with 2 or 3 principle components that maintain the largest possible variability in the data. Grouping variables has the downside of getting a coefficient for the combined variables only, therefore losing the details on the effect of each.</a:t>
            </a:r>
            <a:endParaRPr dirty="0"/>
          </a:p>
          <a:p>
            <a:pPr marL="228600" lvl="0" indent="-228600" algn="l" rtl="0">
              <a:lnSpc>
                <a:spcPct val="90000"/>
              </a:lnSpc>
              <a:spcBef>
                <a:spcPts val="1000"/>
              </a:spcBef>
              <a:spcAft>
                <a:spcPts val="0"/>
              </a:spcAft>
              <a:buClr>
                <a:srgbClr val="333333"/>
              </a:buClr>
              <a:buSzPct val="100000"/>
              <a:buFont typeface="Arial"/>
              <a:buChar char="•"/>
            </a:pPr>
            <a:r>
              <a:rPr lang="en-US" b="1" i="0" dirty="0">
                <a:solidFill>
                  <a:srgbClr val="333333"/>
                </a:solidFill>
                <a:latin typeface="Arial"/>
                <a:ea typeface="Arial"/>
                <a:cs typeface="Arial"/>
                <a:sym typeface="Arial"/>
              </a:rPr>
              <a:t>Running a LASSO regression:</a:t>
            </a:r>
            <a:r>
              <a:rPr lang="en-US" b="0" i="0" dirty="0">
                <a:solidFill>
                  <a:srgbClr val="333333"/>
                </a:solidFill>
                <a:latin typeface="Arial"/>
                <a:ea typeface="Arial"/>
                <a:cs typeface="Arial"/>
                <a:sym typeface="Arial"/>
              </a:rPr>
              <a:t> LASSO is a regularized regression model that shrinks the coefficients of unimportant predictors to zero, thus performing automatic variable selection. However, all coefficients will be shrunk and the effect of each predictor will appear lower than it really is.</a:t>
            </a:r>
            <a:endParaRPr dirty="0"/>
          </a:p>
          <a:p>
            <a:pPr marL="228600" lvl="0" indent="-228600" algn="l" rtl="0">
              <a:lnSpc>
                <a:spcPct val="90000"/>
              </a:lnSpc>
              <a:spcBef>
                <a:spcPts val="1000"/>
              </a:spcBef>
              <a:spcAft>
                <a:spcPts val="0"/>
              </a:spcAft>
              <a:buClr>
                <a:srgbClr val="333333"/>
              </a:buClr>
              <a:buSzPct val="100000"/>
              <a:buFont typeface="Arial"/>
              <a:buChar char="•"/>
            </a:pPr>
            <a:r>
              <a:rPr lang="en-US" b="1" i="0" dirty="0">
                <a:solidFill>
                  <a:srgbClr val="333333"/>
                </a:solidFill>
                <a:latin typeface="Arial"/>
                <a:ea typeface="Arial"/>
                <a:cs typeface="Arial"/>
                <a:sym typeface="Arial"/>
              </a:rPr>
              <a:t>Using stepwise variable selection:</a:t>
            </a:r>
            <a:r>
              <a:rPr lang="en-US" b="0" i="0" dirty="0">
                <a:solidFill>
                  <a:srgbClr val="333333"/>
                </a:solidFill>
                <a:latin typeface="Arial"/>
                <a:ea typeface="Arial"/>
                <a:cs typeface="Arial"/>
                <a:sym typeface="Arial"/>
              </a:rPr>
              <a:t> Despite its popularity, stepwise regression has a lot of limitations that you should be aware of before using it.</a:t>
            </a:r>
            <a:endParaRPr dirty="0"/>
          </a:p>
          <a:p>
            <a:pPr marL="228600" lvl="0" indent="-228600" algn="l" rtl="0">
              <a:lnSpc>
                <a:spcPct val="90000"/>
              </a:lnSpc>
              <a:spcBef>
                <a:spcPts val="1000"/>
              </a:spcBef>
              <a:spcAft>
                <a:spcPts val="0"/>
              </a:spcAft>
              <a:buClr>
                <a:srgbClr val="333333"/>
              </a:buClr>
              <a:buSzPct val="100000"/>
              <a:buFont typeface="Arial"/>
              <a:buChar char="•"/>
            </a:pPr>
            <a:r>
              <a:rPr lang="en-US" b="1" i="0" dirty="0">
                <a:solidFill>
                  <a:srgbClr val="333333"/>
                </a:solidFill>
                <a:latin typeface="Arial"/>
                <a:ea typeface="Arial"/>
                <a:cs typeface="Arial"/>
                <a:sym typeface="Arial"/>
              </a:rPr>
              <a:t>Using univariate variable selection:</a:t>
            </a:r>
            <a:r>
              <a:rPr lang="en-US" b="0" i="0" dirty="0">
                <a:solidFill>
                  <a:srgbClr val="333333"/>
                </a:solidFill>
                <a:latin typeface="Arial"/>
                <a:ea typeface="Arial"/>
                <a:cs typeface="Arial"/>
                <a:sym typeface="Arial"/>
              </a:rPr>
              <a:t> Another popular and highly criticized method is to run a hypothesis test on each candidate variable, then in the final model only include those that had a p-value &lt; 0.2 for example. This approach is just a variant of stepwise selection and therefore inherits the same problems of the stepwise method.</a:t>
            </a:r>
            <a:endParaRPr dirty="0"/>
          </a:p>
          <a:p>
            <a:pPr marL="228600" lvl="0" indent="-228600" algn="l" rtl="0">
              <a:lnSpc>
                <a:spcPct val="90000"/>
              </a:lnSpc>
              <a:spcBef>
                <a:spcPts val="1000"/>
              </a:spcBef>
              <a:spcAft>
                <a:spcPts val="0"/>
              </a:spcAft>
              <a:buClr>
                <a:srgbClr val="333333"/>
              </a:buClr>
              <a:buSzPct val="100000"/>
              <a:buFont typeface="Arial"/>
              <a:buChar char="•"/>
            </a:pPr>
            <a:r>
              <a:rPr lang="en-US" b="1" i="0" dirty="0">
                <a:solidFill>
                  <a:srgbClr val="333333"/>
                </a:solidFill>
                <a:latin typeface="Arial"/>
                <a:ea typeface="Arial"/>
                <a:cs typeface="Arial"/>
                <a:sym typeface="Arial"/>
              </a:rPr>
              <a:t>Selecting variables that have the largest variance:</a:t>
            </a:r>
            <a:r>
              <a:rPr lang="en-US" b="0" i="0" dirty="0">
                <a:solidFill>
                  <a:srgbClr val="333333"/>
                </a:solidFill>
                <a:latin typeface="Arial"/>
                <a:ea typeface="Arial"/>
                <a:cs typeface="Arial"/>
                <a:sym typeface="Arial"/>
              </a:rPr>
              <a:t> In cases where you have thousands of predictors, it is common to reduce their number by only selecting those with the highest overall variability as these are more likely to be predictive of the outcome. The advantage of using such method to select predictors regardless to the outcome variable is that it does not bias the regression results.</a:t>
            </a:r>
            <a:endParaRPr dirty="0"/>
          </a:p>
          <a:p>
            <a:pPr marL="228600" lvl="0" indent="-117475" algn="l" rtl="0">
              <a:lnSpc>
                <a:spcPct val="90000"/>
              </a:lnSpc>
              <a:spcBef>
                <a:spcPts val="1000"/>
              </a:spcBef>
              <a:spcAft>
                <a:spcPts val="0"/>
              </a:spcAft>
              <a:buClr>
                <a:schemeClr val="dk1"/>
              </a:buClr>
              <a:buSzPct val="100000"/>
              <a:buNone/>
            </a:pPr>
            <a:endParaRPr dirty="0"/>
          </a:p>
        </p:txBody>
      </p:sp>
    </p:spTree>
    <p:extLst>
      <p:ext uri="{BB962C8B-B14F-4D97-AF65-F5344CB8AC3E}">
        <p14:creationId xmlns:p14="http://schemas.microsoft.com/office/powerpoint/2010/main" val="3060366059"/>
      </p:ext>
    </p:extLst>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118</TotalTime>
  <Words>2152</Words>
  <Application>Microsoft Office PowerPoint</Application>
  <PresentationFormat>Widescreen</PresentationFormat>
  <Paragraphs>141</Paragraphs>
  <Slides>23</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Multiple Linear Regression</vt:lpstr>
      <vt:lpstr>Confounding vars</vt:lpstr>
      <vt:lpstr>Mitigation</vt:lpstr>
      <vt:lpstr>Stratification</vt:lpstr>
      <vt:lpstr>Stratification Example</vt:lpstr>
      <vt:lpstr>Controlling for confounding variables</vt:lpstr>
      <vt:lpstr>mediator variable</vt:lpstr>
      <vt:lpstr>Another example of mediator var</vt:lpstr>
      <vt:lpstr>What happens when you control for the mediator (lung damage)?</vt:lpstr>
      <vt:lpstr>Mediator vs. Confounder</vt:lpstr>
      <vt:lpstr>Which Variables Should You Include In A Regression Model?</vt:lpstr>
      <vt:lpstr>Which Variables Should You not Include In A Regression Model?</vt:lpstr>
      <vt:lpstr>Which var to control for (include in the model)</vt:lpstr>
      <vt:lpstr>Collinearity </vt:lpstr>
      <vt:lpstr>How to detect collinearity?</vt:lpstr>
      <vt:lpstr>Impact on Regression Model</vt:lpstr>
      <vt:lpstr>Detection and Mitigation</vt:lpstr>
      <vt:lpstr>Variance Inflation Factor (VIF)</vt:lpstr>
      <vt:lpstr>VIF values: interpretation</vt:lpstr>
      <vt:lpstr>Avoiding collinearity when selecting predictors</vt:lpstr>
      <vt:lpstr>Including variables that are not linearly related to the outcome</vt:lpstr>
      <vt:lpstr>What if you ended up with a large number of predictors?</vt:lpstr>
      <vt:lpstr>Reduce the number of candidate predictors by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Manjari Gupta</dc:creator>
  <cp:lastModifiedBy>Manjari Gupta</cp:lastModifiedBy>
  <cp:revision>7</cp:revision>
  <dcterms:created xsi:type="dcterms:W3CDTF">2021-03-21T15:46:09Z</dcterms:created>
  <dcterms:modified xsi:type="dcterms:W3CDTF">2025-08-28T17:54:41Z</dcterms:modified>
</cp:coreProperties>
</file>