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9" r:id="rId3"/>
    <p:sldId id="300" r:id="rId4"/>
    <p:sldId id="302" r:id="rId5"/>
    <p:sldId id="303" r:id="rId6"/>
    <p:sldId id="304" r:id="rId7"/>
    <p:sldId id="279" r:id="rId8"/>
    <p:sldId id="280" r:id="rId9"/>
    <p:sldId id="281" r:id="rId10"/>
    <p:sldId id="282" r:id="rId11"/>
    <p:sldId id="283" r:id="rId12"/>
    <p:sldId id="284" r:id="rId13"/>
    <p:sldId id="291" r:id="rId14"/>
    <p:sldId id="295" r:id="rId15"/>
    <p:sldId id="296" r:id="rId16"/>
    <p:sldId id="297" r:id="rId17"/>
    <p:sldId id="2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E8D1-FE0B-4E15-AEB9-46438E249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9B999-806A-4D3D-B630-CFEE28E73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F7A55-860C-493D-8E83-47FD546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FCE7B-9385-4946-89C2-53393E158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B2FB3-2D8C-4201-B920-FC6FCC3C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1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A56E-E7B2-4158-88B9-6A5A317B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410D2-DB62-40EA-B890-2AC5075EF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8BBDD-6C39-43A7-9CEA-750EE1D9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E70C-5F28-4266-A67C-67741D99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4958B-3C87-44B2-A323-ECF43E1C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8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454D-BDF1-401D-9AC5-2EA65629F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BE8BF-4CE0-4E62-9D3D-7520A5F70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FC4DD-6729-495B-82D0-7FE1460F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5262B-693B-47F6-B118-83573429D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02EA6-3F39-4BE3-A70F-216E8D52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04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8903C-5696-4E4E-9C17-A16B20FD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BEA2-58AF-48D2-808C-DE5F6BED8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61FFA-97E1-4E0F-B992-37B4EFF32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6EDC3-4CDF-4370-AAC9-D398CD22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77AE4-D45C-47EF-A148-AB3D697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73CE-E23D-4B79-B117-87E62550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12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842E-BE2D-45F1-A380-EC31212F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DBA35-7694-497E-A9E0-7AC501729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CB454-2D98-488C-A2EE-7C1F08DDD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A4695-8A8D-49C2-8CCA-4C2AE49A6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C83081-8979-4272-B8F8-3C7CA1BE8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D3FF5-03A4-4583-BD55-979B4E9F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20E9-FAEE-4B03-8900-A0076E33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C42A5-144A-4626-8898-33D596C2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37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EEB3-FD73-474F-A149-3A83A703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3C4C8B-5115-4741-95BA-3BE95A79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BD41D-5701-4A1F-932C-EC3959DD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D9CFF-014A-4D58-B89E-CB5C8AEC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28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F8535-2744-461E-BED2-AF30333D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CEDEC-6B36-4874-8BDE-474F59D34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6C4AC-8F06-41BB-AF57-19A17EE8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15B0-44EC-4594-9C63-54B92179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F41F-95AD-4433-BFF2-926149C7F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4482F-0876-4CB0-92FA-2F432ED4A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5FB20-1961-4561-8C54-152CC096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2C973-C821-41DE-93ED-AA2606130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2DAE2-224C-4B40-84DC-6280D62C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90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C5D1-0647-4757-8003-F3864D51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36D59-FEE4-4588-A363-54556D16F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D826D-5040-41DC-A6CA-E3B17C60C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416EE-B592-48ED-964F-44DD488E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BC27D-7FAA-4A9F-83DE-9DC6786A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38991-2118-4252-8E89-CFEB238D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37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CF62-5299-42A3-84CE-86A7B65C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57F63-55B7-43E8-A899-01F640810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FB380-B061-4A5E-A3CB-E8CD286C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1C4CE-471B-48EA-85EE-B7715BB61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33448-4F7F-47B5-B0FA-B769D2C1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97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523426-8727-42E0-884D-65B69DCF6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04596-B538-46F8-9BFF-2BF3D216A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EB2ED-E4B3-4020-B80E-50EECE76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50651-B3B9-4B98-9F58-62F3C239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175FD-9A2C-4EEC-8834-21872E0E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26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E8C468-F13D-437E-9C2A-181D13D3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EEE70-04EC-4E6D-8993-9227B961C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A2F8B-605B-4E2D-B3EE-3F30A8976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ED3B6-DBBA-4221-AA74-DED3E3D5823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F54EE-7653-4A9B-A4D1-6C583934E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62D6B-7CAE-415B-8ACE-E11FEC441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A9FB5-33F1-4925-BC3D-1A26FBF7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12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39B1-7E6E-4238-B63C-2AD9086FD6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Gradient descent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848DD-5C6F-4DDB-9F52-7C69759AC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18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C2F1-5813-4BBF-88D7-8C7E6D03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7242F-4ACB-48CF-A895-3637FB529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92929"/>
                </a:solidFill>
                <a:latin typeface="charter"/>
              </a:rPr>
              <a:t>is an iterative optimization algorithm to find the minimum of a function.</a:t>
            </a:r>
          </a:p>
          <a:p>
            <a:pPr lvl="1"/>
            <a:r>
              <a:rPr lang="en-US" dirty="0">
                <a:solidFill>
                  <a:srgbClr val="292929"/>
                </a:solidFill>
                <a:latin typeface="charter"/>
              </a:rPr>
              <a:t>that function is our Loss Function</a:t>
            </a:r>
          </a:p>
          <a:p>
            <a:pPr lvl="1"/>
            <a:r>
              <a:rPr lang="en-US" dirty="0">
                <a:solidFill>
                  <a:srgbClr val="292929"/>
                </a:solidFill>
                <a:latin typeface="charter"/>
              </a:rPr>
              <a:t>in this case the Mean Squared Error cost function.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82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AA6A5-FC88-4363-A105-C2374216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92929"/>
                </a:solidFill>
                <a:effectLst/>
                <a:latin typeface="sohne"/>
              </a:rPr>
              <a:t>Linear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4D799-8334-44C3-BA5B-8C404A85A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174" y="1647618"/>
            <a:ext cx="10515600" cy="4351338"/>
          </a:xfrm>
        </p:spPr>
        <p:txBody>
          <a:bodyPr/>
          <a:lstStyle/>
          <a:p>
            <a:r>
              <a:rPr lang="en-IN" dirty="0"/>
              <a:t>Y = </a:t>
            </a:r>
            <a:r>
              <a:rPr lang="en-IN" dirty="0" err="1"/>
              <a:t>mX</a:t>
            </a:r>
            <a:r>
              <a:rPr lang="en-IN" dirty="0"/>
              <a:t> + c</a:t>
            </a:r>
          </a:p>
          <a:p>
            <a:r>
              <a:rPr lang="en-IN" b="1" i="0" dirty="0">
                <a:solidFill>
                  <a:srgbClr val="292929"/>
                </a:solidFill>
                <a:effectLst/>
                <a:latin typeface="sohne"/>
              </a:rPr>
              <a:t>Loss Function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 loss is the error in our predicted value of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m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and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c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 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Our goal is to minimize this error to obtain the most accurate value of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m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and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c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  <a:endParaRPr lang="en-IN" b="1" i="0" dirty="0">
              <a:solidFill>
                <a:srgbClr val="292929"/>
              </a:solidFill>
              <a:effectLst/>
              <a:latin typeface="sohne"/>
            </a:endParaRP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89EC8C-F5C4-4293-9817-A06638A44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206" y="3698668"/>
            <a:ext cx="285750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58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24959-83C9-4EEE-AF66-79E17C4D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757575"/>
                </a:solidFill>
                <a:effectLst/>
                <a:latin typeface="sohne"/>
              </a:rPr>
              <a:t>how the gradient descent algorithm works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C14CBC-9689-412A-9187-A5614340A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361" y="1276283"/>
            <a:ext cx="7786204" cy="517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06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F03F-AF09-402F-92ED-13BDD057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Applying gradient descent step by step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5D91-D157-4660-B24A-5337DD902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Initially let m = 0 and c = 0. Let L be our learning rate. This controls how much the value of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m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changes with each step. L could be a small value like 0.0001 for good accuracy.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Calculate the partial derivative of the loss function with respect to m,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plug in the current values of x, y, m and c in it to obtain the derivative value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D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FA69EBB-059F-4EE6-A3B3-8A7410B5E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939" y="4470331"/>
            <a:ext cx="381000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55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6E91-F22F-4947-8005-F25AD9F3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CDAE7-5305-47B2-877D-07CE7E41B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Similarly lets find the partial derivative with respect to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c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, Dc :</a:t>
            </a:r>
          </a:p>
          <a:p>
            <a:endParaRPr lang="en-US" dirty="0">
              <a:solidFill>
                <a:srgbClr val="292929"/>
              </a:solidFill>
              <a:latin typeface="charter"/>
            </a:endParaRPr>
          </a:p>
          <a:p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Now we update the current value of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m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and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c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using the following equation</a:t>
            </a:r>
          </a:p>
          <a:p>
            <a:endParaRPr lang="en-US" dirty="0">
              <a:solidFill>
                <a:srgbClr val="292929"/>
              </a:solidFill>
              <a:latin typeface="charter"/>
            </a:endParaRPr>
          </a:p>
          <a:p>
            <a:endParaRPr lang="en-US" dirty="0">
              <a:solidFill>
                <a:srgbClr val="292929"/>
              </a:solidFill>
              <a:latin typeface="charter"/>
            </a:endParaRPr>
          </a:p>
          <a:p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We repeat this process until our loss function is a very small value or ideally 0 (which means 0 error or 100% accuracy). 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 value of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m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and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c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that we are left with now will be the optimum values.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E643C27-2112-4349-A2B0-FF3F33F82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936" y="2142711"/>
            <a:ext cx="28575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80CC2F7F-B7C8-4109-844C-AB8A9D494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902" y="3679966"/>
            <a:ext cx="285750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5412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EA5C-58E6-4BF1-BFA9-DAB22F08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92929"/>
                </a:solidFill>
                <a:latin typeface="charter"/>
              </a:rPr>
              <a:t>Linear Regression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FBAD9-BD0B-4610-A6FD-765D525BA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 hypothesis for Linear Regression model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56C36A-4C52-4F6F-84FA-66D740114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52700"/>
            <a:ext cx="76200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65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F7CB-4837-473A-8054-72E74C840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1C891-36E9-43C9-AD99-EAA90E499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 most commonly used loss function for Linear Regression is </a:t>
            </a:r>
          </a:p>
          <a:p>
            <a:pPr lvl="1"/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Least Squared Error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, 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and its cost function is also known as </a:t>
            </a:r>
          </a:p>
          <a:p>
            <a:pPr lvl="1"/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Mean Squared Error(MSE)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</a:p>
          <a:p>
            <a:endParaRPr lang="en-US" dirty="0">
              <a:solidFill>
                <a:srgbClr val="292929"/>
              </a:solidFill>
              <a:latin typeface="charter"/>
            </a:endParaRPr>
          </a:p>
          <a:p>
            <a:endParaRPr lang="en-US" dirty="0">
              <a:solidFill>
                <a:srgbClr val="292929"/>
              </a:solidFill>
              <a:latin typeface="charter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D8EEDF-03D0-4AA2-9992-0C2CB77E3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630386"/>
            <a:ext cx="762000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08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E5A1-8284-44ED-8746-8144D9EC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E6442-B5C9-436B-8D71-57E23D2F1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cost function is a parabola curve</a:t>
            </a:r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7316E20-5D99-4825-B81B-741A8057F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105" y="2801109"/>
            <a:ext cx="5609436" cy="303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90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402C-9AB2-4F33-AECD-154EEE12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0E19-4AF2-447C-87D2-369C9A3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To minimize it, we need to find its vertex of the parabola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One of the most popular programming solutions is 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Gradient Descent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, to walk through the optimization process. 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Gradient Descent is pervasively applied in different models </a:t>
            </a:r>
          </a:p>
          <a:p>
            <a:r>
              <a:rPr lang="en-US" dirty="0">
                <a:solidFill>
                  <a:srgbClr val="292929"/>
                </a:solidFill>
                <a:latin typeface="charter"/>
              </a:rPr>
              <a:t>It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takes steps based on a learning rate α, moving towards the vertex of the parabola 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which is also known as the point with the slope equals to 0. </a:t>
            </a:r>
          </a:p>
        </p:txBody>
      </p:sp>
    </p:spTree>
    <p:extLst>
      <p:ext uri="{BB962C8B-B14F-4D97-AF65-F5344CB8AC3E}">
        <p14:creationId xmlns:p14="http://schemas.microsoft.com/office/powerpoint/2010/main" val="124768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295C-281E-45DD-B4B7-BF056D50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E8206-144F-4842-805A-24F7D15EE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So to get the slope, we take the derivative of cost function at each coefficient θ.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Calculate the partial derivative of the loss function with respect to each coefficient θ</a:t>
            </a:r>
            <a:endParaRPr lang="en-IN" dirty="0"/>
          </a:p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9FA8E82-7802-4A91-839B-AFBD21CC0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018" y="3736699"/>
            <a:ext cx="7620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97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6E08-0395-4BAD-A2A3-F51753744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F7594-44D6-440E-AF85-AF6B68248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51" y="1897063"/>
            <a:ext cx="7505113" cy="4351338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Next, continuously update each θ with a good amount of iterations along with the observation of reduction in cost function until it reaches a horizontal line. 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In reality, it is impossible for the slope to reach an exact value of 0 due to the chosen step size, but it can be close to 0 as much as possible depending on hyperparameters.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EF083-0497-4847-85D0-4C0DCF28B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264" y="1897063"/>
            <a:ext cx="39624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47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F72A-095A-4D1C-AF2F-1CEEBEE2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Stochastic gradient descent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6A2F1-2579-4EA0-841C-13D38F0BD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en-US" b="0" dirty="0">
                <a:effectLst/>
                <a:latin typeface="Helvetica Neue"/>
              </a:rPr>
              <a:t>each training instance is shown to the model one at a time. </a:t>
            </a:r>
          </a:p>
          <a:p>
            <a:pPr algn="l" fontAlgn="base"/>
            <a:r>
              <a:rPr lang="en-US" b="0" dirty="0">
                <a:effectLst/>
                <a:latin typeface="Helvetica Neue"/>
              </a:rPr>
              <a:t>The model makes a prediction for a training instance, </a:t>
            </a:r>
          </a:p>
          <a:p>
            <a:pPr algn="l" fontAlgn="base"/>
            <a:r>
              <a:rPr lang="en-US" b="0" dirty="0">
                <a:effectLst/>
                <a:latin typeface="Helvetica Neue"/>
              </a:rPr>
              <a:t>the error is calculated and </a:t>
            </a:r>
          </a:p>
          <a:p>
            <a:pPr algn="l" fontAlgn="base"/>
            <a:r>
              <a:rPr lang="en-US" b="0" dirty="0">
                <a:effectLst/>
                <a:latin typeface="Helvetica Neue"/>
              </a:rPr>
              <a:t>the model is updated in order to reduce the error for the next prediction.</a:t>
            </a:r>
          </a:p>
          <a:p>
            <a:pPr algn="l" fontAlgn="base"/>
            <a:r>
              <a:rPr lang="en-US" b="0" dirty="0">
                <a:effectLst/>
                <a:latin typeface="Helvetica Neue"/>
              </a:rPr>
              <a:t>here gradient is the error for the model on the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83087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3ECD-DCF7-4AD4-B631-62D2F0D3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Types of Gradient Descent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65448-B845-4FA2-A06D-E8FECB86F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292929"/>
                </a:solidFill>
                <a:effectLst/>
                <a:latin typeface="charter"/>
              </a:rPr>
              <a:t>1. Batch Gradient </a:t>
            </a:r>
            <a:r>
              <a:rPr lang="fr-FR" b="0" i="0" dirty="0" err="1">
                <a:solidFill>
                  <a:srgbClr val="292929"/>
                </a:solidFill>
                <a:effectLst/>
                <a:latin typeface="charter"/>
              </a:rPr>
              <a:t>Descent</a:t>
            </a:r>
            <a:br>
              <a:rPr lang="fr-FR" dirty="0"/>
            </a:br>
            <a:r>
              <a:rPr lang="fr-FR" b="0" i="0" dirty="0">
                <a:solidFill>
                  <a:srgbClr val="292929"/>
                </a:solidFill>
                <a:effectLst/>
                <a:latin typeface="charter"/>
              </a:rPr>
              <a:t>2. </a:t>
            </a:r>
            <a:r>
              <a:rPr lang="fr-FR" b="0" i="0" dirty="0" err="1">
                <a:solidFill>
                  <a:srgbClr val="292929"/>
                </a:solidFill>
                <a:effectLst/>
                <a:latin typeface="charter"/>
              </a:rPr>
              <a:t>Stochastic</a:t>
            </a:r>
            <a:r>
              <a:rPr lang="fr-FR" b="0" i="0" dirty="0">
                <a:solidFill>
                  <a:srgbClr val="292929"/>
                </a:solidFill>
                <a:effectLst/>
                <a:latin typeface="charter"/>
              </a:rPr>
              <a:t> Gradient </a:t>
            </a:r>
            <a:r>
              <a:rPr lang="fr-FR" b="0" i="0" dirty="0" err="1">
                <a:solidFill>
                  <a:srgbClr val="292929"/>
                </a:solidFill>
                <a:effectLst/>
                <a:latin typeface="charter"/>
              </a:rPr>
              <a:t>Descent</a:t>
            </a:r>
            <a:br>
              <a:rPr lang="fr-FR" dirty="0"/>
            </a:br>
            <a:r>
              <a:rPr lang="fr-FR" b="0" i="0" dirty="0">
                <a:solidFill>
                  <a:srgbClr val="292929"/>
                </a:solidFill>
                <a:effectLst/>
                <a:latin typeface="charter"/>
              </a:rPr>
              <a:t>3. Mini-Batch Gradient </a:t>
            </a:r>
            <a:r>
              <a:rPr lang="fr-FR" b="0" i="0" dirty="0" err="1">
                <a:solidFill>
                  <a:srgbClr val="292929"/>
                </a:solidFill>
                <a:effectLst/>
                <a:latin typeface="charter"/>
              </a:rPr>
              <a:t>Descent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271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F02E-D077-4996-B73A-16C99BE4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Batch Gradient Descent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44A4-DA56-4C13-B440-025AFFEE6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6986" cy="4351338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In the batch gradient descent, to calculate the gradient of the cost function,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we need to sum all training examples for each steps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If we have 3 millions samples (m training examples) then the gradient descent algorithm should sum 3 millions samples for every epoch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To move a single step, we have to calculate each with 3 million times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Batch Gradient Descent is not good fit for large datasets</a:t>
            </a:r>
          </a:p>
          <a:p>
            <a:pPr marL="0" indent="0">
              <a:buNone/>
            </a:pPr>
            <a:br>
              <a:rPr lang="en-US" dirty="0">
                <a:effectLst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F7A03E-8E98-059F-585F-6C82D4C26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264" y="1897063"/>
            <a:ext cx="39624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8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8222-9A00-48B9-B168-D8A0A4B1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Stochastic Gradient Descent (SGD)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B8DE-5D32-4C64-B2ED-274B29106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In stochastic Gradient Descent, 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we use one example or one training sample at each iteration instead of using whole dataset to sum all for every steps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SGD is widely used for larger dataset trainings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Computationally faster and can be trained in parallel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Need to randomly shuffle the training examples before calculating 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172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AFF2-044E-4F4F-ABAD-D4EE0F79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Mini-Batch Gradient Descent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5DB6-8BC4-4986-88D6-2EB7DC1E3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It is similar like SGD, it uses </a:t>
            </a:r>
            <a:r>
              <a:rPr lang="en-US" b="1" i="1" dirty="0">
                <a:solidFill>
                  <a:srgbClr val="292929"/>
                </a:solidFill>
                <a:effectLst/>
                <a:latin typeface="charter"/>
              </a:rPr>
              <a:t>n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 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samples instead of 1 at each iteration.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206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683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charter</vt:lpstr>
      <vt:lpstr>Helvetica Neue</vt:lpstr>
      <vt:lpstr>sohne</vt:lpstr>
      <vt:lpstr>Office Theme</vt:lpstr>
      <vt:lpstr>Gradient descent</vt:lpstr>
      <vt:lpstr>Gradient Descent</vt:lpstr>
      <vt:lpstr>Linear Regression</vt:lpstr>
      <vt:lpstr>how the gradient descent algorithm works</vt:lpstr>
      <vt:lpstr>Applying gradient descent step by step</vt:lpstr>
      <vt:lpstr>PowerPoint Presentation</vt:lpstr>
      <vt:lpstr>Linear Regression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Stochastic gradient descent </vt:lpstr>
      <vt:lpstr>Types of Gradient Descent Algorithms</vt:lpstr>
      <vt:lpstr>Batch Gradient Descent</vt:lpstr>
      <vt:lpstr>Stochastic Gradient Descent (SGD)</vt:lpstr>
      <vt:lpstr>Mini-Batch Gradient Descent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descent</dc:title>
  <dc:creator>Manjari Gupta</dc:creator>
  <cp:lastModifiedBy>Manjari Gupta</cp:lastModifiedBy>
  <cp:revision>24</cp:revision>
  <dcterms:created xsi:type="dcterms:W3CDTF">2022-02-14T13:48:49Z</dcterms:created>
  <dcterms:modified xsi:type="dcterms:W3CDTF">2025-08-28T03:43:19Z</dcterms:modified>
</cp:coreProperties>
</file>