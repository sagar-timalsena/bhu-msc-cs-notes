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y="6858000" cx="12192000"/>
  <p:notesSz cx="6858000" cy="9144000"/>
  <p:embeddedFontLst>
    <p:embeddedFont>
      <p:font typeface="Lato"/>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5" roundtripDataSignature="AMtx7mj20yJYkxT98ZFwFiv3ot34oVzkc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font" Target="fonts/Lato-bold.fntdata"/><Relationship Id="rId21" Type="http://schemas.openxmlformats.org/officeDocument/2006/relationships/font" Target="fonts/Lato-regular.fntdata"/><Relationship Id="rId24" Type="http://schemas.openxmlformats.org/officeDocument/2006/relationships/font" Target="fonts/Lato-boldItalic.fntdata"/><Relationship Id="rId23" Type="http://schemas.openxmlformats.org/officeDocument/2006/relationships/font" Target="fonts/Lato-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5"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18"/>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18"/>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2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2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2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22"/>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2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2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2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2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5"/>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25"/>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6"/>
          <p:cNvSpPr/>
          <p:nvPr>
            <p:ph idx="2" type="pic"/>
          </p:nvPr>
        </p:nvSpPr>
        <p:spPr>
          <a:xfrm>
            <a:off x="5183188" y="987425"/>
            <a:ext cx="6172200" cy="4873625"/>
          </a:xfrm>
          <a:prstGeom prst="rect">
            <a:avLst/>
          </a:prstGeom>
          <a:noFill/>
          <a:ln>
            <a:noFill/>
          </a:ln>
        </p:spPr>
      </p:sp>
      <p:sp>
        <p:nvSpPr>
          <p:cNvPr id="64" name="Google Shape;64;p26"/>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7"/>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8"/>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8"/>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5.png"/><Relationship Id="rId5"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5.png"/><Relationship Id="rId4" Type="http://schemas.openxmlformats.org/officeDocument/2006/relationships/image" Target="../media/image12.png"/><Relationship Id="rId5"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222222"/>
              </a:buClr>
              <a:buSzPts val="6000"/>
              <a:buFont typeface="Lato"/>
              <a:buNone/>
            </a:pPr>
            <a:r>
              <a:rPr b="1" i="0" lang="en-US">
                <a:solidFill>
                  <a:srgbClr val="222222"/>
                </a:solidFill>
                <a:latin typeface="Lato"/>
                <a:ea typeface="Lato"/>
                <a:cs typeface="Lato"/>
                <a:sym typeface="Lato"/>
              </a:rPr>
              <a:t>Regression Splines</a:t>
            </a:r>
            <a:br>
              <a:rPr b="1" i="0" lang="en-US">
                <a:solidFill>
                  <a:srgbClr val="222222"/>
                </a:solidFill>
                <a:latin typeface="Lato"/>
                <a:ea typeface="Lato"/>
                <a:cs typeface="Lato"/>
                <a:sym typeface="Lato"/>
              </a:rPr>
            </a:br>
            <a:endParaRPr/>
          </a:p>
        </p:txBody>
      </p:sp>
      <p:sp>
        <p:nvSpPr>
          <p:cNvPr id="85" name="Google Shape;85;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91" name="Google Shape;91;p2"/>
          <p:cNvSpPr txBox="1"/>
          <p:nvPr>
            <p:ph idx="1" type="body"/>
          </p:nvPr>
        </p:nvSpPr>
        <p:spPr>
          <a:xfrm>
            <a:off x="838199" y="1825625"/>
            <a:ext cx="10515600" cy="4351338"/>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rgbClr val="222222"/>
              </a:buClr>
              <a:buSzPct val="100000"/>
              <a:buChar char="•"/>
            </a:pPr>
            <a:r>
              <a:rPr b="0" i="0" lang="en-US">
                <a:solidFill>
                  <a:srgbClr val="222222"/>
                </a:solidFill>
                <a:latin typeface="Lato"/>
                <a:ea typeface="Lato"/>
                <a:cs typeface="Lato"/>
                <a:sym typeface="Lato"/>
              </a:rPr>
              <a:t>we noticed both it’s advantages and limitations of Linear Regression. </a:t>
            </a:r>
            <a:endParaRPr/>
          </a:p>
          <a:p>
            <a:pPr indent="-228600" lvl="0" marL="228600" rtl="0" algn="l">
              <a:lnSpc>
                <a:spcPct val="90000"/>
              </a:lnSpc>
              <a:spcBef>
                <a:spcPts val="1000"/>
              </a:spcBef>
              <a:spcAft>
                <a:spcPts val="0"/>
              </a:spcAft>
              <a:buClr>
                <a:srgbClr val="222222"/>
              </a:buClr>
              <a:buSzPct val="100000"/>
              <a:buChar char="•"/>
            </a:pPr>
            <a:r>
              <a:rPr b="0" i="0" lang="en-US">
                <a:solidFill>
                  <a:srgbClr val="222222"/>
                </a:solidFill>
                <a:latin typeface="Lato"/>
                <a:ea typeface="Lato"/>
                <a:cs typeface="Lato"/>
                <a:sym typeface="Lato"/>
              </a:rPr>
              <a:t>It assumed a linear relationship between the dependent and independent variables, which was rarely the case in reality. </a:t>
            </a:r>
            <a:endParaRPr b="0" i="0">
              <a:solidFill>
                <a:srgbClr val="222222"/>
              </a:solidFill>
              <a:latin typeface="Lato"/>
              <a:ea typeface="Lato"/>
              <a:cs typeface="Lato"/>
              <a:sym typeface="Lato"/>
            </a:endParaRPr>
          </a:p>
          <a:p>
            <a:pPr indent="-228600" lvl="0" marL="228600" rtl="0" algn="l">
              <a:lnSpc>
                <a:spcPct val="90000"/>
              </a:lnSpc>
              <a:spcBef>
                <a:spcPts val="1000"/>
              </a:spcBef>
              <a:spcAft>
                <a:spcPts val="0"/>
              </a:spcAft>
              <a:buClr>
                <a:srgbClr val="222222"/>
              </a:buClr>
              <a:buSzPct val="100000"/>
              <a:buChar char="•"/>
            </a:pPr>
            <a:r>
              <a:rPr b="0" i="0" lang="en-US">
                <a:solidFill>
                  <a:srgbClr val="222222"/>
                </a:solidFill>
                <a:latin typeface="Lato"/>
                <a:ea typeface="Lato"/>
                <a:cs typeface="Lato"/>
                <a:sym typeface="Lato"/>
              </a:rPr>
              <a:t>As an improvement over this model, </a:t>
            </a:r>
            <a:r>
              <a:rPr lang="en-US">
                <a:solidFill>
                  <a:srgbClr val="222222"/>
                </a:solidFill>
                <a:latin typeface="Lato"/>
                <a:ea typeface="Lato"/>
                <a:cs typeface="Lato"/>
                <a:sym typeface="Lato"/>
              </a:rPr>
              <a:t>we have</a:t>
            </a:r>
            <a:r>
              <a:rPr b="0" i="0" lang="en-US">
                <a:solidFill>
                  <a:srgbClr val="222222"/>
                </a:solidFill>
                <a:latin typeface="Lato"/>
                <a:ea typeface="Lato"/>
                <a:cs typeface="Lato"/>
                <a:sym typeface="Lato"/>
              </a:rPr>
              <a:t> Polynomial Regression which generate better results (most of the time). </a:t>
            </a:r>
            <a:endParaRPr b="0" i="0">
              <a:solidFill>
                <a:srgbClr val="222222"/>
              </a:solidFill>
              <a:latin typeface="Lato"/>
              <a:ea typeface="Lato"/>
              <a:cs typeface="Lato"/>
              <a:sym typeface="Lato"/>
            </a:endParaRPr>
          </a:p>
          <a:p>
            <a:pPr indent="-228600" lvl="0" marL="228600" rtl="0" algn="l">
              <a:lnSpc>
                <a:spcPct val="90000"/>
              </a:lnSpc>
              <a:spcBef>
                <a:spcPts val="1000"/>
              </a:spcBef>
              <a:spcAft>
                <a:spcPts val="0"/>
              </a:spcAft>
              <a:buClr>
                <a:srgbClr val="222222"/>
              </a:buClr>
              <a:buSzPct val="100000"/>
              <a:buChar char="•"/>
            </a:pPr>
            <a:r>
              <a:rPr b="0" i="0" lang="en-US">
                <a:solidFill>
                  <a:srgbClr val="222222"/>
                </a:solidFill>
                <a:latin typeface="Lato"/>
                <a:ea typeface="Lato"/>
                <a:cs typeface="Lato"/>
                <a:sym typeface="Lato"/>
              </a:rPr>
              <a:t>But using Polynomial Regression on datasets with high variability chances to result in over-fitting.</a:t>
            </a:r>
            <a:endParaRPr/>
          </a:p>
          <a:p>
            <a:pPr indent="-228600" lvl="0" marL="228600" rtl="0" algn="l">
              <a:lnSpc>
                <a:spcPct val="90000"/>
              </a:lnSpc>
              <a:spcBef>
                <a:spcPts val="1000"/>
              </a:spcBef>
              <a:spcAft>
                <a:spcPts val="0"/>
              </a:spcAft>
              <a:buClr>
                <a:srgbClr val="222222"/>
              </a:buClr>
              <a:buSzPct val="100000"/>
              <a:buChar char="•"/>
            </a:pPr>
            <a:r>
              <a:rPr lang="en-US">
                <a:solidFill>
                  <a:srgbClr val="222222"/>
                </a:solidFill>
                <a:latin typeface="Lato"/>
                <a:ea typeface="Lato"/>
                <a:cs typeface="Lato"/>
                <a:sym typeface="Lato"/>
              </a:rPr>
              <a:t>I</a:t>
            </a:r>
            <a:r>
              <a:rPr b="0" i="0" lang="en-US">
                <a:solidFill>
                  <a:srgbClr val="222222"/>
                </a:solidFill>
                <a:latin typeface="Lato"/>
                <a:ea typeface="Lato"/>
                <a:cs typeface="Lato"/>
                <a:sym typeface="Lato"/>
              </a:rPr>
              <a:t>t is inherently non-local, i.e., changing the value of Y at one point in the training set can affect the fit of the polynomial for data points that are very far away. </a:t>
            </a:r>
            <a:endParaRPr/>
          </a:p>
          <a:p>
            <a:pPr indent="0" lvl="0" marL="0" rtl="0" algn="l">
              <a:lnSpc>
                <a:spcPct val="90000"/>
              </a:lnSpc>
              <a:spcBef>
                <a:spcPts val="1000"/>
              </a:spcBef>
              <a:spcAft>
                <a:spcPts val="0"/>
              </a:spcAft>
              <a:buClr>
                <a:schemeClr val="dk1"/>
              </a:buClr>
              <a:buSzPct val="100000"/>
              <a:buNone/>
            </a:pPr>
            <a:br>
              <a:rPr lang="en-US"/>
            </a:br>
            <a:endParaRPr/>
          </a:p>
        </p:txBody>
      </p:sp>
      <p:pic>
        <p:nvPicPr>
          <p:cNvPr id="92" name="Google Shape;92;p2"/>
          <p:cNvPicPr preferRelativeResize="0"/>
          <p:nvPr/>
        </p:nvPicPr>
        <p:blipFill rotWithShape="1">
          <a:blip r:embed="rId3">
            <a:alphaModFix/>
          </a:blip>
          <a:srcRect b="0" l="0" r="0" t="0"/>
          <a:stretch/>
        </p:blipFill>
        <p:spPr>
          <a:xfrm>
            <a:off x="5534831" y="4978400"/>
            <a:ext cx="5286375" cy="1333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Solution-</a:t>
            </a:r>
            <a:r>
              <a:rPr i="0" lang="en-US">
                <a:solidFill>
                  <a:srgbClr val="222222"/>
                </a:solidFill>
                <a:latin typeface="Lato"/>
                <a:ea typeface="Lato"/>
                <a:cs typeface="Lato"/>
                <a:sym typeface="Lato"/>
              </a:rPr>
              <a:t>Regression Splines</a:t>
            </a:r>
            <a:endParaRPr/>
          </a:p>
        </p:txBody>
      </p:sp>
      <p:sp>
        <p:nvSpPr>
          <p:cNvPr id="98" name="Google Shape;98;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rgbClr val="222222"/>
              </a:buClr>
              <a:buSzPct val="100000"/>
              <a:buChar char="•"/>
            </a:pPr>
            <a:r>
              <a:rPr b="0" i="0" lang="en-US">
                <a:solidFill>
                  <a:srgbClr val="222222"/>
                </a:solidFill>
                <a:latin typeface="Lato"/>
                <a:ea typeface="Lato"/>
                <a:cs typeface="Lato"/>
                <a:sym typeface="Lato"/>
              </a:rPr>
              <a:t>It uses a combination of linear/polynomial functions to fit the data.</a:t>
            </a:r>
            <a:endParaRPr/>
          </a:p>
          <a:p>
            <a:pPr indent="-228600" lvl="0" marL="228600" rtl="0" algn="l">
              <a:lnSpc>
                <a:spcPct val="90000"/>
              </a:lnSpc>
              <a:spcBef>
                <a:spcPts val="1000"/>
              </a:spcBef>
              <a:spcAft>
                <a:spcPts val="0"/>
              </a:spcAft>
              <a:buClr>
                <a:srgbClr val="222222"/>
              </a:buClr>
              <a:buSzPct val="100000"/>
              <a:buChar char="•"/>
            </a:pPr>
            <a:r>
              <a:rPr b="0" i="0" lang="en-US">
                <a:solidFill>
                  <a:srgbClr val="222222"/>
                </a:solidFill>
                <a:latin typeface="Lato"/>
                <a:ea typeface="Lato"/>
                <a:cs typeface="Lato"/>
                <a:sym typeface="Lato"/>
              </a:rPr>
              <a:t>instead of building one model for the entire dataset, divides the dataset into multiple bins and fits each bin with a separate model. </a:t>
            </a:r>
            <a:endParaRPr/>
          </a:p>
          <a:p>
            <a:pPr indent="-228600" lvl="0" marL="228600" rtl="0" algn="l">
              <a:lnSpc>
                <a:spcPct val="90000"/>
              </a:lnSpc>
              <a:spcBef>
                <a:spcPts val="1000"/>
              </a:spcBef>
              <a:spcAft>
                <a:spcPts val="0"/>
              </a:spcAft>
              <a:buClr>
                <a:srgbClr val="222222"/>
              </a:buClr>
              <a:buSzPct val="100000"/>
              <a:buChar char="•"/>
            </a:pPr>
            <a:r>
              <a:rPr b="0" i="0" lang="en-US">
                <a:solidFill>
                  <a:srgbClr val="222222"/>
                </a:solidFill>
                <a:latin typeface="Lato"/>
                <a:ea typeface="Lato"/>
                <a:cs typeface="Lato"/>
                <a:sym typeface="Lato"/>
              </a:rPr>
              <a:t>one of the most important non linear regression techniques.</a:t>
            </a:r>
            <a:endParaRPr/>
          </a:p>
          <a:p>
            <a:pPr indent="-169862" lvl="0" marL="228600" rtl="0" algn="l">
              <a:lnSpc>
                <a:spcPct val="90000"/>
              </a:lnSpc>
              <a:spcBef>
                <a:spcPts val="1000"/>
              </a:spcBef>
              <a:spcAft>
                <a:spcPts val="0"/>
              </a:spcAft>
              <a:buClr>
                <a:srgbClr val="222222"/>
              </a:buClr>
              <a:buSzPct val="163636"/>
              <a:buFont typeface="Lato"/>
              <a:buChar char="•"/>
            </a:pPr>
            <a:r>
              <a:rPr lang="en-US" sz="1100">
                <a:latin typeface="Arial"/>
                <a:ea typeface="Arial"/>
                <a:cs typeface="Arial"/>
                <a:sym typeface="Arial"/>
              </a:rPr>
              <a:t> </a:t>
            </a:r>
            <a:r>
              <a:rPr lang="en-US" sz="2700">
                <a:latin typeface="Arial"/>
                <a:ea typeface="Arial"/>
                <a:cs typeface="Arial"/>
                <a:sym typeface="Arial"/>
              </a:rPr>
              <a:t>A polynomial (like ax</a:t>
            </a:r>
            <a:r>
              <a:rPr baseline="30000" lang="en-US" sz="2700">
                <a:latin typeface="Arial"/>
                <a:ea typeface="Arial"/>
                <a:cs typeface="Arial"/>
                <a:sym typeface="Arial"/>
              </a:rPr>
              <a:t>2</a:t>
            </a:r>
            <a:r>
              <a:rPr lang="en-US" sz="2700">
                <a:latin typeface="Arial"/>
                <a:ea typeface="Arial"/>
                <a:cs typeface="Arial"/>
                <a:sym typeface="Arial"/>
              </a:rPr>
              <a:t>+bx+c</a:t>
            </a:r>
            <a:r>
              <a:rPr lang="en-US" sz="2700">
                <a:latin typeface="Arial"/>
                <a:ea typeface="Arial"/>
                <a:cs typeface="Arial"/>
                <a:sym typeface="Arial"/>
              </a:rPr>
              <a:t>) is a smoot</a:t>
            </a:r>
            <a:r>
              <a:rPr lang="en-US" sz="2700">
                <a:latin typeface="Arial"/>
                <a:ea typeface="Arial"/>
                <a:cs typeface="Arial"/>
                <a:sym typeface="Arial"/>
              </a:rPr>
              <a:t>h curve that spans the </a:t>
            </a:r>
            <a:r>
              <a:rPr b="1" lang="en-US" sz="2700">
                <a:latin typeface="Arial"/>
                <a:ea typeface="Arial"/>
                <a:cs typeface="Arial"/>
                <a:sym typeface="Arial"/>
              </a:rPr>
              <a:t>entire domain</a:t>
            </a:r>
            <a:r>
              <a:rPr lang="en-US" sz="2700">
                <a:latin typeface="Arial"/>
                <a:ea typeface="Arial"/>
                <a:cs typeface="Arial"/>
                <a:sym typeface="Arial"/>
              </a:rPr>
              <a:t> of the input variable. When you fit such a polynomial, the predicted curve is determined by all data points together, </a:t>
            </a:r>
            <a:r>
              <a:rPr lang="en-US">
                <a:solidFill>
                  <a:srgbClr val="222222"/>
                </a:solidFill>
                <a:latin typeface="Lato"/>
                <a:ea typeface="Lato"/>
                <a:cs typeface="Lato"/>
                <a:sym typeface="Lato"/>
              </a:rPr>
              <a:t>which imposed a global structure on the dataset</a:t>
            </a:r>
            <a:r>
              <a:rPr b="1" i="1" lang="en-US">
                <a:solidFill>
                  <a:srgbClr val="222222"/>
                </a:solidFill>
                <a:latin typeface="Lato"/>
                <a:ea typeface="Lato"/>
                <a:cs typeface="Lato"/>
                <a:sym typeface="Lato"/>
              </a:rPr>
              <a:t> </a:t>
            </a:r>
            <a:r>
              <a:rPr lang="en-US" sz="2700">
                <a:latin typeface="Arial"/>
                <a:ea typeface="Arial"/>
                <a:cs typeface="Arial"/>
                <a:sym typeface="Arial"/>
              </a:rPr>
              <a:t>not just a local neighborhood.</a:t>
            </a:r>
            <a:endParaRPr sz="2700">
              <a:solidFill>
                <a:srgbClr val="222222"/>
              </a:solidFill>
              <a:latin typeface="Lato"/>
              <a:ea typeface="Lato"/>
              <a:cs typeface="Lato"/>
              <a:sym typeface="Lato"/>
            </a:endParaRPr>
          </a:p>
          <a:p>
            <a:pPr indent="-228600" lvl="0" marL="228600" rtl="0" algn="l">
              <a:lnSpc>
                <a:spcPct val="90000"/>
              </a:lnSpc>
              <a:spcBef>
                <a:spcPts val="1000"/>
              </a:spcBef>
              <a:spcAft>
                <a:spcPts val="0"/>
              </a:spcAft>
              <a:buClr>
                <a:srgbClr val="222222"/>
              </a:buClr>
              <a:buSzPct val="103703"/>
              <a:buChar char="•"/>
            </a:pPr>
            <a:r>
              <a:rPr b="0" i="0" lang="en-US" sz="2700">
                <a:solidFill>
                  <a:srgbClr val="222222"/>
                </a:solidFill>
                <a:latin typeface="Lato"/>
                <a:ea typeface="Lato"/>
                <a:cs typeface="Lato"/>
                <a:sym typeface="Lato"/>
              </a:rPr>
              <a:t>To overcome this, we can divi</a:t>
            </a:r>
            <a:r>
              <a:rPr b="0" i="0" lang="en-US">
                <a:solidFill>
                  <a:srgbClr val="222222"/>
                </a:solidFill>
                <a:latin typeface="Lato"/>
                <a:ea typeface="Lato"/>
                <a:cs typeface="Lato"/>
                <a:sym typeface="Lato"/>
              </a:rPr>
              <a:t>de the distribution of the data into separate portions and fit linear or low degree polynomial functions on each of these portions.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104" name="Google Shape;104;p4"/>
          <p:cNvSpPr txBox="1"/>
          <p:nvPr>
            <p:ph idx="1" type="body"/>
          </p:nvPr>
        </p:nvSpPr>
        <p:spPr>
          <a:xfrm>
            <a:off x="4273062" y="1825625"/>
            <a:ext cx="7080738"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222222"/>
              </a:buClr>
              <a:buSzPts val="2800"/>
              <a:buChar char="•"/>
            </a:pPr>
            <a:r>
              <a:rPr b="1" i="0" lang="en-US">
                <a:solidFill>
                  <a:srgbClr val="222222"/>
                </a:solidFill>
                <a:latin typeface="Lato"/>
                <a:ea typeface="Lato"/>
                <a:cs typeface="Lato"/>
                <a:sym typeface="Lato"/>
              </a:rPr>
              <a:t>The points where the division occurs are called Knots</a:t>
            </a:r>
            <a:r>
              <a:rPr b="0" i="0" lang="en-US">
                <a:solidFill>
                  <a:srgbClr val="222222"/>
                </a:solidFill>
                <a:latin typeface="Lato"/>
                <a:ea typeface="Lato"/>
                <a:cs typeface="Lato"/>
                <a:sym typeface="Lato"/>
              </a:rPr>
              <a:t>.</a:t>
            </a:r>
            <a:endParaRPr/>
          </a:p>
          <a:p>
            <a:pPr indent="-228600" lvl="0" marL="228600" rtl="0" algn="l">
              <a:lnSpc>
                <a:spcPct val="90000"/>
              </a:lnSpc>
              <a:spcBef>
                <a:spcPts val="1000"/>
              </a:spcBef>
              <a:spcAft>
                <a:spcPts val="0"/>
              </a:spcAft>
              <a:buClr>
                <a:srgbClr val="222222"/>
              </a:buClr>
              <a:buSzPts val="2800"/>
              <a:buChar char="•"/>
            </a:pPr>
            <a:r>
              <a:rPr b="0" i="0" lang="en-US">
                <a:solidFill>
                  <a:srgbClr val="222222"/>
                </a:solidFill>
                <a:latin typeface="Lato"/>
                <a:ea typeface="Lato"/>
                <a:cs typeface="Lato"/>
                <a:sym typeface="Lato"/>
              </a:rPr>
              <a:t>Functions which we can use for modelling each piece/bin are known as Piecewise functions. </a:t>
            </a:r>
            <a:endParaRPr/>
          </a:p>
        </p:txBody>
      </p:sp>
      <p:pic>
        <p:nvPicPr>
          <p:cNvPr id="105" name="Google Shape;105;p4"/>
          <p:cNvPicPr preferRelativeResize="0"/>
          <p:nvPr/>
        </p:nvPicPr>
        <p:blipFill rotWithShape="1">
          <a:blip r:embed="rId3">
            <a:alphaModFix/>
          </a:blip>
          <a:srcRect b="0" l="0" r="0" t="0"/>
          <a:stretch/>
        </p:blipFill>
        <p:spPr>
          <a:xfrm>
            <a:off x="463062" y="1992997"/>
            <a:ext cx="3810000" cy="38004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22222"/>
              </a:buClr>
              <a:buSzPts val="4400"/>
              <a:buFont typeface="Lato"/>
              <a:buNone/>
            </a:pPr>
            <a:r>
              <a:rPr b="0" i="0" lang="en-US">
                <a:solidFill>
                  <a:srgbClr val="222222"/>
                </a:solidFill>
                <a:latin typeface="Lato"/>
                <a:ea typeface="Lato"/>
                <a:cs typeface="Lato"/>
                <a:sym typeface="Lato"/>
              </a:rPr>
              <a:t>Piecewise Step Functions</a:t>
            </a:r>
            <a:endParaRPr/>
          </a:p>
        </p:txBody>
      </p:sp>
      <p:sp>
        <p:nvSpPr>
          <p:cNvPr id="111" name="Google Shape;111;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222222"/>
              </a:buClr>
              <a:buSzPts val="2800"/>
              <a:buChar char="•"/>
            </a:pPr>
            <a:r>
              <a:rPr b="0" i="0" lang="en-US">
                <a:solidFill>
                  <a:srgbClr val="222222"/>
                </a:solidFill>
                <a:latin typeface="Lato"/>
                <a:ea typeface="Lato"/>
                <a:cs typeface="Lato"/>
                <a:sym typeface="Lato"/>
              </a:rPr>
              <a:t>One of the most common piecewise functions is a Step function. </a:t>
            </a:r>
            <a:endParaRPr/>
          </a:p>
          <a:p>
            <a:pPr indent="-228600" lvl="0" marL="228600" rtl="0" algn="l">
              <a:lnSpc>
                <a:spcPct val="90000"/>
              </a:lnSpc>
              <a:spcBef>
                <a:spcPts val="1000"/>
              </a:spcBef>
              <a:spcAft>
                <a:spcPts val="0"/>
              </a:spcAft>
              <a:buClr>
                <a:srgbClr val="222222"/>
              </a:buClr>
              <a:buSzPts val="2800"/>
              <a:buChar char="•"/>
            </a:pPr>
            <a:r>
              <a:rPr b="0" i="0" lang="en-US">
                <a:solidFill>
                  <a:srgbClr val="222222"/>
                </a:solidFill>
                <a:latin typeface="Lato"/>
                <a:ea typeface="Lato"/>
                <a:cs typeface="Lato"/>
                <a:sym typeface="Lato"/>
              </a:rPr>
              <a:t>Step function is a function which remains constant within the interval. </a:t>
            </a:r>
            <a:endParaRPr/>
          </a:p>
          <a:p>
            <a:pPr indent="-228600" lvl="0" marL="228600" rtl="0" algn="l">
              <a:lnSpc>
                <a:spcPct val="90000"/>
              </a:lnSpc>
              <a:spcBef>
                <a:spcPts val="1000"/>
              </a:spcBef>
              <a:spcAft>
                <a:spcPts val="0"/>
              </a:spcAft>
              <a:buClr>
                <a:srgbClr val="222222"/>
              </a:buClr>
              <a:buSzPts val="2800"/>
              <a:buChar char="•"/>
            </a:pPr>
            <a:r>
              <a:rPr b="0" i="0" lang="en-US">
                <a:solidFill>
                  <a:srgbClr val="222222"/>
                </a:solidFill>
                <a:latin typeface="Lato"/>
                <a:ea typeface="Lato"/>
                <a:cs typeface="Lato"/>
                <a:sym typeface="Lato"/>
              </a:rPr>
              <a:t>We can fit individual step functions to each of the divided portions in order to avoid imposing a global structure. </a:t>
            </a:r>
            <a:endParaRPr/>
          </a:p>
          <a:p>
            <a:pPr indent="-228600" lvl="0" marL="228600" rtl="0" algn="l">
              <a:lnSpc>
                <a:spcPct val="90000"/>
              </a:lnSpc>
              <a:spcBef>
                <a:spcPts val="1000"/>
              </a:spcBef>
              <a:spcAft>
                <a:spcPts val="0"/>
              </a:spcAft>
              <a:buClr>
                <a:srgbClr val="222222"/>
              </a:buClr>
              <a:buSzPts val="2800"/>
              <a:buChar char="•"/>
            </a:pPr>
            <a:r>
              <a:rPr b="0" i="0" lang="en-US">
                <a:solidFill>
                  <a:srgbClr val="222222"/>
                </a:solidFill>
                <a:latin typeface="Lato"/>
                <a:ea typeface="Lato"/>
                <a:cs typeface="Lato"/>
                <a:sym typeface="Lato"/>
              </a:rPr>
              <a:t>Here we break the range of X into bins, and fit a different constant in each bin.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117" name="Google Shape;117;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62500" lnSpcReduction="20000"/>
          </a:bodyPr>
          <a:lstStyle/>
          <a:p>
            <a:pPr indent="-228600" lvl="0" marL="228600" rtl="0" algn="l">
              <a:lnSpc>
                <a:spcPct val="90000"/>
              </a:lnSpc>
              <a:spcBef>
                <a:spcPts val="0"/>
              </a:spcBef>
              <a:spcAft>
                <a:spcPts val="0"/>
              </a:spcAft>
              <a:buClr>
                <a:schemeClr val="dk1"/>
              </a:buClr>
              <a:buSzPct val="100000"/>
              <a:buChar char="•"/>
            </a:pPr>
            <a:r>
              <a:rPr b="0" i="0" lang="en-US">
                <a:latin typeface="Lato"/>
                <a:ea typeface="Lato"/>
                <a:cs typeface="Lato"/>
                <a:sym typeface="Lato"/>
              </a:rPr>
              <a:t>we create cut points C1 , C2, . . . , Ck  in the range of X, and then construct K  + 1 new variables. </a:t>
            </a:r>
            <a:endParaRPr/>
          </a:p>
          <a:p>
            <a:pPr indent="-117475" lvl="0" marL="228600" rtl="0" algn="l">
              <a:lnSpc>
                <a:spcPct val="90000"/>
              </a:lnSpc>
              <a:spcBef>
                <a:spcPts val="1000"/>
              </a:spcBef>
              <a:spcAft>
                <a:spcPts val="0"/>
              </a:spcAft>
              <a:buClr>
                <a:schemeClr val="dk1"/>
              </a:buClr>
              <a:buSzPct val="100000"/>
              <a:buNone/>
            </a:pPr>
            <a:r>
              <a:t/>
            </a:r>
            <a:endParaRPr>
              <a:latin typeface="Lato"/>
              <a:ea typeface="Lato"/>
              <a:cs typeface="Lato"/>
              <a:sym typeface="Lato"/>
            </a:endParaRPr>
          </a:p>
          <a:p>
            <a:pPr indent="-117475" lvl="0" marL="228600" rtl="0" algn="l">
              <a:lnSpc>
                <a:spcPct val="90000"/>
              </a:lnSpc>
              <a:spcBef>
                <a:spcPts val="1000"/>
              </a:spcBef>
              <a:spcAft>
                <a:spcPts val="0"/>
              </a:spcAft>
              <a:buClr>
                <a:schemeClr val="dk1"/>
              </a:buClr>
              <a:buSzPct val="100000"/>
              <a:buNone/>
            </a:pPr>
            <a:r>
              <a:t/>
            </a:r>
            <a:endParaRPr>
              <a:latin typeface="Lato"/>
              <a:ea typeface="Lato"/>
              <a:cs typeface="Lato"/>
              <a:sym typeface="Lato"/>
            </a:endParaRPr>
          </a:p>
          <a:p>
            <a:pPr indent="-117475" lvl="0" marL="228600" rtl="0" algn="l">
              <a:lnSpc>
                <a:spcPct val="90000"/>
              </a:lnSpc>
              <a:spcBef>
                <a:spcPts val="1000"/>
              </a:spcBef>
              <a:spcAft>
                <a:spcPts val="0"/>
              </a:spcAft>
              <a:buClr>
                <a:schemeClr val="dk1"/>
              </a:buClr>
              <a:buSzPct val="100000"/>
              <a:buNone/>
            </a:pPr>
            <a:r>
              <a:t/>
            </a:r>
            <a:endParaRPr>
              <a:latin typeface="Lato"/>
              <a:ea typeface="Lato"/>
              <a:cs typeface="Lato"/>
              <a:sym typeface="Lato"/>
            </a:endParaRPr>
          </a:p>
          <a:p>
            <a:pPr indent="-117475" lvl="0" marL="228600" rtl="0" algn="l">
              <a:lnSpc>
                <a:spcPct val="90000"/>
              </a:lnSpc>
              <a:spcBef>
                <a:spcPts val="1000"/>
              </a:spcBef>
              <a:spcAft>
                <a:spcPts val="0"/>
              </a:spcAft>
              <a:buClr>
                <a:schemeClr val="dk1"/>
              </a:buClr>
              <a:buSzPct val="100000"/>
              <a:buNone/>
            </a:pPr>
            <a:r>
              <a:t/>
            </a:r>
            <a:endParaRPr>
              <a:latin typeface="Lato"/>
              <a:ea typeface="Lato"/>
              <a:cs typeface="Lato"/>
              <a:sym typeface="Lato"/>
            </a:endParaRPr>
          </a:p>
          <a:p>
            <a:pPr indent="-117475" lvl="0" marL="228600" rtl="0" algn="l">
              <a:lnSpc>
                <a:spcPct val="90000"/>
              </a:lnSpc>
              <a:spcBef>
                <a:spcPts val="1000"/>
              </a:spcBef>
              <a:spcAft>
                <a:spcPts val="0"/>
              </a:spcAft>
              <a:buClr>
                <a:schemeClr val="dk1"/>
              </a:buClr>
              <a:buSzPct val="100000"/>
              <a:buNone/>
            </a:pPr>
            <a:r>
              <a:t/>
            </a:r>
            <a:endParaRPr>
              <a:latin typeface="Lato"/>
              <a:ea typeface="Lato"/>
              <a:cs typeface="Lato"/>
              <a:sym typeface="Lato"/>
            </a:endParaRPr>
          </a:p>
          <a:p>
            <a:pPr indent="-117475" lvl="0" marL="228600" rtl="0" algn="l">
              <a:lnSpc>
                <a:spcPct val="90000"/>
              </a:lnSpc>
              <a:spcBef>
                <a:spcPts val="1000"/>
              </a:spcBef>
              <a:spcAft>
                <a:spcPts val="0"/>
              </a:spcAft>
              <a:buClr>
                <a:schemeClr val="dk1"/>
              </a:buClr>
              <a:buSzPct val="100000"/>
              <a:buNone/>
            </a:pPr>
            <a:r>
              <a:t/>
            </a:r>
            <a:endParaRPr b="0" i="0">
              <a:latin typeface="Lato"/>
              <a:ea typeface="Lato"/>
              <a:cs typeface="Lato"/>
              <a:sym typeface="Lato"/>
            </a:endParaRPr>
          </a:p>
          <a:p>
            <a:pPr indent="-117475" lvl="0" marL="228600" rtl="0" algn="l">
              <a:lnSpc>
                <a:spcPct val="90000"/>
              </a:lnSpc>
              <a:spcBef>
                <a:spcPts val="1000"/>
              </a:spcBef>
              <a:spcAft>
                <a:spcPts val="0"/>
              </a:spcAft>
              <a:buClr>
                <a:schemeClr val="dk1"/>
              </a:buClr>
              <a:buSzPct val="100000"/>
              <a:buNone/>
            </a:pPr>
            <a:r>
              <a:t/>
            </a:r>
            <a:endParaRPr b="0" i="0">
              <a:latin typeface="Lato"/>
              <a:ea typeface="Lato"/>
              <a:cs typeface="Lato"/>
              <a:sym typeface="Lato"/>
            </a:endParaRPr>
          </a:p>
          <a:p>
            <a:pPr indent="-117475" lvl="0" marL="228600" rtl="0" algn="l">
              <a:lnSpc>
                <a:spcPct val="90000"/>
              </a:lnSpc>
              <a:spcBef>
                <a:spcPts val="1000"/>
              </a:spcBef>
              <a:spcAft>
                <a:spcPts val="0"/>
              </a:spcAft>
              <a:buClr>
                <a:schemeClr val="dk1"/>
              </a:buClr>
              <a:buSzPct val="100000"/>
              <a:buNone/>
            </a:pPr>
            <a:r>
              <a:t/>
            </a:r>
            <a:endParaRPr b="0" i="0">
              <a:latin typeface="Lato"/>
              <a:ea typeface="Lato"/>
              <a:cs typeface="Lato"/>
              <a:sym typeface="Lato"/>
            </a:endParaRPr>
          </a:p>
          <a:p>
            <a:pPr indent="-228600" lvl="0" marL="228600" rtl="0" algn="l">
              <a:lnSpc>
                <a:spcPct val="90000"/>
              </a:lnSpc>
              <a:spcBef>
                <a:spcPts val="1000"/>
              </a:spcBef>
              <a:spcAft>
                <a:spcPts val="0"/>
              </a:spcAft>
              <a:buClr>
                <a:schemeClr val="dk1"/>
              </a:buClr>
              <a:buSzPct val="100000"/>
              <a:buChar char="•"/>
            </a:pPr>
            <a:r>
              <a:rPr b="0" i="0" lang="en-US">
                <a:latin typeface="Lato"/>
                <a:ea typeface="Lato"/>
                <a:cs typeface="Lato"/>
                <a:sym typeface="Lato"/>
              </a:rPr>
              <a:t>where I( ) is an indicator function that returns a 1 if the condition is true and returns a 0 otherwise. For example, I(cK  ≤ X ) equals 1 if cK ≤ X, otherwise it equals 0. For a given value of X, at most only one of C1, C2, . . ., CK  can be non-zero, as X can only lie in any one of the bins.</a:t>
            </a:r>
            <a:endParaRPr/>
          </a:p>
          <a:p>
            <a:pPr indent="-228600" lvl="0" marL="228600" rtl="0" algn="l">
              <a:lnSpc>
                <a:spcPct val="90000"/>
              </a:lnSpc>
              <a:spcBef>
                <a:spcPts val="1000"/>
              </a:spcBef>
              <a:spcAft>
                <a:spcPts val="0"/>
              </a:spcAft>
              <a:buClr>
                <a:schemeClr val="dk1"/>
              </a:buClr>
              <a:buSzPct val="100000"/>
              <a:buChar char="•"/>
            </a:pPr>
            <a:r>
              <a:rPr b="1" i="0" lang="en-US">
                <a:latin typeface="Lato"/>
                <a:ea typeface="Lato"/>
                <a:cs typeface="Lato"/>
                <a:sym typeface="Lato"/>
              </a:rPr>
              <a:t>Binned regression does not create continuous functions of the predictor, so in most cases we would expect no relationship between the input and output.</a:t>
            </a:r>
            <a:endParaRPr>
              <a:latin typeface="Lato"/>
              <a:ea typeface="Lato"/>
              <a:cs typeface="Lato"/>
              <a:sym typeface="Lato"/>
            </a:endParaRPr>
          </a:p>
        </p:txBody>
      </p:sp>
      <p:pic>
        <p:nvPicPr>
          <p:cNvPr id="118" name="Google Shape;118;p6"/>
          <p:cNvPicPr preferRelativeResize="0"/>
          <p:nvPr/>
        </p:nvPicPr>
        <p:blipFill rotWithShape="1">
          <a:blip r:embed="rId3">
            <a:alphaModFix/>
          </a:blip>
          <a:srcRect b="0" l="0" r="0" t="0"/>
          <a:stretch/>
        </p:blipFill>
        <p:spPr>
          <a:xfrm>
            <a:off x="3824287" y="2276475"/>
            <a:ext cx="4543425" cy="23050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22222"/>
              </a:buClr>
              <a:buSzPts val="4400"/>
              <a:buFont typeface="Lato"/>
              <a:buNone/>
            </a:pPr>
            <a:r>
              <a:rPr b="0" i="0" lang="en-US">
                <a:solidFill>
                  <a:srgbClr val="222222"/>
                </a:solidFill>
                <a:latin typeface="Lato"/>
                <a:ea typeface="Lato"/>
                <a:cs typeface="Lato"/>
                <a:sym typeface="Lato"/>
              </a:rPr>
              <a:t>Piecewise Polynomials</a:t>
            </a:r>
            <a:endParaRPr/>
          </a:p>
        </p:txBody>
      </p:sp>
      <p:sp>
        <p:nvSpPr>
          <p:cNvPr id="124" name="Google Shape;124;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b="0" i="0" lang="en-US">
                <a:latin typeface="Lato"/>
                <a:ea typeface="Lato"/>
                <a:cs typeface="Lato"/>
                <a:sym typeface="Lato"/>
              </a:rPr>
              <a:t>Instead of fitting a constant function over different bins across the range of X, piecewise polynomial regression involves fitting separate low-degree polynomials over different regions of X. </a:t>
            </a:r>
            <a:endParaRPr/>
          </a:p>
          <a:p>
            <a:pPr indent="-228600" lvl="0" marL="228600" rtl="0" algn="l">
              <a:lnSpc>
                <a:spcPct val="90000"/>
              </a:lnSpc>
              <a:spcBef>
                <a:spcPts val="1000"/>
              </a:spcBef>
              <a:spcAft>
                <a:spcPts val="0"/>
              </a:spcAft>
              <a:buClr>
                <a:schemeClr val="dk1"/>
              </a:buClr>
              <a:buSzPts val="2800"/>
              <a:buChar char="•"/>
            </a:pPr>
            <a:r>
              <a:rPr b="0" i="0" lang="en-US">
                <a:latin typeface="Lato"/>
                <a:ea typeface="Lato"/>
                <a:cs typeface="Lato"/>
                <a:sym typeface="Lato"/>
              </a:rPr>
              <a:t>As we use lower degrees of polynomials, we don’t observe high oscillations of the curve around the data.</a:t>
            </a:r>
            <a:endParaRPr/>
          </a:p>
          <a:p>
            <a:pPr indent="-228600" lvl="0" marL="228600" rtl="0" algn="l">
              <a:lnSpc>
                <a:spcPct val="90000"/>
              </a:lnSpc>
              <a:spcBef>
                <a:spcPts val="1000"/>
              </a:spcBef>
              <a:spcAft>
                <a:spcPts val="0"/>
              </a:spcAft>
              <a:buClr>
                <a:schemeClr val="dk1"/>
              </a:buClr>
              <a:buSzPts val="2800"/>
              <a:buChar char="•"/>
            </a:pPr>
            <a:r>
              <a:rPr b="0" i="0" lang="en-US">
                <a:latin typeface="Lato"/>
                <a:ea typeface="Lato"/>
                <a:cs typeface="Lato"/>
                <a:sym typeface="Lato"/>
              </a:rPr>
              <a:t>For example, a piecewise quadratic polynomial works by fitting a quadratic regression equation:</a:t>
            </a:r>
            <a:endParaRPr/>
          </a:p>
          <a:p>
            <a:pPr indent="-50800" lvl="0" marL="228600" rtl="0" algn="l">
              <a:lnSpc>
                <a:spcPct val="90000"/>
              </a:lnSpc>
              <a:spcBef>
                <a:spcPts val="1000"/>
              </a:spcBef>
              <a:spcAft>
                <a:spcPts val="0"/>
              </a:spcAft>
              <a:buClr>
                <a:schemeClr val="dk1"/>
              </a:buClr>
              <a:buSzPts val="2800"/>
              <a:buNone/>
            </a:pPr>
            <a:r>
              <a:t/>
            </a:r>
            <a:endParaRPr>
              <a:latin typeface="Lato"/>
              <a:ea typeface="Lato"/>
              <a:cs typeface="Lato"/>
              <a:sym typeface="Lato"/>
            </a:endParaRPr>
          </a:p>
          <a:p>
            <a:pPr indent="-228600" lvl="0" marL="228600" rtl="0" algn="l">
              <a:lnSpc>
                <a:spcPct val="90000"/>
              </a:lnSpc>
              <a:spcBef>
                <a:spcPts val="1000"/>
              </a:spcBef>
              <a:spcAft>
                <a:spcPts val="0"/>
              </a:spcAft>
              <a:buClr>
                <a:schemeClr val="dk1"/>
              </a:buClr>
              <a:buSzPts val="2800"/>
              <a:buChar char="•"/>
            </a:pPr>
            <a:r>
              <a:rPr b="0" i="0" lang="en-US">
                <a:latin typeface="Lato"/>
                <a:ea typeface="Lato"/>
                <a:cs typeface="Lato"/>
                <a:sym typeface="Lato"/>
              </a:rPr>
              <a:t>where the coefficients β0 , β1 and β2 differ in different parts of the range of X. </a:t>
            </a:r>
            <a:endParaRPr/>
          </a:p>
        </p:txBody>
      </p:sp>
      <p:pic>
        <p:nvPicPr>
          <p:cNvPr id="125" name="Google Shape;125;p7"/>
          <p:cNvPicPr preferRelativeResize="0"/>
          <p:nvPr/>
        </p:nvPicPr>
        <p:blipFill rotWithShape="1">
          <a:blip r:embed="rId3">
            <a:alphaModFix/>
          </a:blip>
          <a:srcRect b="0" l="0" r="0" t="0"/>
          <a:stretch/>
        </p:blipFill>
        <p:spPr>
          <a:xfrm>
            <a:off x="3467539" y="4432050"/>
            <a:ext cx="3371850" cy="6667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131" name="Google Shape;131;p8"/>
          <p:cNvSpPr txBox="1"/>
          <p:nvPr>
            <p:ph idx="1" type="body"/>
          </p:nvPr>
        </p:nvSpPr>
        <p:spPr>
          <a:xfrm>
            <a:off x="838200" y="1825625"/>
            <a:ext cx="10515600" cy="4667250"/>
          </a:xfrm>
          <a:prstGeom prst="rect">
            <a:avLst/>
          </a:prstGeom>
          <a:noFill/>
          <a:ln>
            <a:noFill/>
          </a:ln>
        </p:spPr>
        <p:txBody>
          <a:bodyPr anchorCtr="0" anchor="t" bIns="45700" lIns="91425" spcFirstLastPara="1" rIns="91425" wrap="square" tIns="45700">
            <a:normAutofit fontScale="85000" lnSpcReduction="20000"/>
          </a:bodyPr>
          <a:lstStyle/>
          <a:p>
            <a:pPr indent="-215265" lvl="0" marL="228600" rtl="0" algn="l">
              <a:lnSpc>
                <a:spcPct val="90000"/>
              </a:lnSpc>
              <a:spcBef>
                <a:spcPts val="0"/>
              </a:spcBef>
              <a:spcAft>
                <a:spcPts val="0"/>
              </a:spcAft>
              <a:buClr>
                <a:schemeClr val="dk1"/>
              </a:buClr>
              <a:buSzPct val="100000"/>
              <a:buChar char="•"/>
            </a:pPr>
            <a:r>
              <a:rPr b="0" i="0" lang="en-US">
                <a:latin typeface="Lato"/>
                <a:ea typeface="Lato"/>
                <a:cs typeface="Lato"/>
                <a:sym typeface="Lato"/>
              </a:rPr>
              <a:t>A piecewise cubic polynomial, with a single knot at a point </a:t>
            </a:r>
            <a:r>
              <a:rPr b="0" i="1" lang="en-US">
                <a:latin typeface="Lato"/>
                <a:ea typeface="Lato"/>
                <a:cs typeface="Lato"/>
                <a:sym typeface="Lato"/>
              </a:rPr>
              <a:t>c</a:t>
            </a:r>
            <a:r>
              <a:rPr b="0" i="0" lang="en-US">
                <a:latin typeface="Lato"/>
                <a:ea typeface="Lato"/>
                <a:cs typeface="Lato"/>
                <a:sym typeface="Lato"/>
              </a:rPr>
              <a:t>, takes the below form:</a:t>
            </a:r>
            <a:endParaRPr/>
          </a:p>
          <a:p>
            <a:pPr indent="-64135" lvl="0" marL="228600" rtl="0" algn="l">
              <a:lnSpc>
                <a:spcPct val="90000"/>
              </a:lnSpc>
              <a:spcBef>
                <a:spcPts val="1000"/>
              </a:spcBef>
              <a:spcAft>
                <a:spcPts val="0"/>
              </a:spcAft>
              <a:buClr>
                <a:schemeClr val="dk1"/>
              </a:buClr>
              <a:buSzPct val="100000"/>
              <a:buNone/>
            </a:pPr>
            <a:r>
              <a:t/>
            </a:r>
            <a:endParaRPr>
              <a:latin typeface="Lato"/>
              <a:ea typeface="Lato"/>
              <a:cs typeface="Lato"/>
              <a:sym typeface="Lato"/>
            </a:endParaRPr>
          </a:p>
          <a:p>
            <a:pPr indent="-64135" lvl="0" marL="228600" rtl="0" algn="l">
              <a:lnSpc>
                <a:spcPct val="90000"/>
              </a:lnSpc>
              <a:spcBef>
                <a:spcPts val="1000"/>
              </a:spcBef>
              <a:spcAft>
                <a:spcPts val="0"/>
              </a:spcAft>
              <a:buClr>
                <a:schemeClr val="dk1"/>
              </a:buClr>
              <a:buSzPct val="100000"/>
              <a:buNone/>
            </a:pPr>
            <a:r>
              <a:t/>
            </a:r>
            <a:endParaRPr>
              <a:latin typeface="Lato"/>
              <a:ea typeface="Lato"/>
              <a:cs typeface="Lato"/>
              <a:sym typeface="Lato"/>
            </a:endParaRPr>
          </a:p>
          <a:p>
            <a:pPr indent="-215265" lvl="0" marL="228600" rtl="0" algn="l">
              <a:lnSpc>
                <a:spcPct val="90000"/>
              </a:lnSpc>
              <a:spcBef>
                <a:spcPts val="1000"/>
              </a:spcBef>
              <a:spcAft>
                <a:spcPts val="0"/>
              </a:spcAft>
              <a:buClr>
                <a:schemeClr val="dk1"/>
              </a:buClr>
              <a:buSzPct val="100000"/>
              <a:buChar char="•"/>
            </a:pPr>
            <a:r>
              <a:rPr b="0" i="0" lang="en-US">
                <a:latin typeface="Lato"/>
                <a:ea typeface="Lato"/>
                <a:cs typeface="Lato"/>
                <a:sym typeface="Lato"/>
              </a:rPr>
              <a:t>In other words, we fit two different polynomial functions to the data: one on the subset of the observations with </a:t>
            </a:r>
            <a:r>
              <a:rPr b="0" i="1" lang="en-US">
                <a:latin typeface="Lato"/>
                <a:ea typeface="Lato"/>
                <a:cs typeface="Lato"/>
                <a:sym typeface="Lato"/>
              </a:rPr>
              <a:t>xi &lt; c</a:t>
            </a:r>
            <a:r>
              <a:rPr b="0" i="0" lang="en-US">
                <a:latin typeface="Lato"/>
                <a:ea typeface="Lato"/>
                <a:cs typeface="Lato"/>
                <a:sym typeface="Lato"/>
              </a:rPr>
              <a:t>, and one on the subset of the observations with </a:t>
            </a:r>
            <a:r>
              <a:rPr b="0" i="1" lang="en-US">
                <a:latin typeface="Lato"/>
                <a:ea typeface="Lato"/>
                <a:cs typeface="Lato"/>
                <a:sym typeface="Lato"/>
              </a:rPr>
              <a:t>xi ≥ c</a:t>
            </a:r>
            <a:r>
              <a:rPr b="0" i="0" lang="en-US">
                <a:latin typeface="Lato"/>
                <a:ea typeface="Lato"/>
                <a:cs typeface="Lato"/>
                <a:sym typeface="Lato"/>
              </a:rPr>
              <a:t>.</a:t>
            </a:r>
            <a:endParaRPr/>
          </a:p>
          <a:p>
            <a:pPr indent="-215265" lvl="0" marL="228600" rtl="0" algn="l">
              <a:lnSpc>
                <a:spcPct val="90000"/>
              </a:lnSpc>
              <a:spcBef>
                <a:spcPts val="1000"/>
              </a:spcBef>
              <a:spcAft>
                <a:spcPts val="0"/>
              </a:spcAft>
              <a:buClr>
                <a:schemeClr val="dk1"/>
              </a:buClr>
              <a:buSzPct val="100000"/>
              <a:buChar char="•"/>
            </a:pPr>
            <a:r>
              <a:rPr b="0" i="0" lang="en-US">
                <a:latin typeface="Lato"/>
                <a:ea typeface="Lato"/>
                <a:cs typeface="Lato"/>
                <a:sym typeface="Lato"/>
              </a:rPr>
              <a:t>The first polynomial function has coefficients β</a:t>
            </a:r>
            <a:r>
              <a:rPr b="0" baseline="-25000" i="0" lang="en-US">
                <a:latin typeface="Lato"/>
                <a:ea typeface="Lato"/>
                <a:cs typeface="Lato"/>
                <a:sym typeface="Lato"/>
              </a:rPr>
              <a:t>01</a:t>
            </a:r>
            <a:r>
              <a:rPr b="0" i="0" lang="en-US">
                <a:latin typeface="Lato"/>
                <a:ea typeface="Lato"/>
                <a:cs typeface="Lato"/>
                <a:sym typeface="Lato"/>
              </a:rPr>
              <a:t>, β</a:t>
            </a:r>
            <a:r>
              <a:rPr b="0" baseline="-25000" i="0" lang="en-US">
                <a:latin typeface="Lato"/>
                <a:ea typeface="Lato"/>
                <a:cs typeface="Lato"/>
                <a:sym typeface="Lato"/>
              </a:rPr>
              <a:t>11</a:t>
            </a:r>
            <a:r>
              <a:rPr b="0" i="0" lang="en-US">
                <a:latin typeface="Lato"/>
                <a:ea typeface="Lato"/>
                <a:cs typeface="Lato"/>
                <a:sym typeface="Lato"/>
              </a:rPr>
              <a:t>, β</a:t>
            </a:r>
            <a:r>
              <a:rPr b="0" baseline="-25000" i="0" lang="en-US">
                <a:latin typeface="Lato"/>
                <a:ea typeface="Lato"/>
                <a:cs typeface="Lato"/>
                <a:sym typeface="Lato"/>
              </a:rPr>
              <a:t>21</a:t>
            </a:r>
            <a:r>
              <a:rPr b="0" i="0" lang="en-US">
                <a:latin typeface="Lato"/>
                <a:ea typeface="Lato"/>
                <a:cs typeface="Lato"/>
                <a:sym typeface="Lato"/>
              </a:rPr>
              <a:t>, β</a:t>
            </a:r>
            <a:r>
              <a:rPr b="0" baseline="-25000" i="0" lang="en-US">
                <a:latin typeface="Lato"/>
                <a:ea typeface="Lato"/>
                <a:cs typeface="Lato"/>
                <a:sym typeface="Lato"/>
              </a:rPr>
              <a:t>31</a:t>
            </a:r>
            <a:r>
              <a:rPr b="0" i="0" lang="en-US">
                <a:latin typeface="Lato"/>
                <a:ea typeface="Lato"/>
                <a:cs typeface="Lato"/>
                <a:sym typeface="Lato"/>
              </a:rPr>
              <a:t> and the second has coefficients β</a:t>
            </a:r>
            <a:r>
              <a:rPr b="0" baseline="-25000" i="0" lang="en-US">
                <a:latin typeface="Lato"/>
                <a:ea typeface="Lato"/>
                <a:cs typeface="Lato"/>
                <a:sym typeface="Lato"/>
              </a:rPr>
              <a:t>02</a:t>
            </a:r>
            <a:r>
              <a:rPr b="0" i="0" lang="en-US">
                <a:latin typeface="Lato"/>
                <a:ea typeface="Lato"/>
                <a:cs typeface="Lato"/>
                <a:sym typeface="Lato"/>
              </a:rPr>
              <a:t>, β</a:t>
            </a:r>
            <a:r>
              <a:rPr b="0" baseline="-25000" i="0" lang="en-US">
                <a:latin typeface="Lato"/>
                <a:ea typeface="Lato"/>
                <a:cs typeface="Lato"/>
                <a:sym typeface="Lato"/>
              </a:rPr>
              <a:t>12</a:t>
            </a:r>
            <a:r>
              <a:rPr b="0" i="0" lang="en-US">
                <a:latin typeface="Lato"/>
                <a:ea typeface="Lato"/>
                <a:cs typeface="Lato"/>
                <a:sym typeface="Lato"/>
              </a:rPr>
              <a:t>, β</a:t>
            </a:r>
            <a:r>
              <a:rPr b="0" baseline="-25000" i="0" lang="en-US">
                <a:latin typeface="Lato"/>
                <a:ea typeface="Lato"/>
                <a:cs typeface="Lato"/>
                <a:sym typeface="Lato"/>
              </a:rPr>
              <a:t>22</a:t>
            </a:r>
            <a:r>
              <a:rPr b="0" i="0" lang="en-US">
                <a:latin typeface="Lato"/>
                <a:ea typeface="Lato"/>
                <a:cs typeface="Lato"/>
                <a:sym typeface="Lato"/>
              </a:rPr>
              <a:t>, β</a:t>
            </a:r>
            <a:r>
              <a:rPr b="0" baseline="-25000" i="0" lang="en-US">
                <a:latin typeface="Lato"/>
                <a:ea typeface="Lato"/>
                <a:cs typeface="Lato"/>
                <a:sym typeface="Lato"/>
              </a:rPr>
              <a:t>32</a:t>
            </a:r>
            <a:r>
              <a:rPr b="0" i="0" lang="en-US">
                <a:latin typeface="Lato"/>
                <a:ea typeface="Lato"/>
                <a:cs typeface="Lato"/>
                <a:sym typeface="Lato"/>
              </a:rPr>
              <a:t>. </a:t>
            </a:r>
            <a:endParaRPr/>
          </a:p>
          <a:p>
            <a:pPr indent="-215265" lvl="0" marL="228600" rtl="0" algn="l">
              <a:lnSpc>
                <a:spcPct val="90000"/>
              </a:lnSpc>
              <a:spcBef>
                <a:spcPts val="1000"/>
              </a:spcBef>
              <a:spcAft>
                <a:spcPts val="0"/>
              </a:spcAft>
              <a:buClr>
                <a:schemeClr val="dk1"/>
              </a:buClr>
              <a:buSzPct val="100000"/>
              <a:buChar char="•"/>
            </a:pPr>
            <a:r>
              <a:rPr b="1" i="0" lang="en-US">
                <a:latin typeface="Lato"/>
                <a:ea typeface="Lato"/>
                <a:cs typeface="Lato"/>
                <a:sym typeface="Lato"/>
              </a:rPr>
              <a:t>Each of these polynomial functions can be fit using the least squares error metric.</a:t>
            </a:r>
            <a:endParaRPr>
              <a:latin typeface="Lato"/>
              <a:ea typeface="Lato"/>
              <a:cs typeface="Lato"/>
              <a:sym typeface="Lato"/>
            </a:endParaRPr>
          </a:p>
          <a:p>
            <a:pPr indent="-215265" lvl="0" marL="228600" rtl="0" algn="l">
              <a:lnSpc>
                <a:spcPct val="90000"/>
              </a:lnSpc>
              <a:spcBef>
                <a:spcPts val="1000"/>
              </a:spcBef>
              <a:spcAft>
                <a:spcPts val="0"/>
              </a:spcAft>
              <a:buClr>
                <a:schemeClr val="dk1"/>
              </a:buClr>
              <a:buSzPct val="100000"/>
              <a:buChar char="•"/>
            </a:pPr>
            <a:r>
              <a:rPr b="0" i="0" lang="en-US">
                <a:latin typeface="Lato"/>
                <a:ea typeface="Lato"/>
                <a:cs typeface="Lato"/>
                <a:sym typeface="Lato"/>
              </a:rPr>
              <a:t>This family of polynomial functions has 8 degrees of freedom, 4 for each polynomial (as there are 4 variables).</a:t>
            </a:r>
            <a:endParaRPr>
              <a:latin typeface="Lato"/>
              <a:ea typeface="Lato"/>
              <a:cs typeface="Lato"/>
              <a:sym typeface="Lato"/>
            </a:endParaRPr>
          </a:p>
          <a:p>
            <a:pPr indent="-64135" lvl="0" marL="228600" rtl="0" algn="l">
              <a:lnSpc>
                <a:spcPct val="90000"/>
              </a:lnSpc>
              <a:spcBef>
                <a:spcPts val="1000"/>
              </a:spcBef>
              <a:spcAft>
                <a:spcPts val="0"/>
              </a:spcAft>
              <a:buClr>
                <a:schemeClr val="dk1"/>
              </a:buClr>
              <a:buSzPct val="100000"/>
              <a:buNone/>
            </a:pPr>
            <a:r>
              <a:t/>
            </a:r>
            <a:endParaRPr/>
          </a:p>
        </p:txBody>
      </p:sp>
      <p:pic>
        <p:nvPicPr>
          <p:cNvPr id="132" name="Google Shape;132;p8"/>
          <p:cNvPicPr preferRelativeResize="0"/>
          <p:nvPr/>
        </p:nvPicPr>
        <p:blipFill rotWithShape="1">
          <a:blip r:embed="rId3">
            <a:alphaModFix/>
          </a:blip>
          <a:srcRect b="0" l="0" r="0" t="0"/>
          <a:stretch/>
        </p:blipFill>
        <p:spPr>
          <a:xfrm>
            <a:off x="3605872" y="2116450"/>
            <a:ext cx="6724650" cy="11620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138" name="Google Shape;138;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a:bodyPr>
          <a:lstStyle/>
          <a:p>
            <a:pPr indent="-228600" lvl="0" marL="228600" rtl="0" algn="l">
              <a:lnSpc>
                <a:spcPct val="90000"/>
              </a:lnSpc>
              <a:spcBef>
                <a:spcPts val="0"/>
              </a:spcBef>
              <a:spcAft>
                <a:spcPts val="0"/>
              </a:spcAft>
              <a:buClr>
                <a:schemeClr val="dk1"/>
              </a:buClr>
              <a:buSzPct val="100000"/>
              <a:buChar char="•"/>
            </a:pPr>
            <a:r>
              <a:rPr b="0" i="0" lang="en-US">
                <a:latin typeface="Lato"/>
                <a:ea typeface="Lato"/>
                <a:cs typeface="Lato"/>
                <a:sym typeface="Lato"/>
              </a:rPr>
              <a:t>Using more knots leads to a more flexible piecewise polynomial, as we use different functions for every bin. </a:t>
            </a:r>
            <a:endParaRPr/>
          </a:p>
          <a:p>
            <a:pPr indent="-228600" lvl="0" marL="228600" rtl="0" algn="l">
              <a:lnSpc>
                <a:spcPct val="90000"/>
              </a:lnSpc>
              <a:spcBef>
                <a:spcPts val="1000"/>
              </a:spcBef>
              <a:spcAft>
                <a:spcPts val="0"/>
              </a:spcAft>
              <a:buClr>
                <a:schemeClr val="dk1"/>
              </a:buClr>
              <a:buSzPct val="100000"/>
              <a:buChar char="•"/>
            </a:pPr>
            <a:r>
              <a:rPr b="0" i="0" lang="en-US">
                <a:latin typeface="Lato"/>
                <a:ea typeface="Lato"/>
                <a:cs typeface="Lato"/>
                <a:sym typeface="Lato"/>
              </a:rPr>
              <a:t>These functions depend only on the distribution of data of that particular bin. </a:t>
            </a:r>
            <a:endParaRPr/>
          </a:p>
          <a:p>
            <a:pPr indent="-228600" lvl="0" marL="228600" rtl="0" algn="l">
              <a:lnSpc>
                <a:spcPct val="90000"/>
              </a:lnSpc>
              <a:spcBef>
                <a:spcPts val="1000"/>
              </a:spcBef>
              <a:spcAft>
                <a:spcPts val="0"/>
              </a:spcAft>
              <a:buClr>
                <a:schemeClr val="dk1"/>
              </a:buClr>
              <a:buSzPct val="100000"/>
              <a:buChar char="•"/>
            </a:pPr>
            <a:r>
              <a:rPr b="0" i="0" lang="en-US">
                <a:latin typeface="Lato"/>
                <a:ea typeface="Lato"/>
                <a:cs typeface="Lato"/>
                <a:sym typeface="Lato"/>
              </a:rPr>
              <a:t>In general,</a:t>
            </a:r>
            <a:r>
              <a:rPr b="1" i="0" lang="en-US">
                <a:latin typeface="Lato"/>
                <a:ea typeface="Lato"/>
                <a:cs typeface="Lato"/>
                <a:sym typeface="Lato"/>
              </a:rPr>
              <a:t> if we place K different knots throughout the range of X, we will end up fitting K+1 different cubic polynomials</a:t>
            </a:r>
            <a:r>
              <a:rPr b="0" i="0" lang="en-US">
                <a:latin typeface="Lato"/>
                <a:ea typeface="Lato"/>
                <a:cs typeface="Lato"/>
                <a:sym typeface="Lato"/>
              </a:rPr>
              <a:t>. </a:t>
            </a:r>
            <a:endParaRPr/>
          </a:p>
          <a:p>
            <a:pPr indent="-228600" lvl="0" marL="228600" rtl="0" algn="l">
              <a:lnSpc>
                <a:spcPct val="90000"/>
              </a:lnSpc>
              <a:spcBef>
                <a:spcPts val="1000"/>
              </a:spcBef>
              <a:spcAft>
                <a:spcPts val="0"/>
              </a:spcAft>
              <a:buClr>
                <a:schemeClr val="dk1"/>
              </a:buClr>
              <a:buSzPct val="100000"/>
              <a:buChar char="•"/>
            </a:pPr>
            <a:r>
              <a:rPr b="0" i="0" lang="en-US">
                <a:latin typeface="Lato"/>
                <a:ea typeface="Lato"/>
                <a:cs typeface="Lato"/>
                <a:sym typeface="Lato"/>
              </a:rPr>
              <a:t>We can use any low degree polynomial to fit these individual bins. </a:t>
            </a:r>
            <a:endParaRPr/>
          </a:p>
          <a:p>
            <a:pPr indent="-228600" lvl="0" marL="228600" rtl="0" algn="l">
              <a:lnSpc>
                <a:spcPct val="90000"/>
              </a:lnSpc>
              <a:spcBef>
                <a:spcPts val="1000"/>
              </a:spcBef>
              <a:spcAft>
                <a:spcPts val="0"/>
              </a:spcAft>
              <a:buClr>
                <a:schemeClr val="dk1"/>
              </a:buClr>
              <a:buSzPct val="100000"/>
              <a:buChar char="•"/>
            </a:pPr>
            <a:r>
              <a:rPr b="0" i="0" lang="en-US">
                <a:latin typeface="Lato"/>
                <a:ea typeface="Lato"/>
                <a:cs typeface="Lato"/>
                <a:sym typeface="Lato"/>
              </a:rPr>
              <a:t>For example, we can instead fit piecewise linear functions. </a:t>
            </a:r>
            <a:endParaRPr/>
          </a:p>
          <a:p>
            <a:pPr indent="-228600" lvl="0" marL="228600" rtl="0" algn="l">
              <a:lnSpc>
                <a:spcPct val="90000"/>
              </a:lnSpc>
              <a:spcBef>
                <a:spcPts val="1000"/>
              </a:spcBef>
              <a:spcAft>
                <a:spcPts val="0"/>
              </a:spcAft>
              <a:buClr>
                <a:schemeClr val="dk1"/>
              </a:buClr>
              <a:buSzPct val="100000"/>
              <a:buChar char="•"/>
            </a:pPr>
            <a:r>
              <a:rPr b="0" i="0" lang="en-US">
                <a:latin typeface="Lato"/>
                <a:ea typeface="Lato"/>
                <a:cs typeface="Lato"/>
                <a:sym typeface="Lato"/>
              </a:rPr>
              <a:t>In fact, </a:t>
            </a:r>
            <a:r>
              <a:rPr b="1" i="0" lang="en-US">
                <a:latin typeface="Lato"/>
                <a:ea typeface="Lato"/>
                <a:cs typeface="Lato"/>
                <a:sym typeface="Lato"/>
              </a:rPr>
              <a:t>the stepwise functions used above are actually piecewise polynomials of degree 0</a:t>
            </a:r>
            <a:r>
              <a:rPr b="0" i="0" lang="en-US">
                <a:latin typeface="Lato"/>
                <a:ea typeface="Lato"/>
                <a:cs typeface="Lato"/>
                <a:sym typeface="Lato"/>
              </a:rPr>
              <a: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22222"/>
              </a:buClr>
              <a:buSzPts val="4400"/>
              <a:buFont typeface="Lato"/>
              <a:buNone/>
            </a:pPr>
            <a:r>
              <a:rPr b="0" i="0" lang="en-US">
                <a:solidFill>
                  <a:srgbClr val="222222"/>
                </a:solidFill>
                <a:latin typeface="Lato"/>
                <a:ea typeface="Lato"/>
                <a:cs typeface="Lato"/>
                <a:sym typeface="Lato"/>
              </a:rPr>
              <a:t>necessary conditions and constraints for forming piecewise polynomials</a:t>
            </a:r>
            <a:endParaRPr/>
          </a:p>
        </p:txBody>
      </p:sp>
      <p:sp>
        <p:nvSpPr>
          <p:cNvPr id="144" name="Google Shape;144;p10"/>
          <p:cNvSpPr txBox="1"/>
          <p:nvPr>
            <p:ph idx="1" type="body"/>
          </p:nvPr>
        </p:nvSpPr>
        <p:spPr>
          <a:xfrm>
            <a:off x="838200" y="1966302"/>
            <a:ext cx="5942428"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222222"/>
              </a:buClr>
              <a:buSzPts val="2800"/>
              <a:buChar char="•"/>
            </a:pPr>
            <a:r>
              <a:rPr b="0" i="0" lang="en-US">
                <a:solidFill>
                  <a:srgbClr val="222222"/>
                </a:solidFill>
                <a:latin typeface="Lato"/>
                <a:ea typeface="Lato"/>
                <a:cs typeface="Lato"/>
                <a:sym typeface="Lato"/>
              </a:rPr>
              <a:t>Constraints and Splines</a:t>
            </a:r>
            <a:endParaRPr/>
          </a:p>
          <a:p>
            <a:pPr indent="-228600" lvl="1" marL="685800" rtl="0" algn="l">
              <a:lnSpc>
                <a:spcPct val="90000"/>
              </a:lnSpc>
              <a:spcBef>
                <a:spcPts val="500"/>
              </a:spcBef>
              <a:spcAft>
                <a:spcPts val="0"/>
              </a:spcAft>
              <a:buClr>
                <a:srgbClr val="222222"/>
              </a:buClr>
              <a:buSzPts val="2400"/>
              <a:buChar char="•"/>
            </a:pPr>
            <a:r>
              <a:rPr b="0" i="0" lang="en-US">
                <a:solidFill>
                  <a:srgbClr val="222222"/>
                </a:solidFill>
                <a:latin typeface="Lato"/>
                <a:ea typeface="Lato"/>
                <a:cs typeface="Lato"/>
                <a:sym typeface="Lato"/>
              </a:rPr>
              <a:t>We might encounter certain situations where the polynomials at either end of a knot are not continuous at the knot. </a:t>
            </a:r>
            <a:endParaRPr/>
          </a:p>
          <a:p>
            <a:pPr indent="-228600" lvl="1" marL="685800" rtl="0" algn="l">
              <a:lnSpc>
                <a:spcPct val="90000"/>
              </a:lnSpc>
              <a:spcBef>
                <a:spcPts val="500"/>
              </a:spcBef>
              <a:spcAft>
                <a:spcPts val="0"/>
              </a:spcAft>
              <a:buClr>
                <a:srgbClr val="222222"/>
              </a:buClr>
              <a:buSzPts val="2400"/>
              <a:buChar char="•"/>
            </a:pPr>
            <a:r>
              <a:rPr b="0" i="0" lang="en-US">
                <a:solidFill>
                  <a:srgbClr val="222222"/>
                </a:solidFill>
                <a:latin typeface="Lato"/>
                <a:ea typeface="Lato"/>
                <a:cs typeface="Lato"/>
                <a:sym typeface="Lato"/>
              </a:rPr>
              <a:t>Such a condition should be avoided because the family of polynomials as a whole should generate a unique output for every input.</a:t>
            </a:r>
            <a:endParaRPr/>
          </a:p>
        </p:txBody>
      </p:sp>
      <p:pic>
        <p:nvPicPr>
          <p:cNvPr id="145" name="Google Shape;145;p10"/>
          <p:cNvPicPr preferRelativeResize="0"/>
          <p:nvPr/>
        </p:nvPicPr>
        <p:blipFill rotWithShape="1">
          <a:blip r:embed="rId3">
            <a:alphaModFix/>
          </a:blip>
          <a:srcRect b="0" l="0" r="0" t="0"/>
          <a:stretch/>
        </p:blipFill>
        <p:spPr>
          <a:xfrm>
            <a:off x="7000947" y="2408421"/>
            <a:ext cx="4886325" cy="3467100"/>
          </a:xfrm>
          <a:prstGeom prst="rect">
            <a:avLst/>
          </a:prstGeom>
          <a:noFill/>
          <a:ln>
            <a:noFill/>
          </a:ln>
        </p:spPr>
      </p:pic>
      <p:pic>
        <p:nvPicPr>
          <p:cNvPr id="146" name="Google Shape;146;p10"/>
          <p:cNvPicPr preferRelativeResize="0"/>
          <p:nvPr/>
        </p:nvPicPr>
        <p:blipFill rotWithShape="1">
          <a:blip r:embed="rId4">
            <a:alphaModFix/>
          </a:blip>
          <a:srcRect b="0" l="0" r="0" t="0"/>
          <a:stretch/>
        </p:blipFill>
        <p:spPr>
          <a:xfrm>
            <a:off x="8300744" y="1966302"/>
            <a:ext cx="1724025" cy="257175"/>
          </a:xfrm>
          <a:prstGeom prst="rect">
            <a:avLst/>
          </a:prstGeom>
          <a:noFill/>
          <a:ln>
            <a:noFill/>
          </a:ln>
        </p:spPr>
      </p:pic>
      <p:pic>
        <p:nvPicPr>
          <p:cNvPr id="147" name="Google Shape;147;p10"/>
          <p:cNvPicPr preferRelativeResize="0"/>
          <p:nvPr/>
        </p:nvPicPr>
        <p:blipFill rotWithShape="1">
          <a:blip r:embed="rId5">
            <a:alphaModFix/>
          </a:blip>
          <a:srcRect b="0" l="0" r="0" t="0"/>
          <a:stretch/>
        </p:blipFill>
        <p:spPr>
          <a:xfrm>
            <a:off x="8300744" y="6170002"/>
            <a:ext cx="2076450" cy="2952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153" name="Google Shape;153;p11"/>
          <p:cNvSpPr txBox="1"/>
          <p:nvPr>
            <p:ph idx="1" type="body"/>
          </p:nvPr>
        </p:nvSpPr>
        <p:spPr>
          <a:xfrm>
            <a:off x="838200" y="1825625"/>
            <a:ext cx="5699760" cy="4351338"/>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rgbClr val="222222"/>
              </a:buClr>
              <a:buSzPct val="100000"/>
              <a:buChar char="•"/>
            </a:pPr>
            <a:r>
              <a:rPr b="0" i="0" lang="en-US">
                <a:solidFill>
                  <a:srgbClr val="222222"/>
                </a:solidFill>
                <a:latin typeface="Lato"/>
                <a:ea typeface="Lato"/>
                <a:cs typeface="Lato"/>
                <a:sym typeface="Lato"/>
              </a:rPr>
              <a:t>We can see from the above image that it outputs two different values at the first knot. </a:t>
            </a:r>
            <a:endParaRPr/>
          </a:p>
          <a:p>
            <a:pPr indent="-228600" lvl="0" marL="228600" rtl="0" algn="l">
              <a:lnSpc>
                <a:spcPct val="90000"/>
              </a:lnSpc>
              <a:spcBef>
                <a:spcPts val="1000"/>
              </a:spcBef>
              <a:spcAft>
                <a:spcPts val="0"/>
              </a:spcAft>
              <a:buClr>
                <a:srgbClr val="222222"/>
              </a:buClr>
              <a:buSzPct val="100000"/>
              <a:buChar char="•"/>
            </a:pPr>
            <a:r>
              <a:rPr b="0" i="0" lang="en-US">
                <a:solidFill>
                  <a:srgbClr val="222222"/>
                </a:solidFill>
                <a:latin typeface="Lato"/>
                <a:ea typeface="Lato"/>
                <a:cs typeface="Lato"/>
                <a:sym typeface="Lato"/>
              </a:rPr>
              <a:t>Thus, to avoid this, we should </a:t>
            </a:r>
            <a:r>
              <a:rPr b="1" i="0" lang="en-US">
                <a:solidFill>
                  <a:srgbClr val="222222"/>
                </a:solidFill>
                <a:latin typeface="Lato"/>
                <a:ea typeface="Lato"/>
                <a:cs typeface="Lato"/>
                <a:sym typeface="Lato"/>
              </a:rPr>
              <a:t>add an extra constraint/condition that the polynomials on either side of a knot should be continuous at the knot</a:t>
            </a:r>
            <a:r>
              <a:rPr b="0" i="0" lang="en-US">
                <a:solidFill>
                  <a:srgbClr val="222222"/>
                </a:solidFill>
                <a:latin typeface="Lato"/>
                <a:ea typeface="Lato"/>
                <a:cs typeface="Lato"/>
                <a:sym typeface="Lato"/>
              </a:rPr>
              <a:t>.</a:t>
            </a:r>
            <a:endParaRPr>
              <a:solidFill>
                <a:srgbClr val="222222"/>
              </a:solidFill>
              <a:latin typeface="Lato"/>
              <a:ea typeface="Lato"/>
              <a:cs typeface="Lato"/>
              <a:sym typeface="Lato"/>
            </a:endParaRPr>
          </a:p>
          <a:p>
            <a:pPr indent="-228600" lvl="0" marL="228600" rtl="0" algn="l">
              <a:lnSpc>
                <a:spcPct val="90000"/>
              </a:lnSpc>
              <a:spcBef>
                <a:spcPts val="1000"/>
              </a:spcBef>
              <a:spcAft>
                <a:spcPts val="0"/>
              </a:spcAft>
              <a:buClr>
                <a:srgbClr val="222222"/>
              </a:buClr>
              <a:buSzPct val="100000"/>
              <a:buChar char="•"/>
            </a:pPr>
            <a:r>
              <a:rPr b="0" i="0" lang="en-US">
                <a:solidFill>
                  <a:srgbClr val="222222"/>
                </a:solidFill>
                <a:latin typeface="Lato"/>
                <a:ea typeface="Lato"/>
                <a:cs typeface="Lato"/>
                <a:sym typeface="Lato"/>
              </a:rPr>
              <a:t>Now after adding that constraint, we get a continuous family of polynomials. </a:t>
            </a:r>
            <a:endParaRPr/>
          </a:p>
          <a:p>
            <a:pPr indent="-228600" lvl="0" marL="228600" rtl="0" algn="l">
              <a:lnSpc>
                <a:spcPct val="90000"/>
              </a:lnSpc>
              <a:spcBef>
                <a:spcPts val="1000"/>
              </a:spcBef>
              <a:spcAft>
                <a:spcPts val="0"/>
              </a:spcAft>
              <a:buClr>
                <a:srgbClr val="222222"/>
              </a:buClr>
              <a:buSzPct val="100000"/>
              <a:buChar char="•"/>
            </a:pPr>
            <a:r>
              <a:rPr b="0" i="0" lang="en-US">
                <a:solidFill>
                  <a:srgbClr val="222222"/>
                </a:solidFill>
                <a:latin typeface="Lato"/>
                <a:ea typeface="Lato"/>
                <a:cs typeface="Lato"/>
                <a:sym typeface="Lato"/>
              </a:rPr>
              <a:t>It looks like smoothness at the knots is still absent. </a:t>
            </a:r>
            <a:endParaRPr/>
          </a:p>
          <a:p>
            <a:pPr indent="-64135" lvl="0" marL="228600" rtl="0" algn="l">
              <a:lnSpc>
                <a:spcPct val="90000"/>
              </a:lnSpc>
              <a:spcBef>
                <a:spcPts val="1000"/>
              </a:spcBef>
              <a:spcAft>
                <a:spcPts val="0"/>
              </a:spcAft>
              <a:buClr>
                <a:schemeClr val="dk1"/>
              </a:buClr>
              <a:buSzPct val="100000"/>
              <a:buNone/>
            </a:pPr>
            <a:r>
              <a:t/>
            </a:r>
            <a:endParaRPr b="0" i="0">
              <a:solidFill>
                <a:srgbClr val="222222"/>
              </a:solidFill>
              <a:latin typeface="Lato"/>
              <a:ea typeface="Lato"/>
              <a:cs typeface="Lato"/>
              <a:sym typeface="Lato"/>
            </a:endParaRPr>
          </a:p>
        </p:txBody>
      </p:sp>
      <p:pic>
        <p:nvPicPr>
          <p:cNvPr id="154" name="Google Shape;154;p11"/>
          <p:cNvPicPr preferRelativeResize="0"/>
          <p:nvPr/>
        </p:nvPicPr>
        <p:blipFill rotWithShape="1">
          <a:blip r:embed="rId3">
            <a:alphaModFix/>
          </a:blip>
          <a:srcRect b="0" l="0" r="0" t="0"/>
          <a:stretch/>
        </p:blipFill>
        <p:spPr>
          <a:xfrm>
            <a:off x="6537960" y="1273175"/>
            <a:ext cx="5334000" cy="52197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160" name="Google Shape;160;p12"/>
          <p:cNvSpPr txBox="1"/>
          <p:nvPr>
            <p:ph idx="1" type="body"/>
          </p:nvPr>
        </p:nvSpPr>
        <p:spPr>
          <a:xfrm>
            <a:off x="17438" y="1785645"/>
            <a:ext cx="7489874" cy="4351338"/>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chemeClr val="dk1"/>
              </a:buClr>
              <a:buSzPct val="100000"/>
              <a:buChar char="•"/>
            </a:pPr>
            <a:r>
              <a:rPr b="0" i="0" lang="en-US">
                <a:latin typeface="Lato"/>
                <a:ea typeface="Lato"/>
                <a:cs typeface="Lato"/>
                <a:sym typeface="Lato"/>
              </a:rPr>
              <a:t>So to smoothen the polynomials at the knots, we </a:t>
            </a:r>
            <a:r>
              <a:rPr b="1" i="0" lang="en-US">
                <a:latin typeface="Lato"/>
                <a:ea typeface="Lato"/>
                <a:cs typeface="Lato"/>
                <a:sym typeface="Lato"/>
              </a:rPr>
              <a:t>add an extra constraint/condition: the first derivative of both the polynomials must be same</a:t>
            </a:r>
            <a:r>
              <a:rPr b="0" i="0" lang="en-US">
                <a:latin typeface="Lato"/>
                <a:ea typeface="Lato"/>
                <a:cs typeface="Lato"/>
                <a:sym typeface="Lato"/>
              </a:rPr>
              <a:t>. </a:t>
            </a:r>
            <a:endParaRPr/>
          </a:p>
          <a:p>
            <a:pPr indent="-228600" lvl="0" marL="228600" rtl="0" algn="l">
              <a:lnSpc>
                <a:spcPct val="90000"/>
              </a:lnSpc>
              <a:spcBef>
                <a:spcPts val="1000"/>
              </a:spcBef>
              <a:spcAft>
                <a:spcPts val="0"/>
              </a:spcAft>
              <a:buClr>
                <a:schemeClr val="dk1"/>
              </a:buClr>
              <a:buSzPct val="100000"/>
              <a:buChar char="•"/>
            </a:pPr>
            <a:r>
              <a:rPr b="0" i="0" lang="en-US">
                <a:latin typeface="Lato"/>
                <a:ea typeface="Lato"/>
                <a:cs typeface="Lato"/>
                <a:sym typeface="Lato"/>
              </a:rPr>
              <a:t>One thing we should note: </a:t>
            </a:r>
            <a:r>
              <a:rPr b="0" i="1" lang="en-US">
                <a:latin typeface="Lato"/>
                <a:ea typeface="Lato"/>
                <a:cs typeface="Lato"/>
                <a:sym typeface="Lato"/>
              </a:rPr>
              <a:t>Each constraint that we impose on the piecewise cubic polynomials effectively frees up one degree of freedom</a:t>
            </a:r>
            <a:r>
              <a:rPr b="0" i="0" lang="en-US">
                <a:latin typeface="Lato"/>
                <a:ea typeface="Lato"/>
                <a:cs typeface="Lato"/>
                <a:sym typeface="Lato"/>
              </a:rPr>
              <a:t>, as we reduce the complexity of the resulting piecewise polynomial fit. </a:t>
            </a:r>
            <a:endParaRPr/>
          </a:p>
          <a:p>
            <a:pPr indent="-228600" lvl="0" marL="228600" rtl="0" algn="l">
              <a:lnSpc>
                <a:spcPct val="90000"/>
              </a:lnSpc>
              <a:spcBef>
                <a:spcPts val="1000"/>
              </a:spcBef>
              <a:spcAft>
                <a:spcPts val="0"/>
              </a:spcAft>
              <a:buClr>
                <a:schemeClr val="dk1"/>
              </a:buClr>
              <a:buSzPct val="100000"/>
              <a:buChar char="•"/>
            </a:pPr>
            <a:r>
              <a:rPr b="0" i="0" lang="en-US">
                <a:latin typeface="Lato"/>
                <a:ea typeface="Lato"/>
                <a:cs typeface="Lato"/>
                <a:sym typeface="Lato"/>
              </a:rPr>
              <a:t>Therefore, in the above plot, we are using only 10 degrees of freedom instead of 12.</a:t>
            </a:r>
            <a:endParaRPr/>
          </a:p>
          <a:p>
            <a:pPr indent="-228600" lvl="0" marL="228600" rtl="0" algn="l">
              <a:lnSpc>
                <a:spcPct val="90000"/>
              </a:lnSpc>
              <a:spcBef>
                <a:spcPts val="1000"/>
              </a:spcBef>
              <a:spcAft>
                <a:spcPts val="0"/>
              </a:spcAft>
              <a:buClr>
                <a:schemeClr val="dk1"/>
              </a:buClr>
              <a:buSzPct val="100000"/>
              <a:buChar char="•"/>
            </a:pPr>
            <a:r>
              <a:rPr b="0" i="0" lang="en-US">
                <a:latin typeface="Lato"/>
                <a:ea typeface="Lato"/>
                <a:cs typeface="Lato"/>
                <a:sym typeface="Lato"/>
              </a:rPr>
              <a:t>This plot uses 8 degrees of freedom instead of 12 as two constraints are imposed.</a:t>
            </a:r>
            <a:endParaRPr/>
          </a:p>
        </p:txBody>
      </p:sp>
      <p:pic>
        <p:nvPicPr>
          <p:cNvPr id="161" name="Google Shape;161;p12"/>
          <p:cNvPicPr preferRelativeResize="0"/>
          <p:nvPr/>
        </p:nvPicPr>
        <p:blipFill rotWithShape="1">
          <a:blip r:embed="rId3">
            <a:alphaModFix/>
          </a:blip>
          <a:srcRect b="0" l="0" r="0" t="0"/>
          <a:stretch/>
        </p:blipFill>
        <p:spPr>
          <a:xfrm>
            <a:off x="7507312" y="2345421"/>
            <a:ext cx="4381500" cy="3095625"/>
          </a:xfrm>
          <a:prstGeom prst="rect">
            <a:avLst/>
          </a:prstGeom>
          <a:noFill/>
          <a:ln>
            <a:noFill/>
          </a:ln>
        </p:spPr>
      </p:pic>
      <p:pic>
        <p:nvPicPr>
          <p:cNvPr id="162" name="Google Shape;162;p12"/>
          <p:cNvPicPr preferRelativeResize="0"/>
          <p:nvPr/>
        </p:nvPicPr>
        <p:blipFill rotWithShape="1">
          <a:blip r:embed="rId4">
            <a:alphaModFix/>
          </a:blip>
          <a:srcRect b="0" l="0" r="0" t="0"/>
          <a:stretch/>
        </p:blipFill>
        <p:spPr>
          <a:xfrm>
            <a:off x="8057124" y="1919594"/>
            <a:ext cx="2914650" cy="238125"/>
          </a:xfrm>
          <a:prstGeom prst="rect">
            <a:avLst/>
          </a:prstGeom>
          <a:noFill/>
          <a:ln>
            <a:noFill/>
          </a:ln>
        </p:spPr>
      </p:pic>
      <p:pic>
        <p:nvPicPr>
          <p:cNvPr id="163" name="Google Shape;163;p12"/>
          <p:cNvPicPr preferRelativeResize="0"/>
          <p:nvPr/>
        </p:nvPicPr>
        <p:blipFill rotWithShape="1">
          <a:blip r:embed="rId5">
            <a:alphaModFix/>
          </a:blip>
          <a:srcRect b="0" l="0" r="0" t="0"/>
          <a:stretch/>
        </p:blipFill>
        <p:spPr>
          <a:xfrm>
            <a:off x="8731274" y="5688549"/>
            <a:ext cx="1933575" cy="3333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169" name="Google Shape;169;p13"/>
          <p:cNvSpPr txBox="1"/>
          <p:nvPr>
            <p:ph idx="1" type="body"/>
          </p:nvPr>
        </p:nvSpPr>
        <p:spPr>
          <a:xfrm>
            <a:off x="838200" y="1825625"/>
            <a:ext cx="5689209" cy="4351338"/>
          </a:xfrm>
          <a:prstGeom prst="rect">
            <a:avLst/>
          </a:prstGeom>
          <a:noFill/>
          <a:ln>
            <a:noFill/>
          </a:ln>
        </p:spPr>
        <p:txBody>
          <a:bodyPr anchorCtr="0" anchor="t" bIns="45700" lIns="91425" spcFirstLastPara="1" rIns="91425" wrap="square" tIns="45700">
            <a:normAutofit fontScale="77500" lnSpcReduction="20000"/>
          </a:bodyPr>
          <a:lstStyle/>
          <a:p>
            <a:pPr indent="-228600" lvl="0" marL="228600" rtl="0" algn="l">
              <a:lnSpc>
                <a:spcPct val="90000"/>
              </a:lnSpc>
              <a:spcBef>
                <a:spcPts val="0"/>
              </a:spcBef>
              <a:spcAft>
                <a:spcPts val="0"/>
              </a:spcAft>
              <a:buClr>
                <a:schemeClr val="dk1"/>
              </a:buClr>
              <a:buSzPct val="100000"/>
              <a:buChar char="•"/>
            </a:pPr>
            <a:r>
              <a:rPr b="0" i="0" lang="en-US">
                <a:latin typeface="Lato"/>
                <a:ea typeface="Lato"/>
                <a:cs typeface="Lato"/>
                <a:sym typeface="Lato"/>
              </a:rPr>
              <a:t>Although the above plot looks better, there is still some scope for improvement. </a:t>
            </a:r>
            <a:endParaRPr/>
          </a:p>
          <a:p>
            <a:pPr indent="-228600" lvl="0" marL="228600" rtl="0" algn="l">
              <a:lnSpc>
                <a:spcPct val="90000"/>
              </a:lnSpc>
              <a:spcBef>
                <a:spcPts val="1000"/>
              </a:spcBef>
              <a:spcAft>
                <a:spcPts val="0"/>
              </a:spcAft>
              <a:buClr>
                <a:schemeClr val="dk1"/>
              </a:buClr>
              <a:buSzPct val="100000"/>
              <a:buChar char="•"/>
            </a:pPr>
            <a:r>
              <a:rPr b="0" i="0" lang="en-US">
                <a:latin typeface="Lato"/>
                <a:ea typeface="Lato"/>
                <a:cs typeface="Lato"/>
                <a:sym typeface="Lato"/>
              </a:rPr>
              <a:t>Now, </a:t>
            </a:r>
            <a:r>
              <a:rPr b="1" i="0" lang="en-US">
                <a:latin typeface="Lato"/>
                <a:ea typeface="Lato"/>
                <a:cs typeface="Lato"/>
                <a:sym typeface="Lato"/>
              </a:rPr>
              <a:t>we will impose an extra constraint: that the double derivatives of both the polynomials at a knot must be same.</a:t>
            </a:r>
            <a:endParaRPr/>
          </a:p>
          <a:p>
            <a:pPr indent="-228600" lvl="0" marL="228600" rtl="0" algn="l">
              <a:lnSpc>
                <a:spcPct val="90000"/>
              </a:lnSpc>
              <a:spcBef>
                <a:spcPts val="1000"/>
              </a:spcBef>
              <a:spcAft>
                <a:spcPts val="0"/>
              </a:spcAft>
              <a:buClr>
                <a:schemeClr val="dk1"/>
              </a:buClr>
              <a:buSzPct val="100000"/>
              <a:buChar char="•"/>
            </a:pPr>
            <a:r>
              <a:rPr b="0" i="0" lang="en-US">
                <a:latin typeface="Lato"/>
                <a:ea typeface="Lato"/>
                <a:cs typeface="Lato"/>
                <a:sym typeface="Lato"/>
              </a:rPr>
              <a:t>This plot seems perfect for our study. It uses 6 degrees of freedom instead of 12. </a:t>
            </a:r>
            <a:endParaRPr/>
          </a:p>
          <a:p>
            <a:pPr indent="-228600" lvl="0" marL="228600" rtl="0" algn="l">
              <a:lnSpc>
                <a:spcPct val="90000"/>
              </a:lnSpc>
              <a:spcBef>
                <a:spcPts val="1000"/>
              </a:spcBef>
              <a:spcAft>
                <a:spcPts val="0"/>
              </a:spcAft>
              <a:buClr>
                <a:schemeClr val="dk1"/>
              </a:buClr>
              <a:buSzPct val="100000"/>
              <a:buChar char="•"/>
            </a:pPr>
            <a:r>
              <a:rPr b="1" i="0" lang="en-US">
                <a:latin typeface="Lato"/>
                <a:ea typeface="Lato"/>
                <a:cs typeface="Lato"/>
                <a:sym typeface="Lato"/>
              </a:rPr>
              <a:t>Such a piecewise polynomial of degree m with m-1 continuous derivatives is called a Spline</a:t>
            </a:r>
            <a:r>
              <a:rPr b="0" i="0" lang="en-US">
                <a:latin typeface="Lato"/>
                <a:ea typeface="Lato"/>
                <a:cs typeface="Lato"/>
                <a:sym typeface="Lato"/>
              </a:rPr>
              <a:t>. </a:t>
            </a:r>
            <a:endParaRPr/>
          </a:p>
          <a:p>
            <a:pPr indent="-228600" lvl="0" marL="228600" rtl="0" algn="l">
              <a:lnSpc>
                <a:spcPct val="90000"/>
              </a:lnSpc>
              <a:spcBef>
                <a:spcPts val="1000"/>
              </a:spcBef>
              <a:spcAft>
                <a:spcPts val="0"/>
              </a:spcAft>
              <a:buClr>
                <a:schemeClr val="dk1"/>
              </a:buClr>
              <a:buSzPct val="100000"/>
              <a:buChar char="•"/>
            </a:pPr>
            <a:r>
              <a:rPr b="0" i="0" lang="en-US">
                <a:latin typeface="Lato"/>
                <a:ea typeface="Lato"/>
                <a:cs typeface="Lato"/>
                <a:sym typeface="Lato"/>
              </a:rPr>
              <a:t>Hence, we have constructed a Cubic Spline in the above plot. </a:t>
            </a:r>
            <a:endParaRPr/>
          </a:p>
          <a:p>
            <a:pPr indent="-228600" lvl="0" marL="228600" rtl="0" algn="l">
              <a:lnSpc>
                <a:spcPct val="90000"/>
              </a:lnSpc>
              <a:spcBef>
                <a:spcPts val="1000"/>
              </a:spcBef>
              <a:spcAft>
                <a:spcPts val="0"/>
              </a:spcAft>
              <a:buClr>
                <a:schemeClr val="dk1"/>
              </a:buClr>
              <a:buSzPct val="100000"/>
              <a:buChar char="•"/>
            </a:pPr>
            <a:r>
              <a:rPr b="0" i="0" lang="en-US">
                <a:latin typeface="Lato"/>
                <a:ea typeface="Lato"/>
                <a:cs typeface="Lato"/>
                <a:sym typeface="Lato"/>
              </a:rPr>
              <a:t>We can plot any degree of spline with m-1 continuous derivatives.</a:t>
            </a:r>
            <a:endParaRPr/>
          </a:p>
        </p:txBody>
      </p:sp>
      <p:pic>
        <p:nvPicPr>
          <p:cNvPr id="170" name="Google Shape;170;p13"/>
          <p:cNvPicPr preferRelativeResize="0"/>
          <p:nvPr/>
        </p:nvPicPr>
        <p:blipFill rotWithShape="1">
          <a:blip r:embed="rId3">
            <a:alphaModFix/>
          </a:blip>
          <a:srcRect b="0" l="0" r="0" t="0"/>
          <a:stretch/>
        </p:blipFill>
        <p:spPr>
          <a:xfrm>
            <a:off x="6467475" y="2253456"/>
            <a:ext cx="4886325" cy="3495675"/>
          </a:xfrm>
          <a:prstGeom prst="rect">
            <a:avLst/>
          </a:prstGeom>
          <a:noFill/>
          <a:ln>
            <a:noFill/>
          </a:ln>
        </p:spPr>
      </p:pic>
      <p:pic>
        <p:nvPicPr>
          <p:cNvPr id="171" name="Google Shape;171;p13"/>
          <p:cNvPicPr preferRelativeResize="0"/>
          <p:nvPr/>
        </p:nvPicPr>
        <p:blipFill rotWithShape="1">
          <a:blip r:embed="rId4">
            <a:alphaModFix/>
          </a:blip>
          <a:srcRect b="0" l="0" r="0" t="0"/>
          <a:stretch/>
        </p:blipFill>
        <p:spPr>
          <a:xfrm>
            <a:off x="7020364" y="1891903"/>
            <a:ext cx="3581400" cy="295275"/>
          </a:xfrm>
          <a:prstGeom prst="rect">
            <a:avLst/>
          </a:prstGeom>
          <a:noFill/>
          <a:ln>
            <a:noFill/>
          </a:ln>
        </p:spPr>
      </p:pic>
      <p:pic>
        <p:nvPicPr>
          <p:cNvPr id="172" name="Google Shape;172;p13"/>
          <p:cNvPicPr preferRelativeResize="0"/>
          <p:nvPr/>
        </p:nvPicPr>
        <p:blipFill rotWithShape="1">
          <a:blip r:embed="rId5">
            <a:alphaModFix/>
          </a:blip>
          <a:srcRect b="0" l="0" r="0" t="0"/>
          <a:stretch/>
        </p:blipFill>
        <p:spPr>
          <a:xfrm>
            <a:off x="7888092" y="5825960"/>
            <a:ext cx="2105025" cy="2857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22222"/>
              </a:buClr>
              <a:buSzPts val="4400"/>
              <a:buFont typeface="Lato"/>
              <a:buNone/>
            </a:pPr>
            <a:r>
              <a:rPr b="0" i="0" lang="en-US">
                <a:solidFill>
                  <a:srgbClr val="222222"/>
                </a:solidFill>
                <a:latin typeface="Lato"/>
                <a:ea typeface="Lato"/>
                <a:cs typeface="Lato"/>
                <a:sym typeface="Lato"/>
              </a:rPr>
              <a:t>Cubic and Natural Cubic Splines</a:t>
            </a:r>
            <a:endParaRPr/>
          </a:p>
        </p:txBody>
      </p:sp>
      <p:sp>
        <p:nvSpPr>
          <p:cNvPr id="178" name="Google Shape;178;p14"/>
          <p:cNvSpPr txBox="1"/>
          <p:nvPr>
            <p:ph idx="1" type="body"/>
          </p:nvPr>
        </p:nvSpPr>
        <p:spPr>
          <a:xfrm>
            <a:off x="838200" y="1406770"/>
            <a:ext cx="10515600" cy="5345722"/>
          </a:xfrm>
          <a:prstGeom prst="rect">
            <a:avLst/>
          </a:prstGeom>
          <a:noFill/>
          <a:ln>
            <a:noFill/>
          </a:ln>
        </p:spPr>
        <p:txBody>
          <a:bodyPr anchorCtr="0" anchor="t" bIns="45700" lIns="91425" spcFirstLastPara="1" rIns="91425" wrap="square" tIns="45700">
            <a:normAutofit fontScale="70000" lnSpcReduction="20000"/>
          </a:bodyPr>
          <a:lstStyle/>
          <a:p>
            <a:pPr indent="-228600" lvl="0" marL="228600" rtl="0" algn="l">
              <a:lnSpc>
                <a:spcPct val="90000"/>
              </a:lnSpc>
              <a:spcBef>
                <a:spcPts val="0"/>
              </a:spcBef>
              <a:spcAft>
                <a:spcPts val="0"/>
              </a:spcAft>
              <a:buClr>
                <a:schemeClr val="dk1"/>
              </a:buClr>
              <a:buSzPct val="100000"/>
              <a:buChar char="•"/>
            </a:pPr>
            <a:r>
              <a:rPr b="0" i="0" lang="en-US">
                <a:latin typeface="Lato"/>
                <a:ea typeface="Lato"/>
                <a:cs typeface="Lato"/>
                <a:sym typeface="Lato"/>
              </a:rPr>
              <a:t>Cubic spline is a piecewise polynomial with a set of extra constraints (continuity, continuity of the first derivative, and continuity of the second derivative). </a:t>
            </a:r>
            <a:endParaRPr/>
          </a:p>
          <a:p>
            <a:pPr indent="-228600" lvl="0" marL="228600" rtl="0" algn="l">
              <a:lnSpc>
                <a:spcPct val="90000"/>
              </a:lnSpc>
              <a:spcBef>
                <a:spcPts val="1000"/>
              </a:spcBef>
              <a:spcAft>
                <a:spcPts val="0"/>
              </a:spcAft>
              <a:buClr>
                <a:schemeClr val="dk1"/>
              </a:buClr>
              <a:buSzPct val="100000"/>
              <a:buChar char="•"/>
            </a:pPr>
            <a:r>
              <a:rPr b="0" i="0" lang="en-US">
                <a:latin typeface="Lato"/>
                <a:ea typeface="Lato"/>
                <a:cs typeface="Lato"/>
                <a:sym typeface="Lato"/>
              </a:rPr>
              <a:t>In general, a cubic spline with K knots uses cubic spline with a total of 4 + K degrees of freedom. </a:t>
            </a:r>
            <a:endParaRPr/>
          </a:p>
          <a:p>
            <a:pPr indent="-228600" lvl="0" marL="228600" rtl="0" algn="l">
              <a:lnSpc>
                <a:spcPct val="90000"/>
              </a:lnSpc>
              <a:spcBef>
                <a:spcPts val="1000"/>
              </a:spcBef>
              <a:spcAft>
                <a:spcPts val="0"/>
              </a:spcAft>
              <a:buClr>
                <a:schemeClr val="dk1"/>
              </a:buClr>
              <a:buSzPct val="100000"/>
              <a:buChar char="•"/>
            </a:pPr>
            <a:r>
              <a:rPr b="0" i="0" lang="en-US">
                <a:latin typeface="Lato"/>
                <a:ea typeface="Lato"/>
                <a:cs typeface="Lato"/>
                <a:sym typeface="Lato"/>
              </a:rPr>
              <a:t>There is seldom any good reason to go beyond cubic-splines (unless one is interested in smooth derivatives).</a:t>
            </a:r>
            <a:endParaRPr/>
          </a:p>
          <a:p>
            <a:pPr indent="-228600" lvl="0" marL="228600" rtl="0" algn="l">
              <a:lnSpc>
                <a:spcPct val="90000"/>
              </a:lnSpc>
              <a:spcBef>
                <a:spcPts val="1000"/>
              </a:spcBef>
              <a:spcAft>
                <a:spcPts val="0"/>
              </a:spcAft>
              <a:buClr>
                <a:schemeClr val="dk1"/>
              </a:buClr>
              <a:buSzPct val="100000"/>
              <a:buChar char="•"/>
            </a:pPr>
            <a:r>
              <a:rPr b="0" i="0" lang="en-US">
                <a:latin typeface="Lato"/>
                <a:ea typeface="Lato"/>
                <a:cs typeface="Lato"/>
                <a:sym typeface="Lato"/>
              </a:rPr>
              <a:t>We know that the behavior of polynomials that are fit to the data tends to be erratic near the boundaries. </a:t>
            </a:r>
            <a:endParaRPr/>
          </a:p>
          <a:p>
            <a:pPr indent="-228600" lvl="0" marL="228600" rtl="0" algn="l">
              <a:lnSpc>
                <a:spcPct val="90000"/>
              </a:lnSpc>
              <a:spcBef>
                <a:spcPts val="1000"/>
              </a:spcBef>
              <a:spcAft>
                <a:spcPts val="0"/>
              </a:spcAft>
              <a:buClr>
                <a:schemeClr val="dk1"/>
              </a:buClr>
              <a:buSzPct val="100000"/>
              <a:buChar char="•"/>
            </a:pPr>
            <a:r>
              <a:rPr b="0" i="0" lang="en-US">
                <a:latin typeface="Lato"/>
                <a:ea typeface="Lato"/>
                <a:cs typeface="Lato"/>
                <a:sym typeface="Lato"/>
              </a:rPr>
              <a:t>Such variability can be dangerous. </a:t>
            </a:r>
            <a:endParaRPr/>
          </a:p>
          <a:p>
            <a:pPr indent="-228600" lvl="0" marL="228600" rtl="0" algn="l">
              <a:lnSpc>
                <a:spcPct val="90000"/>
              </a:lnSpc>
              <a:spcBef>
                <a:spcPts val="1000"/>
              </a:spcBef>
              <a:spcAft>
                <a:spcPts val="0"/>
              </a:spcAft>
              <a:buClr>
                <a:schemeClr val="dk1"/>
              </a:buClr>
              <a:buSzPct val="100000"/>
              <a:buChar char="•"/>
            </a:pPr>
            <a:r>
              <a:rPr b="0" i="0" lang="en-US">
                <a:latin typeface="Lato"/>
                <a:ea typeface="Lato"/>
                <a:cs typeface="Lato"/>
                <a:sym typeface="Lato"/>
              </a:rPr>
              <a:t>These problems are resembled by splines, too. </a:t>
            </a:r>
            <a:endParaRPr/>
          </a:p>
          <a:p>
            <a:pPr indent="-228600" lvl="0" marL="228600" rtl="0" algn="l">
              <a:lnSpc>
                <a:spcPct val="90000"/>
              </a:lnSpc>
              <a:spcBef>
                <a:spcPts val="1000"/>
              </a:spcBef>
              <a:spcAft>
                <a:spcPts val="0"/>
              </a:spcAft>
              <a:buClr>
                <a:schemeClr val="dk1"/>
              </a:buClr>
              <a:buSzPct val="100000"/>
              <a:buChar char="•"/>
            </a:pPr>
            <a:r>
              <a:rPr b="0" i="0" lang="en-US">
                <a:latin typeface="Lato"/>
                <a:ea typeface="Lato"/>
                <a:cs typeface="Lato"/>
                <a:sym typeface="Lato"/>
              </a:rPr>
              <a:t>The polynomials fit beyond the boundary knots behave even more wildly than the corresponding global polynomials in that region. </a:t>
            </a:r>
            <a:endParaRPr/>
          </a:p>
          <a:p>
            <a:pPr indent="-228600" lvl="0" marL="228600" rtl="0" algn="l">
              <a:lnSpc>
                <a:spcPct val="90000"/>
              </a:lnSpc>
              <a:spcBef>
                <a:spcPts val="1000"/>
              </a:spcBef>
              <a:spcAft>
                <a:spcPts val="0"/>
              </a:spcAft>
              <a:buClr>
                <a:schemeClr val="dk1"/>
              </a:buClr>
              <a:buSzPct val="100000"/>
              <a:buChar char="•"/>
            </a:pPr>
            <a:r>
              <a:rPr b="1" i="0" lang="en-US">
                <a:latin typeface="Lato"/>
                <a:ea typeface="Lato"/>
                <a:cs typeface="Lato"/>
                <a:sym typeface="Lato"/>
              </a:rPr>
              <a:t>To smooth the polynomial beyond the boundary knots, we will use a special type of spline known as Natural Spline.</a:t>
            </a:r>
            <a:endParaRPr b="0" i="0">
              <a:latin typeface="Lato"/>
              <a:ea typeface="Lato"/>
              <a:cs typeface="Lato"/>
              <a:sym typeface="Lato"/>
            </a:endParaRPr>
          </a:p>
          <a:p>
            <a:pPr indent="-228600" lvl="0" marL="228600" rtl="0" algn="l">
              <a:lnSpc>
                <a:spcPct val="90000"/>
              </a:lnSpc>
              <a:spcBef>
                <a:spcPts val="1000"/>
              </a:spcBef>
              <a:spcAft>
                <a:spcPts val="0"/>
              </a:spcAft>
              <a:buClr>
                <a:schemeClr val="dk1"/>
              </a:buClr>
              <a:buSzPct val="100000"/>
              <a:buChar char="•"/>
            </a:pPr>
            <a:r>
              <a:rPr b="0" i="0" lang="en-US">
                <a:latin typeface="Lato"/>
                <a:ea typeface="Lato"/>
                <a:cs typeface="Lato"/>
                <a:sym typeface="Lato"/>
              </a:rPr>
              <a:t>A natural cubic spline adds additional constraints, namely that the function is linear beyond the boundary knots. This constrains the cubic and quadratic parts there to 0, each reducing the degrees of freedom by 2. That’s 2 degrees of freedom at each of the two ends of the curve, reducing </a:t>
            </a:r>
            <a:r>
              <a:rPr b="0" i="1" lang="en-US">
                <a:latin typeface="Lato"/>
                <a:ea typeface="Lato"/>
                <a:cs typeface="Lato"/>
                <a:sym typeface="Lato"/>
              </a:rPr>
              <a:t>K</a:t>
            </a:r>
            <a:r>
              <a:rPr b="0" i="0" lang="en-US">
                <a:latin typeface="Lato"/>
                <a:ea typeface="Lato"/>
                <a:cs typeface="Lato"/>
                <a:sym typeface="Lato"/>
              </a:rPr>
              <a:t>+4 to </a:t>
            </a:r>
            <a:r>
              <a:rPr b="0" i="1" lang="en-US">
                <a:latin typeface="Lato"/>
                <a:ea typeface="Lato"/>
                <a:cs typeface="Lato"/>
                <a:sym typeface="Lato"/>
              </a:rPr>
              <a:t>K</a:t>
            </a:r>
            <a:r>
              <a:rPr b="0" i="0" lang="en-US">
                <a:latin typeface="Lato"/>
                <a:ea typeface="Lato"/>
                <a:cs typeface="Lato"/>
                <a:sym typeface="Lato"/>
              </a:rPr>
              <a:t>.</a:t>
            </a:r>
            <a:endParaRPr/>
          </a:p>
          <a:p>
            <a:pPr indent="-104140"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22222"/>
              </a:buClr>
              <a:buSzPts val="4400"/>
              <a:buFont typeface="Lato"/>
              <a:buNone/>
            </a:pPr>
            <a:r>
              <a:rPr b="0" i="0" lang="en-US">
                <a:solidFill>
                  <a:srgbClr val="222222"/>
                </a:solidFill>
                <a:latin typeface="Lato"/>
                <a:ea typeface="Lato"/>
                <a:cs typeface="Lato"/>
                <a:sym typeface="Lato"/>
              </a:rPr>
              <a:t>Choosing the Number and Locations of the Knots</a:t>
            </a:r>
            <a:endParaRPr/>
          </a:p>
        </p:txBody>
      </p:sp>
      <p:sp>
        <p:nvSpPr>
          <p:cNvPr id="184" name="Google Shape;184;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chemeClr val="dk1"/>
              </a:buClr>
              <a:buSzPct val="100000"/>
              <a:buChar char="•"/>
            </a:pPr>
            <a:r>
              <a:rPr b="0" i="0" lang="en-US">
                <a:latin typeface="Lato"/>
                <a:ea typeface="Lato"/>
                <a:cs typeface="Lato"/>
                <a:sym typeface="Lato"/>
              </a:rPr>
              <a:t>When we fit a spline, where should we place the knots? </a:t>
            </a:r>
            <a:endParaRPr/>
          </a:p>
          <a:p>
            <a:pPr indent="-228600" lvl="0" marL="228600" rtl="0" algn="l">
              <a:lnSpc>
                <a:spcPct val="90000"/>
              </a:lnSpc>
              <a:spcBef>
                <a:spcPts val="1000"/>
              </a:spcBef>
              <a:spcAft>
                <a:spcPts val="0"/>
              </a:spcAft>
              <a:buClr>
                <a:schemeClr val="dk1"/>
              </a:buClr>
              <a:buSzPct val="100000"/>
              <a:buChar char="•"/>
            </a:pPr>
            <a:r>
              <a:rPr b="0" i="0" lang="en-US">
                <a:latin typeface="Lato"/>
                <a:ea typeface="Lato"/>
                <a:cs typeface="Lato"/>
                <a:sym typeface="Lato"/>
              </a:rPr>
              <a:t>One potential place would be the area of high variability, because in those regions the polynomial coefficients can change rapidly. Hence, one option is to place more knots in places where we feel the function might vary most rapidly, and to place fewer knots where it seems more stable.</a:t>
            </a:r>
            <a:endParaRPr/>
          </a:p>
          <a:p>
            <a:pPr indent="-228600" lvl="0" marL="228600" rtl="0" algn="l">
              <a:lnSpc>
                <a:spcPct val="90000"/>
              </a:lnSpc>
              <a:spcBef>
                <a:spcPts val="1000"/>
              </a:spcBef>
              <a:spcAft>
                <a:spcPts val="0"/>
              </a:spcAft>
              <a:buClr>
                <a:schemeClr val="dk1"/>
              </a:buClr>
              <a:buSzPct val="100000"/>
              <a:buChar char="•"/>
            </a:pPr>
            <a:r>
              <a:rPr b="0" i="0" lang="en-US">
                <a:latin typeface="Lato"/>
                <a:ea typeface="Lato"/>
                <a:cs typeface="Lato"/>
                <a:sym typeface="Lato"/>
              </a:rPr>
              <a:t>While this option can work well, in practice it is common to place knots in a uniform fashion. One way to do this is to specify the desired degrees of freedom, and then have the software automatically place the corresponding number of knots at uniform quantiles of the data.</a:t>
            </a:r>
            <a:endParaRPr/>
          </a:p>
          <a:p>
            <a:pPr indent="-228600" lvl="0" marL="228600" rtl="0" algn="l">
              <a:lnSpc>
                <a:spcPct val="90000"/>
              </a:lnSpc>
              <a:spcBef>
                <a:spcPts val="1000"/>
              </a:spcBef>
              <a:spcAft>
                <a:spcPts val="0"/>
              </a:spcAft>
              <a:buClr>
                <a:schemeClr val="dk1"/>
              </a:buClr>
              <a:buSzPct val="100000"/>
              <a:buChar char="•"/>
            </a:pPr>
            <a:r>
              <a:rPr b="0" i="0" lang="en-US">
                <a:latin typeface="Lato"/>
                <a:ea typeface="Lato"/>
                <a:cs typeface="Lato"/>
                <a:sym typeface="Lato"/>
              </a:rPr>
              <a:t>Another option is to try out different numbers of knots and see which produces the best looking curve.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190" name="Google Shape;190;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b="1" i="0" lang="en-US">
                <a:latin typeface="Lato"/>
                <a:ea typeface="Lato"/>
                <a:cs typeface="Lato"/>
                <a:sym typeface="Lato"/>
              </a:rPr>
              <a:t>A more objective approach is to use cross-validation</a:t>
            </a:r>
            <a:r>
              <a:rPr b="0" i="0" lang="en-US">
                <a:latin typeface="Lato"/>
                <a:ea typeface="Lato"/>
                <a:cs typeface="Lato"/>
                <a:sym typeface="Lato"/>
              </a:rPr>
              <a:t>. With this method:</a:t>
            </a:r>
            <a:endParaRPr/>
          </a:p>
          <a:p>
            <a:pPr indent="-228600" lvl="0" marL="228600" rtl="0" algn="l">
              <a:lnSpc>
                <a:spcPct val="90000"/>
              </a:lnSpc>
              <a:spcBef>
                <a:spcPts val="1000"/>
              </a:spcBef>
              <a:spcAft>
                <a:spcPts val="0"/>
              </a:spcAft>
              <a:buClr>
                <a:schemeClr val="dk1"/>
              </a:buClr>
              <a:buSzPct val="100000"/>
              <a:buFont typeface="Arial"/>
              <a:buChar char="•"/>
            </a:pPr>
            <a:r>
              <a:rPr b="0" i="0" lang="en-US">
                <a:latin typeface="Lato"/>
                <a:ea typeface="Lato"/>
                <a:cs typeface="Lato"/>
                <a:sym typeface="Lato"/>
              </a:rPr>
              <a:t>we remove a portion of the data,</a:t>
            </a:r>
            <a:endParaRPr/>
          </a:p>
          <a:p>
            <a:pPr indent="-228600" lvl="0" marL="228600" rtl="0" algn="l">
              <a:lnSpc>
                <a:spcPct val="90000"/>
              </a:lnSpc>
              <a:spcBef>
                <a:spcPts val="1000"/>
              </a:spcBef>
              <a:spcAft>
                <a:spcPts val="0"/>
              </a:spcAft>
              <a:buClr>
                <a:schemeClr val="dk1"/>
              </a:buClr>
              <a:buSzPct val="100000"/>
              <a:buFont typeface="Arial"/>
              <a:buChar char="•"/>
            </a:pPr>
            <a:r>
              <a:rPr b="0" i="0" lang="en-US">
                <a:latin typeface="Lato"/>
                <a:ea typeface="Lato"/>
                <a:cs typeface="Lato"/>
                <a:sym typeface="Lato"/>
              </a:rPr>
              <a:t>fit a spline with a certain number of knots to the remaining data, and then,</a:t>
            </a:r>
            <a:endParaRPr/>
          </a:p>
          <a:p>
            <a:pPr indent="-228600" lvl="0" marL="228600" rtl="0" algn="l">
              <a:lnSpc>
                <a:spcPct val="90000"/>
              </a:lnSpc>
              <a:spcBef>
                <a:spcPts val="1000"/>
              </a:spcBef>
              <a:spcAft>
                <a:spcPts val="0"/>
              </a:spcAft>
              <a:buClr>
                <a:schemeClr val="dk1"/>
              </a:buClr>
              <a:buSzPct val="100000"/>
              <a:buFont typeface="Arial"/>
              <a:buChar char="•"/>
            </a:pPr>
            <a:r>
              <a:rPr b="0" i="0" lang="en-US">
                <a:latin typeface="Lato"/>
                <a:ea typeface="Lato"/>
                <a:cs typeface="Lato"/>
                <a:sym typeface="Lato"/>
              </a:rPr>
              <a:t>use the spline to make predictions for the held-out portion.</a:t>
            </a:r>
            <a:endParaRPr/>
          </a:p>
          <a:p>
            <a:pPr indent="-228600" lvl="0" marL="228600" rtl="0" algn="l">
              <a:lnSpc>
                <a:spcPct val="90000"/>
              </a:lnSpc>
              <a:spcBef>
                <a:spcPts val="1000"/>
              </a:spcBef>
              <a:spcAft>
                <a:spcPts val="0"/>
              </a:spcAft>
              <a:buClr>
                <a:schemeClr val="dk1"/>
              </a:buClr>
              <a:buSzPct val="100000"/>
              <a:buChar char="•"/>
            </a:pPr>
            <a:r>
              <a:rPr b="0" i="0" lang="en-US">
                <a:latin typeface="Lato"/>
                <a:ea typeface="Lato"/>
                <a:cs typeface="Lato"/>
                <a:sym typeface="Lato"/>
              </a:rPr>
              <a:t>We repeat this process multiple times until each observation has been left out once, and then compute the overall cross-validated RMSE. </a:t>
            </a:r>
            <a:endParaRPr/>
          </a:p>
          <a:p>
            <a:pPr indent="-228600" lvl="0" marL="228600" rtl="0" algn="l">
              <a:lnSpc>
                <a:spcPct val="90000"/>
              </a:lnSpc>
              <a:spcBef>
                <a:spcPts val="1000"/>
              </a:spcBef>
              <a:spcAft>
                <a:spcPts val="0"/>
              </a:spcAft>
              <a:buClr>
                <a:schemeClr val="dk1"/>
              </a:buClr>
              <a:buSzPct val="100000"/>
              <a:buChar char="•"/>
            </a:pPr>
            <a:r>
              <a:rPr b="0" i="0" lang="en-US">
                <a:latin typeface="Lato"/>
                <a:ea typeface="Lato"/>
                <a:cs typeface="Lato"/>
                <a:sym typeface="Lato"/>
              </a:rPr>
              <a:t>This procedure can be repeated for different numbers of K knots. </a:t>
            </a:r>
            <a:endParaRPr/>
          </a:p>
          <a:p>
            <a:pPr indent="-228600" lvl="0" marL="228600" rtl="0" algn="l">
              <a:lnSpc>
                <a:spcPct val="90000"/>
              </a:lnSpc>
              <a:spcBef>
                <a:spcPts val="1000"/>
              </a:spcBef>
              <a:spcAft>
                <a:spcPts val="0"/>
              </a:spcAft>
              <a:buClr>
                <a:schemeClr val="dk1"/>
              </a:buClr>
              <a:buSzPct val="100000"/>
              <a:buChar char="•"/>
            </a:pPr>
            <a:r>
              <a:rPr b="0" i="0" lang="en-US">
                <a:latin typeface="Lato"/>
                <a:ea typeface="Lato"/>
                <a:cs typeface="Lato"/>
                <a:sym typeface="Lato"/>
              </a:rPr>
              <a:t>Then the value of K giving the smallest RMSE is chosen.</a:t>
            </a:r>
            <a:endParaRPr/>
          </a:p>
          <a:p>
            <a:pPr indent="-64135"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2021-11-25T07:19:31Z</dcterms:created>
  <dc:creator>Manjari Gupta</dc:creator>
</cp:coreProperties>
</file>