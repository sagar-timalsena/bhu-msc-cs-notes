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vw/DDxe/L+3mq3q1Mipz3mtZy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jari Gupta" userId="3b377422717859a0" providerId="LiveId" clId="{7AE60F32-A515-4C23-9BB8-DBD973EDB6E0}"/>
    <pc:docChg chg="undo custSel addSld delSld modSld">
      <pc:chgData name="Manjari Gupta" userId="3b377422717859a0" providerId="LiveId" clId="{7AE60F32-A515-4C23-9BB8-DBD973EDB6E0}" dt="2025-09-06T03:03:05.857" v="3" actId="27636"/>
      <pc:docMkLst>
        <pc:docMk/>
      </pc:docMkLst>
      <pc:sldChg chg="add del">
        <pc:chgData name="Manjari Gupta" userId="3b377422717859a0" providerId="LiveId" clId="{7AE60F32-A515-4C23-9BB8-DBD973EDB6E0}" dt="2025-09-06T03:03:05.659" v="1" actId="2696"/>
        <pc:sldMkLst>
          <pc:docMk/>
          <pc:sldMk cId="0" sldId="256"/>
        </pc:sldMkLst>
      </pc:sldChg>
      <pc:sldChg chg="add del">
        <pc:chgData name="Manjari Gupta" userId="3b377422717859a0" providerId="LiveId" clId="{7AE60F32-A515-4C23-9BB8-DBD973EDB6E0}" dt="2025-09-06T03:03:05.659" v="1" actId="2696"/>
        <pc:sldMkLst>
          <pc:docMk/>
          <pc:sldMk cId="0" sldId="257"/>
        </pc:sldMkLst>
      </pc:sldChg>
      <pc:sldChg chg="add del">
        <pc:chgData name="Manjari Gupta" userId="3b377422717859a0" providerId="LiveId" clId="{7AE60F32-A515-4C23-9BB8-DBD973EDB6E0}" dt="2025-09-06T03:03:05.659" v="1" actId="2696"/>
        <pc:sldMkLst>
          <pc:docMk/>
          <pc:sldMk cId="0" sldId="258"/>
        </pc:sldMkLst>
      </pc:sldChg>
      <pc:sldChg chg="add del">
        <pc:chgData name="Manjari Gupta" userId="3b377422717859a0" providerId="LiveId" clId="{7AE60F32-A515-4C23-9BB8-DBD973EDB6E0}" dt="2025-09-06T03:03:05.659" v="1" actId="2696"/>
        <pc:sldMkLst>
          <pc:docMk/>
          <pc:sldMk cId="0" sldId="259"/>
        </pc:sldMkLst>
      </pc:sldChg>
      <pc:sldChg chg="add del">
        <pc:chgData name="Manjari Gupta" userId="3b377422717859a0" providerId="LiveId" clId="{7AE60F32-A515-4C23-9BB8-DBD973EDB6E0}" dt="2025-09-06T03:03:05.659" v="1" actId="2696"/>
        <pc:sldMkLst>
          <pc:docMk/>
          <pc:sldMk cId="0" sldId="260"/>
        </pc:sldMkLst>
      </pc:sldChg>
      <pc:sldChg chg="add del">
        <pc:chgData name="Manjari Gupta" userId="3b377422717859a0" providerId="LiveId" clId="{7AE60F32-A515-4C23-9BB8-DBD973EDB6E0}" dt="2025-09-06T03:03:05.659" v="1" actId="2696"/>
        <pc:sldMkLst>
          <pc:docMk/>
          <pc:sldMk cId="0" sldId="261"/>
        </pc:sldMkLst>
      </pc:sldChg>
      <pc:sldChg chg="add del">
        <pc:chgData name="Manjari Gupta" userId="3b377422717859a0" providerId="LiveId" clId="{7AE60F32-A515-4C23-9BB8-DBD973EDB6E0}" dt="2025-09-06T03:03:05.659" v="1" actId="2696"/>
        <pc:sldMkLst>
          <pc:docMk/>
          <pc:sldMk cId="0" sldId="262"/>
        </pc:sldMkLst>
      </pc:sldChg>
      <pc:sldChg chg="add del">
        <pc:chgData name="Manjari Gupta" userId="3b377422717859a0" providerId="LiveId" clId="{7AE60F32-A515-4C23-9BB8-DBD973EDB6E0}" dt="2025-09-06T03:03:05.659" v="1" actId="2696"/>
        <pc:sldMkLst>
          <pc:docMk/>
          <pc:sldMk cId="0" sldId="263"/>
        </pc:sldMkLst>
      </pc:sldChg>
      <pc:sldChg chg="modSp add del mod">
        <pc:chgData name="Manjari Gupta" userId="3b377422717859a0" providerId="LiveId" clId="{7AE60F32-A515-4C23-9BB8-DBD973EDB6E0}" dt="2025-09-06T03:03:05.842" v="2" actId="27636"/>
        <pc:sldMkLst>
          <pc:docMk/>
          <pc:sldMk cId="0" sldId="264"/>
        </pc:sldMkLst>
        <pc:spChg chg="mod">
          <ac:chgData name="Manjari Gupta" userId="3b377422717859a0" providerId="LiveId" clId="{7AE60F32-A515-4C23-9BB8-DBD973EDB6E0}" dt="2025-09-06T03:03:05.842" v="2" actId="27636"/>
          <ac:spMkLst>
            <pc:docMk/>
            <pc:sldMk cId="0" sldId="264"/>
            <ac:spMk id="185" creationId="{00000000-0000-0000-0000-000000000000}"/>
          </ac:spMkLst>
        </pc:spChg>
      </pc:sldChg>
      <pc:sldChg chg="modSp add del mod">
        <pc:chgData name="Manjari Gupta" userId="3b377422717859a0" providerId="LiveId" clId="{7AE60F32-A515-4C23-9BB8-DBD973EDB6E0}" dt="2025-09-06T03:03:05.857" v="3" actId="27636"/>
        <pc:sldMkLst>
          <pc:docMk/>
          <pc:sldMk cId="0" sldId="265"/>
        </pc:sldMkLst>
        <pc:spChg chg="mod">
          <ac:chgData name="Manjari Gupta" userId="3b377422717859a0" providerId="LiveId" clId="{7AE60F32-A515-4C23-9BB8-DBD973EDB6E0}" dt="2025-09-06T03:03:05.857" v="3" actId="27636"/>
          <ac:spMkLst>
            <pc:docMk/>
            <pc:sldMk cId="0" sldId="265"/>
            <ac:spMk id="192" creationId="{00000000-0000-0000-0000-000000000000}"/>
          </ac:spMkLst>
        </pc:spChg>
      </pc:sldChg>
      <pc:sldChg chg="add del">
        <pc:chgData name="Manjari Gupta" userId="3b377422717859a0" providerId="LiveId" clId="{7AE60F32-A515-4C23-9BB8-DBD973EDB6E0}" dt="2025-09-06T03:03:05.659" v="1" actId="2696"/>
        <pc:sldMkLst>
          <pc:docMk/>
          <pc:sldMk cId="0" sldId="266"/>
        </pc:sldMkLst>
      </pc:sldChg>
      <pc:sldChg chg="add del">
        <pc:chgData name="Manjari Gupta" userId="3b377422717859a0" providerId="LiveId" clId="{7AE60F32-A515-4C23-9BB8-DBD973EDB6E0}" dt="2025-09-06T03:03:05.659" v="1" actId="2696"/>
        <pc:sldMkLst>
          <pc:docMk/>
          <pc:sldMk cId="0" sldId="267"/>
        </pc:sldMkLst>
      </pc:sldChg>
      <pc:sldChg chg="add del">
        <pc:chgData name="Manjari Gupta" userId="3b377422717859a0" providerId="LiveId" clId="{7AE60F32-A515-4C23-9BB8-DBD973EDB6E0}" dt="2025-09-06T03:03:05.659" v="1" actId="2696"/>
        <pc:sldMkLst>
          <pc:docMk/>
          <pc:sldMk cId="0" sldId="268"/>
        </pc:sldMkLst>
      </pc:sldChg>
      <pc:sldMasterChg chg="addSldLayout delSldLayout">
        <pc:chgData name="Manjari Gupta" userId="3b377422717859a0" providerId="LiveId" clId="{7AE60F32-A515-4C23-9BB8-DBD973EDB6E0}" dt="2025-09-06T03:03:05.659" v="1" actId="2696"/>
        <pc:sldMasterMkLst>
          <pc:docMk/>
          <pc:sldMasterMk cId="0" sldId="2147483648"/>
        </pc:sldMasterMkLst>
        <pc:sldLayoutChg chg="add del">
          <pc:chgData name="Manjari Gupta" userId="3b377422717859a0" providerId="LiveId" clId="{7AE60F32-A515-4C23-9BB8-DBD973EDB6E0}" dt="2025-09-06T03:03:05.659" v="1" actId="2696"/>
          <pc:sldLayoutMkLst>
            <pc:docMk/>
            <pc:sldMasterMk cId="0" sldId="2147483648"/>
            <pc:sldLayoutMk cId="0" sldId="2147483649"/>
          </pc:sldLayoutMkLst>
        </pc:sldLayoutChg>
        <pc:sldLayoutChg chg="add del">
          <pc:chgData name="Manjari Gupta" userId="3b377422717859a0" providerId="LiveId" clId="{7AE60F32-A515-4C23-9BB8-DBD973EDB6E0}" dt="2025-09-06T03:03:05.659" v="1" actId="2696"/>
          <pc:sldLayoutMkLst>
            <pc:docMk/>
            <pc:sldMasterMk cId="0" sldId="2147483648"/>
            <pc:sldLayoutMk cId="0" sldId="2147483650"/>
          </pc:sldLayoutMkLst>
        </pc:sldLayoutChg>
        <pc:sldLayoutChg chg="add del">
          <pc:chgData name="Manjari Gupta" userId="3b377422717859a0" providerId="LiveId" clId="{7AE60F32-A515-4C23-9BB8-DBD973EDB6E0}" dt="2025-09-06T03:03:05.659" v="1" actId="269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685449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2fd685449f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g2fd685449f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d685449f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2fd685449f7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2fd685449f7_0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fd685449f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2fd685449f7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g2fd685449f7_0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d685449f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2fd685449f7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g2fd685449f7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96f55526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96f555269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796f555269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d685449f7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2fd685449f7_0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g2fd685449f7_0_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d685449f7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2fd685449f7_0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g2fd685449f7_0_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d685449f7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2fd685449f7_0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g2fd685449f7_0_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1800225" y="2968903"/>
            <a:ext cx="798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lang="en-US"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Polynomial Regression</a:t>
            </a:r>
            <a:endParaRPr sz="3500" b="0" i="0" u="none" strike="noStrike" cap="non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d685449f7_0_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</a:t>
            </a:r>
            <a:endParaRPr/>
          </a:p>
        </p:txBody>
      </p:sp>
      <p:cxnSp>
        <p:nvCxnSpPr>
          <p:cNvPr id="95" name="Google Shape;95;g2fd685449f7_0_0"/>
          <p:cNvCxnSpPr/>
          <p:nvPr/>
        </p:nvCxnSpPr>
        <p:spPr>
          <a:xfrm>
            <a:off x="861060" y="4805582"/>
            <a:ext cx="2850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6" name="Google Shape;96;g2fd685449f7_0_0"/>
          <p:cNvCxnSpPr/>
          <p:nvPr/>
        </p:nvCxnSpPr>
        <p:spPr>
          <a:xfrm rot="10800000">
            <a:off x="839895" y="2544963"/>
            <a:ext cx="54000" cy="2259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7" name="Google Shape;97;g2fd685449f7_0_0"/>
          <p:cNvSpPr/>
          <p:nvPr/>
        </p:nvSpPr>
        <p:spPr>
          <a:xfrm>
            <a:off x="2584193" y="3033596"/>
            <a:ext cx="915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2fd685449f7_0_0"/>
          <p:cNvSpPr/>
          <p:nvPr/>
        </p:nvSpPr>
        <p:spPr>
          <a:xfrm>
            <a:off x="2176375" y="3494056"/>
            <a:ext cx="915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2fd685449f7_0_0"/>
          <p:cNvSpPr/>
          <p:nvPr/>
        </p:nvSpPr>
        <p:spPr>
          <a:xfrm>
            <a:off x="2148840" y="3645378"/>
            <a:ext cx="915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2fd685449f7_0_0"/>
          <p:cNvSpPr/>
          <p:nvPr/>
        </p:nvSpPr>
        <p:spPr>
          <a:xfrm>
            <a:off x="1853501" y="3771900"/>
            <a:ext cx="915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2fd685449f7_0_0"/>
          <p:cNvSpPr/>
          <p:nvPr/>
        </p:nvSpPr>
        <p:spPr>
          <a:xfrm>
            <a:off x="2510209" y="3390416"/>
            <a:ext cx="915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2fd685449f7_0_0"/>
          <p:cNvSpPr/>
          <p:nvPr/>
        </p:nvSpPr>
        <p:spPr>
          <a:xfrm>
            <a:off x="1398114" y="4202822"/>
            <a:ext cx="915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2fd685449f7_0_0"/>
          <p:cNvSpPr/>
          <p:nvPr/>
        </p:nvSpPr>
        <p:spPr>
          <a:xfrm>
            <a:off x="2367914" y="3209429"/>
            <a:ext cx="915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2fd685449f7_0_0"/>
          <p:cNvSpPr/>
          <p:nvPr/>
        </p:nvSpPr>
        <p:spPr>
          <a:xfrm>
            <a:off x="2766056" y="3002896"/>
            <a:ext cx="915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2fd685449f7_0_0"/>
          <p:cNvSpPr/>
          <p:nvPr/>
        </p:nvSpPr>
        <p:spPr>
          <a:xfrm>
            <a:off x="1729740" y="4221480"/>
            <a:ext cx="915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2fd685449f7_0_0"/>
          <p:cNvSpPr/>
          <p:nvPr/>
        </p:nvSpPr>
        <p:spPr>
          <a:xfrm>
            <a:off x="3136389" y="2721888"/>
            <a:ext cx="915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g2fd685449f7_0_0"/>
          <p:cNvCxnSpPr/>
          <p:nvPr/>
        </p:nvCxnSpPr>
        <p:spPr>
          <a:xfrm rot="10800000" flipH="1">
            <a:off x="8183874" y="4668477"/>
            <a:ext cx="2880300" cy="11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8" name="Google Shape;108;g2fd685449f7_0_0"/>
          <p:cNvCxnSpPr/>
          <p:nvPr/>
        </p:nvCxnSpPr>
        <p:spPr>
          <a:xfrm rot="10800000">
            <a:off x="8183874" y="2535623"/>
            <a:ext cx="0" cy="221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9" name="Google Shape;109;g2fd685449f7_0_0"/>
          <p:cNvSpPr/>
          <p:nvPr/>
        </p:nvSpPr>
        <p:spPr>
          <a:xfrm>
            <a:off x="8959826" y="4371845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2fd685449f7_0_0"/>
          <p:cNvSpPr/>
          <p:nvPr/>
        </p:nvSpPr>
        <p:spPr>
          <a:xfrm>
            <a:off x="9509764" y="4409093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2fd685449f7_0_0"/>
          <p:cNvSpPr/>
          <p:nvPr/>
        </p:nvSpPr>
        <p:spPr>
          <a:xfrm>
            <a:off x="9246875" y="4412899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2fd685449f7_0_0"/>
          <p:cNvSpPr/>
          <p:nvPr/>
        </p:nvSpPr>
        <p:spPr>
          <a:xfrm>
            <a:off x="10237260" y="4090889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2fd685449f7_0_0"/>
          <p:cNvSpPr/>
          <p:nvPr/>
        </p:nvSpPr>
        <p:spPr>
          <a:xfrm>
            <a:off x="9991659" y="4302937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2fd685449f7_0_0"/>
          <p:cNvSpPr/>
          <p:nvPr/>
        </p:nvSpPr>
        <p:spPr>
          <a:xfrm>
            <a:off x="10629904" y="3852835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2fd685449f7_0_0"/>
          <p:cNvSpPr/>
          <p:nvPr/>
        </p:nvSpPr>
        <p:spPr>
          <a:xfrm>
            <a:off x="10858504" y="3509451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2fd685449f7_0_0"/>
          <p:cNvSpPr/>
          <p:nvPr/>
        </p:nvSpPr>
        <p:spPr>
          <a:xfrm>
            <a:off x="11103285" y="2967965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2fd685449f7_0_0"/>
          <p:cNvSpPr/>
          <p:nvPr/>
        </p:nvSpPr>
        <p:spPr>
          <a:xfrm>
            <a:off x="10866126" y="3163710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2fd685449f7_0_0"/>
          <p:cNvSpPr/>
          <p:nvPr/>
        </p:nvSpPr>
        <p:spPr>
          <a:xfrm>
            <a:off x="10911845" y="2705745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2fd685449f7_0_0"/>
          <p:cNvSpPr txBox="1"/>
          <p:nvPr/>
        </p:nvSpPr>
        <p:spPr>
          <a:xfrm>
            <a:off x="3154145" y="4805582"/>
            <a:ext cx="33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2fd685449f7_0_0"/>
          <p:cNvSpPr txBox="1"/>
          <p:nvPr/>
        </p:nvSpPr>
        <p:spPr>
          <a:xfrm>
            <a:off x="990600" y="2871790"/>
            <a:ext cx="34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2fd685449f7_0_0"/>
          <p:cNvSpPr txBox="1"/>
          <p:nvPr/>
        </p:nvSpPr>
        <p:spPr>
          <a:xfrm>
            <a:off x="3963832" y="2767607"/>
            <a:ext cx="34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2fd685449f7_0_0"/>
          <p:cNvSpPr txBox="1"/>
          <p:nvPr/>
        </p:nvSpPr>
        <p:spPr>
          <a:xfrm>
            <a:off x="10584451" y="4747523"/>
            <a:ext cx="33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g2fd685449f7_0_0"/>
          <p:cNvCxnSpPr/>
          <p:nvPr/>
        </p:nvCxnSpPr>
        <p:spPr>
          <a:xfrm rot="10800000" flipH="1">
            <a:off x="1173006" y="2506376"/>
            <a:ext cx="2148900" cy="208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" name="Google Shape;124;g2fd685449f7_0_0"/>
          <p:cNvSpPr/>
          <p:nvPr/>
        </p:nvSpPr>
        <p:spPr>
          <a:xfrm rot="5400000">
            <a:off x="7818103" y="1193096"/>
            <a:ext cx="3154800" cy="3234600"/>
          </a:xfrm>
          <a:prstGeom prst="arc">
            <a:avLst>
              <a:gd name="adj1" fmla="val 15802112"/>
              <a:gd name="adj2" fmla="val 1386705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g2fd685449f7_0_0"/>
          <p:cNvCxnSpPr/>
          <p:nvPr/>
        </p:nvCxnSpPr>
        <p:spPr>
          <a:xfrm rot="10800000" flipH="1">
            <a:off x="4225160" y="4747382"/>
            <a:ext cx="2922300" cy="58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6" name="Google Shape;126;g2fd685449f7_0_0"/>
          <p:cNvCxnSpPr/>
          <p:nvPr/>
        </p:nvCxnSpPr>
        <p:spPr>
          <a:xfrm rot="10800000">
            <a:off x="4225160" y="2601363"/>
            <a:ext cx="0" cy="2202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7" name="Google Shape;127;g2fd685449f7_0_0"/>
          <p:cNvSpPr/>
          <p:nvPr/>
        </p:nvSpPr>
        <p:spPr>
          <a:xfrm>
            <a:off x="4995322" y="4438983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2fd685449f7_0_0"/>
          <p:cNvSpPr/>
          <p:nvPr/>
        </p:nvSpPr>
        <p:spPr>
          <a:xfrm>
            <a:off x="5545260" y="4476231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2fd685449f7_0_0"/>
          <p:cNvSpPr/>
          <p:nvPr/>
        </p:nvSpPr>
        <p:spPr>
          <a:xfrm>
            <a:off x="5282371" y="4480037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2fd685449f7_0_0"/>
          <p:cNvSpPr/>
          <p:nvPr/>
        </p:nvSpPr>
        <p:spPr>
          <a:xfrm>
            <a:off x="6272756" y="4158027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2fd685449f7_0_0"/>
          <p:cNvSpPr/>
          <p:nvPr/>
        </p:nvSpPr>
        <p:spPr>
          <a:xfrm>
            <a:off x="6027155" y="4370075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2fd685449f7_0_0"/>
          <p:cNvSpPr/>
          <p:nvPr/>
        </p:nvSpPr>
        <p:spPr>
          <a:xfrm>
            <a:off x="6665400" y="3919973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2fd685449f7_0_0"/>
          <p:cNvSpPr/>
          <p:nvPr/>
        </p:nvSpPr>
        <p:spPr>
          <a:xfrm>
            <a:off x="6894000" y="3576589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2fd685449f7_0_0"/>
          <p:cNvSpPr/>
          <p:nvPr/>
        </p:nvSpPr>
        <p:spPr>
          <a:xfrm>
            <a:off x="7138781" y="3035103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2fd685449f7_0_0"/>
          <p:cNvSpPr/>
          <p:nvPr/>
        </p:nvSpPr>
        <p:spPr>
          <a:xfrm>
            <a:off x="6901622" y="3230848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2fd685449f7_0_0"/>
          <p:cNvSpPr/>
          <p:nvPr/>
        </p:nvSpPr>
        <p:spPr>
          <a:xfrm>
            <a:off x="6947341" y="2772883"/>
            <a:ext cx="45600" cy="4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2fd685449f7_0_0"/>
          <p:cNvCxnSpPr/>
          <p:nvPr/>
        </p:nvCxnSpPr>
        <p:spPr>
          <a:xfrm rot="10800000" flipH="1">
            <a:off x="5423353" y="2591877"/>
            <a:ext cx="2148900" cy="208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8" name="Google Shape;138;g2fd685449f7_0_0"/>
          <p:cNvSpPr txBox="1"/>
          <p:nvPr/>
        </p:nvSpPr>
        <p:spPr>
          <a:xfrm>
            <a:off x="6646346" y="4804263"/>
            <a:ext cx="33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2fd685449f7_0_0"/>
          <p:cNvSpPr txBox="1"/>
          <p:nvPr/>
        </p:nvSpPr>
        <p:spPr>
          <a:xfrm>
            <a:off x="7774589" y="2587095"/>
            <a:ext cx="34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Polynomial Linear Regression</a:t>
            </a:r>
            <a:endParaRPr/>
          </a:p>
        </p:txBody>
      </p:sp>
      <p:sp>
        <p:nvSpPr>
          <p:cNvPr id="145" name="Google Shape;145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When simple linear regression would not be relevant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Non-linear dataset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We can use a linear model to fit nonlinear data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Add powers of each feature as new features, then train a linear model on this extended set of features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This technique is called as polynomial regression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Y= b</a:t>
            </a:r>
            <a:r>
              <a:rPr lang="en-US" baseline="-2500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+ b</a:t>
            </a:r>
            <a:r>
              <a:rPr lang="en-US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x + b</a:t>
            </a:r>
            <a:r>
              <a:rPr lang="en-US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x</a:t>
            </a:r>
            <a:r>
              <a:rPr lang="en-US" baseline="30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+ ….+ b</a:t>
            </a:r>
            <a:r>
              <a:rPr lang="en-US" baseline="-250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x</a:t>
            </a:r>
            <a:r>
              <a:rPr lang="en-US" baseline="30000">
                <a:latin typeface="Arial"/>
                <a:ea typeface="Arial"/>
                <a:cs typeface="Arial"/>
                <a:sym typeface="Arial"/>
              </a:rPr>
              <a:t>n</a:t>
            </a:r>
            <a:endParaRPr baseline="30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51" name="Google Shape;15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Why Linear?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regards to the coefficients not the independent var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Thus it is a special case of multiple linear regression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Usecase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To describe how diseases spread across population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 case of multiple features</a:t>
            </a:r>
            <a:endParaRPr/>
          </a:p>
        </p:txBody>
      </p:sp>
      <p:sp>
        <p:nvSpPr>
          <p:cNvPr id="157" name="Google Shape;15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1526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this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lang="en-US"/>
              <a:t>, polynomial regression is capable of finding relationships between features.</a:t>
            </a:r>
            <a:endParaRPr/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is made possible by the fact that it adds all combinations of features up to the given degree.</a:t>
            </a:r>
            <a:endParaRPr/>
          </a:p>
          <a:p>
            <a:pPr marL="685800" lvl="1" indent="-21716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Relationship we can get from the coefficient of these newly added features (having combination of different features).</a:t>
            </a:r>
            <a:endParaRPr/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e.g. </a:t>
            </a:r>
            <a:endParaRPr/>
          </a:p>
          <a:p>
            <a:pPr marL="685800" lvl="1" indent="-21716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there were two features a and b</a:t>
            </a:r>
            <a:endParaRPr/>
          </a:p>
          <a:p>
            <a:pPr marL="685800" lvl="1" indent="-21716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And select 3 degree polynomial</a:t>
            </a:r>
            <a:endParaRPr/>
          </a:p>
          <a:p>
            <a:pPr marL="685800" lvl="1" indent="-21716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would not only add a</a:t>
            </a:r>
            <a:r>
              <a:rPr lang="en-US" baseline="30000"/>
              <a:t>2</a:t>
            </a:r>
            <a:r>
              <a:rPr lang="en-US"/>
              <a:t>, a</a:t>
            </a:r>
            <a:r>
              <a:rPr lang="en-US" baseline="30000"/>
              <a:t>3</a:t>
            </a:r>
            <a:r>
              <a:rPr lang="en-US"/>
              <a:t>, b</a:t>
            </a:r>
            <a:r>
              <a:rPr lang="en-US" baseline="30000"/>
              <a:t>2</a:t>
            </a:r>
            <a:r>
              <a:rPr lang="en-US"/>
              <a:t> and b</a:t>
            </a:r>
            <a:r>
              <a:rPr lang="en-US" baseline="30000"/>
              <a:t>3</a:t>
            </a:r>
            <a:r>
              <a:rPr lang="en-US"/>
              <a:t> but also the combinations ab, a</a:t>
            </a:r>
            <a:r>
              <a:rPr lang="en-US" baseline="30000"/>
              <a:t>2</a:t>
            </a:r>
            <a:r>
              <a:rPr lang="en-US"/>
              <a:t>b and ab</a:t>
            </a:r>
            <a:r>
              <a:rPr lang="en-US" baseline="30000"/>
              <a:t>2</a:t>
            </a:r>
            <a:r>
              <a:rPr lang="en-US"/>
              <a:t>.</a:t>
            </a:r>
            <a:endParaRPr/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transforms an array containing n features into an array containing (n+d)!/d!n! features </a:t>
            </a:r>
            <a:endParaRPr/>
          </a:p>
          <a:p>
            <a:pPr marL="685800" lvl="1" indent="-2654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4"/>
              <a:buChar char="•"/>
            </a:pPr>
            <a:r>
              <a:rPr lang="en-US"/>
              <a:t>Combinatorial explosion of the number of features.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fd685449f7_0_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Physical significance of coefficients</a:t>
            </a:r>
            <a:endParaRPr/>
          </a:p>
        </p:txBody>
      </p:sp>
      <p:sp>
        <p:nvSpPr>
          <p:cNvPr id="164" name="Google Shape;164;g2fd685449f7_0_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case of SLR or MLR each coefficient represents the contribution or effect of that particular term on the model's prediction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Coefficients of squared terms (e.g., x</a:t>
            </a:r>
            <a:r>
              <a:rPr lang="en-US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baseline="30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​, x</a:t>
            </a:r>
            <a:r>
              <a:rPr lang="en-US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baseline="30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These terms model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nonlinear relationships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between the feature and the target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371600" lvl="2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baseline="30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​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means that the feature x</a:t>
            </a:r>
            <a:r>
              <a:rPr lang="en-US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affects the target in a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quadratic fashion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828800" lvl="3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corresponding coefficient quantifies the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curvature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of the relationship between the feature and the target.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828800" lvl="3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 positive coefficient implies a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concave upward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(U-shaped) relationship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828800" lvl="3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 negative coefficient implies a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concave downward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(inverted-U) shape.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d685449f7_0_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Physical significance of coefficients</a:t>
            </a:r>
            <a:endParaRPr/>
          </a:p>
        </p:txBody>
      </p:sp>
      <p:sp>
        <p:nvSpPr>
          <p:cNvPr id="171" name="Google Shape;171;g2fd685449f7_0_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93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Cross-product terms (e.g., x</a:t>
            </a:r>
            <a:r>
              <a:rPr lang="en-US" sz="260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6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)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These terms model </a:t>
            </a: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interactions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between two features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914400" lvl="1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indicates the effect of one feature on the target depends on the value of the other feature. 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914400" lvl="1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The coefficient of this term represents the </a:t>
            </a: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magnitude of interaction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: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1371600" lvl="2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If the coefficient is positive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1828800" lvl="3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increasing both x</a:t>
            </a:r>
            <a:r>
              <a:rPr lang="en-US" sz="2600" baseline="-25000">
                <a:latin typeface="Arial"/>
                <a:ea typeface="Arial"/>
                <a:cs typeface="Arial"/>
                <a:sym typeface="Arial"/>
              </a:rPr>
              <a:t>1​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and x</a:t>
            </a:r>
            <a:r>
              <a:rPr lang="en-US" sz="2600" baseline="-25000">
                <a:latin typeface="Arial"/>
                <a:ea typeface="Arial"/>
                <a:cs typeface="Arial"/>
                <a:sym typeface="Arial"/>
              </a:rPr>
              <a:t>2​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together will increase the target more than the sum of their individual effects.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1371600" lvl="2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If the coefficient is negative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1828800" lvl="3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increasing both x</a:t>
            </a:r>
            <a:r>
              <a:rPr lang="en-US" sz="2600" baseline="-25000">
                <a:latin typeface="Arial"/>
                <a:ea typeface="Arial"/>
                <a:cs typeface="Arial"/>
                <a:sym typeface="Arial"/>
              </a:rPr>
              <a:t>1​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and x</a:t>
            </a:r>
            <a:r>
              <a:rPr lang="en-US" sz="26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​ together will reduce the target more than the sum of their individual effects.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d685449f7_0_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Physical significance of coefficients</a:t>
            </a:r>
            <a:endParaRPr/>
          </a:p>
        </p:txBody>
      </p:sp>
      <p:sp>
        <p:nvSpPr>
          <p:cNvPr id="178" name="Google Shape;178;g2fd685449f7_0_7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Higher-order interaction terms (e.g., x</a:t>
            </a:r>
            <a:r>
              <a:rPr lang="en-US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baseline="30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These represent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more complex interactions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showing how the squared value of one feature interacts with another.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96f555269_1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Polynomial Regression is Non-local</a:t>
            </a:r>
            <a:endParaRPr/>
          </a:p>
        </p:txBody>
      </p:sp>
      <p:sp>
        <p:nvSpPr>
          <p:cNvPr id="185" name="Google Shape;185;g3796f555269_1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456247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Changes to the polynomial can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reshape the curve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significantly, affecting predictions across the entire feature space.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475297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Changes to the polynomial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371600" lvl="2" indent="-39306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Changes in the coefficients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1371600" lvl="2" indent="-393064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Changes in the Degree of the Polynomial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1371600" lvl="2" indent="-393064" algn="l" rtl="0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Influence of Data Points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457200" lvl="0" indent="-475297" algn="l" rtl="0">
              <a:spcBef>
                <a:spcPts val="0"/>
              </a:spcBef>
              <a:spcAft>
                <a:spcPts val="0"/>
              </a:spcAft>
              <a:buSzPct val="15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This is different from methods like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k-nearest neighbors (KNN)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which are purely local and only consider nearby data points for predictions.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d685449f7_0_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Polynomial Regression is Non-local</a:t>
            </a:r>
            <a:endParaRPr/>
          </a:p>
        </p:txBody>
      </p:sp>
      <p:sp>
        <p:nvSpPr>
          <p:cNvPr id="192" name="Google Shape;192;g2fd685449f7_0_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4254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Changes to the polynomial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marL="914400" lvl="1" indent="-395922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Changes in the coefficients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marL="1828800" lvl="3" indent="-34671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changing the value of a coefficient in a high-degree polynomial affects the shape of the curve not just near the data points but also far away from them.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2286000" lvl="4" indent="-327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If β</a:t>
            </a:r>
            <a:r>
              <a:rPr lang="en-US" sz="20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​ (the coefficient of x</a:t>
            </a:r>
            <a:r>
              <a:rPr lang="en-US" sz="20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) increases, the curvature of the quadratic term becomes steeper, affecting the model's behavior across the entire input range.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0" lvl="4" indent="-327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Changing β</a:t>
            </a:r>
            <a:r>
              <a:rPr lang="en-US" sz="200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(the linear term) would alter the slope of the entire regression line.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220028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64285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fd685449f7_0_10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Polynomial Regression is Non-local</a:t>
            </a:r>
            <a:endParaRPr/>
          </a:p>
        </p:txBody>
      </p:sp>
      <p:sp>
        <p:nvSpPr>
          <p:cNvPr id="199" name="Google Shape;199;g2fd685449f7_0_10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Changes to the polynomial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Changes in the Degree of the Polynomial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371600" lvl="2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degree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of the polynomial refers to the highest power of the feature variable(s) in the regression model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828800" lvl="3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Increasing the degree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allows the model to fit more complex curves, potentially capturing more intricate patterns in the data.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1828800" lvl="3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For example: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286000" lvl="4" indent="-3048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 quadratic model (x2) can fit parabolic shapes, while a cubic model (x3) can fit S-shaped curves.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2286000" lvl="4" indent="-3048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 higher-degree polynomial can fit curves that oscillate more, bending and twisting around data points.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371600" lvl="2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d685449f7_0_9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Polynomial Regression is Non-local</a:t>
            </a:r>
            <a:endParaRPr/>
          </a:p>
        </p:txBody>
      </p:sp>
      <p:sp>
        <p:nvSpPr>
          <p:cNvPr id="206" name="Google Shape;206;g2fd685449f7_0_9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Influence of Data Points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As polynomial regression fits a single polynomial curve across all data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371600" lvl="2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thus a single data point or outlier can influence the shape of the regression curve far away from that point.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Pros and Cons</a:t>
            </a:r>
            <a:endParaRPr/>
          </a:p>
        </p:txBody>
      </p:sp>
      <p:sp>
        <p:nvSpPr>
          <p:cNvPr id="212" name="Google Shape;21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works on any size of dataset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works very well on non linear problems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need to choose the right polynomial degree for a good bias/variance tradeoff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685800" lvl="1" indent="-2400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ct val="108108"/>
              <a:buChar char="•"/>
            </a:pPr>
            <a:r>
              <a:rPr lang="en-US" b="0" i="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polynomial regression has a tendency to drastically over-fit, even on this simple one dimensional data set.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8108"/>
              <a:buChar char="•"/>
            </a:pPr>
            <a:r>
              <a:rPr lang="en-US" b="0" i="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is inherently non-local, i.e., changing the value of Y at one point in the training set can affect the fit of the polynomial for data points that are very far away.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685800" lvl="1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26126"/>
              <a:buChar char="•"/>
            </a:pPr>
            <a:r>
              <a:rPr lang="en-US" b="0" i="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Hence, to avoid the use of high degree polynomial on the whole dataset, we can substitute it with many different small degree polynomial functions.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</Words>
  <Application>Microsoft Office PowerPoint</Application>
  <PresentationFormat>Widescreen</PresentationFormat>
  <Paragraphs>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Data</vt:lpstr>
      <vt:lpstr>Polynomial Linear Regression</vt:lpstr>
      <vt:lpstr>PowerPoint Presentation</vt:lpstr>
      <vt:lpstr>In case of multiple features</vt:lpstr>
      <vt:lpstr>Physical significance of coefficients</vt:lpstr>
      <vt:lpstr>Physical significance of coefficients</vt:lpstr>
      <vt:lpstr>Physical significance of coefficients</vt:lpstr>
      <vt:lpstr>Polynomial Regression is Non-local</vt:lpstr>
      <vt:lpstr>Polynomial Regression is Non-local</vt:lpstr>
      <vt:lpstr>Polynomial Regression is Non-local</vt:lpstr>
      <vt:lpstr>Polynomial Regression is Non-local</vt:lpstr>
      <vt:lpstr>Pros and Cons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Manjari Gupta</cp:lastModifiedBy>
  <cp:revision>1</cp:revision>
  <dcterms:created xsi:type="dcterms:W3CDTF">2021-03-23T07:41:09Z</dcterms:created>
  <dcterms:modified xsi:type="dcterms:W3CDTF">2025-09-06T03:03:06Z</dcterms:modified>
</cp:coreProperties>
</file>