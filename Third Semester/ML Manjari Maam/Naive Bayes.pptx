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y="6858000" cx="12192000"/>
  <p:notesSz cx="6858000" cy="9144000"/>
  <p:embeddedFontLst>
    <p:embeddedFont>
      <p:font typeface="Roboto"/>
      <p:regular r:id="rId77"/>
      <p:bold r:id="rId78"/>
      <p:italic r:id="rId79"/>
      <p:boldItalic r:id="rId80"/>
    </p:embeddedFont>
    <p:embeddedFont>
      <p:font typeface="Cambria Math"/>
      <p:regular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2" roundtripDataSignature="AMtx7mhG3K2rqtyagKiaOTvyWLRfFRS3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B8FBF1-EC8C-488A-A255-9533FCABEAAF}">
  <a:tblStyle styleId="{B1B8FBF1-EC8C-488A-A255-9533FCABEAA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boldItalic.fntdata"/><Relationship Id="rId82" Type="http://customschemas.google.com/relationships/presentationmetadata" Target="metadata"/><Relationship Id="rId81" Type="http://schemas.openxmlformats.org/officeDocument/2006/relationships/font" Target="fonts/CambriaMath-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Roboto-regular.fntdata"/><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Roboto-italic.fntdata"/><Relationship Id="rId34" Type="http://schemas.openxmlformats.org/officeDocument/2006/relationships/slide" Target="slides/slide29.xml"/><Relationship Id="rId78" Type="http://schemas.openxmlformats.org/officeDocument/2006/relationships/font" Target="fonts/Roboto-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2f70455b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a2f70455b0_0_5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2f70455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a2f70455b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2f70455b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a2f70455b0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2f70455b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a2f70455b0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2f70455b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a2f70455b0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2f70455b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a2f70455b0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2f70455b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a2f70455b0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2f70455b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a2f70455b0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2f70455b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a2f70455b0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2f70455b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a2f70455b0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2f70455b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a2f70455b0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2f70455b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a2f70455b0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2f70455b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a2f70455b0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2f70455b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a2f70455b0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2f70455b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a2f70455b0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2f70455b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a2f70455b0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2f70455b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a2f70455b0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2f70455b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a2f70455b0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a2f70455b0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a2f70455b0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a2f70455b0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a2f70455b0_0_3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a2f70455b0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a2f70455b0_0_3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2f70455b0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a2f70455b0_0_4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a2f70455b0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3a2f70455b0_0_4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a2f70455b0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a2f70455b0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a2f70455b0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3a2f70455b0_0_4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2f70455b0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g3a2f70455b0_0_4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2f70455b0_0_4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a2f70455b0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2f70455b0_0_4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a2f70455b0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2f70455b0_0_4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a2f70455b0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2f70455b0_0_4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a2f70455b0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a2f70455b0_0_4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a2f70455b0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a2f70455b0_0_4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a2f70455b0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a2f70455b0_0_5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a2f70455b0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7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7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7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7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7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7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7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7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9"/>
          <p:cNvSpPr/>
          <p:nvPr>
            <p:ph idx="2" type="pic"/>
          </p:nvPr>
        </p:nvSpPr>
        <p:spPr>
          <a:xfrm>
            <a:off x="5183188" y="987425"/>
            <a:ext cx="6172200" cy="4873625"/>
          </a:xfrm>
          <a:prstGeom prst="rect">
            <a:avLst/>
          </a:prstGeom>
          <a:noFill/>
          <a:ln>
            <a:noFill/>
          </a:ln>
        </p:spPr>
      </p:sp>
      <p:sp>
        <p:nvSpPr>
          <p:cNvPr id="64" name="Google Shape;64;p7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8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8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8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6000"/>
              <a:buFont typeface="Calibri"/>
              <a:buNone/>
            </a:pPr>
            <a:r>
              <a:rPr lang="en-US" sz="6000"/>
              <a:t>Bayesian Classifiers</a:t>
            </a:r>
            <a:endParaRPr/>
          </a:p>
        </p:txBody>
      </p:sp>
      <p:sp>
        <p:nvSpPr>
          <p:cNvPr id="85" name="Google Shape;8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92100" lvl="0" marL="228600" rtl="0" algn="l">
              <a:spcBef>
                <a:spcPts val="0"/>
              </a:spcBef>
              <a:spcAft>
                <a:spcPts val="0"/>
              </a:spcAft>
              <a:buSzPts val="2800"/>
              <a:buChar char="•"/>
            </a:pPr>
            <a:r>
              <a:rPr lang="en-US"/>
              <a:t>Bayesian classifiers are statistical classifiers</a:t>
            </a:r>
            <a:endParaRPr/>
          </a:p>
          <a:p>
            <a:pPr indent="-292100" lvl="0" marL="228600" rtl="0" algn="l">
              <a:spcBef>
                <a:spcPts val="1000"/>
              </a:spcBef>
              <a:spcAft>
                <a:spcPts val="0"/>
              </a:spcAft>
              <a:buSzPts val="2800"/>
              <a:buChar char="•"/>
            </a:pPr>
            <a:r>
              <a:rPr lang="en-US"/>
              <a:t>They can predict class membership probabilities such as the probability that a given tuple belongs to a particular class.</a:t>
            </a:r>
            <a:endParaRPr/>
          </a:p>
          <a:p>
            <a:pPr indent="-228600" lvl="0" marL="228600" rtl="0" algn="l">
              <a:lnSpc>
                <a:spcPct val="90000"/>
              </a:lnSpc>
              <a:spcBef>
                <a:spcPts val="0"/>
              </a:spcBef>
              <a:spcAft>
                <a:spcPts val="0"/>
              </a:spcAft>
              <a:buClr>
                <a:schemeClr val="dk1"/>
              </a:buClr>
              <a:buSzPts val="2800"/>
              <a:buChar char="•"/>
            </a:pPr>
            <a:r>
              <a:rPr lang="en-US"/>
              <a:t>Bayesian classification is based on Bayes’ theorem.</a:t>
            </a:r>
            <a:endParaRPr/>
          </a:p>
          <a:p>
            <a:pPr indent="-165100" lvl="0" marL="228600" rtl="0" algn="l">
              <a:lnSpc>
                <a:spcPct val="90000"/>
              </a:lnSpc>
              <a:spcBef>
                <a:spcPts val="0"/>
              </a:spcBef>
              <a:spcAft>
                <a:spcPts val="0"/>
              </a:spcAft>
              <a:buSzPts val="1800"/>
              <a:buChar char="•"/>
            </a:pPr>
            <a:r>
              <a:rPr lang="en-US"/>
              <a:t>Bayesian</a:t>
            </a:r>
            <a:r>
              <a:rPr lang="en-US"/>
              <a:t> classifiers can be classified into </a:t>
            </a:r>
            <a:endParaRPr/>
          </a:p>
          <a:p>
            <a:pPr indent="-228600" lvl="1" marL="685800" rtl="0" algn="l">
              <a:lnSpc>
                <a:spcPct val="90000"/>
              </a:lnSpc>
              <a:spcBef>
                <a:spcPts val="0"/>
              </a:spcBef>
              <a:spcAft>
                <a:spcPts val="0"/>
              </a:spcAft>
              <a:buSzPts val="1800"/>
              <a:buChar char="•"/>
            </a:pPr>
            <a:r>
              <a:rPr lang="en-US"/>
              <a:t>Naive Bayes Classifier</a:t>
            </a:r>
            <a:endParaRPr/>
          </a:p>
          <a:p>
            <a:pPr indent="-228600" lvl="1" marL="685800" rtl="0" algn="l">
              <a:lnSpc>
                <a:spcPct val="90000"/>
              </a:lnSpc>
              <a:spcBef>
                <a:spcPts val="0"/>
              </a:spcBef>
              <a:spcAft>
                <a:spcPts val="0"/>
              </a:spcAft>
              <a:buSzPts val="1800"/>
              <a:buChar char="•"/>
            </a:pPr>
            <a:r>
              <a:rPr lang="en-US"/>
              <a:t>Bayesian Networks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a2f70455b0_0_5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a:t>
            </a:r>
            <a:endParaRPr/>
          </a:p>
        </p:txBody>
      </p:sp>
      <p:sp>
        <p:nvSpPr>
          <p:cNvPr id="91" name="Google Shape;91;g3a2f70455b0_0_541"/>
          <p:cNvSpPr txBox="1"/>
          <p:nvPr>
            <p:ph idx="1" type="body"/>
          </p:nvPr>
        </p:nvSpPr>
        <p:spPr>
          <a:xfrm>
            <a:off x="838200" y="1720849"/>
            <a:ext cx="10515600" cy="4905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 probabilistic machine learning model</a:t>
            </a:r>
            <a:endParaRPr/>
          </a:p>
          <a:p>
            <a:pPr indent="-228600" lvl="0" marL="228600" rtl="0" algn="l">
              <a:lnSpc>
                <a:spcPct val="90000"/>
              </a:lnSpc>
              <a:spcBef>
                <a:spcPts val="1000"/>
              </a:spcBef>
              <a:spcAft>
                <a:spcPts val="0"/>
              </a:spcAft>
              <a:buClr>
                <a:schemeClr val="dk1"/>
              </a:buClr>
              <a:buSzPts val="2800"/>
              <a:buChar char="•"/>
            </a:pPr>
            <a:r>
              <a:rPr lang="en-US" sz="2800"/>
              <a:t>Naïve Bayes Classifier is </a:t>
            </a:r>
            <a:r>
              <a:rPr lang="en-US"/>
              <a:t>a</a:t>
            </a:r>
            <a:r>
              <a:rPr i="0" lang="en-US" sz="2800" u="none" strike="noStrike"/>
              <a:t>lso called as simple Bayesian classifier</a:t>
            </a:r>
            <a:endParaRPr sz="2800"/>
          </a:p>
          <a:p>
            <a:pPr indent="-228600" lvl="0" marL="228600" rtl="0" algn="l">
              <a:lnSpc>
                <a:spcPct val="90000"/>
              </a:lnSpc>
              <a:spcBef>
                <a:spcPts val="1000"/>
              </a:spcBef>
              <a:spcAft>
                <a:spcPts val="0"/>
              </a:spcAft>
              <a:buClr>
                <a:srgbClr val="292929"/>
              </a:buClr>
              <a:buSzPts val="2800"/>
              <a:buChar char="•"/>
            </a:pPr>
            <a:r>
              <a:rPr b="0" i="0" lang="en-US">
                <a:solidFill>
                  <a:srgbClr val="292929"/>
                </a:solidFill>
                <a:latin typeface="Arial"/>
                <a:ea typeface="Arial"/>
                <a:cs typeface="Arial"/>
                <a:sym typeface="Arial"/>
              </a:rPr>
              <a:t>The crux of the classifier is based on the Bayes theorem</a:t>
            </a:r>
            <a:endParaRPr/>
          </a:p>
          <a:p>
            <a:pPr indent="-50800" lvl="0" marL="228600" rtl="0" algn="l">
              <a:lnSpc>
                <a:spcPct val="90000"/>
              </a:lnSpc>
              <a:spcBef>
                <a:spcPts val="1000"/>
              </a:spcBef>
              <a:spcAft>
                <a:spcPts val="0"/>
              </a:spcAft>
              <a:buClr>
                <a:schemeClr val="dk1"/>
              </a:buClr>
              <a:buSzPts val="2800"/>
              <a:buNone/>
            </a:pPr>
            <a:r>
              <a:t/>
            </a:r>
            <a:endParaRPr>
              <a:solidFill>
                <a:srgbClr val="292929"/>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solidFill>
                <a:srgbClr val="292929"/>
              </a:solidFill>
              <a:latin typeface="Arial"/>
              <a:ea typeface="Arial"/>
              <a:cs typeface="Arial"/>
              <a:sym typeface="Arial"/>
            </a:endParaRPr>
          </a:p>
          <a:p>
            <a:pPr indent="-76200" lvl="1" marL="685800" rtl="0" algn="l">
              <a:lnSpc>
                <a:spcPct val="90000"/>
              </a:lnSpc>
              <a:spcBef>
                <a:spcPts val="500"/>
              </a:spcBef>
              <a:spcAft>
                <a:spcPts val="0"/>
              </a:spcAft>
              <a:buClr>
                <a:schemeClr val="dk1"/>
              </a:buClr>
              <a:buSzPts val="2400"/>
              <a:buNone/>
            </a:pPr>
            <a:r>
              <a:t/>
            </a:r>
            <a:endParaRPr/>
          </a:p>
        </p:txBody>
      </p:sp>
      <p:pic>
        <p:nvPicPr>
          <p:cNvPr id="92" name="Google Shape;92;g3a2f70455b0_0_541"/>
          <p:cNvPicPr preferRelativeResize="0"/>
          <p:nvPr/>
        </p:nvPicPr>
        <p:blipFill rotWithShape="1">
          <a:blip r:embed="rId3">
            <a:alphaModFix/>
          </a:blip>
          <a:srcRect b="0" l="0" r="0" t="0"/>
          <a:stretch/>
        </p:blipFill>
        <p:spPr>
          <a:xfrm>
            <a:off x="3790950" y="3659015"/>
            <a:ext cx="4610100" cy="102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a2f70455b0_0_0"/>
          <p:cNvSpPr txBox="1"/>
          <p:nvPr>
            <p:ph type="title"/>
          </p:nvPr>
        </p:nvSpPr>
        <p:spPr>
          <a:xfrm>
            <a:off x="838200" y="251706"/>
            <a:ext cx="10515600" cy="599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How Bayes Theorem is used here</a:t>
            </a:r>
            <a:endParaRPr/>
          </a:p>
        </p:txBody>
      </p:sp>
      <p:sp>
        <p:nvSpPr>
          <p:cNvPr id="98" name="Google Shape;98;g3a2f70455b0_0_0"/>
          <p:cNvSpPr txBox="1"/>
          <p:nvPr>
            <p:ph idx="1" type="body"/>
          </p:nvPr>
        </p:nvSpPr>
        <p:spPr>
          <a:xfrm>
            <a:off x="7793501" y="1413765"/>
            <a:ext cx="4004700" cy="2728500"/>
          </a:xfrm>
          <a:prstGeom prst="rect">
            <a:avLst/>
          </a:prstGeom>
          <a:noFill/>
          <a:ln>
            <a:noFill/>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rgbClr val="000000"/>
              </a:buClr>
              <a:buSzPts val="2000"/>
              <a:buChar char="•"/>
            </a:pPr>
            <a:r>
              <a:rPr lang="en-US" sz="2000">
                <a:solidFill>
                  <a:srgbClr val="000000"/>
                </a:solidFill>
                <a:latin typeface="Calibri"/>
                <a:ea typeface="Calibri"/>
                <a:cs typeface="Calibri"/>
                <a:sym typeface="Calibri"/>
              </a:rPr>
              <a:t>Age	EstimatedSalary	Purchased	</a:t>
            </a:r>
            <a:endParaRPr/>
          </a:p>
          <a:p>
            <a:pPr indent="-228600" lvl="0" marL="228600" rtl="0" algn="l">
              <a:lnSpc>
                <a:spcPct val="9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19		19000		0	</a:t>
            </a:r>
            <a:endParaRPr/>
          </a:p>
          <a:p>
            <a:pPr indent="-228600" lvl="0" marL="228600" rtl="0" algn="l">
              <a:lnSpc>
                <a:spcPct val="9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35		20000		1	</a:t>
            </a:r>
            <a:endParaRPr/>
          </a:p>
          <a:p>
            <a:pPr indent="-228600" lvl="0" marL="228600" rtl="0" algn="l">
              <a:lnSpc>
                <a:spcPct val="9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26		43000		0	</a:t>
            </a:r>
            <a:endParaRPr/>
          </a:p>
          <a:p>
            <a:pPr indent="-228600" lvl="0" marL="228600" rtl="0" algn="l">
              <a:lnSpc>
                <a:spcPct val="9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32		57000		1	</a:t>
            </a:r>
            <a:endParaRPr/>
          </a:p>
          <a:p>
            <a:pPr indent="-228600" lvl="0" marL="228600" rtl="0" algn="l">
              <a:lnSpc>
                <a:spcPct val="9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19		76000		0</a:t>
            </a:r>
            <a:r>
              <a:rPr lang="en-US" sz="2400">
                <a:solidFill>
                  <a:srgbClr val="000000"/>
                </a:solidFill>
                <a:latin typeface="Calibri"/>
                <a:ea typeface="Calibri"/>
                <a:cs typeface="Calibri"/>
                <a:sym typeface="Calibri"/>
              </a:rPr>
              <a:t>		</a:t>
            </a:r>
            <a:endParaRPr/>
          </a:p>
        </p:txBody>
      </p:sp>
      <p:sp>
        <p:nvSpPr>
          <p:cNvPr id="99" name="Google Shape;99;g3a2f70455b0_0_0"/>
          <p:cNvSpPr txBox="1"/>
          <p:nvPr/>
        </p:nvSpPr>
        <p:spPr>
          <a:xfrm>
            <a:off x="393895" y="1413765"/>
            <a:ext cx="7146300" cy="397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292929"/>
                </a:solidFill>
                <a:latin typeface="Arial"/>
                <a:ea typeface="Arial"/>
                <a:cs typeface="Arial"/>
                <a:sym typeface="Arial"/>
              </a:rPr>
              <a:t>Example</a:t>
            </a:r>
            <a:endParaRPr/>
          </a:p>
          <a:p>
            <a:pPr indent="0" lvl="1" marL="457200" marR="0" rtl="0" algn="l">
              <a:spcBef>
                <a:spcPts val="0"/>
              </a:spcBef>
              <a:spcAft>
                <a:spcPts val="0"/>
              </a:spcAft>
              <a:buNone/>
            </a:pPr>
            <a:r>
              <a:rPr b="0" i="0" lang="en-US" sz="1800" u="none" cap="none" strike="noStrike">
                <a:solidFill>
                  <a:srgbClr val="292929"/>
                </a:solidFill>
                <a:latin typeface="Arial"/>
                <a:ea typeface="Arial"/>
                <a:cs typeface="Arial"/>
                <a:sym typeface="Arial"/>
              </a:rPr>
              <a:t>Y- will buy a new product</a:t>
            </a:r>
            <a:endParaRPr/>
          </a:p>
          <a:p>
            <a:pPr indent="0" lvl="1" marL="457200" marR="0" rtl="0" algn="l">
              <a:spcBef>
                <a:spcPts val="0"/>
              </a:spcBef>
              <a:spcAft>
                <a:spcPts val="0"/>
              </a:spcAft>
              <a:buNone/>
            </a:pPr>
            <a:r>
              <a:rPr b="0" i="0" lang="en-US" sz="1800" u="none" cap="none" strike="noStrike">
                <a:solidFill>
                  <a:srgbClr val="292929"/>
                </a:solidFill>
                <a:latin typeface="Arial"/>
                <a:ea typeface="Arial"/>
                <a:cs typeface="Arial"/>
                <a:sym typeface="Arial"/>
              </a:rPr>
              <a:t>X- features like age and salary</a:t>
            </a:r>
            <a:endParaRPr/>
          </a:p>
          <a:p>
            <a:pPr indent="0" lvl="1" marL="457200" marR="0" rtl="0" algn="l">
              <a:spcBef>
                <a:spcPts val="0"/>
              </a:spcBef>
              <a:spcAft>
                <a:spcPts val="0"/>
              </a:spcAft>
              <a:buNone/>
            </a:pPr>
            <a:r>
              <a:t/>
            </a:r>
            <a:endParaRPr b="0" i="0" sz="1800" u="none" cap="none" strike="noStrike">
              <a:solidFill>
                <a:srgbClr val="292929"/>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rgbClr val="292929"/>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rgbClr val="292929"/>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rgbClr val="292929"/>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rgbClr val="292929"/>
              </a:solidFill>
              <a:latin typeface="Arial"/>
              <a:ea typeface="Arial"/>
              <a:cs typeface="Arial"/>
              <a:sym typeface="Arial"/>
            </a:endParaRPr>
          </a:p>
          <a:p>
            <a:pPr indent="-285750" lvl="0" marL="285750" marR="0" rtl="0" algn="l">
              <a:spcBef>
                <a:spcPts val="0"/>
              </a:spcBef>
              <a:spcAft>
                <a:spcPts val="0"/>
              </a:spcAft>
              <a:buClr>
                <a:srgbClr val="292929"/>
              </a:buClr>
              <a:buSzPts val="1800"/>
              <a:buFont typeface="Arial"/>
              <a:buChar char="•"/>
            </a:pPr>
            <a:r>
              <a:rPr b="1" i="0" lang="en-US" sz="1800">
                <a:solidFill>
                  <a:srgbClr val="292929"/>
                </a:solidFill>
                <a:latin typeface="Arial"/>
                <a:ea typeface="Arial"/>
                <a:cs typeface="Arial"/>
                <a:sym typeface="Arial"/>
              </a:rPr>
              <a:t>Now, we can obtain the values for each by looking at the dataset and substitute them into the equation. </a:t>
            </a:r>
            <a:endParaRPr/>
          </a:p>
          <a:p>
            <a:pPr indent="-285750" lvl="0" marL="285750" marR="0" rtl="0" algn="l">
              <a:spcBef>
                <a:spcPts val="0"/>
              </a:spcBef>
              <a:spcAft>
                <a:spcPts val="0"/>
              </a:spcAft>
              <a:buClr>
                <a:srgbClr val="292929"/>
              </a:buClr>
              <a:buSzPts val="1800"/>
              <a:buFont typeface="Arial"/>
              <a:buChar char="•"/>
            </a:pPr>
            <a:r>
              <a:rPr b="1" i="0" lang="en-US" sz="1800">
                <a:solidFill>
                  <a:srgbClr val="292929"/>
                </a:solidFill>
                <a:latin typeface="Arial"/>
                <a:ea typeface="Arial"/>
                <a:cs typeface="Arial"/>
                <a:sym typeface="Arial"/>
              </a:rPr>
              <a:t>For all entries in the dataset, the denominator does not change, it remain static.</a:t>
            </a:r>
            <a:endParaRPr/>
          </a:p>
          <a:p>
            <a:pPr indent="-285750" lvl="0" marL="285750" marR="0" rtl="0" algn="l">
              <a:spcBef>
                <a:spcPts val="0"/>
              </a:spcBef>
              <a:spcAft>
                <a:spcPts val="0"/>
              </a:spcAft>
              <a:buClr>
                <a:srgbClr val="292929"/>
              </a:buClr>
              <a:buSzPts val="1800"/>
              <a:buFont typeface="Arial"/>
              <a:buChar char="•"/>
            </a:pPr>
            <a:r>
              <a:rPr b="1" i="0" lang="en-US" sz="1800">
                <a:solidFill>
                  <a:srgbClr val="292929"/>
                </a:solidFill>
                <a:latin typeface="Arial"/>
                <a:ea typeface="Arial"/>
                <a:cs typeface="Arial"/>
                <a:sym typeface="Arial"/>
              </a:rPr>
              <a:t>Therefore, the denominator can be removed and a proportionality can be introduced.</a:t>
            </a:r>
            <a:endParaRPr b="1" sz="1800">
              <a:solidFill>
                <a:schemeClr val="dk1"/>
              </a:solidFill>
              <a:latin typeface="Calibri"/>
              <a:ea typeface="Calibri"/>
              <a:cs typeface="Calibri"/>
              <a:sym typeface="Calibri"/>
            </a:endParaRPr>
          </a:p>
        </p:txBody>
      </p:sp>
      <p:pic>
        <p:nvPicPr>
          <p:cNvPr id="100" name="Google Shape;100;g3a2f70455b0_0_0"/>
          <p:cNvPicPr preferRelativeResize="0"/>
          <p:nvPr/>
        </p:nvPicPr>
        <p:blipFill rotWithShape="1">
          <a:blip r:embed="rId3">
            <a:alphaModFix/>
          </a:blip>
          <a:srcRect b="0" l="0" r="0" t="0"/>
          <a:stretch/>
        </p:blipFill>
        <p:spPr>
          <a:xfrm>
            <a:off x="972568" y="2493123"/>
            <a:ext cx="2834500" cy="448101"/>
          </a:xfrm>
          <a:prstGeom prst="rect">
            <a:avLst/>
          </a:prstGeom>
          <a:noFill/>
          <a:ln>
            <a:noFill/>
          </a:ln>
        </p:spPr>
      </p:pic>
      <p:pic>
        <p:nvPicPr>
          <p:cNvPr id="101" name="Google Shape;101;g3a2f70455b0_0_0"/>
          <p:cNvPicPr preferRelativeResize="0"/>
          <p:nvPr/>
        </p:nvPicPr>
        <p:blipFill rotWithShape="1">
          <a:blip r:embed="rId4">
            <a:alphaModFix/>
          </a:blip>
          <a:srcRect b="0" l="0" r="0" t="0"/>
          <a:stretch/>
        </p:blipFill>
        <p:spPr>
          <a:xfrm>
            <a:off x="523777" y="3027948"/>
            <a:ext cx="5210473" cy="573152"/>
          </a:xfrm>
          <a:prstGeom prst="rect">
            <a:avLst/>
          </a:prstGeom>
          <a:noFill/>
          <a:ln>
            <a:noFill/>
          </a:ln>
        </p:spPr>
      </p:pic>
      <p:pic>
        <p:nvPicPr>
          <p:cNvPr id="102" name="Google Shape;102;g3a2f70455b0_0_0"/>
          <p:cNvPicPr preferRelativeResize="0"/>
          <p:nvPr/>
        </p:nvPicPr>
        <p:blipFill rotWithShape="1">
          <a:blip r:embed="rId5">
            <a:alphaModFix/>
          </a:blip>
          <a:srcRect b="0" l="0" r="0" t="0"/>
          <a:stretch/>
        </p:blipFill>
        <p:spPr>
          <a:xfrm>
            <a:off x="523777" y="5626177"/>
            <a:ext cx="4778034" cy="5051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a2f70455b0_0_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6000"/>
              <a:buFont typeface="Calibri"/>
              <a:buNone/>
            </a:pPr>
            <a:r>
              <a:rPr lang="en-US" sz="6000"/>
              <a:t>Naïve Bayes Classifier</a:t>
            </a:r>
            <a:endParaRPr/>
          </a:p>
        </p:txBody>
      </p:sp>
      <p:sp>
        <p:nvSpPr>
          <p:cNvPr id="108" name="Google Shape;108;g3a2f70455b0_0_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b="0" i="0" lang="en-US">
                <a:solidFill>
                  <a:srgbClr val="292929"/>
                </a:solidFill>
                <a:latin typeface="Arial"/>
                <a:ea typeface="Arial"/>
                <a:cs typeface="Arial"/>
                <a:sym typeface="Arial"/>
              </a:rPr>
              <a:t>In our case, the class variable(</a:t>
            </a:r>
            <a:r>
              <a:rPr b="1" i="0" lang="en-US">
                <a:solidFill>
                  <a:srgbClr val="292929"/>
                </a:solidFill>
                <a:latin typeface="Arial"/>
                <a:ea typeface="Arial"/>
                <a:cs typeface="Arial"/>
                <a:sym typeface="Arial"/>
              </a:rPr>
              <a:t>y</a:t>
            </a:r>
            <a:r>
              <a:rPr b="0" i="0" lang="en-US">
                <a:solidFill>
                  <a:srgbClr val="292929"/>
                </a:solidFill>
                <a:latin typeface="Arial"/>
                <a:ea typeface="Arial"/>
                <a:cs typeface="Arial"/>
                <a:sym typeface="Arial"/>
              </a:rPr>
              <a:t>) has only two outcomes, yes or no. </a:t>
            </a:r>
            <a:endParaRPr/>
          </a:p>
          <a:p>
            <a:pPr indent="-228600" lvl="0" marL="228600" rtl="0" algn="l">
              <a:lnSpc>
                <a:spcPct val="90000"/>
              </a:lnSpc>
              <a:spcBef>
                <a:spcPts val="1000"/>
              </a:spcBef>
              <a:spcAft>
                <a:spcPts val="0"/>
              </a:spcAft>
              <a:buClr>
                <a:srgbClr val="292929"/>
              </a:buClr>
              <a:buSzPts val="2800"/>
              <a:buChar char="•"/>
            </a:pPr>
            <a:r>
              <a:rPr b="0" i="0" lang="en-US">
                <a:solidFill>
                  <a:srgbClr val="292929"/>
                </a:solidFill>
                <a:latin typeface="Arial"/>
                <a:ea typeface="Arial"/>
                <a:cs typeface="Arial"/>
                <a:sym typeface="Arial"/>
              </a:rPr>
              <a:t>There could be cases where the classification could be multivariate. </a:t>
            </a:r>
            <a:endParaRPr/>
          </a:p>
          <a:p>
            <a:pPr indent="-228600" lvl="0" marL="228600" rtl="0" algn="l">
              <a:lnSpc>
                <a:spcPct val="90000"/>
              </a:lnSpc>
              <a:spcBef>
                <a:spcPts val="1000"/>
              </a:spcBef>
              <a:spcAft>
                <a:spcPts val="0"/>
              </a:spcAft>
              <a:buClr>
                <a:srgbClr val="292929"/>
              </a:buClr>
              <a:buSzPts val="2800"/>
              <a:buChar char="•"/>
            </a:pPr>
            <a:r>
              <a:rPr b="0" i="0" lang="en-US">
                <a:solidFill>
                  <a:srgbClr val="292929"/>
                </a:solidFill>
                <a:latin typeface="Arial"/>
                <a:ea typeface="Arial"/>
                <a:cs typeface="Arial"/>
                <a:sym typeface="Arial"/>
              </a:rPr>
              <a:t>Therefore, we need to find the class </a:t>
            </a:r>
            <a:r>
              <a:rPr b="1" i="0" lang="en-US">
                <a:solidFill>
                  <a:srgbClr val="292929"/>
                </a:solidFill>
                <a:latin typeface="Arial"/>
                <a:ea typeface="Arial"/>
                <a:cs typeface="Arial"/>
                <a:sym typeface="Arial"/>
              </a:rPr>
              <a:t>y</a:t>
            </a:r>
            <a:r>
              <a:rPr b="0" i="0" lang="en-US">
                <a:solidFill>
                  <a:srgbClr val="292929"/>
                </a:solidFill>
                <a:latin typeface="Arial"/>
                <a:ea typeface="Arial"/>
                <a:cs typeface="Arial"/>
                <a:sym typeface="Arial"/>
              </a:rPr>
              <a:t> with maximum probability</a:t>
            </a:r>
            <a:endParaRPr/>
          </a:p>
          <a:p>
            <a:pPr indent="-50800" lvl="0" marL="228600" rtl="0" algn="l">
              <a:lnSpc>
                <a:spcPct val="90000"/>
              </a:lnSpc>
              <a:spcBef>
                <a:spcPts val="1000"/>
              </a:spcBef>
              <a:spcAft>
                <a:spcPts val="0"/>
              </a:spcAft>
              <a:buClr>
                <a:schemeClr val="dk1"/>
              </a:buClr>
              <a:buSzPts val="2800"/>
              <a:buNone/>
            </a:pPr>
            <a:r>
              <a:t/>
            </a:r>
            <a:endParaRPr>
              <a:solidFill>
                <a:srgbClr val="292929"/>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solidFill>
                <a:srgbClr val="292929"/>
              </a:solidFill>
              <a:latin typeface="Arial"/>
              <a:ea typeface="Arial"/>
              <a:cs typeface="Arial"/>
              <a:sym typeface="Arial"/>
            </a:endParaRPr>
          </a:p>
          <a:p>
            <a:pPr indent="-228600" lvl="0" marL="228600" rtl="0" algn="l">
              <a:lnSpc>
                <a:spcPct val="90000"/>
              </a:lnSpc>
              <a:spcBef>
                <a:spcPts val="1000"/>
              </a:spcBef>
              <a:spcAft>
                <a:spcPts val="0"/>
              </a:spcAft>
              <a:buClr>
                <a:srgbClr val="292929"/>
              </a:buClr>
              <a:buSzPts val="2800"/>
              <a:buChar char="•"/>
            </a:pPr>
            <a:r>
              <a:rPr b="0" i="0" lang="en-US">
                <a:solidFill>
                  <a:srgbClr val="292929"/>
                </a:solidFill>
                <a:latin typeface="Arial"/>
                <a:ea typeface="Arial"/>
                <a:cs typeface="Arial"/>
                <a:sym typeface="Arial"/>
              </a:rPr>
              <a:t>Using the above function, we can obtain the class, given the predictors.</a:t>
            </a:r>
            <a:endParaRPr/>
          </a:p>
        </p:txBody>
      </p:sp>
      <p:pic>
        <p:nvPicPr>
          <p:cNvPr id="109" name="Google Shape;109;g3a2f70455b0_0_9"/>
          <p:cNvPicPr preferRelativeResize="0"/>
          <p:nvPr/>
        </p:nvPicPr>
        <p:blipFill rotWithShape="1">
          <a:blip r:embed="rId3">
            <a:alphaModFix/>
          </a:blip>
          <a:srcRect b="0" l="0" r="0" t="0"/>
          <a:stretch/>
        </p:blipFill>
        <p:spPr>
          <a:xfrm>
            <a:off x="2729525" y="4218041"/>
            <a:ext cx="6667500" cy="742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a2f70455b0_0_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115" name="Google Shape;115;g3a2f70455b0_0_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two machines for creating an item</a:t>
            </a:r>
            <a:endParaRPr/>
          </a:p>
          <a:p>
            <a:pPr indent="-228600" lvl="0" marL="228600" rtl="0" algn="l">
              <a:lnSpc>
                <a:spcPct val="90000"/>
              </a:lnSpc>
              <a:spcBef>
                <a:spcPts val="1000"/>
              </a:spcBef>
              <a:spcAft>
                <a:spcPts val="0"/>
              </a:spcAft>
              <a:buClr>
                <a:schemeClr val="dk1"/>
              </a:buClr>
              <a:buSzPts val="2800"/>
              <a:buChar char="•"/>
            </a:pPr>
            <a:r>
              <a:rPr lang="en-US"/>
              <a:t>Machines work at different rate</a:t>
            </a:r>
            <a:endParaRPr/>
          </a:p>
          <a:p>
            <a:pPr indent="-228600" lvl="0" marL="228600" rtl="0" algn="l">
              <a:lnSpc>
                <a:spcPct val="90000"/>
              </a:lnSpc>
              <a:spcBef>
                <a:spcPts val="1000"/>
              </a:spcBef>
              <a:spcAft>
                <a:spcPts val="0"/>
              </a:spcAft>
              <a:buClr>
                <a:schemeClr val="dk1"/>
              </a:buClr>
              <a:buSzPts val="2800"/>
              <a:buChar char="•"/>
            </a:pPr>
            <a:r>
              <a:rPr lang="en-US"/>
              <a:t>Items are marked with the machine number that created it so we know that particular item came from which machine</a:t>
            </a:r>
            <a:endParaRPr/>
          </a:p>
          <a:p>
            <a:pPr indent="-228600" lvl="0" marL="228600" rtl="0" algn="l">
              <a:lnSpc>
                <a:spcPct val="90000"/>
              </a:lnSpc>
              <a:spcBef>
                <a:spcPts val="1000"/>
              </a:spcBef>
              <a:spcAft>
                <a:spcPts val="0"/>
              </a:spcAft>
              <a:buClr>
                <a:schemeClr val="dk1"/>
              </a:buClr>
              <a:buSzPts val="2800"/>
              <a:buChar char="•"/>
            </a:pPr>
            <a:r>
              <a:rPr lang="en-US"/>
              <a:t>Total items produced by both machines have few defective items also.</a:t>
            </a:r>
            <a:endParaRPr/>
          </a:p>
          <a:p>
            <a:pPr indent="-228600" lvl="0" marL="228600" rtl="0" algn="l">
              <a:lnSpc>
                <a:spcPct val="90000"/>
              </a:lnSpc>
              <a:spcBef>
                <a:spcPts val="1000"/>
              </a:spcBef>
              <a:spcAft>
                <a:spcPts val="0"/>
              </a:spcAft>
              <a:buClr>
                <a:schemeClr val="dk1"/>
              </a:buClr>
              <a:buSzPts val="2800"/>
              <a:buChar char="•"/>
            </a:pPr>
            <a:r>
              <a:rPr lang="en-US"/>
              <a:t>What is the probability of machine 2 producing a defective item?</a:t>
            </a:r>
            <a:endParaRPr/>
          </a:p>
          <a:p>
            <a:pPr indent="-228600" lvl="1" marL="685800" rtl="0" algn="l">
              <a:lnSpc>
                <a:spcPct val="90000"/>
              </a:lnSpc>
              <a:spcBef>
                <a:spcPts val="500"/>
              </a:spcBef>
              <a:spcAft>
                <a:spcPts val="0"/>
              </a:spcAft>
              <a:buClr>
                <a:schemeClr val="dk1"/>
              </a:buClr>
              <a:buSzPts val="2400"/>
              <a:buChar char="•"/>
            </a:pPr>
            <a:r>
              <a:rPr lang="en-US"/>
              <a:t>If we select any item produced by machine 2, what is the probability that it is defective?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2f70455b0_0_2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Theorem</a:t>
            </a:r>
            <a:endParaRPr/>
          </a:p>
        </p:txBody>
      </p:sp>
      <p:sp>
        <p:nvSpPr>
          <p:cNvPr id="121" name="Google Shape;121;g3a2f70455b0_0_20"/>
          <p:cNvSpPr txBox="1"/>
          <p:nvPr>
            <p:ph idx="1" type="body"/>
          </p:nvPr>
        </p:nvSpPr>
        <p:spPr>
          <a:xfrm>
            <a:off x="6507475" y="1648484"/>
            <a:ext cx="6392700" cy="43512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sz="2600"/>
              <a:t>Probability of any given item coming from machine1: P(Mach1) = 30/50= 0.6</a:t>
            </a:r>
            <a:endParaRPr/>
          </a:p>
          <a:p>
            <a:pPr indent="-228600" lvl="0" marL="228600" rtl="0" algn="l">
              <a:lnSpc>
                <a:spcPct val="90000"/>
              </a:lnSpc>
              <a:spcBef>
                <a:spcPts val="1000"/>
              </a:spcBef>
              <a:spcAft>
                <a:spcPts val="0"/>
              </a:spcAft>
              <a:buClr>
                <a:schemeClr val="dk1"/>
              </a:buClr>
              <a:buSzPct val="100000"/>
              <a:buChar char="•"/>
            </a:pPr>
            <a:r>
              <a:rPr lang="en-US" sz="2600"/>
              <a:t>Probability of any given item coming from machine2: P(Mach2) = 20/50= 0.4</a:t>
            </a:r>
            <a:endParaRPr/>
          </a:p>
          <a:p>
            <a:pPr indent="-75882" lvl="0" marL="228600" rtl="0" algn="l">
              <a:lnSpc>
                <a:spcPct val="90000"/>
              </a:lnSpc>
              <a:spcBef>
                <a:spcPts val="1000"/>
              </a:spcBef>
              <a:spcAft>
                <a:spcPts val="0"/>
              </a:spcAft>
              <a:buClr>
                <a:schemeClr val="dk1"/>
              </a:buClr>
              <a:buSzPct val="100000"/>
              <a:buNone/>
            </a:pPr>
            <a:r>
              <a:t/>
            </a:r>
            <a:endParaRPr sz="2600"/>
          </a:p>
          <a:p>
            <a:pPr indent="-228600" lvl="0" marL="228600" rtl="0" algn="l">
              <a:lnSpc>
                <a:spcPct val="90000"/>
              </a:lnSpc>
              <a:spcBef>
                <a:spcPts val="1000"/>
              </a:spcBef>
              <a:spcAft>
                <a:spcPts val="0"/>
              </a:spcAft>
              <a:buClr>
                <a:schemeClr val="dk1"/>
              </a:buClr>
              <a:buSzPct val="100000"/>
              <a:buChar char="•"/>
            </a:pPr>
            <a:r>
              <a:rPr lang="en-US" sz="2600"/>
              <a:t>P(Defect) = 1%</a:t>
            </a:r>
            <a:endParaRPr/>
          </a:p>
          <a:p>
            <a:pPr indent="-75882" lvl="0" marL="228600" rtl="0" algn="l">
              <a:lnSpc>
                <a:spcPct val="90000"/>
              </a:lnSpc>
              <a:spcBef>
                <a:spcPts val="1000"/>
              </a:spcBef>
              <a:spcAft>
                <a:spcPts val="0"/>
              </a:spcAft>
              <a:buClr>
                <a:schemeClr val="dk1"/>
              </a:buClr>
              <a:buSzPct val="100000"/>
              <a:buNone/>
            </a:pPr>
            <a:r>
              <a:t/>
            </a:r>
            <a:endParaRPr sz="2600"/>
          </a:p>
          <a:p>
            <a:pPr indent="-228600" lvl="0" marL="228600" rtl="0" algn="l">
              <a:lnSpc>
                <a:spcPct val="90000"/>
              </a:lnSpc>
              <a:spcBef>
                <a:spcPts val="1000"/>
              </a:spcBef>
              <a:spcAft>
                <a:spcPts val="0"/>
              </a:spcAft>
              <a:buClr>
                <a:schemeClr val="dk1"/>
              </a:buClr>
              <a:buSzPct val="100000"/>
              <a:buChar char="•"/>
            </a:pPr>
            <a:r>
              <a:rPr lang="en-US" sz="2600"/>
              <a:t>P(Mach1|Defect)=50%</a:t>
            </a:r>
            <a:endParaRPr/>
          </a:p>
          <a:p>
            <a:pPr indent="-228600" lvl="0" marL="228600" rtl="0" algn="l">
              <a:lnSpc>
                <a:spcPct val="90000"/>
              </a:lnSpc>
              <a:spcBef>
                <a:spcPts val="1000"/>
              </a:spcBef>
              <a:spcAft>
                <a:spcPts val="0"/>
              </a:spcAft>
              <a:buClr>
                <a:schemeClr val="dk1"/>
              </a:buClr>
              <a:buSzPct val="100000"/>
              <a:buChar char="•"/>
            </a:pPr>
            <a:r>
              <a:rPr lang="en-US" sz="2600"/>
              <a:t>P(Mach2|Defect)=50%</a:t>
            </a:r>
            <a:endParaRPr/>
          </a:p>
          <a:p>
            <a:pPr indent="-75882" lvl="0" marL="228600" rtl="0" algn="l">
              <a:lnSpc>
                <a:spcPct val="90000"/>
              </a:lnSpc>
              <a:spcBef>
                <a:spcPts val="1000"/>
              </a:spcBef>
              <a:spcAft>
                <a:spcPts val="0"/>
              </a:spcAft>
              <a:buClr>
                <a:schemeClr val="dk1"/>
              </a:buClr>
              <a:buSzPct val="100000"/>
              <a:buNone/>
            </a:pPr>
            <a:r>
              <a:t/>
            </a:r>
            <a:endParaRPr sz="2600"/>
          </a:p>
          <a:p>
            <a:pPr indent="-228600" lvl="0" marL="228600" rtl="0" algn="l">
              <a:lnSpc>
                <a:spcPct val="90000"/>
              </a:lnSpc>
              <a:spcBef>
                <a:spcPts val="1000"/>
              </a:spcBef>
              <a:spcAft>
                <a:spcPts val="0"/>
              </a:spcAft>
              <a:buClr>
                <a:schemeClr val="dk1"/>
              </a:buClr>
              <a:buSzPct val="100000"/>
              <a:buChar char="•"/>
            </a:pPr>
            <a:r>
              <a:rPr lang="en-US" sz="2600"/>
              <a:t>P(Defect|Mach2)=?</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22" name="Google Shape;122;g3a2f70455b0_0_20"/>
          <p:cNvSpPr txBox="1"/>
          <p:nvPr/>
        </p:nvSpPr>
        <p:spPr>
          <a:xfrm>
            <a:off x="584983" y="1690688"/>
            <a:ext cx="6392700" cy="4351200"/>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marR="0" rtl="0" algn="l">
              <a:lnSpc>
                <a:spcPct val="90000"/>
              </a:lnSpc>
              <a:spcBef>
                <a:spcPts val="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Machine 1: 30 items/hour</a:t>
            </a:r>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Machine 2: 20 items/hour</a:t>
            </a:r>
            <a:endParaRPr/>
          </a:p>
          <a:p>
            <a:pPr indent="-77470"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Out of all produced items:</a:t>
            </a:r>
            <a:endParaRPr/>
          </a:p>
          <a:p>
            <a:pPr indent="-228600" lvl="1" marL="685800" marR="0" rtl="0" algn="l">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1% are defective</a:t>
            </a:r>
            <a:endParaRPr/>
          </a:p>
          <a:p>
            <a:pPr indent="-77470"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Out of all defective items:</a:t>
            </a:r>
            <a:endParaRPr/>
          </a:p>
          <a:p>
            <a:pPr indent="-228600" lvl="1" marL="685800" marR="0" rtl="0" algn="l">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50% came from machine1 and 50% came from machine2</a:t>
            </a:r>
            <a:endParaRPr/>
          </a:p>
          <a:p>
            <a:pPr indent="-77470"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ct val="100000"/>
              <a:buFont typeface="Arial"/>
              <a:buChar char="•"/>
            </a:pPr>
            <a:r>
              <a:rPr lang="en-US" sz="2800">
                <a:solidFill>
                  <a:schemeClr val="dk1"/>
                </a:solidFill>
                <a:latin typeface="Calibri"/>
                <a:ea typeface="Calibri"/>
                <a:cs typeface="Calibri"/>
                <a:sym typeface="Calibri"/>
              </a:rPr>
              <a:t>Question:</a:t>
            </a:r>
            <a:endParaRPr/>
          </a:p>
          <a:p>
            <a:pPr indent="-228600" lvl="1" marL="685800" marR="0" rtl="0" algn="l">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What is the probability that an item produced by machine2 is defective?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a2f70455b0_0_2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Theorem</a:t>
            </a:r>
            <a:endParaRPr/>
          </a:p>
        </p:txBody>
      </p:sp>
      <p:sp>
        <p:nvSpPr>
          <p:cNvPr id="128" name="Google Shape;128;g3a2f70455b0_0_26"/>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2f70455b0_0_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a:t>
            </a:r>
            <a:endParaRPr/>
          </a:p>
        </p:txBody>
      </p:sp>
      <p:cxnSp>
        <p:nvCxnSpPr>
          <p:cNvPr id="134" name="Google Shape;134;g3a2f70455b0_0_31"/>
          <p:cNvCxnSpPr/>
          <p:nvPr/>
        </p:nvCxnSpPr>
        <p:spPr>
          <a:xfrm>
            <a:off x="562704" y="5022166"/>
            <a:ext cx="41499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35" name="Google Shape;135;g3a2f70455b0_0_31"/>
          <p:cNvCxnSpPr/>
          <p:nvPr/>
        </p:nvCxnSpPr>
        <p:spPr>
          <a:xfrm rot="10800000">
            <a:off x="548638" y="2335367"/>
            <a:ext cx="0" cy="2686800"/>
          </a:xfrm>
          <a:prstGeom prst="straightConnector1">
            <a:avLst/>
          </a:prstGeom>
          <a:noFill/>
          <a:ln cap="flat" cmpd="sng" w="9525">
            <a:solidFill>
              <a:schemeClr val="accent1"/>
            </a:solidFill>
            <a:prstDash val="solid"/>
            <a:miter lim="800000"/>
            <a:headEnd len="sm" w="sm" type="none"/>
            <a:tailEnd len="med" w="med" type="triangle"/>
          </a:ln>
        </p:spPr>
      </p:cxnSp>
      <p:sp>
        <p:nvSpPr>
          <p:cNvPr id="136" name="Google Shape;136;g3a2f70455b0_0_31"/>
          <p:cNvSpPr txBox="1"/>
          <p:nvPr/>
        </p:nvSpPr>
        <p:spPr>
          <a:xfrm>
            <a:off x="-26968" y="1774047"/>
            <a:ext cx="773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137" name="Google Shape;137;g3a2f70455b0_0_31"/>
          <p:cNvSpPr txBox="1"/>
          <p:nvPr/>
        </p:nvSpPr>
        <p:spPr>
          <a:xfrm>
            <a:off x="4339876" y="5022166"/>
            <a:ext cx="90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138" name="Google Shape;138;g3a2f70455b0_0_31"/>
          <p:cNvSpPr/>
          <p:nvPr/>
        </p:nvSpPr>
        <p:spPr>
          <a:xfrm>
            <a:off x="669383" y="4302954"/>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g3a2f70455b0_0_31"/>
          <p:cNvSpPr/>
          <p:nvPr/>
        </p:nvSpPr>
        <p:spPr>
          <a:xfrm>
            <a:off x="1230917" y="4234375"/>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g3a2f70455b0_0_31"/>
          <p:cNvSpPr/>
          <p:nvPr/>
        </p:nvSpPr>
        <p:spPr>
          <a:xfrm>
            <a:off x="1153545" y="3821724"/>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g3a2f70455b0_0_31"/>
          <p:cNvSpPr/>
          <p:nvPr/>
        </p:nvSpPr>
        <p:spPr>
          <a:xfrm>
            <a:off x="1555649" y="3951849"/>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g3a2f70455b0_0_31"/>
          <p:cNvSpPr/>
          <p:nvPr/>
        </p:nvSpPr>
        <p:spPr>
          <a:xfrm>
            <a:off x="1076173" y="4660509"/>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g3a2f70455b0_0_31"/>
          <p:cNvSpPr/>
          <p:nvPr/>
        </p:nvSpPr>
        <p:spPr>
          <a:xfrm>
            <a:off x="1838173" y="4551484"/>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g3a2f70455b0_0_31"/>
          <p:cNvSpPr/>
          <p:nvPr/>
        </p:nvSpPr>
        <p:spPr>
          <a:xfrm>
            <a:off x="2123044" y="3996397"/>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g3a2f70455b0_0_31"/>
          <p:cNvSpPr/>
          <p:nvPr/>
        </p:nvSpPr>
        <p:spPr>
          <a:xfrm>
            <a:off x="2277789" y="4660509"/>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g3a2f70455b0_0_31"/>
          <p:cNvSpPr/>
          <p:nvPr/>
        </p:nvSpPr>
        <p:spPr>
          <a:xfrm>
            <a:off x="2797120" y="4377984"/>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g3a2f70455b0_0_31"/>
          <p:cNvSpPr/>
          <p:nvPr/>
        </p:nvSpPr>
        <p:spPr>
          <a:xfrm>
            <a:off x="1158818" y="3832862"/>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g3a2f70455b0_0_31"/>
          <p:cNvSpPr/>
          <p:nvPr/>
        </p:nvSpPr>
        <p:spPr>
          <a:xfrm>
            <a:off x="1560922" y="3962987"/>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g3a2f70455b0_0_31"/>
          <p:cNvSpPr/>
          <p:nvPr/>
        </p:nvSpPr>
        <p:spPr>
          <a:xfrm>
            <a:off x="2455978" y="3245168"/>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g3a2f70455b0_0_31"/>
          <p:cNvSpPr/>
          <p:nvPr/>
        </p:nvSpPr>
        <p:spPr>
          <a:xfrm>
            <a:off x="3200394" y="2837576"/>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g3a2f70455b0_0_31"/>
          <p:cNvSpPr/>
          <p:nvPr/>
        </p:nvSpPr>
        <p:spPr>
          <a:xfrm>
            <a:off x="1531325" y="3139149"/>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g3a2f70455b0_0_31"/>
          <p:cNvSpPr/>
          <p:nvPr/>
        </p:nvSpPr>
        <p:spPr>
          <a:xfrm>
            <a:off x="3355139" y="3606606"/>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g3a2f70455b0_0_31"/>
          <p:cNvSpPr/>
          <p:nvPr/>
        </p:nvSpPr>
        <p:spPr>
          <a:xfrm>
            <a:off x="3640010" y="3051519"/>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g3a2f70455b0_0_31"/>
          <p:cNvSpPr/>
          <p:nvPr/>
        </p:nvSpPr>
        <p:spPr>
          <a:xfrm>
            <a:off x="3807650" y="3425484"/>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g3a2f70455b0_0_31"/>
          <p:cNvSpPr/>
          <p:nvPr/>
        </p:nvSpPr>
        <p:spPr>
          <a:xfrm>
            <a:off x="3794755" y="3715631"/>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g3a2f70455b0_0_31"/>
          <p:cNvSpPr/>
          <p:nvPr/>
        </p:nvSpPr>
        <p:spPr>
          <a:xfrm>
            <a:off x="4234371" y="3548578"/>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g3a2f70455b0_0_31"/>
          <p:cNvSpPr/>
          <p:nvPr/>
        </p:nvSpPr>
        <p:spPr>
          <a:xfrm>
            <a:off x="3717382" y="2663192"/>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g3a2f70455b0_0_31"/>
          <p:cNvSpPr/>
          <p:nvPr/>
        </p:nvSpPr>
        <p:spPr>
          <a:xfrm>
            <a:off x="4301774" y="3045659"/>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g3a2f70455b0_0_31"/>
          <p:cNvSpPr/>
          <p:nvPr/>
        </p:nvSpPr>
        <p:spPr>
          <a:xfrm>
            <a:off x="1566197" y="4611858"/>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g3a2f70455b0_0_31"/>
          <p:cNvSpPr/>
          <p:nvPr/>
        </p:nvSpPr>
        <p:spPr>
          <a:xfrm>
            <a:off x="2500527" y="4206461"/>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g3a2f70455b0_0_31"/>
          <p:cNvSpPr/>
          <p:nvPr/>
        </p:nvSpPr>
        <p:spPr>
          <a:xfrm>
            <a:off x="2077328" y="4353946"/>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g3a2f70455b0_0_31"/>
          <p:cNvSpPr/>
          <p:nvPr/>
        </p:nvSpPr>
        <p:spPr>
          <a:xfrm>
            <a:off x="2430189" y="4812909"/>
            <a:ext cx="154800" cy="1089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g3a2f70455b0_0_31"/>
          <p:cNvSpPr/>
          <p:nvPr/>
        </p:nvSpPr>
        <p:spPr>
          <a:xfrm>
            <a:off x="2338749" y="3510476"/>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g3a2f70455b0_0_31"/>
          <p:cNvSpPr/>
          <p:nvPr/>
        </p:nvSpPr>
        <p:spPr>
          <a:xfrm>
            <a:off x="1900893" y="3489008"/>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g3a2f70455b0_0_31"/>
          <p:cNvSpPr/>
          <p:nvPr/>
        </p:nvSpPr>
        <p:spPr>
          <a:xfrm>
            <a:off x="1968299" y="3069322"/>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g3a2f70455b0_0_31"/>
          <p:cNvSpPr/>
          <p:nvPr/>
        </p:nvSpPr>
        <p:spPr>
          <a:xfrm>
            <a:off x="2717404" y="3836673"/>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g3a2f70455b0_0_31"/>
          <p:cNvSpPr/>
          <p:nvPr/>
        </p:nvSpPr>
        <p:spPr>
          <a:xfrm>
            <a:off x="3045649" y="3261370"/>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g3a2f70455b0_0_31"/>
          <p:cNvSpPr/>
          <p:nvPr/>
        </p:nvSpPr>
        <p:spPr>
          <a:xfrm>
            <a:off x="3604257" y="3958298"/>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g3a2f70455b0_0_31"/>
          <p:cNvSpPr/>
          <p:nvPr/>
        </p:nvSpPr>
        <p:spPr>
          <a:xfrm>
            <a:off x="3474718" y="3323200"/>
            <a:ext cx="154800" cy="1089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g3a2f70455b0_0_31"/>
          <p:cNvSpPr txBox="1"/>
          <p:nvPr/>
        </p:nvSpPr>
        <p:spPr>
          <a:xfrm>
            <a:off x="3123021" y="4605996"/>
            <a:ext cx="942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171" name="Google Shape;171;g3a2f70455b0_0_31"/>
          <p:cNvSpPr txBox="1"/>
          <p:nvPr/>
        </p:nvSpPr>
        <p:spPr>
          <a:xfrm>
            <a:off x="2292430" y="2593172"/>
            <a:ext cx="933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172" name="Google Shape;172;g3a2f70455b0_0_31"/>
          <p:cNvSpPr/>
          <p:nvPr/>
        </p:nvSpPr>
        <p:spPr>
          <a:xfrm>
            <a:off x="2402633" y="3932503"/>
            <a:ext cx="154800" cy="1089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3" name="Google Shape;173;g3a2f70455b0_0_31"/>
          <p:cNvCxnSpPr>
            <a:stCxn id="174" idx="1"/>
          </p:cNvCxnSpPr>
          <p:nvPr/>
        </p:nvCxnSpPr>
        <p:spPr>
          <a:xfrm rot="10800000">
            <a:off x="2640507" y="4083775"/>
            <a:ext cx="881100" cy="339300"/>
          </a:xfrm>
          <a:prstGeom prst="straightConnector1">
            <a:avLst/>
          </a:prstGeom>
          <a:noFill/>
          <a:ln cap="flat" cmpd="sng" w="9525">
            <a:solidFill>
              <a:schemeClr val="accent1"/>
            </a:solidFill>
            <a:prstDash val="solid"/>
            <a:miter lim="800000"/>
            <a:headEnd len="sm" w="sm" type="none"/>
            <a:tailEnd len="med" w="med" type="triangle"/>
          </a:ln>
        </p:spPr>
      </p:cxnSp>
      <p:sp>
        <p:nvSpPr>
          <p:cNvPr id="174" name="Google Shape;174;g3a2f70455b0_0_31"/>
          <p:cNvSpPr txBox="1"/>
          <p:nvPr/>
        </p:nvSpPr>
        <p:spPr>
          <a:xfrm>
            <a:off x="3521607" y="4238425"/>
            <a:ext cx="1844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175" name="Google Shape;175;g3a2f70455b0_0_31"/>
          <p:cNvSpPr txBox="1"/>
          <p:nvPr/>
        </p:nvSpPr>
        <p:spPr>
          <a:xfrm>
            <a:off x="4260452" y="1604003"/>
            <a:ext cx="7931400" cy="48948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Why Naïve?</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Bayes Theorem has some Independence Assumptions</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That are often times not correct therefore its kind of naïve to assume that its correct</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e.g. Features have to be independent</a:t>
            </a:r>
            <a:endParaRPr/>
          </a:p>
          <a:p>
            <a:pPr indent="-342900" lvl="3" marL="17145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this example Age and salary are not independent</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i.e. the effect of an attribute value on a given class is independent of the values of the other attributes. </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This assumption is called classconditional independence. </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It is made to simplify the computations involved and, in this sense, is considered “naïve.”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2f70455b0_0_7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Step 1</a:t>
            </a:r>
            <a:endParaRPr/>
          </a:p>
        </p:txBody>
      </p:sp>
      <p:sp>
        <p:nvSpPr>
          <p:cNvPr id="181" name="Google Shape;181;g3a2f70455b0_0_7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P(Walks|X) where X 🡪features of new data points</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Posterior probability of somebody being a person that walks to work given that it is placed in the position where we are placing the new observation for our dataset</a:t>
            </a:r>
            <a:endParaRPr/>
          </a:p>
          <a:p>
            <a:pPr indent="-228600" lvl="1" marL="685800" rtl="0" algn="l">
              <a:lnSpc>
                <a:spcPct val="90000"/>
              </a:lnSpc>
              <a:spcBef>
                <a:spcPts val="500"/>
              </a:spcBef>
              <a:spcAft>
                <a:spcPts val="0"/>
              </a:spcAft>
              <a:buClr>
                <a:schemeClr val="dk1"/>
              </a:buClr>
              <a:buSzPts val="2400"/>
              <a:buChar char="•"/>
            </a:pPr>
            <a:r>
              <a:rPr lang="en-US"/>
              <a:t>What is the likelihood of that new observation representing a person who walks to work?</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a2f70455b0_0_82"/>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187" name="Google Shape;187;g3a2f70455b0_0_82"/>
          <p:cNvSpPr txBox="1"/>
          <p:nvPr/>
        </p:nvSpPr>
        <p:spPr>
          <a:xfrm>
            <a:off x="838200" y="562708"/>
            <a:ext cx="2453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Step1</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a2f70455b0_0_87"/>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cxnSp>
        <p:nvCxnSpPr>
          <p:cNvPr id="193" name="Google Shape;193;g3a2f70455b0_0_87"/>
          <p:cNvCxnSpPr/>
          <p:nvPr/>
        </p:nvCxnSpPr>
        <p:spPr>
          <a:xfrm rot="10800000">
            <a:off x="6236756" y="2096087"/>
            <a:ext cx="618900" cy="0"/>
          </a:xfrm>
          <a:prstGeom prst="straightConnector1">
            <a:avLst/>
          </a:prstGeom>
          <a:noFill/>
          <a:ln cap="flat" cmpd="sng" w="9525">
            <a:solidFill>
              <a:schemeClr val="accent1"/>
            </a:solidFill>
            <a:prstDash val="solid"/>
            <a:miter lim="800000"/>
            <a:headEnd len="sm" w="sm" type="none"/>
            <a:tailEnd len="med" w="med" type="triangle"/>
          </a:ln>
        </p:spPr>
      </p:cxnSp>
      <p:sp>
        <p:nvSpPr>
          <p:cNvPr id="194" name="Google Shape;194;g3a2f70455b0_0_87"/>
          <p:cNvSpPr txBox="1"/>
          <p:nvPr/>
        </p:nvSpPr>
        <p:spPr>
          <a:xfrm>
            <a:off x="6855656" y="1858020"/>
            <a:ext cx="189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Prior Probability</a:t>
            </a:r>
            <a:endParaRPr sz="1800">
              <a:solidFill>
                <a:schemeClr val="dk1"/>
              </a:solidFill>
              <a:latin typeface="Calibri"/>
              <a:ea typeface="Calibri"/>
              <a:cs typeface="Calibri"/>
              <a:sym typeface="Calibri"/>
            </a:endParaRPr>
          </a:p>
        </p:txBody>
      </p:sp>
      <p:sp>
        <p:nvSpPr>
          <p:cNvPr id="195" name="Google Shape;195;g3a2f70455b0_0_87"/>
          <p:cNvSpPr txBox="1"/>
          <p:nvPr/>
        </p:nvSpPr>
        <p:spPr>
          <a:xfrm>
            <a:off x="838200" y="562708"/>
            <a:ext cx="2453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Step1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a2f70455b0_0_94"/>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cxnSp>
        <p:nvCxnSpPr>
          <p:cNvPr id="201" name="Google Shape;201;g3a2f70455b0_0_94"/>
          <p:cNvCxnSpPr/>
          <p:nvPr/>
        </p:nvCxnSpPr>
        <p:spPr>
          <a:xfrm rot="10800000">
            <a:off x="6236756" y="2096087"/>
            <a:ext cx="618900" cy="0"/>
          </a:xfrm>
          <a:prstGeom prst="straightConnector1">
            <a:avLst/>
          </a:prstGeom>
          <a:noFill/>
          <a:ln cap="flat" cmpd="sng" w="9525">
            <a:solidFill>
              <a:schemeClr val="accent1"/>
            </a:solidFill>
            <a:prstDash val="solid"/>
            <a:miter lim="800000"/>
            <a:headEnd len="sm" w="sm" type="none"/>
            <a:tailEnd len="med" w="med" type="triangle"/>
          </a:ln>
        </p:spPr>
      </p:cxnSp>
      <p:sp>
        <p:nvSpPr>
          <p:cNvPr id="202" name="Google Shape;202;g3a2f70455b0_0_94"/>
          <p:cNvSpPr txBox="1"/>
          <p:nvPr/>
        </p:nvSpPr>
        <p:spPr>
          <a:xfrm>
            <a:off x="6855656" y="1858020"/>
            <a:ext cx="189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Prior Probability</a:t>
            </a:r>
            <a:endParaRPr sz="1800">
              <a:solidFill>
                <a:schemeClr val="dk1"/>
              </a:solidFill>
              <a:latin typeface="Calibri"/>
              <a:ea typeface="Calibri"/>
              <a:cs typeface="Calibri"/>
              <a:sym typeface="Calibri"/>
            </a:endParaRPr>
          </a:p>
        </p:txBody>
      </p:sp>
      <p:cxnSp>
        <p:nvCxnSpPr>
          <p:cNvPr id="203" name="Google Shape;203;g3a2f70455b0_0_94"/>
          <p:cNvCxnSpPr/>
          <p:nvPr/>
        </p:nvCxnSpPr>
        <p:spPr>
          <a:xfrm rot="10800000">
            <a:off x="5007983" y="2504047"/>
            <a:ext cx="703500" cy="0"/>
          </a:xfrm>
          <a:prstGeom prst="straightConnector1">
            <a:avLst/>
          </a:prstGeom>
          <a:noFill/>
          <a:ln cap="flat" cmpd="sng" w="9525">
            <a:solidFill>
              <a:schemeClr val="accent1"/>
            </a:solidFill>
            <a:prstDash val="solid"/>
            <a:miter lim="800000"/>
            <a:headEnd len="sm" w="sm" type="none"/>
            <a:tailEnd len="med" w="med" type="triangle"/>
          </a:ln>
        </p:spPr>
      </p:cxnSp>
      <p:sp>
        <p:nvSpPr>
          <p:cNvPr id="204" name="Google Shape;204;g3a2f70455b0_0_94"/>
          <p:cNvSpPr txBox="1"/>
          <p:nvPr/>
        </p:nvSpPr>
        <p:spPr>
          <a:xfrm>
            <a:off x="5909310" y="2334155"/>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Marginal Likelihood</a:t>
            </a:r>
            <a:endParaRPr sz="1800">
              <a:solidFill>
                <a:schemeClr val="dk1"/>
              </a:solidFill>
              <a:latin typeface="Calibri"/>
              <a:ea typeface="Calibri"/>
              <a:cs typeface="Calibri"/>
              <a:sym typeface="Calibri"/>
            </a:endParaRPr>
          </a:p>
        </p:txBody>
      </p:sp>
      <p:sp>
        <p:nvSpPr>
          <p:cNvPr id="205" name="Google Shape;205;g3a2f70455b0_0_94"/>
          <p:cNvSpPr txBox="1"/>
          <p:nvPr/>
        </p:nvSpPr>
        <p:spPr>
          <a:xfrm>
            <a:off x="838200" y="562708"/>
            <a:ext cx="2453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Step1</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2f70455b0_0_103"/>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cxnSp>
        <p:nvCxnSpPr>
          <p:cNvPr id="211" name="Google Shape;211;g3a2f70455b0_0_103"/>
          <p:cNvCxnSpPr/>
          <p:nvPr/>
        </p:nvCxnSpPr>
        <p:spPr>
          <a:xfrm rot="10800000">
            <a:off x="6236756" y="2096087"/>
            <a:ext cx="618900" cy="0"/>
          </a:xfrm>
          <a:prstGeom prst="straightConnector1">
            <a:avLst/>
          </a:prstGeom>
          <a:noFill/>
          <a:ln cap="flat" cmpd="sng" w="9525">
            <a:solidFill>
              <a:schemeClr val="accent1"/>
            </a:solidFill>
            <a:prstDash val="solid"/>
            <a:miter lim="800000"/>
            <a:headEnd len="sm" w="sm" type="none"/>
            <a:tailEnd len="med" w="med" type="triangle"/>
          </a:ln>
        </p:spPr>
      </p:cxnSp>
      <p:sp>
        <p:nvSpPr>
          <p:cNvPr id="212" name="Google Shape;212;g3a2f70455b0_0_103"/>
          <p:cNvSpPr txBox="1"/>
          <p:nvPr/>
        </p:nvSpPr>
        <p:spPr>
          <a:xfrm>
            <a:off x="6855656" y="1858020"/>
            <a:ext cx="189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Prior Probability</a:t>
            </a:r>
            <a:endParaRPr sz="1800">
              <a:solidFill>
                <a:schemeClr val="dk1"/>
              </a:solidFill>
              <a:latin typeface="Calibri"/>
              <a:ea typeface="Calibri"/>
              <a:cs typeface="Calibri"/>
              <a:sym typeface="Calibri"/>
            </a:endParaRPr>
          </a:p>
        </p:txBody>
      </p:sp>
      <p:cxnSp>
        <p:nvCxnSpPr>
          <p:cNvPr id="213" name="Google Shape;213;g3a2f70455b0_0_103"/>
          <p:cNvCxnSpPr/>
          <p:nvPr/>
        </p:nvCxnSpPr>
        <p:spPr>
          <a:xfrm rot="10800000">
            <a:off x="5007983" y="2504047"/>
            <a:ext cx="703500" cy="0"/>
          </a:xfrm>
          <a:prstGeom prst="straightConnector1">
            <a:avLst/>
          </a:prstGeom>
          <a:noFill/>
          <a:ln cap="flat" cmpd="sng" w="9525">
            <a:solidFill>
              <a:schemeClr val="accent1"/>
            </a:solidFill>
            <a:prstDash val="solid"/>
            <a:miter lim="800000"/>
            <a:headEnd len="sm" w="sm" type="none"/>
            <a:tailEnd len="med" w="med" type="triangle"/>
          </a:ln>
        </p:spPr>
      </p:cxnSp>
      <p:sp>
        <p:nvSpPr>
          <p:cNvPr id="214" name="Google Shape;214;g3a2f70455b0_0_103"/>
          <p:cNvSpPr txBox="1"/>
          <p:nvPr/>
        </p:nvSpPr>
        <p:spPr>
          <a:xfrm>
            <a:off x="5909310" y="2334155"/>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Marginal Likelihood</a:t>
            </a:r>
            <a:endParaRPr sz="1800">
              <a:solidFill>
                <a:schemeClr val="dk1"/>
              </a:solidFill>
              <a:latin typeface="Calibri"/>
              <a:ea typeface="Calibri"/>
              <a:cs typeface="Calibri"/>
              <a:sym typeface="Calibri"/>
            </a:endParaRPr>
          </a:p>
        </p:txBody>
      </p:sp>
      <p:sp>
        <p:nvSpPr>
          <p:cNvPr id="215" name="Google Shape;215;g3a2f70455b0_0_103"/>
          <p:cNvSpPr txBox="1"/>
          <p:nvPr/>
        </p:nvSpPr>
        <p:spPr>
          <a:xfrm>
            <a:off x="3109838" y="1027906"/>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Likelihood</a:t>
            </a:r>
            <a:endParaRPr sz="1800">
              <a:solidFill>
                <a:schemeClr val="dk1"/>
              </a:solidFill>
              <a:latin typeface="Calibri"/>
              <a:ea typeface="Calibri"/>
              <a:cs typeface="Calibri"/>
              <a:sym typeface="Calibri"/>
            </a:endParaRPr>
          </a:p>
        </p:txBody>
      </p:sp>
      <p:cxnSp>
        <p:nvCxnSpPr>
          <p:cNvPr id="216" name="Google Shape;216;g3a2f70455b0_0_103"/>
          <p:cNvCxnSpPr/>
          <p:nvPr/>
        </p:nvCxnSpPr>
        <p:spPr>
          <a:xfrm>
            <a:off x="3854548" y="1355034"/>
            <a:ext cx="0" cy="428400"/>
          </a:xfrm>
          <a:prstGeom prst="straightConnector1">
            <a:avLst/>
          </a:prstGeom>
          <a:noFill/>
          <a:ln cap="flat" cmpd="sng" w="9525">
            <a:solidFill>
              <a:schemeClr val="accent1"/>
            </a:solidFill>
            <a:prstDash val="solid"/>
            <a:miter lim="800000"/>
            <a:headEnd len="sm" w="sm" type="none"/>
            <a:tailEnd len="med" w="med" type="triangle"/>
          </a:ln>
        </p:spPr>
      </p:cxnSp>
      <p:sp>
        <p:nvSpPr>
          <p:cNvPr id="217" name="Google Shape;217;g3a2f70455b0_0_103"/>
          <p:cNvSpPr txBox="1"/>
          <p:nvPr/>
        </p:nvSpPr>
        <p:spPr>
          <a:xfrm>
            <a:off x="838200" y="562708"/>
            <a:ext cx="2453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Step1</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a2f70455b0_0_114"/>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cxnSp>
        <p:nvCxnSpPr>
          <p:cNvPr id="223" name="Google Shape;223;g3a2f70455b0_0_114"/>
          <p:cNvCxnSpPr/>
          <p:nvPr/>
        </p:nvCxnSpPr>
        <p:spPr>
          <a:xfrm rot="10800000">
            <a:off x="6236756" y="2096087"/>
            <a:ext cx="618900" cy="0"/>
          </a:xfrm>
          <a:prstGeom prst="straightConnector1">
            <a:avLst/>
          </a:prstGeom>
          <a:noFill/>
          <a:ln cap="flat" cmpd="sng" w="9525">
            <a:solidFill>
              <a:schemeClr val="accent1"/>
            </a:solidFill>
            <a:prstDash val="solid"/>
            <a:miter lim="800000"/>
            <a:headEnd len="sm" w="sm" type="none"/>
            <a:tailEnd len="med" w="med" type="triangle"/>
          </a:ln>
        </p:spPr>
      </p:cxnSp>
      <p:sp>
        <p:nvSpPr>
          <p:cNvPr id="224" name="Google Shape;224;g3a2f70455b0_0_114"/>
          <p:cNvSpPr txBox="1"/>
          <p:nvPr/>
        </p:nvSpPr>
        <p:spPr>
          <a:xfrm>
            <a:off x="6855656" y="1858020"/>
            <a:ext cx="189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Prior Probability</a:t>
            </a:r>
            <a:endParaRPr sz="1800">
              <a:solidFill>
                <a:schemeClr val="dk1"/>
              </a:solidFill>
              <a:latin typeface="Calibri"/>
              <a:ea typeface="Calibri"/>
              <a:cs typeface="Calibri"/>
              <a:sym typeface="Calibri"/>
            </a:endParaRPr>
          </a:p>
        </p:txBody>
      </p:sp>
      <p:cxnSp>
        <p:nvCxnSpPr>
          <p:cNvPr id="225" name="Google Shape;225;g3a2f70455b0_0_114"/>
          <p:cNvCxnSpPr/>
          <p:nvPr/>
        </p:nvCxnSpPr>
        <p:spPr>
          <a:xfrm rot="10800000">
            <a:off x="5007983" y="2504047"/>
            <a:ext cx="703500" cy="0"/>
          </a:xfrm>
          <a:prstGeom prst="straightConnector1">
            <a:avLst/>
          </a:prstGeom>
          <a:noFill/>
          <a:ln cap="flat" cmpd="sng" w="9525">
            <a:solidFill>
              <a:schemeClr val="accent1"/>
            </a:solidFill>
            <a:prstDash val="solid"/>
            <a:miter lim="800000"/>
            <a:headEnd len="sm" w="sm" type="none"/>
            <a:tailEnd len="med" w="med" type="triangle"/>
          </a:ln>
        </p:spPr>
      </p:cxnSp>
      <p:sp>
        <p:nvSpPr>
          <p:cNvPr id="226" name="Google Shape;226;g3a2f70455b0_0_114"/>
          <p:cNvSpPr txBox="1"/>
          <p:nvPr/>
        </p:nvSpPr>
        <p:spPr>
          <a:xfrm>
            <a:off x="5909310" y="2334155"/>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Marginal Likelihood</a:t>
            </a:r>
            <a:endParaRPr sz="1800">
              <a:solidFill>
                <a:schemeClr val="dk1"/>
              </a:solidFill>
              <a:latin typeface="Calibri"/>
              <a:ea typeface="Calibri"/>
              <a:cs typeface="Calibri"/>
              <a:sym typeface="Calibri"/>
            </a:endParaRPr>
          </a:p>
        </p:txBody>
      </p:sp>
      <p:sp>
        <p:nvSpPr>
          <p:cNvPr id="227" name="Google Shape;227;g3a2f70455b0_0_114"/>
          <p:cNvSpPr txBox="1"/>
          <p:nvPr/>
        </p:nvSpPr>
        <p:spPr>
          <a:xfrm>
            <a:off x="3109838" y="1027906"/>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Likelihood</a:t>
            </a:r>
            <a:endParaRPr sz="1800">
              <a:solidFill>
                <a:schemeClr val="dk1"/>
              </a:solidFill>
              <a:latin typeface="Calibri"/>
              <a:ea typeface="Calibri"/>
              <a:cs typeface="Calibri"/>
              <a:sym typeface="Calibri"/>
            </a:endParaRPr>
          </a:p>
        </p:txBody>
      </p:sp>
      <p:cxnSp>
        <p:nvCxnSpPr>
          <p:cNvPr id="228" name="Google Shape;228;g3a2f70455b0_0_114"/>
          <p:cNvCxnSpPr/>
          <p:nvPr/>
        </p:nvCxnSpPr>
        <p:spPr>
          <a:xfrm>
            <a:off x="3854548" y="1355034"/>
            <a:ext cx="0" cy="428400"/>
          </a:xfrm>
          <a:prstGeom prst="straightConnector1">
            <a:avLst/>
          </a:prstGeom>
          <a:noFill/>
          <a:ln cap="flat" cmpd="sng" w="9525">
            <a:solidFill>
              <a:schemeClr val="accent1"/>
            </a:solidFill>
            <a:prstDash val="solid"/>
            <a:miter lim="800000"/>
            <a:headEnd len="sm" w="sm" type="none"/>
            <a:tailEnd len="med" w="med" type="triangle"/>
          </a:ln>
        </p:spPr>
      </p:cxnSp>
      <p:sp>
        <p:nvSpPr>
          <p:cNvPr id="229" name="Google Shape;229;g3a2f70455b0_0_114"/>
          <p:cNvSpPr txBox="1"/>
          <p:nvPr/>
        </p:nvSpPr>
        <p:spPr>
          <a:xfrm>
            <a:off x="838200" y="1170368"/>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Posterior Probability</a:t>
            </a:r>
            <a:endParaRPr sz="1800">
              <a:solidFill>
                <a:schemeClr val="dk1"/>
              </a:solidFill>
              <a:latin typeface="Calibri"/>
              <a:ea typeface="Calibri"/>
              <a:cs typeface="Calibri"/>
              <a:sym typeface="Calibri"/>
            </a:endParaRPr>
          </a:p>
        </p:txBody>
      </p:sp>
      <p:cxnSp>
        <p:nvCxnSpPr>
          <p:cNvPr id="230" name="Google Shape;230;g3a2f70455b0_0_114"/>
          <p:cNvCxnSpPr/>
          <p:nvPr/>
        </p:nvCxnSpPr>
        <p:spPr>
          <a:xfrm>
            <a:off x="1826456" y="1539700"/>
            <a:ext cx="0" cy="428400"/>
          </a:xfrm>
          <a:prstGeom prst="straightConnector1">
            <a:avLst/>
          </a:prstGeom>
          <a:noFill/>
          <a:ln cap="flat" cmpd="sng" w="9525">
            <a:solidFill>
              <a:schemeClr val="accent1"/>
            </a:solidFill>
            <a:prstDash val="solid"/>
            <a:miter lim="800000"/>
            <a:headEnd len="sm" w="sm" type="none"/>
            <a:tailEnd len="med" w="med" type="triangle"/>
          </a:ln>
        </p:spPr>
      </p:cxnSp>
      <p:sp>
        <p:nvSpPr>
          <p:cNvPr id="231" name="Google Shape;231;g3a2f70455b0_0_114"/>
          <p:cNvSpPr txBox="1"/>
          <p:nvPr/>
        </p:nvSpPr>
        <p:spPr>
          <a:xfrm>
            <a:off x="838200" y="562708"/>
            <a:ext cx="2453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Step1</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a2f70455b0_0_127"/>
          <p:cNvSpPr txBox="1"/>
          <p:nvPr>
            <p:ph idx="1" type="body"/>
          </p:nvPr>
        </p:nvSpPr>
        <p:spPr>
          <a:xfrm>
            <a:off x="838200" y="1825625"/>
            <a:ext cx="10515600" cy="4351200"/>
          </a:xfrm>
          <a:prstGeom prst="rect">
            <a:avLst/>
          </a:prstGeom>
          <a:blipFill rotWithShape="1">
            <a:blip r:embed="rId3">
              <a:alphaModFix/>
            </a:blip>
            <a:stretch>
              <a:fillRect b="0" l="-103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cxnSp>
        <p:nvCxnSpPr>
          <p:cNvPr id="237" name="Google Shape;237;g3a2f70455b0_0_127"/>
          <p:cNvCxnSpPr/>
          <p:nvPr/>
        </p:nvCxnSpPr>
        <p:spPr>
          <a:xfrm rot="10800000">
            <a:off x="6236756" y="2096087"/>
            <a:ext cx="618900" cy="0"/>
          </a:xfrm>
          <a:prstGeom prst="straightConnector1">
            <a:avLst/>
          </a:prstGeom>
          <a:noFill/>
          <a:ln cap="flat" cmpd="sng" w="9525">
            <a:solidFill>
              <a:schemeClr val="accent1"/>
            </a:solidFill>
            <a:prstDash val="solid"/>
            <a:miter lim="800000"/>
            <a:headEnd len="sm" w="sm" type="none"/>
            <a:tailEnd len="med" w="med" type="triangle"/>
          </a:ln>
        </p:spPr>
      </p:cxnSp>
      <p:sp>
        <p:nvSpPr>
          <p:cNvPr id="238" name="Google Shape;238;g3a2f70455b0_0_127"/>
          <p:cNvSpPr txBox="1"/>
          <p:nvPr/>
        </p:nvSpPr>
        <p:spPr>
          <a:xfrm>
            <a:off x="6855656" y="1858020"/>
            <a:ext cx="1892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Prior Probability</a:t>
            </a:r>
            <a:endParaRPr sz="1800">
              <a:solidFill>
                <a:schemeClr val="dk1"/>
              </a:solidFill>
              <a:latin typeface="Calibri"/>
              <a:ea typeface="Calibri"/>
              <a:cs typeface="Calibri"/>
              <a:sym typeface="Calibri"/>
            </a:endParaRPr>
          </a:p>
        </p:txBody>
      </p:sp>
      <p:cxnSp>
        <p:nvCxnSpPr>
          <p:cNvPr id="239" name="Google Shape;239;g3a2f70455b0_0_127"/>
          <p:cNvCxnSpPr/>
          <p:nvPr/>
        </p:nvCxnSpPr>
        <p:spPr>
          <a:xfrm rot="10800000">
            <a:off x="5007983" y="2504047"/>
            <a:ext cx="703500" cy="0"/>
          </a:xfrm>
          <a:prstGeom prst="straightConnector1">
            <a:avLst/>
          </a:prstGeom>
          <a:noFill/>
          <a:ln cap="flat" cmpd="sng" w="9525">
            <a:solidFill>
              <a:schemeClr val="accent1"/>
            </a:solidFill>
            <a:prstDash val="solid"/>
            <a:miter lim="800000"/>
            <a:headEnd len="sm" w="sm" type="none"/>
            <a:tailEnd len="med" w="med" type="triangle"/>
          </a:ln>
        </p:spPr>
      </p:cxnSp>
      <p:sp>
        <p:nvSpPr>
          <p:cNvPr id="240" name="Google Shape;240;g3a2f70455b0_0_127"/>
          <p:cNvSpPr txBox="1"/>
          <p:nvPr/>
        </p:nvSpPr>
        <p:spPr>
          <a:xfrm>
            <a:off x="5909310" y="2334155"/>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Marginal Likelihood</a:t>
            </a:r>
            <a:endParaRPr sz="1800">
              <a:solidFill>
                <a:schemeClr val="dk1"/>
              </a:solidFill>
              <a:latin typeface="Calibri"/>
              <a:ea typeface="Calibri"/>
              <a:cs typeface="Calibri"/>
              <a:sym typeface="Calibri"/>
            </a:endParaRPr>
          </a:p>
        </p:txBody>
      </p:sp>
      <p:sp>
        <p:nvSpPr>
          <p:cNvPr id="241" name="Google Shape;241;g3a2f70455b0_0_127"/>
          <p:cNvSpPr txBox="1"/>
          <p:nvPr/>
        </p:nvSpPr>
        <p:spPr>
          <a:xfrm>
            <a:off x="3109838" y="1027906"/>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Likelihood</a:t>
            </a:r>
            <a:endParaRPr sz="1800">
              <a:solidFill>
                <a:schemeClr val="dk1"/>
              </a:solidFill>
              <a:latin typeface="Calibri"/>
              <a:ea typeface="Calibri"/>
              <a:cs typeface="Calibri"/>
              <a:sym typeface="Calibri"/>
            </a:endParaRPr>
          </a:p>
        </p:txBody>
      </p:sp>
      <p:cxnSp>
        <p:nvCxnSpPr>
          <p:cNvPr id="242" name="Google Shape;242;g3a2f70455b0_0_127"/>
          <p:cNvCxnSpPr/>
          <p:nvPr/>
        </p:nvCxnSpPr>
        <p:spPr>
          <a:xfrm>
            <a:off x="3854548" y="1355034"/>
            <a:ext cx="0" cy="428400"/>
          </a:xfrm>
          <a:prstGeom prst="straightConnector1">
            <a:avLst/>
          </a:prstGeom>
          <a:noFill/>
          <a:ln cap="flat" cmpd="sng" w="9525">
            <a:solidFill>
              <a:schemeClr val="accent1"/>
            </a:solidFill>
            <a:prstDash val="solid"/>
            <a:miter lim="800000"/>
            <a:headEnd len="sm" w="sm" type="none"/>
            <a:tailEnd len="med" w="med" type="triangle"/>
          </a:ln>
        </p:spPr>
      </p:cxnSp>
      <p:sp>
        <p:nvSpPr>
          <p:cNvPr id="243" name="Google Shape;243;g3a2f70455b0_0_127"/>
          <p:cNvSpPr txBox="1"/>
          <p:nvPr/>
        </p:nvSpPr>
        <p:spPr>
          <a:xfrm>
            <a:off x="838200" y="1170368"/>
            <a:ext cx="225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Posterior Probability</a:t>
            </a:r>
            <a:endParaRPr sz="1800">
              <a:solidFill>
                <a:schemeClr val="dk1"/>
              </a:solidFill>
              <a:latin typeface="Calibri"/>
              <a:ea typeface="Calibri"/>
              <a:cs typeface="Calibri"/>
              <a:sym typeface="Calibri"/>
            </a:endParaRPr>
          </a:p>
        </p:txBody>
      </p:sp>
      <p:cxnSp>
        <p:nvCxnSpPr>
          <p:cNvPr id="244" name="Google Shape;244;g3a2f70455b0_0_127"/>
          <p:cNvCxnSpPr/>
          <p:nvPr/>
        </p:nvCxnSpPr>
        <p:spPr>
          <a:xfrm>
            <a:off x="1826456" y="1539700"/>
            <a:ext cx="0" cy="428400"/>
          </a:xfrm>
          <a:prstGeom prst="straightConnector1">
            <a:avLst/>
          </a:prstGeom>
          <a:noFill/>
          <a:ln cap="flat" cmpd="sng" w="9525">
            <a:solidFill>
              <a:schemeClr val="accent1"/>
            </a:solidFill>
            <a:prstDash val="solid"/>
            <a:miter lim="800000"/>
            <a:headEnd len="sm" w="sm" type="none"/>
            <a:tailEnd len="med" w="med" type="triangle"/>
          </a:ln>
        </p:spPr>
      </p:cxnSp>
      <p:sp>
        <p:nvSpPr>
          <p:cNvPr id="245" name="Google Shape;245;g3a2f70455b0_0_127"/>
          <p:cNvSpPr txBox="1"/>
          <p:nvPr/>
        </p:nvSpPr>
        <p:spPr>
          <a:xfrm>
            <a:off x="838200" y="562708"/>
            <a:ext cx="2453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Step2</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a2f70455b0_0_140"/>
          <p:cNvSpPr txBox="1"/>
          <p:nvPr>
            <p:ph idx="1" type="body"/>
          </p:nvPr>
        </p:nvSpPr>
        <p:spPr>
          <a:xfrm>
            <a:off x="838200" y="1825625"/>
            <a:ext cx="10515600" cy="4351200"/>
          </a:xfrm>
          <a:prstGeom prst="rect">
            <a:avLst/>
          </a:prstGeom>
          <a:blipFill rotWithShape="1">
            <a:blip r:embed="rId3">
              <a:alphaModFix/>
            </a:blip>
            <a:stretch>
              <a:fillRect b="0" l="-1039" r="0" t="-2239"/>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251" name="Google Shape;251;g3a2f70455b0_0_140"/>
          <p:cNvSpPr txBox="1"/>
          <p:nvPr>
            <p:ph type="title"/>
          </p:nvPr>
        </p:nvSpPr>
        <p:spPr>
          <a:xfrm>
            <a:off x="838200" y="732441"/>
            <a:ext cx="10515600" cy="5910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3600"/>
              <a:buFont typeface="Calibri"/>
              <a:buNone/>
            </a:pPr>
            <a:r>
              <a:rPr lang="en-US" sz="3600"/>
              <a:t>Step3</a:t>
            </a:r>
            <a:endParaRPr/>
          </a:p>
        </p:txBody>
      </p:sp>
      <p:cxnSp>
        <p:nvCxnSpPr>
          <p:cNvPr id="252" name="Google Shape;252;g3a2f70455b0_0_140"/>
          <p:cNvCxnSpPr/>
          <p:nvPr/>
        </p:nvCxnSpPr>
        <p:spPr>
          <a:xfrm flipH="1">
            <a:off x="2335186" y="4614203"/>
            <a:ext cx="675300" cy="281400"/>
          </a:xfrm>
          <a:prstGeom prst="straightConnector1">
            <a:avLst/>
          </a:prstGeom>
          <a:noFill/>
          <a:ln cap="flat" cmpd="sng" w="12700">
            <a:solidFill>
              <a:schemeClr val="accent2"/>
            </a:solidFill>
            <a:prstDash val="solid"/>
            <a:miter lim="800000"/>
            <a:headEnd len="sm" w="sm" type="none"/>
            <a:tailEnd len="sm" w="sm" type="none"/>
          </a:ln>
        </p:spPr>
      </p:cxnSp>
      <p:cxnSp>
        <p:nvCxnSpPr>
          <p:cNvPr id="253" name="Google Shape;253;g3a2f70455b0_0_140"/>
          <p:cNvCxnSpPr/>
          <p:nvPr/>
        </p:nvCxnSpPr>
        <p:spPr>
          <a:xfrm flipH="1">
            <a:off x="5976374" y="4614203"/>
            <a:ext cx="675300" cy="281400"/>
          </a:xfrm>
          <a:prstGeom prst="straightConnector1">
            <a:avLst/>
          </a:prstGeom>
          <a:noFill/>
          <a:ln cap="flat" cmpd="sng" w="12700">
            <a:solidFill>
              <a:schemeClr val="accent2"/>
            </a:solidFill>
            <a:prstDash val="solid"/>
            <a:miter lim="800000"/>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a2f70455b0_0_1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a:t>
            </a:r>
            <a:endParaRPr/>
          </a:p>
        </p:txBody>
      </p:sp>
      <p:cxnSp>
        <p:nvCxnSpPr>
          <p:cNvPr id="259" name="Google Shape;259;g3a2f70455b0_0_147"/>
          <p:cNvCxnSpPr/>
          <p:nvPr/>
        </p:nvCxnSpPr>
        <p:spPr>
          <a:xfrm>
            <a:off x="1083216" y="5022166"/>
            <a:ext cx="30948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260" name="Google Shape;260;g3a2f70455b0_0_147"/>
          <p:cNvCxnSpPr/>
          <p:nvPr/>
        </p:nvCxnSpPr>
        <p:spPr>
          <a:xfrm rot="10800000">
            <a:off x="1055089" y="2868176"/>
            <a:ext cx="0" cy="2180400"/>
          </a:xfrm>
          <a:prstGeom prst="straightConnector1">
            <a:avLst/>
          </a:prstGeom>
          <a:noFill/>
          <a:ln cap="flat" cmpd="sng" w="9525">
            <a:solidFill>
              <a:schemeClr val="accent1"/>
            </a:solidFill>
            <a:prstDash val="solid"/>
            <a:miter lim="800000"/>
            <a:headEnd len="sm" w="sm" type="none"/>
            <a:tailEnd len="med" w="med" type="triangle"/>
          </a:ln>
        </p:spPr>
      </p:cxnSp>
      <p:sp>
        <p:nvSpPr>
          <p:cNvPr id="261" name="Google Shape;261;g3a2f70455b0_0_147"/>
          <p:cNvSpPr txBox="1"/>
          <p:nvPr/>
        </p:nvSpPr>
        <p:spPr>
          <a:xfrm>
            <a:off x="290995" y="2545648"/>
            <a:ext cx="95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262" name="Google Shape;262;g3a2f70455b0_0_147"/>
          <p:cNvSpPr txBox="1"/>
          <p:nvPr/>
        </p:nvSpPr>
        <p:spPr>
          <a:xfrm>
            <a:off x="3679643" y="5177821"/>
            <a:ext cx="67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263" name="Google Shape;263;g3a2f70455b0_0_147"/>
          <p:cNvSpPr/>
          <p:nvPr/>
        </p:nvSpPr>
        <p:spPr>
          <a:xfrm>
            <a:off x="1751429" y="4234413"/>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g3a2f70455b0_0_147"/>
          <p:cNvSpPr/>
          <p:nvPr/>
        </p:nvSpPr>
        <p:spPr>
          <a:xfrm>
            <a:off x="1674057" y="382176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g3a2f70455b0_0_147"/>
          <p:cNvSpPr/>
          <p:nvPr/>
        </p:nvSpPr>
        <p:spPr>
          <a:xfrm>
            <a:off x="2076161" y="395188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g3a2f70455b0_0_147"/>
          <p:cNvSpPr/>
          <p:nvPr/>
        </p:nvSpPr>
        <p:spPr>
          <a:xfrm>
            <a:off x="1596685" y="46605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g3a2f70455b0_0_147"/>
          <p:cNvSpPr/>
          <p:nvPr/>
        </p:nvSpPr>
        <p:spPr>
          <a:xfrm>
            <a:off x="2643556" y="399643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g3a2f70455b0_0_147"/>
          <p:cNvSpPr/>
          <p:nvPr/>
        </p:nvSpPr>
        <p:spPr>
          <a:xfrm>
            <a:off x="3317632" y="437802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g3a2f70455b0_0_147"/>
          <p:cNvSpPr/>
          <p:nvPr/>
        </p:nvSpPr>
        <p:spPr>
          <a:xfrm>
            <a:off x="1679330" y="3832900"/>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g3a2f70455b0_0_147"/>
          <p:cNvSpPr/>
          <p:nvPr/>
        </p:nvSpPr>
        <p:spPr>
          <a:xfrm>
            <a:off x="2081434" y="396302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g3a2f70455b0_0_147"/>
          <p:cNvSpPr/>
          <p:nvPr/>
        </p:nvSpPr>
        <p:spPr>
          <a:xfrm>
            <a:off x="2976490" y="324520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g3a2f70455b0_0_147"/>
          <p:cNvSpPr/>
          <p:nvPr/>
        </p:nvSpPr>
        <p:spPr>
          <a:xfrm>
            <a:off x="3720906" y="28376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g3a2f70455b0_0_147"/>
          <p:cNvSpPr/>
          <p:nvPr/>
        </p:nvSpPr>
        <p:spPr>
          <a:xfrm>
            <a:off x="2051837" y="313918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g3a2f70455b0_0_147"/>
          <p:cNvSpPr/>
          <p:nvPr/>
        </p:nvSpPr>
        <p:spPr>
          <a:xfrm>
            <a:off x="3875651" y="360664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g3a2f70455b0_0_147"/>
          <p:cNvSpPr/>
          <p:nvPr/>
        </p:nvSpPr>
        <p:spPr>
          <a:xfrm>
            <a:off x="4160522" y="305155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g3a2f70455b0_0_147"/>
          <p:cNvSpPr/>
          <p:nvPr/>
        </p:nvSpPr>
        <p:spPr>
          <a:xfrm>
            <a:off x="4328162" y="342552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g3a2f70455b0_0_147"/>
          <p:cNvSpPr/>
          <p:nvPr/>
        </p:nvSpPr>
        <p:spPr>
          <a:xfrm>
            <a:off x="4315267" y="3715669"/>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g3a2f70455b0_0_147"/>
          <p:cNvSpPr/>
          <p:nvPr/>
        </p:nvSpPr>
        <p:spPr>
          <a:xfrm>
            <a:off x="4754883" y="354861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g3a2f70455b0_0_147"/>
          <p:cNvSpPr/>
          <p:nvPr/>
        </p:nvSpPr>
        <p:spPr>
          <a:xfrm>
            <a:off x="4237894" y="266323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g3a2f70455b0_0_147"/>
          <p:cNvSpPr/>
          <p:nvPr/>
        </p:nvSpPr>
        <p:spPr>
          <a:xfrm>
            <a:off x="4822286" y="30456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g3a2f70455b0_0_147"/>
          <p:cNvSpPr/>
          <p:nvPr/>
        </p:nvSpPr>
        <p:spPr>
          <a:xfrm>
            <a:off x="2086709" y="4611896"/>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g3a2f70455b0_0_147"/>
          <p:cNvSpPr/>
          <p:nvPr/>
        </p:nvSpPr>
        <p:spPr>
          <a:xfrm>
            <a:off x="3021039" y="4206499"/>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g3a2f70455b0_0_147"/>
          <p:cNvSpPr/>
          <p:nvPr/>
        </p:nvSpPr>
        <p:spPr>
          <a:xfrm>
            <a:off x="2597840" y="4353984"/>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g3a2f70455b0_0_147"/>
          <p:cNvSpPr/>
          <p:nvPr/>
        </p:nvSpPr>
        <p:spPr>
          <a:xfrm>
            <a:off x="2950701" y="48129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g3a2f70455b0_0_147"/>
          <p:cNvSpPr/>
          <p:nvPr/>
        </p:nvSpPr>
        <p:spPr>
          <a:xfrm>
            <a:off x="2859261" y="35105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g3a2f70455b0_0_147"/>
          <p:cNvSpPr/>
          <p:nvPr/>
        </p:nvSpPr>
        <p:spPr>
          <a:xfrm>
            <a:off x="2421405" y="348904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g3a2f70455b0_0_147"/>
          <p:cNvSpPr/>
          <p:nvPr/>
        </p:nvSpPr>
        <p:spPr>
          <a:xfrm>
            <a:off x="2488811" y="306936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g3a2f70455b0_0_147"/>
          <p:cNvSpPr/>
          <p:nvPr/>
        </p:nvSpPr>
        <p:spPr>
          <a:xfrm>
            <a:off x="3237916" y="3836711"/>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g3a2f70455b0_0_147"/>
          <p:cNvSpPr/>
          <p:nvPr/>
        </p:nvSpPr>
        <p:spPr>
          <a:xfrm>
            <a:off x="3566161" y="326140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g3a2f70455b0_0_147"/>
          <p:cNvSpPr/>
          <p:nvPr/>
        </p:nvSpPr>
        <p:spPr>
          <a:xfrm>
            <a:off x="4124769" y="395833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g3a2f70455b0_0_147"/>
          <p:cNvSpPr/>
          <p:nvPr/>
        </p:nvSpPr>
        <p:spPr>
          <a:xfrm>
            <a:off x="3995230" y="332323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g3a2f70455b0_0_147"/>
          <p:cNvSpPr txBox="1"/>
          <p:nvPr/>
        </p:nvSpPr>
        <p:spPr>
          <a:xfrm>
            <a:off x="3288325" y="4606031"/>
            <a:ext cx="105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293" name="Google Shape;293;g3a2f70455b0_0_147"/>
          <p:cNvSpPr txBox="1"/>
          <p:nvPr/>
        </p:nvSpPr>
        <p:spPr>
          <a:xfrm>
            <a:off x="4937689" y="3225938"/>
            <a:ext cx="88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294" name="Google Shape;294;g3a2f70455b0_0_147"/>
          <p:cNvSpPr/>
          <p:nvPr/>
        </p:nvSpPr>
        <p:spPr>
          <a:xfrm>
            <a:off x="2923145" y="3932541"/>
            <a:ext cx="115500" cy="885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5" name="Google Shape;295;g3a2f70455b0_0_147"/>
          <p:cNvCxnSpPr/>
          <p:nvPr/>
        </p:nvCxnSpPr>
        <p:spPr>
          <a:xfrm rot="10800000">
            <a:off x="3160937" y="4083868"/>
            <a:ext cx="1151100" cy="340500"/>
          </a:xfrm>
          <a:prstGeom prst="straightConnector1">
            <a:avLst/>
          </a:prstGeom>
          <a:noFill/>
          <a:ln cap="flat" cmpd="sng" w="9525">
            <a:solidFill>
              <a:schemeClr val="accent1"/>
            </a:solidFill>
            <a:prstDash val="solid"/>
            <a:miter lim="800000"/>
            <a:headEnd len="sm" w="sm" type="none"/>
            <a:tailEnd len="med" w="med" type="triangle"/>
          </a:ln>
        </p:spPr>
      </p:cxnSp>
      <p:sp>
        <p:nvSpPr>
          <p:cNvPr id="296" name="Google Shape;296;g3a2f70455b0_0_147"/>
          <p:cNvSpPr txBox="1"/>
          <p:nvPr/>
        </p:nvSpPr>
        <p:spPr>
          <a:xfrm>
            <a:off x="4288157" y="4139272"/>
            <a:ext cx="137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297" name="Google Shape;297;g3a2f70455b0_0_147"/>
          <p:cNvSpPr txBox="1"/>
          <p:nvPr>
            <p:ph idx="1" type="body"/>
          </p:nvPr>
        </p:nvSpPr>
        <p:spPr>
          <a:xfrm>
            <a:off x="6507475" y="1648484"/>
            <a:ext cx="5542800" cy="4351200"/>
          </a:xfrm>
          <a:prstGeom prst="rect">
            <a:avLst/>
          </a:prstGeom>
          <a:blipFill rotWithShape="1">
            <a:blip r:embed="rId3">
              <a:alphaModFix/>
            </a:blip>
            <a:stretch>
              <a:fillRect b="0" l="-1869" r="0" t="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298" name="Google Shape;298;g3a2f70455b0_0_147"/>
          <p:cNvSpPr/>
          <p:nvPr/>
        </p:nvSpPr>
        <p:spPr>
          <a:xfrm>
            <a:off x="4974686"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g3a2f70455b0_0_147"/>
          <p:cNvSpPr/>
          <p:nvPr/>
        </p:nvSpPr>
        <p:spPr>
          <a:xfrm>
            <a:off x="4539759" y="291498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g3a2f70455b0_0_147"/>
          <p:cNvSpPr/>
          <p:nvPr/>
        </p:nvSpPr>
        <p:spPr>
          <a:xfrm>
            <a:off x="4519867"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a2f70455b0_0_1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a:t>
            </a:r>
            <a:endParaRPr/>
          </a:p>
        </p:txBody>
      </p:sp>
      <p:cxnSp>
        <p:nvCxnSpPr>
          <p:cNvPr id="306" name="Google Shape;306;g3a2f70455b0_0_193"/>
          <p:cNvCxnSpPr/>
          <p:nvPr/>
        </p:nvCxnSpPr>
        <p:spPr>
          <a:xfrm>
            <a:off x="1083216" y="5022166"/>
            <a:ext cx="30948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07" name="Google Shape;307;g3a2f70455b0_0_193"/>
          <p:cNvCxnSpPr/>
          <p:nvPr/>
        </p:nvCxnSpPr>
        <p:spPr>
          <a:xfrm rot="10800000">
            <a:off x="1055089" y="2868176"/>
            <a:ext cx="0" cy="2180400"/>
          </a:xfrm>
          <a:prstGeom prst="straightConnector1">
            <a:avLst/>
          </a:prstGeom>
          <a:noFill/>
          <a:ln cap="flat" cmpd="sng" w="9525">
            <a:solidFill>
              <a:schemeClr val="accent1"/>
            </a:solidFill>
            <a:prstDash val="solid"/>
            <a:miter lim="800000"/>
            <a:headEnd len="sm" w="sm" type="none"/>
            <a:tailEnd len="med" w="med" type="triangle"/>
          </a:ln>
        </p:spPr>
      </p:cxnSp>
      <p:sp>
        <p:nvSpPr>
          <p:cNvPr id="308" name="Google Shape;308;g3a2f70455b0_0_193"/>
          <p:cNvSpPr txBox="1"/>
          <p:nvPr/>
        </p:nvSpPr>
        <p:spPr>
          <a:xfrm>
            <a:off x="290995" y="2545648"/>
            <a:ext cx="95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309" name="Google Shape;309;g3a2f70455b0_0_193"/>
          <p:cNvSpPr txBox="1"/>
          <p:nvPr/>
        </p:nvSpPr>
        <p:spPr>
          <a:xfrm>
            <a:off x="3679643" y="5177821"/>
            <a:ext cx="67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310" name="Google Shape;310;g3a2f70455b0_0_193"/>
          <p:cNvSpPr/>
          <p:nvPr/>
        </p:nvSpPr>
        <p:spPr>
          <a:xfrm>
            <a:off x="1751429" y="4234413"/>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g3a2f70455b0_0_193"/>
          <p:cNvSpPr/>
          <p:nvPr/>
        </p:nvSpPr>
        <p:spPr>
          <a:xfrm>
            <a:off x="1674057" y="382176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 name="Google Shape;312;g3a2f70455b0_0_193"/>
          <p:cNvSpPr/>
          <p:nvPr/>
        </p:nvSpPr>
        <p:spPr>
          <a:xfrm>
            <a:off x="2076161" y="395188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g3a2f70455b0_0_193"/>
          <p:cNvSpPr/>
          <p:nvPr/>
        </p:nvSpPr>
        <p:spPr>
          <a:xfrm>
            <a:off x="1596685" y="46605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g3a2f70455b0_0_193"/>
          <p:cNvSpPr/>
          <p:nvPr/>
        </p:nvSpPr>
        <p:spPr>
          <a:xfrm>
            <a:off x="2643556" y="399643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g3a2f70455b0_0_193"/>
          <p:cNvSpPr/>
          <p:nvPr/>
        </p:nvSpPr>
        <p:spPr>
          <a:xfrm>
            <a:off x="3317632" y="437802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g3a2f70455b0_0_193"/>
          <p:cNvSpPr/>
          <p:nvPr/>
        </p:nvSpPr>
        <p:spPr>
          <a:xfrm>
            <a:off x="1679330" y="3832900"/>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g3a2f70455b0_0_193"/>
          <p:cNvSpPr/>
          <p:nvPr/>
        </p:nvSpPr>
        <p:spPr>
          <a:xfrm>
            <a:off x="2081434" y="396302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g3a2f70455b0_0_193"/>
          <p:cNvSpPr/>
          <p:nvPr/>
        </p:nvSpPr>
        <p:spPr>
          <a:xfrm>
            <a:off x="2976490" y="324520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g3a2f70455b0_0_193"/>
          <p:cNvSpPr/>
          <p:nvPr/>
        </p:nvSpPr>
        <p:spPr>
          <a:xfrm>
            <a:off x="3720906" y="28376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g3a2f70455b0_0_193"/>
          <p:cNvSpPr/>
          <p:nvPr/>
        </p:nvSpPr>
        <p:spPr>
          <a:xfrm>
            <a:off x="2051837" y="313918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g3a2f70455b0_0_193"/>
          <p:cNvSpPr/>
          <p:nvPr/>
        </p:nvSpPr>
        <p:spPr>
          <a:xfrm>
            <a:off x="3875651" y="360664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g3a2f70455b0_0_193"/>
          <p:cNvSpPr/>
          <p:nvPr/>
        </p:nvSpPr>
        <p:spPr>
          <a:xfrm>
            <a:off x="4160522" y="305155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g3a2f70455b0_0_193"/>
          <p:cNvSpPr/>
          <p:nvPr/>
        </p:nvSpPr>
        <p:spPr>
          <a:xfrm>
            <a:off x="4328162" y="342552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g3a2f70455b0_0_193"/>
          <p:cNvSpPr/>
          <p:nvPr/>
        </p:nvSpPr>
        <p:spPr>
          <a:xfrm>
            <a:off x="4315267" y="3715669"/>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g3a2f70455b0_0_193"/>
          <p:cNvSpPr/>
          <p:nvPr/>
        </p:nvSpPr>
        <p:spPr>
          <a:xfrm>
            <a:off x="4754883" y="354861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g3a2f70455b0_0_193"/>
          <p:cNvSpPr/>
          <p:nvPr/>
        </p:nvSpPr>
        <p:spPr>
          <a:xfrm>
            <a:off x="4237894" y="266323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g3a2f70455b0_0_193"/>
          <p:cNvSpPr/>
          <p:nvPr/>
        </p:nvSpPr>
        <p:spPr>
          <a:xfrm>
            <a:off x="4822286" y="30456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g3a2f70455b0_0_193"/>
          <p:cNvSpPr/>
          <p:nvPr/>
        </p:nvSpPr>
        <p:spPr>
          <a:xfrm>
            <a:off x="2086709" y="4611896"/>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g3a2f70455b0_0_193"/>
          <p:cNvSpPr/>
          <p:nvPr/>
        </p:nvSpPr>
        <p:spPr>
          <a:xfrm>
            <a:off x="3021039" y="4206499"/>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 name="Google Shape;330;g3a2f70455b0_0_193"/>
          <p:cNvSpPr/>
          <p:nvPr/>
        </p:nvSpPr>
        <p:spPr>
          <a:xfrm>
            <a:off x="2668180" y="4255508"/>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g3a2f70455b0_0_193"/>
          <p:cNvSpPr/>
          <p:nvPr/>
        </p:nvSpPr>
        <p:spPr>
          <a:xfrm>
            <a:off x="2950701" y="48129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g3a2f70455b0_0_193"/>
          <p:cNvSpPr/>
          <p:nvPr/>
        </p:nvSpPr>
        <p:spPr>
          <a:xfrm>
            <a:off x="2859261" y="335577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g3a2f70455b0_0_193"/>
          <p:cNvSpPr/>
          <p:nvPr/>
        </p:nvSpPr>
        <p:spPr>
          <a:xfrm>
            <a:off x="2421405" y="348904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g3a2f70455b0_0_193"/>
          <p:cNvSpPr/>
          <p:nvPr/>
        </p:nvSpPr>
        <p:spPr>
          <a:xfrm>
            <a:off x="2488811" y="306936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g3a2f70455b0_0_193"/>
          <p:cNvSpPr/>
          <p:nvPr/>
        </p:nvSpPr>
        <p:spPr>
          <a:xfrm>
            <a:off x="3237916" y="3836711"/>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g3a2f70455b0_0_193"/>
          <p:cNvSpPr/>
          <p:nvPr/>
        </p:nvSpPr>
        <p:spPr>
          <a:xfrm>
            <a:off x="3566161" y="326140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g3a2f70455b0_0_193"/>
          <p:cNvSpPr/>
          <p:nvPr/>
        </p:nvSpPr>
        <p:spPr>
          <a:xfrm>
            <a:off x="4124769" y="395833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g3a2f70455b0_0_193"/>
          <p:cNvSpPr/>
          <p:nvPr/>
        </p:nvSpPr>
        <p:spPr>
          <a:xfrm>
            <a:off x="3995230" y="332323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 name="Google Shape;339;g3a2f70455b0_0_193"/>
          <p:cNvSpPr txBox="1"/>
          <p:nvPr/>
        </p:nvSpPr>
        <p:spPr>
          <a:xfrm>
            <a:off x="3288325" y="4606031"/>
            <a:ext cx="105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340" name="Google Shape;340;g3a2f70455b0_0_193"/>
          <p:cNvSpPr txBox="1"/>
          <p:nvPr/>
        </p:nvSpPr>
        <p:spPr>
          <a:xfrm>
            <a:off x="4937689" y="3225938"/>
            <a:ext cx="88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341" name="Google Shape;341;g3a2f70455b0_0_193"/>
          <p:cNvSpPr/>
          <p:nvPr/>
        </p:nvSpPr>
        <p:spPr>
          <a:xfrm>
            <a:off x="2923145" y="3932541"/>
            <a:ext cx="115500" cy="885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42" name="Google Shape;342;g3a2f70455b0_0_193"/>
          <p:cNvCxnSpPr/>
          <p:nvPr/>
        </p:nvCxnSpPr>
        <p:spPr>
          <a:xfrm rot="10800000">
            <a:off x="3160937" y="4083868"/>
            <a:ext cx="1151100" cy="340500"/>
          </a:xfrm>
          <a:prstGeom prst="straightConnector1">
            <a:avLst/>
          </a:prstGeom>
          <a:noFill/>
          <a:ln cap="flat" cmpd="sng" w="9525">
            <a:solidFill>
              <a:schemeClr val="accent1"/>
            </a:solidFill>
            <a:prstDash val="solid"/>
            <a:miter lim="800000"/>
            <a:headEnd len="sm" w="sm" type="none"/>
            <a:tailEnd len="med" w="med" type="triangle"/>
          </a:ln>
        </p:spPr>
      </p:cxnSp>
      <p:sp>
        <p:nvSpPr>
          <p:cNvPr id="343" name="Google Shape;343;g3a2f70455b0_0_193"/>
          <p:cNvSpPr txBox="1"/>
          <p:nvPr/>
        </p:nvSpPr>
        <p:spPr>
          <a:xfrm>
            <a:off x="4288157" y="4139272"/>
            <a:ext cx="137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344" name="Google Shape;344;g3a2f70455b0_0_193"/>
          <p:cNvSpPr txBox="1"/>
          <p:nvPr>
            <p:ph idx="1" type="body"/>
          </p:nvPr>
        </p:nvSpPr>
        <p:spPr>
          <a:xfrm>
            <a:off x="5826629" y="1648484"/>
            <a:ext cx="6223500" cy="4351200"/>
          </a:xfrm>
          <a:prstGeom prst="rect">
            <a:avLst/>
          </a:prstGeom>
          <a:blipFill rotWithShape="1">
            <a:blip r:embed="rId3">
              <a:alphaModFix/>
            </a:blip>
            <a:stretch>
              <a:fillRect b="0" l="-879" r="-589" t="-2519"/>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345" name="Google Shape;345;g3a2f70455b0_0_193"/>
          <p:cNvSpPr/>
          <p:nvPr/>
        </p:nvSpPr>
        <p:spPr>
          <a:xfrm>
            <a:off x="4974686"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g3a2f70455b0_0_193"/>
          <p:cNvSpPr/>
          <p:nvPr/>
        </p:nvSpPr>
        <p:spPr>
          <a:xfrm>
            <a:off x="4539759" y="291498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g3a2f70455b0_0_193"/>
          <p:cNvSpPr/>
          <p:nvPr/>
        </p:nvSpPr>
        <p:spPr>
          <a:xfrm>
            <a:off x="4519867"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g3a2f70455b0_0_193"/>
          <p:cNvSpPr/>
          <p:nvPr/>
        </p:nvSpPr>
        <p:spPr>
          <a:xfrm>
            <a:off x="2459805" y="3488786"/>
            <a:ext cx="1018200" cy="991200"/>
          </a:xfrm>
          <a:prstGeom prst="flowChartConnector">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a2f70455b0_0_2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a:t>
            </a:r>
            <a:endParaRPr/>
          </a:p>
        </p:txBody>
      </p:sp>
      <p:cxnSp>
        <p:nvCxnSpPr>
          <p:cNvPr id="354" name="Google Shape;354;g3a2f70455b0_0_240"/>
          <p:cNvCxnSpPr/>
          <p:nvPr/>
        </p:nvCxnSpPr>
        <p:spPr>
          <a:xfrm>
            <a:off x="1083216" y="5022166"/>
            <a:ext cx="30948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55" name="Google Shape;355;g3a2f70455b0_0_240"/>
          <p:cNvCxnSpPr/>
          <p:nvPr/>
        </p:nvCxnSpPr>
        <p:spPr>
          <a:xfrm rot="10800000">
            <a:off x="1055089" y="2868176"/>
            <a:ext cx="0" cy="2180400"/>
          </a:xfrm>
          <a:prstGeom prst="straightConnector1">
            <a:avLst/>
          </a:prstGeom>
          <a:noFill/>
          <a:ln cap="flat" cmpd="sng" w="9525">
            <a:solidFill>
              <a:schemeClr val="accent1"/>
            </a:solidFill>
            <a:prstDash val="solid"/>
            <a:miter lim="800000"/>
            <a:headEnd len="sm" w="sm" type="none"/>
            <a:tailEnd len="med" w="med" type="triangle"/>
          </a:ln>
        </p:spPr>
      </p:cxnSp>
      <p:sp>
        <p:nvSpPr>
          <p:cNvPr id="356" name="Google Shape;356;g3a2f70455b0_0_240"/>
          <p:cNvSpPr txBox="1"/>
          <p:nvPr/>
        </p:nvSpPr>
        <p:spPr>
          <a:xfrm>
            <a:off x="290995" y="2545648"/>
            <a:ext cx="95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357" name="Google Shape;357;g3a2f70455b0_0_240"/>
          <p:cNvSpPr txBox="1"/>
          <p:nvPr/>
        </p:nvSpPr>
        <p:spPr>
          <a:xfrm>
            <a:off x="3679643" y="5177821"/>
            <a:ext cx="67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358" name="Google Shape;358;g3a2f70455b0_0_240"/>
          <p:cNvSpPr/>
          <p:nvPr/>
        </p:nvSpPr>
        <p:spPr>
          <a:xfrm>
            <a:off x="1751429" y="4234413"/>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g3a2f70455b0_0_240"/>
          <p:cNvSpPr/>
          <p:nvPr/>
        </p:nvSpPr>
        <p:spPr>
          <a:xfrm>
            <a:off x="1674057" y="382176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g3a2f70455b0_0_240"/>
          <p:cNvSpPr/>
          <p:nvPr/>
        </p:nvSpPr>
        <p:spPr>
          <a:xfrm>
            <a:off x="2076161" y="395188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g3a2f70455b0_0_240"/>
          <p:cNvSpPr/>
          <p:nvPr/>
        </p:nvSpPr>
        <p:spPr>
          <a:xfrm>
            <a:off x="1596685" y="46605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g3a2f70455b0_0_240"/>
          <p:cNvSpPr/>
          <p:nvPr/>
        </p:nvSpPr>
        <p:spPr>
          <a:xfrm>
            <a:off x="2643556" y="399643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g3a2f70455b0_0_240"/>
          <p:cNvSpPr/>
          <p:nvPr/>
        </p:nvSpPr>
        <p:spPr>
          <a:xfrm>
            <a:off x="3317632" y="437802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 name="Google Shape;364;g3a2f70455b0_0_240"/>
          <p:cNvSpPr/>
          <p:nvPr/>
        </p:nvSpPr>
        <p:spPr>
          <a:xfrm>
            <a:off x="1679330" y="3832900"/>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 name="Google Shape;365;g3a2f70455b0_0_240"/>
          <p:cNvSpPr/>
          <p:nvPr/>
        </p:nvSpPr>
        <p:spPr>
          <a:xfrm>
            <a:off x="2081434" y="396302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g3a2f70455b0_0_240"/>
          <p:cNvSpPr/>
          <p:nvPr/>
        </p:nvSpPr>
        <p:spPr>
          <a:xfrm>
            <a:off x="2976490" y="324520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g3a2f70455b0_0_240"/>
          <p:cNvSpPr/>
          <p:nvPr/>
        </p:nvSpPr>
        <p:spPr>
          <a:xfrm>
            <a:off x="3720906" y="28376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g3a2f70455b0_0_240"/>
          <p:cNvSpPr/>
          <p:nvPr/>
        </p:nvSpPr>
        <p:spPr>
          <a:xfrm>
            <a:off x="2051837" y="313918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g3a2f70455b0_0_240"/>
          <p:cNvSpPr/>
          <p:nvPr/>
        </p:nvSpPr>
        <p:spPr>
          <a:xfrm>
            <a:off x="3875651" y="360664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g3a2f70455b0_0_240"/>
          <p:cNvSpPr/>
          <p:nvPr/>
        </p:nvSpPr>
        <p:spPr>
          <a:xfrm>
            <a:off x="4160522" y="305155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g3a2f70455b0_0_240"/>
          <p:cNvSpPr/>
          <p:nvPr/>
        </p:nvSpPr>
        <p:spPr>
          <a:xfrm>
            <a:off x="4328162" y="342552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g3a2f70455b0_0_240"/>
          <p:cNvSpPr/>
          <p:nvPr/>
        </p:nvSpPr>
        <p:spPr>
          <a:xfrm>
            <a:off x="4315267" y="3715669"/>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g3a2f70455b0_0_240"/>
          <p:cNvSpPr/>
          <p:nvPr/>
        </p:nvSpPr>
        <p:spPr>
          <a:xfrm>
            <a:off x="4754883" y="354861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g3a2f70455b0_0_240"/>
          <p:cNvSpPr/>
          <p:nvPr/>
        </p:nvSpPr>
        <p:spPr>
          <a:xfrm>
            <a:off x="4237894" y="266323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g3a2f70455b0_0_240"/>
          <p:cNvSpPr/>
          <p:nvPr/>
        </p:nvSpPr>
        <p:spPr>
          <a:xfrm>
            <a:off x="4822286" y="30456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g3a2f70455b0_0_240"/>
          <p:cNvSpPr/>
          <p:nvPr/>
        </p:nvSpPr>
        <p:spPr>
          <a:xfrm>
            <a:off x="2086709" y="4611896"/>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 name="Google Shape;377;g3a2f70455b0_0_240"/>
          <p:cNvSpPr/>
          <p:nvPr/>
        </p:nvSpPr>
        <p:spPr>
          <a:xfrm>
            <a:off x="3021039" y="4206499"/>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g3a2f70455b0_0_240"/>
          <p:cNvSpPr/>
          <p:nvPr/>
        </p:nvSpPr>
        <p:spPr>
          <a:xfrm>
            <a:off x="2668180" y="4255508"/>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g3a2f70455b0_0_240"/>
          <p:cNvSpPr/>
          <p:nvPr/>
        </p:nvSpPr>
        <p:spPr>
          <a:xfrm>
            <a:off x="2950701" y="48129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g3a2f70455b0_0_240"/>
          <p:cNvSpPr/>
          <p:nvPr/>
        </p:nvSpPr>
        <p:spPr>
          <a:xfrm>
            <a:off x="2859261" y="335577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g3a2f70455b0_0_240"/>
          <p:cNvSpPr/>
          <p:nvPr/>
        </p:nvSpPr>
        <p:spPr>
          <a:xfrm>
            <a:off x="2421405" y="348904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g3a2f70455b0_0_240"/>
          <p:cNvSpPr/>
          <p:nvPr/>
        </p:nvSpPr>
        <p:spPr>
          <a:xfrm>
            <a:off x="2488811" y="306936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g3a2f70455b0_0_240"/>
          <p:cNvSpPr/>
          <p:nvPr/>
        </p:nvSpPr>
        <p:spPr>
          <a:xfrm>
            <a:off x="3237916" y="3836711"/>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g3a2f70455b0_0_240"/>
          <p:cNvSpPr/>
          <p:nvPr/>
        </p:nvSpPr>
        <p:spPr>
          <a:xfrm>
            <a:off x="3566161" y="326140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g3a2f70455b0_0_240"/>
          <p:cNvSpPr/>
          <p:nvPr/>
        </p:nvSpPr>
        <p:spPr>
          <a:xfrm>
            <a:off x="4124769" y="395833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g3a2f70455b0_0_240"/>
          <p:cNvSpPr/>
          <p:nvPr/>
        </p:nvSpPr>
        <p:spPr>
          <a:xfrm>
            <a:off x="3995230" y="332323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g3a2f70455b0_0_240"/>
          <p:cNvSpPr txBox="1"/>
          <p:nvPr/>
        </p:nvSpPr>
        <p:spPr>
          <a:xfrm>
            <a:off x="3288325" y="4606031"/>
            <a:ext cx="105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388" name="Google Shape;388;g3a2f70455b0_0_240"/>
          <p:cNvSpPr txBox="1"/>
          <p:nvPr/>
        </p:nvSpPr>
        <p:spPr>
          <a:xfrm>
            <a:off x="4937689" y="3225938"/>
            <a:ext cx="88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389" name="Google Shape;389;g3a2f70455b0_0_240"/>
          <p:cNvSpPr/>
          <p:nvPr/>
        </p:nvSpPr>
        <p:spPr>
          <a:xfrm>
            <a:off x="2923145" y="3932541"/>
            <a:ext cx="115500" cy="885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90" name="Google Shape;390;g3a2f70455b0_0_240"/>
          <p:cNvCxnSpPr/>
          <p:nvPr/>
        </p:nvCxnSpPr>
        <p:spPr>
          <a:xfrm rot="10800000">
            <a:off x="3160937" y="4083868"/>
            <a:ext cx="1151100" cy="340500"/>
          </a:xfrm>
          <a:prstGeom prst="straightConnector1">
            <a:avLst/>
          </a:prstGeom>
          <a:noFill/>
          <a:ln cap="flat" cmpd="sng" w="9525">
            <a:solidFill>
              <a:schemeClr val="accent1"/>
            </a:solidFill>
            <a:prstDash val="solid"/>
            <a:miter lim="800000"/>
            <a:headEnd len="sm" w="sm" type="none"/>
            <a:tailEnd len="med" w="med" type="triangle"/>
          </a:ln>
        </p:spPr>
      </p:cxnSp>
      <p:sp>
        <p:nvSpPr>
          <p:cNvPr id="391" name="Google Shape;391;g3a2f70455b0_0_240"/>
          <p:cNvSpPr txBox="1"/>
          <p:nvPr/>
        </p:nvSpPr>
        <p:spPr>
          <a:xfrm>
            <a:off x="4288157" y="4139272"/>
            <a:ext cx="137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392" name="Google Shape;392;g3a2f70455b0_0_240"/>
          <p:cNvSpPr txBox="1"/>
          <p:nvPr>
            <p:ph idx="1" type="body"/>
          </p:nvPr>
        </p:nvSpPr>
        <p:spPr>
          <a:xfrm>
            <a:off x="5951221" y="1648484"/>
            <a:ext cx="6099000" cy="4351200"/>
          </a:xfrm>
          <a:prstGeom prst="rect">
            <a:avLst/>
          </a:prstGeom>
          <a:blipFill rotWithShape="1">
            <a:blip r:embed="rId3">
              <a:alphaModFix/>
            </a:blip>
            <a:stretch>
              <a:fillRect b="0" l="-1299" r="0" t="-3219"/>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393" name="Google Shape;393;g3a2f70455b0_0_240"/>
          <p:cNvSpPr/>
          <p:nvPr/>
        </p:nvSpPr>
        <p:spPr>
          <a:xfrm>
            <a:off x="4974686"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4" name="Google Shape;394;g3a2f70455b0_0_240"/>
          <p:cNvSpPr/>
          <p:nvPr/>
        </p:nvSpPr>
        <p:spPr>
          <a:xfrm>
            <a:off x="4539759" y="291498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 name="Google Shape;395;g3a2f70455b0_0_240"/>
          <p:cNvSpPr/>
          <p:nvPr/>
        </p:nvSpPr>
        <p:spPr>
          <a:xfrm>
            <a:off x="4519867"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g3a2f70455b0_0_240"/>
          <p:cNvSpPr/>
          <p:nvPr/>
        </p:nvSpPr>
        <p:spPr>
          <a:xfrm>
            <a:off x="2459805" y="3488786"/>
            <a:ext cx="1018200" cy="991200"/>
          </a:xfrm>
          <a:prstGeom prst="flowChartConnector">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a2f70455b0_0_28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 (Step 1)</a:t>
            </a:r>
            <a:endParaRPr/>
          </a:p>
        </p:txBody>
      </p:sp>
      <p:cxnSp>
        <p:nvCxnSpPr>
          <p:cNvPr id="402" name="Google Shape;402;g3a2f70455b0_0_287"/>
          <p:cNvCxnSpPr/>
          <p:nvPr/>
        </p:nvCxnSpPr>
        <p:spPr>
          <a:xfrm>
            <a:off x="1083216" y="5022166"/>
            <a:ext cx="30948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403" name="Google Shape;403;g3a2f70455b0_0_287"/>
          <p:cNvCxnSpPr/>
          <p:nvPr/>
        </p:nvCxnSpPr>
        <p:spPr>
          <a:xfrm rot="10800000">
            <a:off x="1055089" y="2868176"/>
            <a:ext cx="0" cy="2180400"/>
          </a:xfrm>
          <a:prstGeom prst="straightConnector1">
            <a:avLst/>
          </a:prstGeom>
          <a:noFill/>
          <a:ln cap="flat" cmpd="sng" w="9525">
            <a:solidFill>
              <a:schemeClr val="accent1"/>
            </a:solidFill>
            <a:prstDash val="solid"/>
            <a:miter lim="800000"/>
            <a:headEnd len="sm" w="sm" type="none"/>
            <a:tailEnd len="med" w="med" type="triangle"/>
          </a:ln>
        </p:spPr>
      </p:cxnSp>
      <p:sp>
        <p:nvSpPr>
          <p:cNvPr id="404" name="Google Shape;404;g3a2f70455b0_0_287"/>
          <p:cNvSpPr txBox="1"/>
          <p:nvPr/>
        </p:nvSpPr>
        <p:spPr>
          <a:xfrm>
            <a:off x="290995" y="2545648"/>
            <a:ext cx="95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405" name="Google Shape;405;g3a2f70455b0_0_287"/>
          <p:cNvSpPr txBox="1"/>
          <p:nvPr/>
        </p:nvSpPr>
        <p:spPr>
          <a:xfrm>
            <a:off x="3679643" y="5177821"/>
            <a:ext cx="67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406" name="Google Shape;406;g3a2f70455b0_0_287"/>
          <p:cNvSpPr/>
          <p:nvPr/>
        </p:nvSpPr>
        <p:spPr>
          <a:xfrm>
            <a:off x="1751429" y="4234413"/>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 name="Google Shape;407;g3a2f70455b0_0_287"/>
          <p:cNvSpPr/>
          <p:nvPr/>
        </p:nvSpPr>
        <p:spPr>
          <a:xfrm>
            <a:off x="1674057" y="382176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 name="Google Shape;408;g3a2f70455b0_0_287"/>
          <p:cNvSpPr/>
          <p:nvPr/>
        </p:nvSpPr>
        <p:spPr>
          <a:xfrm>
            <a:off x="2076161" y="395188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g3a2f70455b0_0_287"/>
          <p:cNvSpPr/>
          <p:nvPr/>
        </p:nvSpPr>
        <p:spPr>
          <a:xfrm>
            <a:off x="1596685" y="46605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g3a2f70455b0_0_287"/>
          <p:cNvSpPr/>
          <p:nvPr/>
        </p:nvSpPr>
        <p:spPr>
          <a:xfrm>
            <a:off x="2643556" y="399643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g3a2f70455b0_0_287"/>
          <p:cNvSpPr/>
          <p:nvPr/>
        </p:nvSpPr>
        <p:spPr>
          <a:xfrm>
            <a:off x="3317632" y="437802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g3a2f70455b0_0_287"/>
          <p:cNvSpPr/>
          <p:nvPr/>
        </p:nvSpPr>
        <p:spPr>
          <a:xfrm>
            <a:off x="1679330" y="3832900"/>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g3a2f70455b0_0_287"/>
          <p:cNvSpPr/>
          <p:nvPr/>
        </p:nvSpPr>
        <p:spPr>
          <a:xfrm>
            <a:off x="2081434" y="396302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g3a2f70455b0_0_287"/>
          <p:cNvSpPr/>
          <p:nvPr/>
        </p:nvSpPr>
        <p:spPr>
          <a:xfrm>
            <a:off x="2976490" y="324520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g3a2f70455b0_0_287"/>
          <p:cNvSpPr/>
          <p:nvPr/>
        </p:nvSpPr>
        <p:spPr>
          <a:xfrm>
            <a:off x="3720906" y="28376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g3a2f70455b0_0_287"/>
          <p:cNvSpPr/>
          <p:nvPr/>
        </p:nvSpPr>
        <p:spPr>
          <a:xfrm>
            <a:off x="2051837" y="313918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 name="Google Shape;417;g3a2f70455b0_0_287"/>
          <p:cNvSpPr/>
          <p:nvPr/>
        </p:nvSpPr>
        <p:spPr>
          <a:xfrm>
            <a:off x="3875651" y="360664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g3a2f70455b0_0_287"/>
          <p:cNvSpPr/>
          <p:nvPr/>
        </p:nvSpPr>
        <p:spPr>
          <a:xfrm>
            <a:off x="4160522" y="305155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g3a2f70455b0_0_287"/>
          <p:cNvSpPr/>
          <p:nvPr/>
        </p:nvSpPr>
        <p:spPr>
          <a:xfrm>
            <a:off x="4328162" y="342552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g3a2f70455b0_0_287"/>
          <p:cNvSpPr/>
          <p:nvPr/>
        </p:nvSpPr>
        <p:spPr>
          <a:xfrm>
            <a:off x="4315267" y="3715669"/>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g3a2f70455b0_0_287"/>
          <p:cNvSpPr/>
          <p:nvPr/>
        </p:nvSpPr>
        <p:spPr>
          <a:xfrm>
            <a:off x="4754883" y="354861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2" name="Google Shape;422;g3a2f70455b0_0_287"/>
          <p:cNvSpPr/>
          <p:nvPr/>
        </p:nvSpPr>
        <p:spPr>
          <a:xfrm>
            <a:off x="4237894" y="266323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g3a2f70455b0_0_287"/>
          <p:cNvSpPr/>
          <p:nvPr/>
        </p:nvSpPr>
        <p:spPr>
          <a:xfrm>
            <a:off x="4822286" y="30456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g3a2f70455b0_0_287"/>
          <p:cNvSpPr/>
          <p:nvPr/>
        </p:nvSpPr>
        <p:spPr>
          <a:xfrm>
            <a:off x="2086709" y="4611896"/>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 name="Google Shape;425;g3a2f70455b0_0_287"/>
          <p:cNvSpPr/>
          <p:nvPr/>
        </p:nvSpPr>
        <p:spPr>
          <a:xfrm>
            <a:off x="3021039" y="4206499"/>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 name="Google Shape;426;g3a2f70455b0_0_287"/>
          <p:cNvSpPr/>
          <p:nvPr/>
        </p:nvSpPr>
        <p:spPr>
          <a:xfrm>
            <a:off x="2668180" y="4255508"/>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g3a2f70455b0_0_287"/>
          <p:cNvSpPr/>
          <p:nvPr/>
        </p:nvSpPr>
        <p:spPr>
          <a:xfrm>
            <a:off x="2950701" y="48129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g3a2f70455b0_0_287"/>
          <p:cNvSpPr/>
          <p:nvPr/>
        </p:nvSpPr>
        <p:spPr>
          <a:xfrm>
            <a:off x="2859261" y="335577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 name="Google Shape;429;g3a2f70455b0_0_287"/>
          <p:cNvSpPr/>
          <p:nvPr/>
        </p:nvSpPr>
        <p:spPr>
          <a:xfrm>
            <a:off x="2421405" y="348904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g3a2f70455b0_0_287"/>
          <p:cNvSpPr/>
          <p:nvPr/>
        </p:nvSpPr>
        <p:spPr>
          <a:xfrm>
            <a:off x="2488811" y="306936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1" name="Google Shape;431;g3a2f70455b0_0_287"/>
          <p:cNvSpPr/>
          <p:nvPr/>
        </p:nvSpPr>
        <p:spPr>
          <a:xfrm>
            <a:off x="3237916" y="3836711"/>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g3a2f70455b0_0_287"/>
          <p:cNvSpPr/>
          <p:nvPr/>
        </p:nvSpPr>
        <p:spPr>
          <a:xfrm>
            <a:off x="3566161" y="326140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g3a2f70455b0_0_287"/>
          <p:cNvSpPr/>
          <p:nvPr/>
        </p:nvSpPr>
        <p:spPr>
          <a:xfrm>
            <a:off x="4124769" y="395833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4" name="Google Shape;434;g3a2f70455b0_0_287"/>
          <p:cNvSpPr/>
          <p:nvPr/>
        </p:nvSpPr>
        <p:spPr>
          <a:xfrm>
            <a:off x="3995230" y="332323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g3a2f70455b0_0_287"/>
          <p:cNvSpPr txBox="1"/>
          <p:nvPr/>
        </p:nvSpPr>
        <p:spPr>
          <a:xfrm>
            <a:off x="3288325" y="4606031"/>
            <a:ext cx="105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436" name="Google Shape;436;g3a2f70455b0_0_287"/>
          <p:cNvSpPr txBox="1"/>
          <p:nvPr/>
        </p:nvSpPr>
        <p:spPr>
          <a:xfrm>
            <a:off x="4937689" y="3225938"/>
            <a:ext cx="88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437" name="Google Shape;437;g3a2f70455b0_0_287"/>
          <p:cNvSpPr/>
          <p:nvPr/>
        </p:nvSpPr>
        <p:spPr>
          <a:xfrm>
            <a:off x="2923145" y="3932541"/>
            <a:ext cx="115500" cy="885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38" name="Google Shape;438;g3a2f70455b0_0_287"/>
          <p:cNvCxnSpPr/>
          <p:nvPr/>
        </p:nvCxnSpPr>
        <p:spPr>
          <a:xfrm rot="10800000">
            <a:off x="3160937" y="4083868"/>
            <a:ext cx="1151100" cy="340500"/>
          </a:xfrm>
          <a:prstGeom prst="straightConnector1">
            <a:avLst/>
          </a:prstGeom>
          <a:noFill/>
          <a:ln cap="flat" cmpd="sng" w="9525">
            <a:solidFill>
              <a:schemeClr val="accent1"/>
            </a:solidFill>
            <a:prstDash val="solid"/>
            <a:miter lim="800000"/>
            <a:headEnd len="sm" w="sm" type="none"/>
            <a:tailEnd len="med" w="med" type="triangle"/>
          </a:ln>
        </p:spPr>
      </p:cxnSp>
      <p:sp>
        <p:nvSpPr>
          <p:cNvPr id="439" name="Google Shape;439;g3a2f70455b0_0_287"/>
          <p:cNvSpPr txBox="1"/>
          <p:nvPr/>
        </p:nvSpPr>
        <p:spPr>
          <a:xfrm>
            <a:off x="4288157" y="4139272"/>
            <a:ext cx="137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440" name="Google Shape;440;g3a2f70455b0_0_287"/>
          <p:cNvSpPr txBox="1"/>
          <p:nvPr>
            <p:ph idx="1" type="body"/>
          </p:nvPr>
        </p:nvSpPr>
        <p:spPr>
          <a:xfrm>
            <a:off x="5951221" y="1648484"/>
            <a:ext cx="6099000" cy="4351200"/>
          </a:xfrm>
          <a:prstGeom prst="rect">
            <a:avLst/>
          </a:prstGeom>
          <a:blipFill rotWithShape="1">
            <a:blip r:embed="rId3">
              <a:alphaModFix/>
            </a:blip>
            <a:stretch>
              <a:fillRect b="0" l="-2499" r="0" t="-3078"/>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441" name="Google Shape;441;g3a2f70455b0_0_287"/>
          <p:cNvSpPr/>
          <p:nvPr/>
        </p:nvSpPr>
        <p:spPr>
          <a:xfrm>
            <a:off x="4974686"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g3a2f70455b0_0_287"/>
          <p:cNvSpPr/>
          <p:nvPr/>
        </p:nvSpPr>
        <p:spPr>
          <a:xfrm>
            <a:off x="4539759" y="291498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g3a2f70455b0_0_287"/>
          <p:cNvSpPr/>
          <p:nvPr/>
        </p:nvSpPr>
        <p:spPr>
          <a:xfrm>
            <a:off x="4519867"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g3a2f70455b0_0_287"/>
          <p:cNvSpPr/>
          <p:nvPr/>
        </p:nvSpPr>
        <p:spPr>
          <a:xfrm>
            <a:off x="2459805" y="3488786"/>
            <a:ext cx="1018200" cy="991200"/>
          </a:xfrm>
          <a:prstGeom prst="flowChartConnector">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a2f70455b0_0_3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 (Step 2)</a:t>
            </a:r>
            <a:endParaRPr/>
          </a:p>
        </p:txBody>
      </p:sp>
      <p:cxnSp>
        <p:nvCxnSpPr>
          <p:cNvPr id="450" name="Google Shape;450;g3a2f70455b0_0_334"/>
          <p:cNvCxnSpPr/>
          <p:nvPr/>
        </p:nvCxnSpPr>
        <p:spPr>
          <a:xfrm>
            <a:off x="1083216" y="5022166"/>
            <a:ext cx="30948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451" name="Google Shape;451;g3a2f70455b0_0_334"/>
          <p:cNvCxnSpPr/>
          <p:nvPr/>
        </p:nvCxnSpPr>
        <p:spPr>
          <a:xfrm rot="10800000">
            <a:off x="1055089" y="2868176"/>
            <a:ext cx="0" cy="2180400"/>
          </a:xfrm>
          <a:prstGeom prst="straightConnector1">
            <a:avLst/>
          </a:prstGeom>
          <a:noFill/>
          <a:ln cap="flat" cmpd="sng" w="9525">
            <a:solidFill>
              <a:schemeClr val="accent1"/>
            </a:solidFill>
            <a:prstDash val="solid"/>
            <a:miter lim="800000"/>
            <a:headEnd len="sm" w="sm" type="none"/>
            <a:tailEnd len="med" w="med" type="triangle"/>
          </a:ln>
        </p:spPr>
      </p:cxnSp>
      <p:sp>
        <p:nvSpPr>
          <p:cNvPr id="452" name="Google Shape;452;g3a2f70455b0_0_334"/>
          <p:cNvSpPr txBox="1"/>
          <p:nvPr/>
        </p:nvSpPr>
        <p:spPr>
          <a:xfrm>
            <a:off x="290995" y="2545648"/>
            <a:ext cx="95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453" name="Google Shape;453;g3a2f70455b0_0_334"/>
          <p:cNvSpPr txBox="1"/>
          <p:nvPr/>
        </p:nvSpPr>
        <p:spPr>
          <a:xfrm>
            <a:off x="3679643" y="5177821"/>
            <a:ext cx="67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454" name="Google Shape;454;g3a2f70455b0_0_334"/>
          <p:cNvSpPr/>
          <p:nvPr/>
        </p:nvSpPr>
        <p:spPr>
          <a:xfrm>
            <a:off x="1751429" y="4234413"/>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5" name="Google Shape;455;g3a2f70455b0_0_334"/>
          <p:cNvSpPr/>
          <p:nvPr/>
        </p:nvSpPr>
        <p:spPr>
          <a:xfrm>
            <a:off x="1674057" y="382176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 name="Google Shape;456;g3a2f70455b0_0_334"/>
          <p:cNvSpPr/>
          <p:nvPr/>
        </p:nvSpPr>
        <p:spPr>
          <a:xfrm>
            <a:off x="2076161" y="395188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7" name="Google Shape;457;g3a2f70455b0_0_334"/>
          <p:cNvSpPr/>
          <p:nvPr/>
        </p:nvSpPr>
        <p:spPr>
          <a:xfrm>
            <a:off x="1596685" y="46605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g3a2f70455b0_0_334"/>
          <p:cNvSpPr/>
          <p:nvPr/>
        </p:nvSpPr>
        <p:spPr>
          <a:xfrm>
            <a:off x="2643556" y="399643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g3a2f70455b0_0_334"/>
          <p:cNvSpPr/>
          <p:nvPr/>
        </p:nvSpPr>
        <p:spPr>
          <a:xfrm>
            <a:off x="3317632" y="437802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0" name="Google Shape;460;g3a2f70455b0_0_334"/>
          <p:cNvSpPr/>
          <p:nvPr/>
        </p:nvSpPr>
        <p:spPr>
          <a:xfrm>
            <a:off x="1679330" y="3832900"/>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g3a2f70455b0_0_334"/>
          <p:cNvSpPr/>
          <p:nvPr/>
        </p:nvSpPr>
        <p:spPr>
          <a:xfrm>
            <a:off x="2081434" y="396302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2" name="Google Shape;462;g3a2f70455b0_0_334"/>
          <p:cNvSpPr/>
          <p:nvPr/>
        </p:nvSpPr>
        <p:spPr>
          <a:xfrm>
            <a:off x="2976490" y="324520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g3a2f70455b0_0_334"/>
          <p:cNvSpPr/>
          <p:nvPr/>
        </p:nvSpPr>
        <p:spPr>
          <a:xfrm>
            <a:off x="3720906" y="28376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4" name="Google Shape;464;g3a2f70455b0_0_334"/>
          <p:cNvSpPr/>
          <p:nvPr/>
        </p:nvSpPr>
        <p:spPr>
          <a:xfrm>
            <a:off x="2051837" y="313918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g3a2f70455b0_0_334"/>
          <p:cNvSpPr/>
          <p:nvPr/>
        </p:nvSpPr>
        <p:spPr>
          <a:xfrm>
            <a:off x="3875651" y="360664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6" name="Google Shape;466;g3a2f70455b0_0_334"/>
          <p:cNvSpPr/>
          <p:nvPr/>
        </p:nvSpPr>
        <p:spPr>
          <a:xfrm>
            <a:off x="4160522" y="305155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7" name="Google Shape;467;g3a2f70455b0_0_334"/>
          <p:cNvSpPr/>
          <p:nvPr/>
        </p:nvSpPr>
        <p:spPr>
          <a:xfrm>
            <a:off x="4328162" y="342552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g3a2f70455b0_0_334"/>
          <p:cNvSpPr/>
          <p:nvPr/>
        </p:nvSpPr>
        <p:spPr>
          <a:xfrm>
            <a:off x="4315267" y="3715669"/>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g3a2f70455b0_0_334"/>
          <p:cNvSpPr/>
          <p:nvPr/>
        </p:nvSpPr>
        <p:spPr>
          <a:xfrm>
            <a:off x="4754883" y="354861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g3a2f70455b0_0_334"/>
          <p:cNvSpPr/>
          <p:nvPr/>
        </p:nvSpPr>
        <p:spPr>
          <a:xfrm>
            <a:off x="4237894" y="266323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 name="Google Shape;471;g3a2f70455b0_0_334"/>
          <p:cNvSpPr/>
          <p:nvPr/>
        </p:nvSpPr>
        <p:spPr>
          <a:xfrm>
            <a:off x="4822286" y="30456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2" name="Google Shape;472;g3a2f70455b0_0_334"/>
          <p:cNvSpPr/>
          <p:nvPr/>
        </p:nvSpPr>
        <p:spPr>
          <a:xfrm>
            <a:off x="2086709" y="4611896"/>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3" name="Google Shape;473;g3a2f70455b0_0_334"/>
          <p:cNvSpPr/>
          <p:nvPr/>
        </p:nvSpPr>
        <p:spPr>
          <a:xfrm>
            <a:off x="3021039" y="4206499"/>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 name="Google Shape;474;g3a2f70455b0_0_334"/>
          <p:cNvSpPr/>
          <p:nvPr/>
        </p:nvSpPr>
        <p:spPr>
          <a:xfrm>
            <a:off x="2668180" y="4255508"/>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g3a2f70455b0_0_334"/>
          <p:cNvSpPr/>
          <p:nvPr/>
        </p:nvSpPr>
        <p:spPr>
          <a:xfrm>
            <a:off x="2950701" y="48129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6" name="Google Shape;476;g3a2f70455b0_0_334"/>
          <p:cNvSpPr/>
          <p:nvPr/>
        </p:nvSpPr>
        <p:spPr>
          <a:xfrm>
            <a:off x="2859261" y="335577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g3a2f70455b0_0_334"/>
          <p:cNvSpPr/>
          <p:nvPr/>
        </p:nvSpPr>
        <p:spPr>
          <a:xfrm>
            <a:off x="2421405" y="348904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8" name="Google Shape;478;g3a2f70455b0_0_334"/>
          <p:cNvSpPr/>
          <p:nvPr/>
        </p:nvSpPr>
        <p:spPr>
          <a:xfrm>
            <a:off x="2488811" y="306936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g3a2f70455b0_0_334"/>
          <p:cNvSpPr/>
          <p:nvPr/>
        </p:nvSpPr>
        <p:spPr>
          <a:xfrm>
            <a:off x="3237916" y="3836711"/>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0" name="Google Shape;480;g3a2f70455b0_0_334"/>
          <p:cNvSpPr/>
          <p:nvPr/>
        </p:nvSpPr>
        <p:spPr>
          <a:xfrm>
            <a:off x="3566161" y="326140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 name="Google Shape;481;g3a2f70455b0_0_334"/>
          <p:cNvSpPr/>
          <p:nvPr/>
        </p:nvSpPr>
        <p:spPr>
          <a:xfrm>
            <a:off x="4124769" y="395833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2" name="Google Shape;482;g3a2f70455b0_0_334"/>
          <p:cNvSpPr/>
          <p:nvPr/>
        </p:nvSpPr>
        <p:spPr>
          <a:xfrm>
            <a:off x="3995230" y="332323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3" name="Google Shape;483;g3a2f70455b0_0_334"/>
          <p:cNvSpPr txBox="1"/>
          <p:nvPr/>
        </p:nvSpPr>
        <p:spPr>
          <a:xfrm>
            <a:off x="3288325" y="4606031"/>
            <a:ext cx="105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484" name="Google Shape;484;g3a2f70455b0_0_334"/>
          <p:cNvSpPr txBox="1"/>
          <p:nvPr/>
        </p:nvSpPr>
        <p:spPr>
          <a:xfrm>
            <a:off x="4937689" y="3225938"/>
            <a:ext cx="88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485" name="Google Shape;485;g3a2f70455b0_0_334"/>
          <p:cNvSpPr/>
          <p:nvPr/>
        </p:nvSpPr>
        <p:spPr>
          <a:xfrm>
            <a:off x="2923145" y="3932541"/>
            <a:ext cx="115500" cy="885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86" name="Google Shape;486;g3a2f70455b0_0_334"/>
          <p:cNvCxnSpPr/>
          <p:nvPr/>
        </p:nvCxnSpPr>
        <p:spPr>
          <a:xfrm rot="10800000">
            <a:off x="3160937" y="4083868"/>
            <a:ext cx="1151100" cy="340500"/>
          </a:xfrm>
          <a:prstGeom prst="straightConnector1">
            <a:avLst/>
          </a:prstGeom>
          <a:noFill/>
          <a:ln cap="flat" cmpd="sng" w="9525">
            <a:solidFill>
              <a:schemeClr val="accent1"/>
            </a:solidFill>
            <a:prstDash val="solid"/>
            <a:miter lim="800000"/>
            <a:headEnd len="sm" w="sm" type="none"/>
            <a:tailEnd len="med" w="med" type="triangle"/>
          </a:ln>
        </p:spPr>
      </p:cxnSp>
      <p:sp>
        <p:nvSpPr>
          <p:cNvPr id="487" name="Google Shape;487;g3a2f70455b0_0_334"/>
          <p:cNvSpPr txBox="1"/>
          <p:nvPr/>
        </p:nvSpPr>
        <p:spPr>
          <a:xfrm>
            <a:off x="4288157" y="4139272"/>
            <a:ext cx="137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488" name="Google Shape;488;g3a2f70455b0_0_334"/>
          <p:cNvSpPr txBox="1"/>
          <p:nvPr>
            <p:ph idx="1" type="body"/>
          </p:nvPr>
        </p:nvSpPr>
        <p:spPr>
          <a:xfrm>
            <a:off x="5951221" y="1648484"/>
            <a:ext cx="6099000" cy="4351200"/>
          </a:xfrm>
          <a:prstGeom prst="rect">
            <a:avLst/>
          </a:prstGeom>
          <a:blipFill rotWithShape="1">
            <a:blip r:embed="rId3">
              <a:alphaModFix/>
            </a:blip>
            <a:stretch>
              <a:fillRect b="0" l="-2499" r="0" t="-3078"/>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
        <p:nvSpPr>
          <p:cNvPr id="489" name="Google Shape;489;g3a2f70455b0_0_334"/>
          <p:cNvSpPr/>
          <p:nvPr/>
        </p:nvSpPr>
        <p:spPr>
          <a:xfrm>
            <a:off x="4974686"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 name="Google Shape;490;g3a2f70455b0_0_334"/>
          <p:cNvSpPr/>
          <p:nvPr/>
        </p:nvSpPr>
        <p:spPr>
          <a:xfrm>
            <a:off x="4539759" y="291498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 name="Google Shape;491;g3a2f70455b0_0_334"/>
          <p:cNvSpPr/>
          <p:nvPr/>
        </p:nvSpPr>
        <p:spPr>
          <a:xfrm>
            <a:off x="4519867"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g3a2f70455b0_0_334"/>
          <p:cNvSpPr/>
          <p:nvPr/>
        </p:nvSpPr>
        <p:spPr>
          <a:xfrm>
            <a:off x="2459805" y="3488786"/>
            <a:ext cx="1018200" cy="991200"/>
          </a:xfrm>
          <a:prstGeom prst="flowChartConnector">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a2f70455b0_0_38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Naïve Bayes Classifier (Step 3)</a:t>
            </a:r>
            <a:endParaRPr/>
          </a:p>
        </p:txBody>
      </p:sp>
      <p:cxnSp>
        <p:nvCxnSpPr>
          <p:cNvPr id="498" name="Google Shape;498;g3a2f70455b0_0_381"/>
          <p:cNvCxnSpPr/>
          <p:nvPr/>
        </p:nvCxnSpPr>
        <p:spPr>
          <a:xfrm>
            <a:off x="1083216" y="5022166"/>
            <a:ext cx="30948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499" name="Google Shape;499;g3a2f70455b0_0_381"/>
          <p:cNvCxnSpPr/>
          <p:nvPr/>
        </p:nvCxnSpPr>
        <p:spPr>
          <a:xfrm rot="10800000">
            <a:off x="1055089" y="2868176"/>
            <a:ext cx="0" cy="2180400"/>
          </a:xfrm>
          <a:prstGeom prst="straightConnector1">
            <a:avLst/>
          </a:prstGeom>
          <a:noFill/>
          <a:ln cap="flat" cmpd="sng" w="9525">
            <a:solidFill>
              <a:schemeClr val="accent1"/>
            </a:solidFill>
            <a:prstDash val="solid"/>
            <a:miter lim="800000"/>
            <a:headEnd len="sm" w="sm" type="none"/>
            <a:tailEnd len="med" w="med" type="triangle"/>
          </a:ln>
        </p:spPr>
      </p:cxnSp>
      <p:sp>
        <p:nvSpPr>
          <p:cNvPr id="500" name="Google Shape;500;g3a2f70455b0_0_381"/>
          <p:cNvSpPr txBox="1"/>
          <p:nvPr/>
        </p:nvSpPr>
        <p:spPr>
          <a:xfrm>
            <a:off x="290995" y="2545648"/>
            <a:ext cx="956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Salary </a:t>
            </a:r>
            <a:endParaRPr sz="1800">
              <a:solidFill>
                <a:schemeClr val="dk1"/>
              </a:solidFill>
              <a:latin typeface="Calibri"/>
              <a:ea typeface="Calibri"/>
              <a:cs typeface="Calibri"/>
              <a:sym typeface="Calibri"/>
            </a:endParaRPr>
          </a:p>
        </p:txBody>
      </p:sp>
      <p:sp>
        <p:nvSpPr>
          <p:cNvPr id="501" name="Google Shape;501;g3a2f70455b0_0_381"/>
          <p:cNvSpPr txBox="1"/>
          <p:nvPr/>
        </p:nvSpPr>
        <p:spPr>
          <a:xfrm>
            <a:off x="3679643" y="5177821"/>
            <a:ext cx="67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 </a:t>
            </a:r>
            <a:endParaRPr sz="1800">
              <a:solidFill>
                <a:schemeClr val="dk1"/>
              </a:solidFill>
              <a:latin typeface="Calibri"/>
              <a:ea typeface="Calibri"/>
              <a:cs typeface="Calibri"/>
              <a:sym typeface="Calibri"/>
            </a:endParaRPr>
          </a:p>
        </p:txBody>
      </p:sp>
      <p:sp>
        <p:nvSpPr>
          <p:cNvPr id="502" name="Google Shape;502;g3a2f70455b0_0_381"/>
          <p:cNvSpPr/>
          <p:nvPr/>
        </p:nvSpPr>
        <p:spPr>
          <a:xfrm>
            <a:off x="1751429" y="4234413"/>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g3a2f70455b0_0_381"/>
          <p:cNvSpPr/>
          <p:nvPr/>
        </p:nvSpPr>
        <p:spPr>
          <a:xfrm>
            <a:off x="1674057" y="382176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4" name="Google Shape;504;g3a2f70455b0_0_381"/>
          <p:cNvSpPr/>
          <p:nvPr/>
        </p:nvSpPr>
        <p:spPr>
          <a:xfrm>
            <a:off x="2076161" y="395188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g3a2f70455b0_0_381"/>
          <p:cNvSpPr/>
          <p:nvPr/>
        </p:nvSpPr>
        <p:spPr>
          <a:xfrm>
            <a:off x="1596685" y="46605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6" name="Google Shape;506;g3a2f70455b0_0_381"/>
          <p:cNvSpPr/>
          <p:nvPr/>
        </p:nvSpPr>
        <p:spPr>
          <a:xfrm>
            <a:off x="2643556" y="399643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 name="Google Shape;507;g3a2f70455b0_0_381"/>
          <p:cNvSpPr/>
          <p:nvPr/>
        </p:nvSpPr>
        <p:spPr>
          <a:xfrm>
            <a:off x="3317632" y="4378022"/>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8" name="Google Shape;508;g3a2f70455b0_0_381"/>
          <p:cNvSpPr/>
          <p:nvPr/>
        </p:nvSpPr>
        <p:spPr>
          <a:xfrm>
            <a:off x="1679330" y="3832900"/>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g3a2f70455b0_0_381"/>
          <p:cNvSpPr/>
          <p:nvPr/>
        </p:nvSpPr>
        <p:spPr>
          <a:xfrm>
            <a:off x="2081434" y="3963025"/>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0" name="Google Shape;510;g3a2f70455b0_0_381"/>
          <p:cNvSpPr/>
          <p:nvPr/>
        </p:nvSpPr>
        <p:spPr>
          <a:xfrm>
            <a:off x="2976490" y="324520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g3a2f70455b0_0_381"/>
          <p:cNvSpPr/>
          <p:nvPr/>
        </p:nvSpPr>
        <p:spPr>
          <a:xfrm>
            <a:off x="3720906" y="283761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2" name="Google Shape;512;g3a2f70455b0_0_381"/>
          <p:cNvSpPr/>
          <p:nvPr/>
        </p:nvSpPr>
        <p:spPr>
          <a:xfrm>
            <a:off x="2051837" y="313918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g3a2f70455b0_0_381"/>
          <p:cNvSpPr/>
          <p:nvPr/>
        </p:nvSpPr>
        <p:spPr>
          <a:xfrm>
            <a:off x="3875651" y="3606644"/>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g3a2f70455b0_0_381"/>
          <p:cNvSpPr/>
          <p:nvPr/>
        </p:nvSpPr>
        <p:spPr>
          <a:xfrm>
            <a:off x="4160522" y="305155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g3a2f70455b0_0_381"/>
          <p:cNvSpPr/>
          <p:nvPr/>
        </p:nvSpPr>
        <p:spPr>
          <a:xfrm>
            <a:off x="4328162" y="342552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6" name="Google Shape;516;g3a2f70455b0_0_381"/>
          <p:cNvSpPr/>
          <p:nvPr/>
        </p:nvSpPr>
        <p:spPr>
          <a:xfrm>
            <a:off x="4315267" y="3715669"/>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g3a2f70455b0_0_381"/>
          <p:cNvSpPr/>
          <p:nvPr/>
        </p:nvSpPr>
        <p:spPr>
          <a:xfrm>
            <a:off x="4754883" y="354861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g3a2f70455b0_0_381"/>
          <p:cNvSpPr/>
          <p:nvPr/>
        </p:nvSpPr>
        <p:spPr>
          <a:xfrm>
            <a:off x="4237894" y="266323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 name="Google Shape;519;g3a2f70455b0_0_381"/>
          <p:cNvSpPr/>
          <p:nvPr/>
        </p:nvSpPr>
        <p:spPr>
          <a:xfrm>
            <a:off x="4822286" y="30456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g3a2f70455b0_0_381"/>
          <p:cNvSpPr/>
          <p:nvPr/>
        </p:nvSpPr>
        <p:spPr>
          <a:xfrm>
            <a:off x="2086709" y="4611896"/>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1" name="Google Shape;521;g3a2f70455b0_0_381"/>
          <p:cNvSpPr/>
          <p:nvPr/>
        </p:nvSpPr>
        <p:spPr>
          <a:xfrm>
            <a:off x="3021039" y="4206499"/>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 name="Google Shape;522;g3a2f70455b0_0_381"/>
          <p:cNvSpPr/>
          <p:nvPr/>
        </p:nvSpPr>
        <p:spPr>
          <a:xfrm>
            <a:off x="2668180" y="4255508"/>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g3a2f70455b0_0_381"/>
          <p:cNvSpPr/>
          <p:nvPr/>
        </p:nvSpPr>
        <p:spPr>
          <a:xfrm>
            <a:off x="2950701" y="4812947"/>
            <a:ext cx="115500" cy="8850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g3a2f70455b0_0_381"/>
          <p:cNvSpPr/>
          <p:nvPr/>
        </p:nvSpPr>
        <p:spPr>
          <a:xfrm>
            <a:off x="2859261" y="3355772"/>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g3a2f70455b0_0_381"/>
          <p:cNvSpPr/>
          <p:nvPr/>
        </p:nvSpPr>
        <p:spPr>
          <a:xfrm>
            <a:off x="2421405" y="348904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 name="Google Shape;526;g3a2f70455b0_0_381"/>
          <p:cNvSpPr/>
          <p:nvPr/>
        </p:nvSpPr>
        <p:spPr>
          <a:xfrm>
            <a:off x="2488811" y="306936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g3a2f70455b0_0_381"/>
          <p:cNvSpPr/>
          <p:nvPr/>
        </p:nvSpPr>
        <p:spPr>
          <a:xfrm>
            <a:off x="3237916" y="3836711"/>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 name="Google Shape;528;g3a2f70455b0_0_381"/>
          <p:cNvSpPr/>
          <p:nvPr/>
        </p:nvSpPr>
        <p:spPr>
          <a:xfrm>
            <a:off x="3566161" y="326140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g3a2f70455b0_0_381"/>
          <p:cNvSpPr/>
          <p:nvPr/>
        </p:nvSpPr>
        <p:spPr>
          <a:xfrm>
            <a:off x="4124769" y="3958336"/>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0" name="Google Shape;530;g3a2f70455b0_0_381"/>
          <p:cNvSpPr/>
          <p:nvPr/>
        </p:nvSpPr>
        <p:spPr>
          <a:xfrm>
            <a:off x="3995230" y="3323238"/>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1" name="Google Shape;531;g3a2f70455b0_0_381"/>
          <p:cNvSpPr txBox="1"/>
          <p:nvPr/>
        </p:nvSpPr>
        <p:spPr>
          <a:xfrm>
            <a:off x="3288325" y="4606031"/>
            <a:ext cx="105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Walks </a:t>
            </a:r>
            <a:endParaRPr sz="1800">
              <a:solidFill>
                <a:schemeClr val="dk1"/>
              </a:solidFill>
              <a:latin typeface="Calibri"/>
              <a:ea typeface="Calibri"/>
              <a:cs typeface="Calibri"/>
              <a:sym typeface="Calibri"/>
            </a:endParaRPr>
          </a:p>
        </p:txBody>
      </p:sp>
      <p:sp>
        <p:nvSpPr>
          <p:cNvPr id="532" name="Google Shape;532;g3a2f70455b0_0_381"/>
          <p:cNvSpPr txBox="1"/>
          <p:nvPr/>
        </p:nvSpPr>
        <p:spPr>
          <a:xfrm>
            <a:off x="4937689" y="3225938"/>
            <a:ext cx="88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Derives </a:t>
            </a:r>
            <a:endParaRPr sz="1800">
              <a:solidFill>
                <a:schemeClr val="dk1"/>
              </a:solidFill>
              <a:latin typeface="Calibri"/>
              <a:ea typeface="Calibri"/>
              <a:cs typeface="Calibri"/>
              <a:sym typeface="Calibri"/>
            </a:endParaRPr>
          </a:p>
        </p:txBody>
      </p:sp>
      <p:sp>
        <p:nvSpPr>
          <p:cNvPr id="533" name="Google Shape;533;g3a2f70455b0_0_381"/>
          <p:cNvSpPr/>
          <p:nvPr/>
        </p:nvSpPr>
        <p:spPr>
          <a:xfrm>
            <a:off x="2923145" y="3932541"/>
            <a:ext cx="115500" cy="88500"/>
          </a:xfrm>
          <a:prstGeom prst="star5">
            <a:avLst>
              <a:gd fmla="val 19098" name="adj"/>
              <a:gd fmla="val 105146" name="hf"/>
              <a:gd fmla="val 110557" name="vf"/>
            </a:avLst>
          </a:prstGeom>
          <a:solidFill>
            <a:schemeClr val="accent1"/>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34" name="Google Shape;534;g3a2f70455b0_0_381"/>
          <p:cNvCxnSpPr/>
          <p:nvPr/>
        </p:nvCxnSpPr>
        <p:spPr>
          <a:xfrm rot="10800000">
            <a:off x="3160937" y="4083868"/>
            <a:ext cx="1151100" cy="340500"/>
          </a:xfrm>
          <a:prstGeom prst="straightConnector1">
            <a:avLst/>
          </a:prstGeom>
          <a:noFill/>
          <a:ln cap="flat" cmpd="sng" w="9525">
            <a:solidFill>
              <a:schemeClr val="accent1"/>
            </a:solidFill>
            <a:prstDash val="solid"/>
            <a:miter lim="800000"/>
            <a:headEnd len="sm" w="sm" type="none"/>
            <a:tailEnd len="med" w="med" type="triangle"/>
          </a:ln>
        </p:spPr>
      </p:cxnSp>
      <p:sp>
        <p:nvSpPr>
          <p:cNvPr id="535" name="Google Shape;535;g3a2f70455b0_0_381"/>
          <p:cNvSpPr txBox="1"/>
          <p:nvPr/>
        </p:nvSpPr>
        <p:spPr>
          <a:xfrm>
            <a:off x="4288157" y="4139272"/>
            <a:ext cx="1375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t>
            </a:r>
            <a:endParaRPr sz="1800">
              <a:solidFill>
                <a:schemeClr val="dk1"/>
              </a:solidFill>
              <a:latin typeface="Calibri"/>
              <a:ea typeface="Calibri"/>
              <a:cs typeface="Calibri"/>
              <a:sym typeface="Calibri"/>
            </a:endParaRPr>
          </a:p>
        </p:txBody>
      </p:sp>
      <p:sp>
        <p:nvSpPr>
          <p:cNvPr id="536" name="Google Shape;536;g3a2f70455b0_0_381"/>
          <p:cNvSpPr txBox="1"/>
          <p:nvPr>
            <p:ph idx="1" type="body"/>
          </p:nvPr>
        </p:nvSpPr>
        <p:spPr>
          <a:xfrm>
            <a:off x="5951221" y="1648484"/>
            <a:ext cx="60990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400"/>
              <a:buChar char="•"/>
            </a:pPr>
            <a:r>
              <a:rPr lang="en-US" sz="3400"/>
              <a:t>P(Walks|X)&gt; P(Drives|X)</a:t>
            </a:r>
            <a:endParaRPr/>
          </a:p>
          <a:p>
            <a:pPr indent="0" lvl="0" marL="228600" rtl="0" algn="l">
              <a:lnSpc>
                <a:spcPct val="90000"/>
              </a:lnSpc>
              <a:spcBef>
                <a:spcPts val="1000"/>
              </a:spcBef>
              <a:spcAft>
                <a:spcPts val="0"/>
              </a:spcAft>
              <a:buClr>
                <a:schemeClr val="dk1"/>
              </a:buClr>
              <a:buSzPts val="3600"/>
              <a:buNone/>
            </a:pPr>
            <a:r>
              <a:t/>
            </a:r>
            <a:endParaRPr sz="3600"/>
          </a:p>
          <a:p>
            <a:pPr indent="-12700" lvl="0" marL="228600" rtl="0" algn="l">
              <a:lnSpc>
                <a:spcPct val="90000"/>
              </a:lnSpc>
              <a:spcBef>
                <a:spcPts val="1000"/>
              </a:spcBef>
              <a:spcAft>
                <a:spcPts val="0"/>
              </a:spcAft>
              <a:buClr>
                <a:schemeClr val="dk1"/>
              </a:buClr>
              <a:buSzPts val="3400"/>
              <a:buNone/>
            </a:pPr>
            <a:r>
              <a:t/>
            </a:r>
            <a:endParaRPr sz="3400"/>
          </a:p>
          <a:p>
            <a:pPr indent="0" lvl="0" marL="0" rtl="0" algn="l">
              <a:lnSpc>
                <a:spcPct val="90000"/>
              </a:lnSpc>
              <a:spcBef>
                <a:spcPts val="1000"/>
              </a:spcBef>
              <a:spcAft>
                <a:spcPts val="0"/>
              </a:spcAft>
              <a:buClr>
                <a:schemeClr val="dk1"/>
              </a:buClr>
              <a:buSzPts val="2800"/>
              <a:buNone/>
            </a:pPr>
            <a:r>
              <a:t/>
            </a:r>
            <a:endParaRPr i="1">
              <a:latin typeface="Cambria Math"/>
              <a:ea typeface="Cambria Math"/>
              <a:cs typeface="Cambria Math"/>
              <a:sym typeface="Cambria Math"/>
            </a:endParaRPr>
          </a:p>
          <a:p>
            <a:pPr indent="-50800" lvl="0" marL="228600" rtl="0" algn="l">
              <a:lnSpc>
                <a:spcPct val="90000"/>
              </a:lnSpc>
              <a:spcBef>
                <a:spcPts val="1000"/>
              </a:spcBef>
              <a:spcAft>
                <a:spcPts val="0"/>
              </a:spcAft>
              <a:buClr>
                <a:schemeClr val="dk1"/>
              </a:buClr>
              <a:buSzPts val="2800"/>
              <a:buNone/>
            </a:pPr>
            <a:r>
              <a:t/>
            </a:r>
            <a:endParaRPr/>
          </a:p>
        </p:txBody>
      </p:sp>
      <p:sp>
        <p:nvSpPr>
          <p:cNvPr id="537" name="Google Shape;537;g3a2f70455b0_0_381"/>
          <p:cNvSpPr/>
          <p:nvPr/>
        </p:nvSpPr>
        <p:spPr>
          <a:xfrm>
            <a:off x="4974686"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8" name="Google Shape;538;g3a2f70455b0_0_381"/>
          <p:cNvSpPr/>
          <p:nvPr/>
        </p:nvSpPr>
        <p:spPr>
          <a:xfrm>
            <a:off x="4539759" y="2914980"/>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g3a2f70455b0_0_381"/>
          <p:cNvSpPr/>
          <p:nvPr/>
        </p:nvSpPr>
        <p:spPr>
          <a:xfrm>
            <a:off x="4519867" y="3198097"/>
            <a:ext cx="115500" cy="88500"/>
          </a:xfrm>
          <a:prstGeom prst="star5">
            <a:avLst>
              <a:gd fmla="val 19098" name="adj"/>
              <a:gd fmla="val 105146" name="hf"/>
              <a:gd fmla="val 110557" name="vf"/>
            </a:avLst>
          </a:prstGeom>
          <a:solidFill>
            <a:srgbClr val="385623"/>
          </a:solidFill>
          <a:ln cap="flat" cmpd="sng" w="12700">
            <a:solidFill>
              <a:srgbClr val="6399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0" name="Google Shape;540;g3a2f70455b0_0_381"/>
          <p:cNvSpPr/>
          <p:nvPr/>
        </p:nvSpPr>
        <p:spPr>
          <a:xfrm>
            <a:off x="2459805" y="3488786"/>
            <a:ext cx="1018200" cy="991200"/>
          </a:xfrm>
          <a:prstGeom prst="flowChartConnector">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g3a2f70455b0_0_4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If more than two classes</a:t>
            </a:r>
            <a:endParaRPr/>
          </a:p>
        </p:txBody>
      </p:sp>
      <p:sp>
        <p:nvSpPr>
          <p:cNvPr id="546" name="Google Shape;546;g3a2f70455b0_0_42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In case of two classes</a:t>
            </a:r>
            <a:endParaRPr/>
          </a:p>
          <a:p>
            <a:pPr indent="-228600" lvl="1" marL="685800" rtl="0" algn="l">
              <a:lnSpc>
                <a:spcPct val="90000"/>
              </a:lnSpc>
              <a:spcBef>
                <a:spcPts val="500"/>
              </a:spcBef>
              <a:spcAft>
                <a:spcPts val="0"/>
              </a:spcAft>
              <a:buClr>
                <a:schemeClr val="dk1"/>
              </a:buClr>
              <a:buSzPts val="2400"/>
              <a:buChar char="•"/>
            </a:pPr>
            <a:r>
              <a:rPr lang="en-US"/>
              <a:t>P(Walks|X) vs P(Drives|X)</a:t>
            </a:r>
            <a:endParaRPr/>
          </a:p>
          <a:p>
            <a:pPr indent="-228600" lvl="1" marL="685800" rtl="0" algn="l">
              <a:lnSpc>
                <a:spcPct val="90000"/>
              </a:lnSpc>
              <a:spcBef>
                <a:spcPts val="500"/>
              </a:spcBef>
              <a:spcAft>
                <a:spcPts val="0"/>
              </a:spcAft>
              <a:buClr>
                <a:schemeClr val="dk1"/>
              </a:buClr>
              <a:buSzPts val="2400"/>
              <a:buChar char="•"/>
            </a:pPr>
            <a:r>
              <a:rPr lang="en-US"/>
              <a:t>We have calculate only one and check if its &gt;.50</a:t>
            </a:r>
            <a:endParaRPr/>
          </a:p>
          <a:p>
            <a:pPr indent="-228600" lvl="1" marL="685800" rtl="0" algn="l">
              <a:lnSpc>
                <a:spcPct val="90000"/>
              </a:lnSpc>
              <a:spcBef>
                <a:spcPts val="500"/>
              </a:spcBef>
              <a:spcAft>
                <a:spcPts val="0"/>
              </a:spcAft>
              <a:buClr>
                <a:schemeClr val="dk1"/>
              </a:buClr>
              <a:buSzPts val="2400"/>
              <a:buChar char="•"/>
            </a:pPr>
            <a:r>
              <a:rPr lang="en-US"/>
              <a:t>No need to calculate second one</a:t>
            </a:r>
            <a:endParaRPr/>
          </a:p>
          <a:p>
            <a:pPr indent="-228600" lvl="0" marL="228600" rtl="0" algn="l">
              <a:lnSpc>
                <a:spcPct val="90000"/>
              </a:lnSpc>
              <a:spcBef>
                <a:spcPts val="1000"/>
              </a:spcBef>
              <a:spcAft>
                <a:spcPts val="0"/>
              </a:spcAft>
              <a:buClr>
                <a:schemeClr val="dk1"/>
              </a:buClr>
              <a:buSzPts val="2800"/>
              <a:buChar char="•"/>
            </a:pPr>
            <a:r>
              <a:rPr lang="en-US"/>
              <a:t>In case if n classes</a:t>
            </a:r>
            <a:endParaRPr/>
          </a:p>
          <a:p>
            <a:pPr indent="-228600" lvl="1" marL="685800" rtl="0" algn="l">
              <a:lnSpc>
                <a:spcPct val="90000"/>
              </a:lnSpc>
              <a:spcBef>
                <a:spcPts val="500"/>
              </a:spcBef>
              <a:spcAft>
                <a:spcPts val="0"/>
              </a:spcAft>
              <a:buClr>
                <a:schemeClr val="dk1"/>
              </a:buClr>
              <a:buSzPts val="2400"/>
              <a:buChar char="•"/>
            </a:pPr>
            <a:r>
              <a:rPr lang="en-US"/>
              <a:t>We need to calculate at least n-1 probabilities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Theorem</a:t>
            </a:r>
            <a:endParaRPr/>
          </a:p>
        </p:txBody>
      </p:sp>
      <p:sp>
        <p:nvSpPr>
          <p:cNvPr id="552" name="Google Shape;552;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Bayes’ theorem is named after Thomas Bayes</a:t>
            </a:r>
            <a:endParaRPr/>
          </a:p>
          <a:p>
            <a:pPr indent="-228600" lvl="0" marL="228600" rtl="0" algn="l">
              <a:lnSpc>
                <a:spcPct val="90000"/>
              </a:lnSpc>
              <a:spcBef>
                <a:spcPts val="1000"/>
              </a:spcBef>
              <a:spcAft>
                <a:spcPts val="0"/>
              </a:spcAft>
              <a:buClr>
                <a:schemeClr val="dk1"/>
              </a:buClr>
              <a:buSzPct val="100000"/>
              <a:buChar char="•"/>
            </a:pPr>
            <a:r>
              <a:rPr lang="en-US"/>
              <a:t>A statistical principle for combining prior knowledge of classes with new evidence gathered from data. </a:t>
            </a:r>
            <a:endParaRPr/>
          </a:p>
          <a:p>
            <a:pPr indent="-228600" lvl="0" marL="228600" rtl="0" algn="l">
              <a:lnSpc>
                <a:spcPct val="90000"/>
              </a:lnSpc>
              <a:spcBef>
                <a:spcPts val="1000"/>
              </a:spcBef>
              <a:spcAft>
                <a:spcPts val="0"/>
              </a:spcAft>
              <a:buClr>
                <a:schemeClr val="dk1"/>
              </a:buClr>
              <a:buSzPct val="100000"/>
              <a:buChar char="•"/>
            </a:pPr>
            <a:r>
              <a:rPr lang="en-US"/>
              <a:t>Let X be a data tuple. </a:t>
            </a:r>
            <a:endParaRPr/>
          </a:p>
          <a:p>
            <a:pPr indent="-228600" lvl="1" marL="685800" rtl="0" algn="l">
              <a:lnSpc>
                <a:spcPct val="90000"/>
              </a:lnSpc>
              <a:spcBef>
                <a:spcPts val="500"/>
              </a:spcBef>
              <a:spcAft>
                <a:spcPts val="0"/>
              </a:spcAft>
              <a:buClr>
                <a:schemeClr val="dk1"/>
              </a:buClr>
              <a:buSzPct val="100000"/>
              <a:buChar char="•"/>
            </a:pPr>
            <a:r>
              <a:rPr lang="en-US"/>
              <a:t>In Bayesian terms, X is considered “evidence.” </a:t>
            </a:r>
            <a:endParaRPr/>
          </a:p>
          <a:p>
            <a:pPr indent="-228600" lvl="1" marL="685800" rtl="0" algn="l">
              <a:lnSpc>
                <a:spcPct val="90000"/>
              </a:lnSpc>
              <a:spcBef>
                <a:spcPts val="500"/>
              </a:spcBef>
              <a:spcAft>
                <a:spcPts val="0"/>
              </a:spcAft>
              <a:buClr>
                <a:schemeClr val="dk1"/>
              </a:buClr>
              <a:buSzPct val="100000"/>
              <a:buChar char="•"/>
            </a:pPr>
            <a:r>
              <a:rPr lang="en-US"/>
              <a:t>As usual, it is described by measurements made on a set of n attributes. </a:t>
            </a:r>
            <a:endParaRPr/>
          </a:p>
          <a:p>
            <a:pPr indent="-228600" lvl="0" marL="228600" rtl="0" algn="l">
              <a:lnSpc>
                <a:spcPct val="90000"/>
              </a:lnSpc>
              <a:spcBef>
                <a:spcPts val="1000"/>
              </a:spcBef>
              <a:spcAft>
                <a:spcPts val="0"/>
              </a:spcAft>
              <a:buClr>
                <a:schemeClr val="dk1"/>
              </a:buClr>
              <a:buSzPct val="100000"/>
              <a:buChar char="•"/>
            </a:pPr>
            <a:r>
              <a:rPr lang="en-US"/>
              <a:t>Let H be some hypothesis such as that the data tuple X belongs to a specified class C. </a:t>
            </a:r>
            <a:endParaRPr/>
          </a:p>
          <a:p>
            <a:pPr indent="-228600" lvl="0" marL="228600" rtl="0" algn="l">
              <a:lnSpc>
                <a:spcPct val="90000"/>
              </a:lnSpc>
              <a:spcBef>
                <a:spcPts val="1000"/>
              </a:spcBef>
              <a:spcAft>
                <a:spcPts val="0"/>
              </a:spcAft>
              <a:buClr>
                <a:schemeClr val="dk1"/>
              </a:buClr>
              <a:buSzPct val="100000"/>
              <a:buChar char="•"/>
            </a:pPr>
            <a:r>
              <a:rPr lang="en-US"/>
              <a:t>For classification problems, we want to determine P(H|X)</a:t>
            </a:r>
            <a:endParaRPr/>
          </a:p>
          <a:p>
            <a:pPr indent="-228600" lvl="1" marL="685800" rtl="0" algn="l">
              <a:lnSpc>
                <a:spcPct val="90000"/>
              </a:lnSpc>
              <a:spcBef>
                <a:spcPts val="500"/>
              </a:spcBef>
              <a:spcAft>
                <a:spcPts val="0"/>
              </a:spcAft>
              <a:buClr>
                <a:schemeClr val="dk1"/>
              </a:buClr>
              <a:buSzPct val="100000"/>
              <a:buChar char="•"/>
            </a:pPr>
            <a:r>
              <a:rPr lang="en-US"/>
              <a:t>the probability that the hypothesis H holds given the “evidence” or observed data tuple X. </a:t>
            </a:r>
            <a:endParaRPr/>
          </a:p>
          <a:p>
            <a:pPr indent="-228600" lvl="0" marL="228600" rtl="0" algn="l">
              <a:lnSpc>
                <a:spcPct val="90000"/>
              </a:lnSpc>
              <a:spcBef>
                <a:spcPts val="1000"/>
              </a:spcBef>
              <a:spcAft>
                <a:spcPts val="0"/>
              </a:spcAft>
              <a:buClr>
                <a:schemeClr val="dk1"/>
              </a:buClr>
              <a:buSzPct val="100000"/>
              <a:buChar char="•"/>
            </a:pPr>
            <a:r>
              <a:rPr lang="en-US"/>
              <a:t>In other words, we are looking for the probability that tuple X belongs to class C, given that we know the attribute description of X.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Posteriori probability</a:t>
            </a:r>
            <a:endParaRPr/>
          </a:p>
        </p:txBody>
      </p:sp>
      <p:sp>
        <p:nvSpPr>
          <p:cNvPr id="558" name="Google Shape;558;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P(H|X) is the posterior probability, or a posteriori probability, of H conditioned on X. </a:t>
            </a:r>
            <a:endParaRPr/>
          </a:p>
          <a:p>
            <a:pPr indent="-228600" lvl="0" marL="228600" rtl="0" algn="l">
              <a:lnSpc>
                <a:spcPct val="90000"/>
              </a:lnSpc>
              <a:spcBef>
                <a:spcPts val="1000"/>
              </a:spcBef>
              <a:spcAft>
                <a:spcPts val="0"/>
              </a:spcAft>
              <a:buClr>
                <a:schemeClr val="dk1"/>
              </a:buClr>
              <a:buSzPts val="2800"/>
              <a:buChar char="•"/>
            </a:pPr>
            <a:r>
              <a:rPr lang="en-US"/>
              <a:t>For example, suppose our world of data tuples is confined to customers described by the attributes age and income, respectively, and that X is a 35-year-old customer with an income of $40,000. </a:t>
            </a:r>
            <a:endParaRPr/>
          </a:p>
          <a:p>
            <a:pPr indent="-228600" lvl="0" marL="228600" rtl="0" algn="l">
              <a:lnSpc>
                <a:spcPct val="90000"/>
              </a:lnSpc>
              <a:spcBef>
                <a:spcPts val="1000"/>
              </a:spcBef>
              <a:spcAft>
                <a:spcPts val="0"/>
              </a:spcAft>
              <a:buClr>
                <a:schemeClr val="dk1"/>
              </a:buClr>
              <a:buSzPts val="2800"/>
              <a:buChar char="•"/>
            </a:pPr>
            <a:r>
              <a:rPr lang="en-US"/>
              <a:t>Suppose that H is the hypothesis that our customer will buy a computer. </a:t>
            </a:r>
            <a:endParaRPr/>
          </a:p>
          <a:p>
            <a:pPr indent="-228600" lvl="0" marL="228600" rtl="0" algn="l">
              <a:lnSpc>
                <a:spcPct val="90000"/>
              </a:lnSpc>
              <a:spcBef>
                <a:spcPts val="1000"/>
              </a:spcBef>
              <a:spcAft>
                <a:spcPts val="0"/>
              </a:spcAft>
              <a:buClr>
                <a:schemeClr val="dk1"/>
              </a:buClr>
              <a:buSzPts val="2800"/>
              <a:buChar char="•"/>
            </a:pPr>
            <a:r>
              <a:rPr lang="en-US"/>
              <a:t>Then P(H|X) reflects the probability that customer X will buy a computer given that we know the customer’s age and income.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Prior Probability</a:t>
            </a:r>
            <a:endParaRPr/>
          </a:p>
        </p:txBody>
      </p:sp>
      <p:sp>
        <p:nvSpPr>
          <p:cNvPr id="564" name="Google Shape;564;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contrast, P(H) is the prior probability, or a priori probability, of H. </a:t>
            </a:r>
            <a:endParaRPr/>
          </a:p>
          <a:p>
            <a:pPr indent="-228600" lvl="0" marL="228600" rtl="0" algn="l">
              <a:lnSpc>
                <a:spcPct val="90000"/>
              </a:lnSpc>
              <a:spcBef>
                <a:spcPts val="1000"/>
              </a:spcBef>
              <a:spcAft>
                <a:spcPts val="0"/>
              </a:spcAft>
              <a:buClr>
                <a:schemeClr val="dk1"/>
              </a:buClr>
              <a:buSzPts val="2800"/>
              <a:buChar char="•"/>
            </a:pPr>
            <a:r>
              <a:rPr lang="en-US"/>
              <a:t>For our example, this is the probability that any given customer will buy a computer, regardless of age, income, or any other information, for that matter.</a:t>
            </a:r>
            <a:endParaRPr/>
          </a:p>
          <a:p>
            <a:pPr indent="-228600" lvl="0" marL="228600" rtl="0" algn="l">
              <a:lnSpc>
                <a:spcPct val="90000"/>
              </a:lnSpc>
              <a:spcBef>
                <a:spcPts val="1000"/>
              </a:spcBef>
              <a:spcAft>
                <a:spcPts val="0"/>
              </a:spcAft>
              <a:buClr>
                <a:schemeClr val="dk1"/>
              </a:buClr>
              <a:buSzPts val="2800"/>
              <a:buChar char="•"/>
            </a:pPr>
            <a:r>
              <a:rPr lang="en-US"/>
              <a:t>The posterior probability, P(H|X), is based on more information (e.g., customer information) than the prior probability, P(H), which is independent of X</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Other probabilities</a:t>
            </a:r>
            <a:endParaRPr/>
          </a:p>
        </p:txBody>
      </p:sp>
      <p:sp>
        <p:nvSpPr>
          <p:cNvPr id="570" name="Google Shape;570;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Similarly, P(X|H) is the posterior probability of X conditioned on H. </a:t>
            </a:r>
            <a:endParaRPr/>
          </a:p>
          <a:p>
            <a:pPr indent="-228600" lvl="1" marL="685800" rtl="0" algn="l">
              <a:lnSpc>
                <a:spcPct val="90000"/>
              </a:lnSpc>
              <a:spcBef>
                <a:spcPts val="500"/>
              </a:spcBef>
              <a:spcAft>
                <a:spcPts val="0"/>
              </a:spcAft>
              <a:buClr>
                <a:schemeClr val="dk1"/>
              </a:buClr>
              <a:buSzPts val="2400"/>
              <a:buChar char="•"/>
            </a:pPr>
            <a:r>
              <a:rPr lang="en-US"/>
              <a:t>That is, it is the probability that a customer, X, is 35 years old and earns $40,000, given that we know the customer will buy a computer. </a:t>
            </a:r>
            <a:endParaRPr/>
          </a:p>
          <a:p>
            <a:pPr indent="-228600" lvl="0" marL="228600" rtl="0" algn="l">
              <a:lnSpc>
                <a:spcPct val="90000"/>
              </a:lnSpc>
              <a:spcBef>
                <a:spcPts val="1000"/>
              </a:spcBef>
              <a:spcAft>
                <a:spcPts val="0"/>
              </a:spcAft>
              <a:buClr>
                <a:schemeClr val="dk1"/>
              </a:buClr>
              <a:buSzPts val="2800"/>
              <a:buChar char="•"/>
            </a:pPr>
            <a:r>
              <a:rPr lang="en-US"/>
              <a:t>P(X) is the prior probability of X. </a:t>
            </a:r>
            <a:endParaRPr/>
          </a:p>
          <a:p>
            <a:pPr indent="-228600" lvl="1" marL="685800" rtl="0" algn="l">
              <a:lnSpc>
                <a:spcPct val="90000"/>
              </a:lnSpc>
              <a:spcBef>
                <a:spcPts val="500"/>
              </a:spcBef>
              <a:spcAft>
                <a:spcPts val="0"/>
              </a:spcAft>
              <a:buClr>
                <a:schemeClr val="dk1"/>
              </a:buClr>
              <a:buSzPts val="2400"/>
              <a:buChar char="•"/>
            </a:pPr>
            <a:r>
              <a:rPr lang="en-US"/>
              <a:t>Using our example, it is the probability that a person from our set of customers is 35 years old and earns $40,000.</a:t>
            </a:r>
            <a:endParaRPr/>
          </a:p>
          <a:p>
            <a:pPr indent="-228600" lvl="0" marL="228600" rtl="0" algn="l">
              <a:lnSpc>
                <a:spcPct val="90000"/>
              </a:lnSpc>
              <a:spcBef>
                <a:spcPts val="1000"/>
              </a:spcBef>
              <a:spcAft>
                <a:spcPts val="0"/>
              </a:spcAft>
              <a:buClr>
                <a:schemeClr val="dk1"/>
              </a:buClr>
              <a:buSzPts val="2800"/>
              <a:buChar char="•"/>
            </a:pPr>
            <a:r>
              <a:rPr lang="en-US"/>
              <a:t>How are these probabilities estimated?” </a:t>
            </a:r>
            <a:endParaRPr/>
          </a:p>
          <a:p>
            <a:pPr indent="-228600" lvl="1" marL="685800" rtl="0" algn="l">
              <a:lnSpc>
                <a:spcPct val="90000"/>
              </a:lnSpc>
              <a:spcBef>
                <a:spcPts val="500"/>
              </a:spcBef>
              <a:spcAft>
                <a:spcPts val="0"/>
              </a:spcAft>
              <a:buClr>
                <a:schemeClr val="dk1"/>
              </a:buClr>
              <a:buSzPts val="2400"/>
              <a:buChar char="•"/>
            </a:pPr>
            <a:r>
              <a:rPr lang="en-US"/>
              <a:t>P(H), P(X|H), and P(X) may be estimated from the given data</a:t>
            </a:r>
            <a:endParaRPr/>
          </a:p>
          <a:p>
            <a:pPr indent="-228600" lvl="0" marL="228600" rtl="0" algn="l">
              <a:lnSpc>
                <a:spcPct val="90000"/>
              </a:lnSpc>
              <a:spcBef>
                <a:spcPts val="1000"/>
              </a:spcBef>
              <a:spcAft>
                <a:spcPts val="0"/>
              </a:spcAft>
              <a:buClr>
                <a:schemeClr val="dk1"/>
              </a:buClr>
              <a:buSzPts val="2800"/>
              <a:buChar char="•"/>
            </a:pPr>
            <a:r>
              <a:rPr lang="en-US"/>
              <a:t>Bayes’ theorem is useful in that it provides a way of calculating the posterior probability, P(H|X), from P(H), P(X|H), and P(X).</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Theorem</a:t>
            </a:r>
            <a:endParaRPr/>
          </a:p>
        </p:txBody>
      </p:sp>
      <p:pic>
        <p:nvPicPr>
          <p:cNvPr id="576" name="Google Shape;576;p12"/>
          <p:cNvPicPr preferRelativeResize="0"/>
          <p:nvPr/>
        </p:nvPicPr>
        <p:blipFill rotWithShape="1">
          <a:blip r:embed="rId3">
            <a:alphaModFix/>
          </a:blip>
          <a:srcRect b="0" l="0" r="0" t="0"/>
          <a:stretch/>
        </p:blipFill>
        <p:spPr>
          <a:xfrm>
            <a:off x="1995014" y="2419643"/>
            <a:ext cx="3491553" cy="100935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3"/>
          <p:cNvSpPr txBox="1"/>
          <p:nvPr>
            <p:ph type="title"/>
          </p:nvPr>
        </p:nvSpPr>
        <p:spPr>
          <a:xfrm>
            <a:off x="838200" y="30885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i="0" lang="en-US" sz="3200" u="none" strike="noStrike">
                <a:latin typeface="Calibri"/>
                <a:ea typeface="Calibri"/>
                <a:cs typeface="Calibri"/>
                <a:sym typeface="Calibri"/>
              </a:rPr>
              <a:t>Working of Na¨ıve Bayesian Classifier</a:t>
            </a:r>
            <a:endParaRPr sz="6600">
              <a:latin typeface="Calibri"/>
              <a:ea typeface="Calibri"/>
              <a:cs typeface="Calibri"/>
              <a:sym typeface="Calibri"/>
            </a:endParaRPr>
          </a:p>
        </p:txBody>
      </p:sp>
      <p:sp>
        <p:nvSpPr>
          <p:cNvPr id="582" name="Google Shape;58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b="0" i="0" lang="en-US" sz="1800" u="none" strike="noStrike">
                <a:latin typeface="Arial"/>
                <a:ea typeface="Arial"/>
                <a:cs typeface="Arial"/>
                <a:sym typeface="Arial"/>
              </a:rPr>
              <a:t>1. Input: Let </a:t>
            </a:r>
            <a:r>
              <a:rPr b="0" i="1" lang="en-US" sz="1800" u="none" strike="noStrike">
                <a:latin typeface="Arial"/>
                <a:ea typeface="Arial"/>
                <a:cs typeface="Arial"/>
                <a:sym typeface="Arial"/>
              </a:rPr>
              <a:t>D </a:t>
            </a:r>
            <a:r>
              <a:rPr b="0" i="0" lang="en-US" sz="1800" u="none" strike="noStrike">
                <a:latin typeface="Arial"/>
                <a:ea typeface="Arial"/>
                <a:cs typeface="Arial"/>
                <a:sym typeface="Arial"/>
              </a:rPr>
              <a:t>be a training set of tuples and their associated class labels. As usual, each tuple is represented by an </a:t>
            </a:r>
            <a:r>
              <a:rPr b="0" i="1" lang="en-US" sz="1800" u="none" strike="noStrike">
                <a:latin typeface="Arial"/>
                <a:ea typeface="Arial"/>
                <a:cs typeface="Arial"/>
                <a:sym typeface="Arial"/>
              </a:rPr>
              <a:t>n</a:t>
            </a:r>
            <a:r>
              <a:rPr b="0" i="0" lang="en-US" sz="1800" u="none" strike="noStrike">
                <a:latin typeface="Arial"/>
                <a:ea typeface="Arial"/>
                <a:cs typeface="Arial"/>
                <a:sym typeface="Arial"/>
              </a:rPr>
              <a:t>-dimensional attribute vector, </a:t>
            </a:r>
            <a:r>
              <a:rPr b="1" i="1" lang="en-US" sz="1800" u="none" strike="noStrike">
                <a:latin typeface="Times"/>
                <a:ea typeface="Times"/>
                <a:cs typeface="Times"/>
                <a:sym typeface="Times"/>
              </a:rPr>
              <a:t>X =</a:t>
            </a:r>
            <a:r>
              <a:rPr b="0" i="0" lang="en-US" sz="1800" u="none" strike="noStrike">
                <a:latin typeface="Arial"/>
                <a:ea typeface="Arial"/>
                <a:cs typeface="Arial"/>
                <a:sym typeface="Arial"/>
              </a:rPr>
              <a:t> (</a:t>
            </a:r>
            <a:r>
              <a:rPr b="0" i="1" lang="en-US" sz="1800" u="none" strike="noStrike">
                <a:latin typeface="Arial"/>
                <a:ea typeface="Arial"/>
                <a:cs typeface="Arial"/>
                <a:sym typeface="Arial"/>
              </a:rPr>
              <a:t>x</a:t>
            </a:r>
            <a:r>
              <a:rPr b="0" i="0" lang="en-US" sz="1800" u="none" strike="noStrike">
                <a:latin typeface="Arial"/>
                <a:ea typeface="Arial"/>
                <a:cs typeface="Arial"/>
                <a:sym typeface="Arial"/>
              </a:rPr>
              <a:t>1, </a:t>
            </a:r>
            <a:r>
              <a:rPr b="0" i="1" lang="en-US" sz="1800" u="none" strike="noStrike">
                <a:latin typeface="Arial"/>
                <a:ea typeface="Arial"/>
                <a:cs typeface="Arial"/>
                <a:sym typeface="Arial"/>
              </a:rPr>
              <a:t>x</a:t>
            </a:r>
            <a:r>
              <a:rPr b="0" i="0" lang="en-US" sz="1800" u="none" strike="noStrike">
                <a:latin typeface="Arial"/>
                <a:ea typeface="Arial"/>
                <a:cs typeface="Arial"/>
                <a:sym typeface="Arial"/>
              </a:rPr>
              <a:t>2, : : : , </a:t>
            </a:r>
            <a:r>
              <a:rPr b="0" i="1" lang="en-US" sz="1800" u="none" strike="noStrike">
                <a:latin typeface="Arial"/>
                <a:ea typeface="Arial"/>
                <a:cs typeface="Arial"/>
                <a:sym typeface="Arial"/>
              </a:rPr>
              <a:t>xn)</a:t>
            </a:r>
            <a:r>
              <a:rPr b="0" i="0" lang="en-US" sz="1800" u="none" strike="noStrike">
                <a:latin typeface="Arial"/>
                <a:ea typeface="Arial"/>
                <a:cs typeface="Arial"/>
                <a:sym typeface="Arial"/>
              </a:rPr>
              <a:t>, depicting </a:t>
            </a:r>
            <a:r>
              <a:rPr b="0" i="1" lang="en-US" sz="1800" u="none" strike="noStrike">
                <a:latin typeface="Arial"/>
                <a:ea typeface="Arial"/>
                <a:cs typeface="Arial"/>
                <a:sym typeface="Arial"/>
              </a:rPr>
              <a:t>n </a:t>
            </a:r>
            <a:r>
              <a:rPr b="0" i="0" lang="en-US" sz="1800" u="none" strike="noStrike">
                <a:latin typeface="Arial"/>
                <a:ea typeface="Arial"/>
                <a:cs typeface="Arial"/>
                <a:sym typeface="Arial"/>
              </a:rPr>
              <a:t>measurements made on the tuple from </a:t>
            </a:r>
            <a:r>
              <a:rPr b="0" i="1" lang="en-US" sz="1800" u="none" strike="noStrike">
                <a:latin typeface="Arial"/>
                <a:ea typeface="Arial"/>
                <a:cs typeface="Arial"/>
                <a:sym typeface="Arial"/>
              </a:rPr>
              <a:t>n </a:t>
            </a:r>
            <a:r>
              <a:rPr b="0" i="0" lang="en-US" sz="1800" u="none" strike="noStrike">
                <a:latin typeface="Arial"/>
                <a:ea typeface="Arial"/>
                <a:cs typeface="Arial"/>
                <a:sym typeface="Arial"/>
              </a:rPr>
              <a:t>attributes, respectively, </a:t>
            </a:r>
            <a:r>
              <a:rPr b="0" i="1" lang="en-US" sz="1800" u="none" strike="noStrike">
                <a:latin typeface="Arial"/>
                <a:ea typeface="Arial"/>
                <a:cs typeface="Arial"/>
                <a:sym typeface="Arial"/>
              </a:rPr>
              <a:t>A</a:t>
            </a:r>
            <a:r>
              <a:rPr b="0" i="0" lang="en-US" sz="1800" u="none" strike="noStrike">
                <a:latin typeface="Arial"/>
                <a:ea typeface="Arial"/>
                <a:cs typeface="Arial"/>
                <a:sym typeface="Arial"/>
              </a:rPr>
              <a:t>1, </a:t>
            </a:r>
            <a:r>
              <a:rPr b="0" i="1" lang="en-US" sz="1800" u="none" strike="noStrike">
                <a:latin typeface="Arial"/>
                <a:ea typeface="Arial"/>
                <a:cs typeface="Arial"/>
                <a:sym typeface="Arial"/>
              </a:rPr>
              <a:t>A</a:t>
            </a:r>
            <a:r>
              <a:rPr b="0" i="0" lang="en-US" sz="1800" u="none" strike="noStrike">
                <a:latin typeface="Arial"/>
                <a:ea typeface="Arial"/>
                <a:cs typeface="Arial"/>
                <a:sym typeface="Arial"/>
              </a:rPr>
              <a:t>2, : : : , </a:t>
            </a:r>
            <a:r>
              <a:rPr b="0" i="1" lang="en-US" sz="1800" u="none" strike="noStrike">
                <a:latin typeface="Arial"/>
                <a:ea typeface="Arial"/>
                <a:cs typeface="Arial"/>
                <a:sym typeface="Arial"/>
              </a:rPr>
              <a:t>An</a:t>
            </a:r>
            <a:endParaRPr/>
          </a:p>
          <a:p>
            <a:pPr indent="-228600" lvl="0" marL="228600" rtl="0" algn="l">
              <a:lnSpc>
                <a:spcPct val="90000"/>
              </a:lnSpc>
              <a:spcBef>
                <a:spcPts val="1000"/>
              </a:spcBef>
              <a:spcAft>
                <a:spcPts val="0"/>
              </a:spcAft>
              <a:buClr>
                <a:schemeClr val="dk1"/>
              </a:buClr>
              <a:buSzPts val="1800"/>
              <a:buChar char="•"/>
            </a:pPr>
            <a:r>
              <a:rPr b="0" i="0" lang="en-US" sz="1800" u="none" strike="noStrike">
                <a:latin typeface="Arial"/>
                <a:ea typeface="Arial"/>
                <a:cs typeface="Arial"/>
                <a:sym typeface="Arial"/>
              </a:rPr>
              <a:t>Suppose that there are </a:t>
            </a:r>
            <a:r>
              <a:rPr b="0" i="1" lang="en-US" sz="1800" u="none" strike="noStrike">
                <a:latin typeface="Arial"/>
                <a:ea typeface="Arial"/>
                <a:cs typeface="Arial"/>
                <a:sym typeface="Arial"/>
              </a:rPr>
              <a:t>m </a:t>
            </a:r>
            <a:r>
              <a:rPr b="0" i="0" lang="en-US" sz="1800" u="none" strike="noStrike">
                <a:latin typeface="Arial"/>
                <a:ea typeface="Arial"/>
                <a:cs typeface="Arial"/>
                <a:sym typeface="Arial"/>
              </a:rPr>
              <a:t>classes, </a:t>
            </a:r>
            <a:r>
              <a:rPr b="0" i="1" lang="en-US" sz="1800" u="none" strike="noStrike">
                <a:latin typeface="Arial"/>
                <a:ea typeface="Arial"/>
                <a:cs typeface="Arial"/>
                <a:sym typeface="Arial"/>
              </a:rPr>
              <a:t>C</a:t>
            </a:r>
            <a:r>
              <a:rPr b="0" i="0" lang="en-US" sz="1800" u="none" strike="noStrike">
                <a:latin typeface="Arial"/>
                <a:ea typeface="Arial"/>
                <a:cs typeface="Arial"/>
                <a:sym typeface="Arial"/>
              </a:rPr>
              <a:t>1, </a:t>
            </a:r>
            <a:r>
              <a:rPr b="0" i="1" lang="en-US" sz="1800" u="none" strike="noStrike">
                <a:latin typeface="Arial"/>
                <a:ea typeface="Arial"/>
                <a:cs typeface="Arial"/>
                <a:sym typeface="Arial"/>
              </a:rPr>
              <a:t>C</a:t>
            </a:r>
            <a:r>
              <a:rPr b="0" i="0" lang="en-US" sz="1800" u="none" strike="noStrike">
                <a:latin typeface="Arial"/>
                <a:ea typeface="Arial"/>
                <a:cs typeface="Arial"/>
                <a:sym typeface="Arial"/>
              </a:rPr>
              <a:t>2, : : : , </a:t>
            </a:r>
            <a:r>
              <a:rPr b="0" i="1" lang="en-US" sz="1800" u="none" strike="noStrike">
                <a:latin typeface="Arial"/>
                <a:ea typeface="Arial"/>
                <a:cs typeface="Arial"/>
                <a:sym typeface="Arial"/>
              </a:rPr>
              <a:t>Cm</a:t>
            </a:r>
            <a:r>
              <a:rPr b="0" i="0" lang="en-US" sz="1800" u="none" strike="noStrike">
                <a:latin typeface="Arial"/>
                <a:ea typeface="Arial"/>
                <a:cs typeface="Arial"/>
                <a:sym typeface="Arial"/>
              </a:rPr>
              <a:t>. </a:t>
            </a:r>
            <a:endParaRPr/>
          </a:p>
          <a:p>
            <a:pPr indent="-228600" lvl="0" marL="228600" rtl="0" algn="l">
              <a:lnSpc>
                <a:spcPct val="90000"/>
              </a:lnSpc>
              <a:spcBef>
                <a:spcPts val="1000"/>
              </a:spcBef>
              <a:spcAft>
                <a:spcPts val="0"/>
              </a:spcAft>
              <a:buClr>
                <a:schemeClr val="dk1"/>
              </a:buClr>
              <a:buSzPts val="1800"/>
              <a:buChar char="•"/>
            </a:pPr>
            <a:r>
              <a:rPr b="0" i="0" lang="en-US" sz="1800" u="none" strike="noStrike">
                <a:latin typeface="Arial"/>
                <a:ea typeface="Arial"/>
                <a:cs typeface="Arial"/>
                <a:sym typeface="Arial"/>
              </a:rPr>
              <a:t>2. Given a tuple, </a:t>
            </a:r>
            <a:r>
              <a:rPr b="1" i="1" lang="en-US" sz="1800" u="none" strike="noStrike">
                <a:latin typeface="Times"/>
                <a:ea typeface="Times"/>
                <a:cs typeface="Times"/>
                <a:sym typeface="Times"/>
              </a:rPr>
              <a:t>X</a:t>
            </a:r>
            <a:r>
              <a:rPr b="0" i="0" lang="en-US" sz="1800" u="none" strike="noStrike">
                <a:latin typeface="Arial"/>
                <a:ea typeface="Arial"/>
                <a:cs typeface="Arial"/>
                <a:sym typeface="Arial"/>
              </a:rPr>
              <a:t>, the classifier will predict that </a:t>
            </a:r>
            <a:r>
              <a:rPr b="1" i="1" lang="en-US" sz="1800" u="none" strike="noStrike">
                <a:latin typeface="Times"/>
                <a:ea typeface="Times"/>
                <a:cs typeface="Times"/>
                <a:sym typeface="Times"/>
              </a:rPr>
              <a:t>X </a:t>
            </a:r>
            <a:r>
              <a:rPr b="0" i="0" lang="en-US" sz="1800" u="none" strike="noStrike">
                <a:latin typeface="Arial"/>
                <a:ea typeface="Arial"/>
                <a:cs typeface="Arial"/>
                <a:sym typeface="Arial"/>
              </a:rPr>
              <a:t>belongs to the class having the highest posterior probability, conditioned on </a:t>
            </a:r>
            <a:r>
              <a:rPr b="1" i="1" lang="en-US" sz="1800" u="none" strike="noStrike">
                <a:latin typeface="Times"/>
                <a:ea typeface="Times"/>
                <a:cs typeface="Times"/>
                <a:sym typeface="Times"/>
              </a:rPr>
              <a:t>X</a:t>
            </a:r>
            <a:r>
              <a:rPr b="0" i="0" lang="en-US" sz="1800" u="none" strike="noStrike">
                <a:latin typeface="Arial"/>
                <a:ea typeface="Arial"/>
                <a:cs typeface="Arial"/>
                <a:sym typeface="Arial"/>
              </a:rPr>
              <a:t>. </a:t>
            </a:r>
            <a:endParaRPr/>
          </a:p>
          <a:p>
            <a:pPr indent="-228600" lvl="1" marL="685800" rtl="0" algn="l">
              <a:lnSpc>
                <a:spcPct val="90000"/>
              </a:lnSpc>
              <a:spcBef>
                <a:spcPts val="500"/>
              </a:spcBef>
              <a:spcAft>
                <a:spcPts val="0"/>
              </a:spcAft>
              <a:buClr>
                <a:schemeClr val="dk1"/>
              </a:buClr>
              <a:buSzPts val="1400"/>
              <a:buChar char="•"/>
            </a:pPr>
            <a:r>
              <a:rPr b="0" i="0" lang="en-US" sz="1400" u="none" strike="noStrike">
                <a:latin typeface="Arial"/>
                <a:ea typeface="Arial"/>
                <a:cs typeface="Arial"/>
                <a:sym typeface="Arial"/>
              </a:rPr>
              <a:t>That is, the na¨ıve Bayesian classifier predicts that tuple </a:t>
            </a:r>
            <a:r>
              <a:rPr b="1" i="1" lang="en-US" sz="1400" u="none" strike="noStrike">
                <a:latin typeface="Times"/>
                <a:ea typeface="Times"/>
                <a:cs typeface="Times"/>
                <a:sym typeface="Times"/>
              </a:rPr>
              <a:t>X </a:t>
            </a:r>
            <a:r>
              <a:rPr b="0" i="0" lang="en-US" sz="1400" u="none" strike="noStrike">
                <a:latin typeface="Arial"/>
                <a:ea typeface="Arial"/>
                <a:cs typeface="Arial"/>
                <a:sym typeface="Arial"/>
              </a:rPr>
              <a:t>belongs to the </a:t>
            </a:r>
            <a:r>
              <a:rPr b="0" i="0" lang="en-US" sz="1800" u="none" strike="noStrike">
                <a:latin typeface="Arial"/>
                <a:ea typeface="Arial"/>
                <a:cs typeface="Arial"/>
                <a:sym typeface="Arial"/>
              </a:rPr>
              <a:t>class </a:t>
            </a:r>
            <a:r>
              <a:rPr b="0" i="1" lang="en-US" sz="1800" u="none" strike="noStrike">
                <a:latin typeface="Arial"/>
                <a:ea typeface="Arial"/>
                <a:cs typeface="Arial"/>
                <a:sym typeface="Arial"/>
              </a:rPr>
              <a:t>Ci </a:t>
            </a:r>
            <a:r>
              <a:rPr b="0" i="0" lang="en-US" sz="1800" u="none" strike="noStrike">
                <a:latin typeface="Arial"/>
                <a:ea typeface="Arial"/>
                <a:cs typeface="Arial"/>
                <a:sym typeface="Arial"/>
              </a:rPr>
              <a:t>if and only if</a:t>
            </a:r>
            <a:endParaRPr/>
          </a:p>
          <a:p>
            <a:pPr indent="0" lvl="1" marL="457200" rtl="0" algn="l">
              <a:lnSpc>
                <a:spcPct val="90000"/>
              </a:lnSpc>
              <a:spcBef>
                <a:spcPts val="500"/>
              </a:spcBef>
              <a:spcAft>
                <a:spcPts val="0"/>
              </a:spcAft>
              <a:buClr>
                <a:schemeClr val="dk1"/>
              </a:buClr>
              <a:buSzPts val="1800"/>
              <a:buNone/>
            </a:pPr>
            <a:r>
              <a:rPr b="0" i="1" lang="en-US" sz="1800" u="none" strike="noStrike">
                <a:latin typeface="Arial"/>
                <a:ea typeface="Arial"/>
                <a:cs typeface="Arial"/>
                <a:sym typeface="Arial"/>
              </a:rPr>
              <a:t>	P(Ci|</a:t>
            </a:r>
            <a:r>
              <a:rPr b="1" i="1" lang="en-US" sz="1800" u="none" strike="noStrike">
                <a:latin typeface="Times"/>
                <a:ea typeface="Times"/>
                <a:cs typeface="Times"/>
                <a:sym typeface="Times"/>
              </a:rPr>
              <a:t>X)</a:t>
            </a:r>
            <a:r>
              <a:rPr b="0" i="0" lang="en-US" sz="1800" u="none" strike="noStrike">
                <a:latin typeface="Arial"/>
                <a:ea typeface="Arial"/>
                <a:cs typeface="Arial"/>
                <a:sym typeface="Arial"/>
              </a:rPr>
              <a:t> &gt; </a:t>
            </a:r>
            <a:r>
              <a:rPr b="0" i="1" lang="en-US" sz="1800" u="none" strike="noStrike">
                <a:latin typeface="Arial"/>
                <a:ea typeface="Arial"/>
                <a:cs typeface="Arial"/>
                <a:sym typeface="Arial"/>
              </a:rPr>
              <a:t>P(Cj|</a:t>
            </a:r>
            <a:r>
              <a:rPr b="1" i="1" lang="en-US" sz="1800" u="none" strike="noStrike">
                <a:latin typeface="Times"/>
                <a:ea typeface="Times"/>
                <a:cs typeface="Times"/>
                <a:sym typeface="Times"/>
              </a:rPr>
              <a:t>X</a:t>
            </a:r>
            <a:r>
              <a:rPr lang="en-US" sz="1800">
                <a:latin typeface="Arial"/>
                <a:ea typeface="Arial"/>
                <a:cs typeface="Arial"/>
                <a:sym typeface="Arial"/>
              </a:rPr>
              <a:t>)</a:t>
            </a:r>
            <a:r>
              <a:rPr b="0" i="0" lang="en-US" sz="1800" u="none" strike="noStrike">
                <a:latin typeface="Arial"/>
                <a:ea typeface="Arial"/>
                <a:cs typeface="Arial"/>
                <a:sym typeface="Arial"/>
              </a:rPr>
              <a:t>     for 1≤ </a:t>
            </a:r>
            <a:r>
              <a:rPr b="0" i="1" lang="en-US" sz="1800" u="none" strike="noStrike">
                <a:latin typeface="Arial"/>
                <a:ea typeface="Arial"/>
                <a:cs typeface="Arial"/>
                <a:sym typeface="Arial"/>
              </a:rPr>
              <a:t>j </a:t>
            </a:r>
            <a:r>
              <a:rPr b="0" i="0" lang="en-US" sz="1800" u="none" strike="noStrike">
                <a:latin typeface="Arial"/>
                <a:ea typeface="Arial"/>
                <a:cs typeface="Arial"/>
                <a:sym typeface="Arial"/>
              </a:rPr>
              <a:t>≤ </a:t>
            </a:r>
            <a:r>
              <a:rPr b="0" i="1" lang="en-US" sz="1800" u="none" strike="noStrike">
                <a:latin typeface="Arial"/>
                <a:ea typeface="Arial"/>
                <a:cs typeface="Arial"/>
                <a:sym typeface="Arial"/>
              </a:rPr>
              <a:t>m</a:t>
            </a:r>
            <a:r>
              <a:rPr b="0" i="0" lang="en-US" sz="1800" u="none" strike="noStrike">
                <a:latin typeface="Arial"/>
                <a:ea typeface="Arial"/>
                <a:cs typeface="Arial"/>
                <a:sym typeface="Arial"/>
              </a:rPr>
              <a:t>, </a:t>
            </a:r>
            <a:r>
              <a:rPr b="0" i="1" lang="en-US" sz="1800" u="none" strike="noStrike">
                <a:latin typeface="Arial"/>
                <a:ea typeface="Arial"/>
                <a:cs typeface="Arial"/>
                <a:sym typeface="Arial"/>
              </a:rPr>
              <a:t>j ≠ i</a:t>
            </a:r>
            <a:r>
              <a:rPr b="0" i="0" lang="en-US" sz="1800" u="none" strike="noStrike">
                <a:latin typeface="Arial"/>
                <a:ea typeface="Arial"/>
                <a:cs typeface="Arial"/>
                <a:sym typeface="Arial"/>
              </a:rPr>
              <a:t>.</a:t>
            </a:r>
            <a:endParaRPr b="0" i="1" sz="1800" u="none" strike="noStrike">
              <a:latin typeface="Arial"/>
              <a:ea typeface="Arial"/>
              <a:cs typeface="Arial"/>
              <a:sym typeface="Arial"/>
            </a:endParaRPr>
          </a:p>
          <a:p>
            <a:pPr indent="-228600" lvl="0" marL="228600" rtl="0" algn="l">
              <a:lnSpc>
                <a:spcPct val="90000"/>
              </a:lnSpc>
              <a:spcBef>
                <a:spcPts val="1000"/>
              </a:spcBef>
              <a:spcAft>
                <a:spcPts val="0"/>
              </a:spcAft>
              <a:buClr>
                <a:schemeClr val="dk1"/>
              </a:buClr>
              <a:buSzPts val="1800"/>
              <a:buChar char="•"/>
            </a:pPr>
            <a:r>
              <a:rPr b="0" i="0" lang="en-US" sz="1800" u="none" strike="noStrike">
                <a:latin typeface="Arial"/>
                <a:ea typeface="Arial"/>
                <a:cs typeface="Arial"/>
                <a:sym typeface="Arial"/>
              </a:rPr>
              <a:t>The class </a:t>
            </a:r>
            <a:r>
              <a:rPr b="0" i="1" lang="en-US" sz="1800" u="none" strike="noStrike">
                <a:latin typeface="Arial"/>
                <a:ea typeface="Arial"/>
                <a:cs typeface="Arial"/>
                <a:sym typeface="Arial"/>
              </a:rPr>
              <a:t>Ci </a:t>
            </a:r>
            <a:r>
              <a:rPr b="0" i="0" lang="en-US" sz="1800" u="none" strike="noStrike">
                <a:latin typeface="Arial"/>
                <a:ea typeface="Arial"/>
                <a:cs typeface="Arial"/>
                <a:sym typeface="Arial"/>
              </a:rPr>
              <a:t>for which </a:t>
            </a:r>
            <a:r>
              <a:rPr b="0" i="1" lang="en-US" sz="1800" u="none" strike="noStrike">
                <a:latin typeface="Arial"/>
                <a:ea typeface="Arial"/>
                <a:cs typeface="Arial"/>
                <a:sym typeface="Arial"/>
              </a:rPr>
              <a:t>P</a:t>
            </a:r>
            <a:r>
              <a:rPr b="0" i="0" lang="en-US" sz="1800" u="none" strike="noStrike">
                <a:latin typeface="Arial"/>
                <a:ea typeface="Arial"/>
                <a:cs typeface="Arial"/>
                <a:sym typeface="Arial"/>
              </a:rPr>
              <a:t>.</a:t>
            </a:r>
            <a:r>
              <a:rPr b="0" i="1" lang="en-US" sz="1800" u="none" strike="noStrike">
                <a:latin typeface="Arial"/>
                <a:ea typeface="Arial"/>
                <a:cs typeface="Arial"/>
                <a:sym typeface="Arial"/>
              </a:rPr>
              <a:t>Ci </a:t>
            </a:r>
            <a:r>
              <a:rPr b="0" i="0" lang="en-US" sz="1800" u="none" strike="noStrike">
                <a:latin typeface="Arial"/>
                <a:ea typeface="Arial"/>
                <a:cs typeface="Arial"/>
                <a:sym typeface="Arial"/>
              </a:rPr>
              <a:t>j</a:t>
            </a:r>
            <a:r>
              <a:rPr b="1" i="1" lang="en-US" sz="1800" u="none" strike="noStrike">
                <a:latin typeface="Times"/>
                <a:ea typeface="Times"/>
                <a:cs typeface="Times"/>
                <a:sym typeface="Times"/>
              </a:rPr>
              <a:t>X</a:t>
            </a:r>
            <a:r>
              <a:rPr b="0" i="0" lang="en-US" sz="1800" u="none" strike="noStrike">
                <a:latin typeface="Arial"/>
                <a:ea typeface="Arial"/>
                <a:cs typeface="Arial"/>
                <a:sym typeface="Arial"/>
              </a:rPr>
              <a:t>/ is maximized is called the </a:t>
            </a:r>
            <a:r>
              <a:rPr b="0" i="1" lang="en-US" sz="1800" u="none" strike="noStrike">
                <a:latin typeface="Arial"/>
                <a:ea typeface="Arial"/>
                <a:cs typeface="Arial"/>
                <a:sym typeface="Arial"/>
              </a:rPr>
              <a:t>maximum posteriori hypothesis</a:t>
            </a:r>
            <a:r>
              <a:rPr b="0" i="0" lang="en-US" sz="1800" u="none" strike="noStrike">
                <a:latin typeface="Arial"/>
                <a:ea typeface="Arial"/>
                <a:cs typeface="Arial"/>
                <a:sym typeface="Arial"/>
              </a:rPr>
              <a:t>.</a:t>
            </a:r>
            <a:endParaRPr/>
          </a:p>
          <a:p>
            <a:pPr indent="-228600" lvl="0" marL="228600" rtl="0" algn="l">
              <a:lnSpc>
                <a:spcPct val="90000"/>
              </a:lnSpc>
              <a:spcBef>
                <a:spcPts val="1000"/>
              </a:spcBef>
              <a:spcAft>
                <a:spcPts val="0"/>
              </a:spcAft>
              <a:buClr>
                <a:schemeClr val="dk1"/>
              </a:buClr>
              <a:buSzPts val="1800"/>
              <a:buChar char="•"/>
            </a:pPr>
            <a:r>
              <a:rPr lang="en-US" sz="1800">
                <a:latin typeface="Arial"/>
                <a:ea typeface="Arial"/>
                <a:cs typeface="Arial"/>
                <a:sym typeface="Arial"/>
              </a:rPr>
              <a:t>By Bayes Theorem</a:t>
            </a:r>
            <a:endParaRPr sz="2400"/>
          </a:p>
        </p:txBody>
      </p:sp>
      <p:pic>
        <p:nvPicPr>
          <p:cNvPr id="583" name="Google Shape;583;p13"/>
          <p:cNvPicPr preferRelativeResize="0"/>
          <p:nvPr/>
        </p:nvPicPr>
        <p:blipFill rotWithShape="1">
          <a:blip r:embed="rId3">
            <a:alphaModFix/>
          </a:blip>
          <a:srcRect b="0" l="0" r="0" t="0"/>
          <a:stretch/>
        </p:blipFill>
        <p:spPr>
          <a:xfrm>
            <a:off x="3113764" y="5075917"/>
            <a:ext cx="3891947" cy="90651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Working of Na¨ıve Bayesian Classifier</a:t>
            </a:r>
            <a:endParaRPr/>
          </a:p>
        </p:txBody>
      </p:sp>
      <p:sp>
        <p:nvSpPr>
          <p:cNvPr id="589" name="Google Shape;58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0" lang="en-US" sz="2400" u="none" strike="noStrike"/>
              <a:t>3. As P(</a:t>
            </a:r>
            <a:r>
              <a:rPr b="1" lang="en-US" sz="2400" u="none" strike="noStrike"/>
              <a:t>X)</a:t>
            </a:r>
            <a:r>
              <a:rPr b="0" lang="en-US" sz="2400" u="none" strike="noStrike"/>
              <a:t> is constant for all classes, only P</a:t>
            </a:r>
            <a:r>
              <a:rPr lang="en-US" sz="2400"/>
              <a:t>(</a:t>
            </a:r>
            <a:r>
              <a:rPr b="1" lang="en-US" sz="2400" u="none" strike="noStrike"/>
              <a:t>X</a:t>
            </a:r>
            <a:r>
              <a:rPr lang="en-US" sz="2400"/>
              <a:t>|</a:t>
            </a:r>
            <a:r>
              <a:rPr b="0" lang="en-US" sz="2400" u="none" strike="noStrike"/>
              <a:t>Ci)P(Ci) needs to be maximized. </a:t>
            </a:r>
            <a:endParaRPr/>
          </a:p>
          <a:p>
            <a:pPr indent="-228600" lvl="0" marL="228600" rtl="0" algn="l">
              <a:lnSpc>
                <a:spcPct val="90000"/>
              </a:lnSpc>
              <a:spcBef>
                <a:spcPts val="1000"/>
              </a:spcBef>
              <a:spcAft>
                <a:spcPts val="0"/>
              </a:spcAft>
              <a:buClr>
                <a:schemeClr val="dk1"/>
              </a:buClr>
              <a:buSzPts val="2400"/>
              <a:buChar char="•"/>
            </a:pPr>
            <a:r>
              <a:rPr b="0" lang="en-US" sz="2400" u="none" strike="noStrike"/>
              <a:t>If the class prior probabilities are not known, then it is commonly assumed that the classes are equally likely, </a:t>
            </a:r>
            <a:endParaRPr/>
          </a:p>
          <a:p>
            <a:pPr indent="-228600" lvl="1" marL="685800" rtl="0" algn="l">
              <a:lnSpc>
                <a:spcPct val="90000"/>
              </a:lnSpc>
              <a:spcBef>
                <a:spcPts val="500"/>
              </a:spcBef>
              <a:spcAft>
                <a:spcPts val="0"/>
              </a:spcAft>
              <a:buClr>
                <a:schemeClr val="dk1"/>
              </a:buClr>
              <a:buSzPts val="2400"/>
              <a:buChar char="•"/>
            </a:pPr>
            <a:r>
              <a:rPr b="0" lang="en-US" u="none" strike="noStrike"/>
              <a:t>that is, P</a:t>
            </a:r>
            <a:r>
              <a:rPr lang="en-US"/>
              <a:t>(</a:t>
            </a:r>
            <a:r>
              <a:rPr b="0" lang="en-US" u="none" strike="noStrike"/>
              <a:t>C1) = P(C2)=…= P</a:t>
            </a:r>
            <a:r>
              <a:rPr lang="en-US"/>
              <a:t>(</a:t>
            </a:r>
            <a:r>
              <a:rPr b="0" lang="en-US" u="none" strike="noStrike"/>
              <a:t>Cm</a:t>
            </a:r>
            <a:r>
              <a:rPr lang="en-US"/>
              <a:t>)</a:t>
            </a:r>
            <a:r>
              <a:rPr b="0" lang="en-US" u="none" strike="noStrike"/>
              <a:t>, and we would therefore maximize P</a:t>
            </a:r>
            <a:r>
              <a:rPr lang="en-US"/>
              <a:t>(</a:t>
            </a:r>
            <a:r>
              <a:rPr b="1" lang="en-US" u="none" strike="noStrike"/>
              <a:t>X</a:t>
            </a:r>
            <a:r>
              <a:rPr lang="en-US"/>
              <a:t>|</a:t>
            </a:r>
            <a:r>
              <a:rPr b="0" lang="en-US" u="none" strike="noStrike"/>
              <a:t>Ci). Otherwise, we maximize P(</a:t>
            </a:r>
            <a:r>
              <a:rPr b="1" lang="en-US" u="none" strike="noStrike"/>
              <a:t>X|</a:t>
            </a:r>
            <a:r>
              <a:rPr b="0" lang="en-US" u="none" strike="noStrike"/>
              <a:t>Ci)P(Ci). </a:t>
            </a:r>
            <a:endParaRPr/>
          </a:p>
          <a:p>
            <a:pPr indent="-228600" lvl="0" marL="228600" rtl="0" algn="l">
              <a:lnSpc>
                <a:spcPct val="90000"/>
              </a:lnSpc>
              <a:spcBef>
                <a:spcPts val="1000"/>
              </a:spcBef>
              <a:spcAft>
                <a:spcPts val="0"/>
              </a:spcAft>
              <a:buClr>
                <a:schemeClr val="dk1"/>
              </a:buClr>
              <a:buSzPts val="2400"/>
              <a:buChar char="•"/>
            </a:pPr>
            <a:r>
              <a:rPr b="0" lang="en-US" sz="2400" u="none" strike="noStrike"/>
              <a:t>Note that the class prior </a:t>
            </a:r>
            <a:r>
              <a:rPr lang="en-US" sz="2400"/>
              <a:t>probabilities</a:t>
            </a:r>
            <a:r>
              <a:rPr b="0" lang="en-US" sz="2400" u="none" strike="noStrike"/>
              <a:t> may be estimated by P</a:t>
            </a:r>
            <a:r>
              <a:rPr lang="en-US" sz="2400"/>
              <a:t>(</a:t>
            </a:r>
            <a:r>
              <a:rPr b="0" lang="en-US" sz="2400" u="none" strike="noStrike"/>
              <a:t>Ci)=|C</a:t>
            </a:r>
            <a:r>
              <a:rPr b="0" baseline="-25000" lang="en-US" sz="2400" u="none" strike="noStrike"/>
              <a:t>i,D</a:t>
            </a:r>
            <a:r>
              <a:rPr b="0" lang="en-US" sz="2400" u="none" strike="noStrike"/>
              <a:t>|/|D</a:t>
            </a:r>
            <a:r>
              <a:rPr lang="en-US" sz="2400"/>
              <a:t>|</a:t>
            </a:r>
            <a:r>
              <a:rPr b="0" lang="en-US" sz="2400" u="none" strike="noStrike"/>
              <a:t>, where |C</a:t>
            </a:r>
            <a:r>
              <a:rPr b="0" baseline="-25000" lang="en-US" sz="2400" u="none" strike="noStrike"/>
              <a:t>i,D</a:t>
            </a:r>
            <a:r>
              <a:rPr lang="en-US" sz="2400"/>
              <a:t>|</a:t>
            </a:r>
            <a:r>
              <a:rPr b="0" lang="en-US" sz="2400" u="none" strike="noStrike"/>
              <a:t> is the number of training tuples of class Ci in D.</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Working of Na¨ıve Bayesian Classifier</a:t>
            </a:r>
            <a:endParaRPr/>
          </a:p>
        </p:txBody>
      </p:sp>
      <p:sp>
        <p:nvSpPr>
          <p:cNvPr id="595" name="Google Shape;595;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4. Given data sets with many attributes, it would be extremely computationally expensive to compute </a:t>
            </a:r>
            <a:r>
              <a:rPr b="0" i="1" lang="en-US" sz="2400" u="none" strike="noStrike"/>
              <a:t>P(</a:t>
            </a:r>
            <a:r>
              <a:rPr b="1" i="1" lang="en-US" sz="2400" u="none" strike="noStrike"/>
              <a:t>X</a:t>
            </a:r>
            <a:r>
              <a:rPr lang="en-US" sz="2400"/>
              <a:t>|</a:t>
            </a:r>
            <a:r>
              <a:rPr b="0" i="1" lang="en-US" sz="2400" u="none" strike="noStrike"/>
              <a:t>Ci)</a:t>
            </a:r>
            <a:endParaRPr b="0" i="0" sz="2400" u="none" strike="noStrike"/>
          </a:p>
          <a:p>
            <a:pPr indent="-228600" lvl="0" marL="228600" rtl="0" algn="l">
              <a:lnSpc>
                <a:spcPct val="90000"/>
              </a:lnSpc>
              <a:spcBef>
                <a:spcPts val="1000"/>
              </a:spcBef>
              <a:spcAft>
                <a:spcPts val="0"/>
              </a:spcAft>
              <a:buClr>
                <a:schemeClr val="dk1"/>
              </a:buClr>
              <a:buSzPts val="2400"/>
              <a:buChar char="•"/>
            </a:pPr>
            <a:r>
              <a:rPr b="0" i="0" lang="en-US" sz="2400" u="none" strike="noStrike"/>
              <a:t>To reduce computation in evaluating </a:t>
            </a:r>
            <a:r>
              <a:rPr b="0" i="1" lang="en-US" sz="2400" u="none" strike="noStrike"/>
              <a:t>P(</a:t>
            </a:r>
            <a:r>
              <a:rPr b="1" i="1" lang="en-US" sz="2400" u="none" strike="noStrike"/>
              <a:t>X</a:t>
            </a:r>
            <a:r>
              <a:rPr lang="en-US" sz="2400"/>
              <a:t>|</a:t>
            </a:r>
            <a:r>
              <a:rPr b="0" i="1" lang="en-US" sz="2400" u="none" strike="noStrike"/>
              <a:t>Ci)</a:t>
            </a:r>
            <a:r>
              <a:rPr b="0" i="0" lang="en-US" sz="2400" u="none" strike="noStrike"/>
              <a:t>, the na¨ıve assumption of </a:t>
            </a:r>
            <a:r>
              <a:rPr b="1" i="0" lang="en-US" sz="2400" u="none" strike="noStrike"/>
              <a:t>class-conditional independence </a:t>
            </a:r>
            <a:r>
              <a:rPr b="0" i="0" lang="en-US" sz="2400" u="none" strike="noStrike"/>
              <a:t>is made.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This presumes that the attributes’ values are conditionally independent of one another, given the class label of the tuple (i.e., that there are no dependence relationships among the attributes). Thus,</a:t>
            </a:r>
            <a:endParaRPr sz="2400"/>
          </a:p>
        </p:txBody>
      </p:sp>
      <p:pic>
        <p:nvPicPr>
          <p:cNvPr id="596" name="Google Shape;596;p15"/>
          <p:cNvPicPr preferRelativeResize="0"/>
          <p:nvPr/>
        </p:nvPicPr>
        <p:blipFill rotWithShape="1">
          <a:blip r:embed="rId3">
            <a:alphaModFix/>
          </a:blip>
          <a:srcRect b="0" l="0" r="0" t="0"/>
          <a:stretch/>
        </p:blipFill>
        <p:spPr>
          <a:xfrm>
            <a:off x="3454289" y="4515730"/>
            <a:ext cx="5754063" cy="142578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Working of Na¨ıve Bayesian Classifier</a:t>
            </a:r>
            <a:endParaRPr/>
          </a:p>
        </p:txBody>
      </p:sp>
      <p:sp>
        <p:nvSpPr>
          <p:cNvPr id="602" name="Google Shape;602;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b="0" i="0" lang="en-US" sz="2400" u="none" strike="noStrike"/>
              <a:t>How to estimate the probabilities </a:t>
            </a:r>
            <a:r>
              <a:rPr b="0" i="1" lang="en-US" sz="2400" u="none" strike="noStrike"/>
              <a:t>P</a:t>
            </a:r>
            <a:r>
              <a:rPr lang="en-US" sz="2400"/>
              <a:t>(</a:t>
            </a:r>
            <a:r>
              <a:rPr b="0" i="1" lang="en-US" sz="2400" u="none" strike="noStrike"/>
              <a:t>x</a:t>
            </a:r>
            <a:r>
              <a:rPr b="0" i="0" lang="en-US" sz="2400" u="none" strike="noStrike"/>
              <a:t>1</a:t>
            </a:r>
            <a:r>
              <a:rPr lang="en-US" sz="2400"/>
              <a:t>|</a:t>
            </a:r>
            <a:r>
              <a:rPr b="0" i="1" lang="en-US" sz="2400" u="none" strike="noStrike"/>
              <a:t>Ci)</a:t>
            </a:r>
            <a:r>
              <a:rPr b="0" i="0" lang="en-US" sz="2400" u="none" strike="noStrike"/>
              <a:t>, </a:t>
            </a:r>
            <a:r>
              <a:rPr b="0" i="1" lang="en-US" sz="2400" u="none" strike="noStrike"/>
              <a:t>P(x</a:t>
            </a:r>
            <a:r>
              <a:rPr b="0" i="0" lang="en-US" sz="2400" u="none" strike="noStrike"/>
              <a:t>2</a:t>
            </a:r>
            <a:r>
              <a:rPr lang="en-US" sz="2400"/>
              <a:t>|</a:t>
            </a:r>
            <a:r>
              <a:rPr b="0" i="1" lang="en-US" sz="2400" u="none" strike="noStrike"/>
              <a:t>Ci)</a:t>
            </a:r>
            <a:r>
              <a:rPr b="0" i="0" lang="en-US" sz="2400" u="none" strike="noStrike"/>
              <a:t>,…, </a:t>
            </a:r>
            <a:r>
              <a:rPr b="0" i="1" lang="en-US" sz="2400" u="none" strike="noStrike"/>
              <a:t>P(xn</a:t>
            </a:r>
            <a:r>
              <a:rPr lang="en-US" sz="2400"/>
              <a:t>|</a:t>
            </a:r>
            <a:r>
              <a:rPr b="0" i="1" lang="en-US" sz="2400" u="none" strike="noStrike"/>
              <a:t>Ci</a:t>
            </a:r>
            <a:r>
              <a:rPr lang="en-US" sz="2400"/>
              <a:t>)</a:t>
            </a:r>
            <a:endParaRPr b="0" i="0" sz="2400" u="none" strike="noStrike"/>
          </a:p>
          <a:p>
            <a:pPr indent="-228600" lvl="0" marL="228600" rtl="0" algn="l">
              <a:lnSpc>
                <a:spcPct val="90000"/>
              </a:lnSpc>
              <a:spcBef>
                <a:spcPts val="1000"/>
              </a:spcBef>
              <a:spcAft>
                <a:spcPts val="0"/>
              </a:spcAft>
              <a:buClr>
                <a:schemeClr val="dk1"/>
              </a:buClr>
              <a:buSzPts val="2400"/>
              <a:buChar char="•"/>
            </a:pPr>
            <a:r>
              <a:rPr b="0" i="0" lang="en-US" sz="2400" u="none" strike="noStrike"/>
              <a:t>We can easily estimate the probabilities </a:t>
            </a:r>
            <a:r>
              <a:rPr b="0" i="1" lang="en-US" sz="2400" u="none" strike="noStrike"/>
              <a:t>P</a:t>
            </a:r>
            <a:r>
              <a:rPr lang="en-US" sz="2400"/>
              <a:t>(</a:t>
            </a:r>
            <a:r>
              <a:rPr b="0" i="1" lang="en-US" sz="2400" u="none" strike="noStrike"/>
              <a:t>x</a:t>
            </a:r>
            <a:r>
              <a:rPr b="0" i="0" lang="en-US" sz="2400" u="none" strike="noStrike"/>
              <a:t>1</a:t>
            </a:r>
            <a:r>
              <a:rPr lang="en-US" sz="2400"/>
              <a:t>|</a:t>
            </a:r>
            <a:r>
              <a:rPr b="0" i="1" lang="en-US" sz="2400" u="none" strike="noStrike"/>
              <a:t>Ci)</a:t>
            </a:r>
            <a:r>
              <a:rPr b="0" i="0" lang="en-US" sz="2400" u="none" strike="noStrike"/>
              <a:t>, </a:t>
            </a:r>
            <a:r>
              <a:rPr b="0" i="1" lang="en-US" sz="2400" u="none" strike="noStrike"/>
              <a:t>P(x</a:t>
            </a:r>
            <a:r>
              <a:rPr b="0" i="0" lang="en-US" sz="2400" u="none" strike="noStrike"/>
              <a:t>2</a:t>
            </a:r>
            <a:r>
              <a:rPr lang="en-US" sz="2400"/>
              <a:t>|</a:t>
            </a:r>
            <a:r>
              <a:rPr b="0" i="1" lang="en-US" sz="2400" u="none" strike="noStrike"/>
              <a:t>Ci)</a:t>
            </a:r>
            <a:r>
              <a:rPr b="0" i="0" lang="en-US" sz="2400" u="none" strike="noStrike"/>
              <a:t>,…, </a:t>
            </a:r>
            <a:r>
              <a:rPr b="0" i="1" lang="en-US" sz="2400" u="none" strike="noStrike"/>
              <a:t>P(xn</a:t>
            </a:r>
            <a:r>
              <a:rPr lang="en-US" sz="2400"/>
              <a:t>|</a:t>
            </a:r>
            <a:r>
              <a:rPr b="0" i="1" lang="en-US" sz="2400" u="none" strike="noStrike"/>
              <a:t>Ci</a:t>
            </a:r>
            <a:r>
              <a:rPr lang="en-US" sz="2400"/>
              <a:t>) </a:t>
            </a:r>
            <a:r>
              <a:rPr b="0" i="0" lang="en-US" sz="2400" u="none" strike="noStrike"/>
              <a:t>from the training tuples. </a:t>
            </a:r>
            <a:endParaRPr/>
          </a:p>
          <a:p>
            <a:pPr indent="-228600" lvl="0" marL="228600" rtl="0" algn="l">
              <a:lnSpc>
                <a:spcPct val="90000"/>
              </a:lnSpc>
              <a:spcBef>
                <a:spcPts val="1000"/>
              </a:spcBef>
              <a:spcAft>
                <a:spcPts val="0"/>
              </a:spcAft>
              <a:buClr>
                <a:schemeClr val="dk1"/>
              </a:buClr>
              <a:buSzPts val="2400"/>
              <a:buChar char="•"/>
            </a:pPr>
            <a:r>
              <a:rPr lang="en-US" sz="2400"/>
              <a:t>H</a:t>
            </a:r>
            <a:r>
              <a:rPr b="0" i="0" lang="en-US" sz="2400" u="none" strike="noStrike"/>
              <a:t>ere </a:t>
            </a:r>
            <a:r>
              <a:rPr b="0" i="1" lang="en-US" sz="2400" u="none" strike="noStrike"/>
              <a:t>x</a:t>
            </a:r>
            <a:r>
              <a:rPr b="0" baseline="-25000" i="1" lang="en-US" sz="2400" u="none" strike="noStrike"/>
              <a:t>k</a:t>
            </a:r>
            <a:r>
              <a:rPr b="0" i="1" lang="en-US" sz="2400" u="none" strike="noStrike"/>
              <a:t> </a:t>
            </a:r>
            <a:r>
              <a:rPr b="0" i="0" lang="en-US" sz="2400" u="none" strike="noStrike"/>
              <a:t>refers to the value of attribute </a:t>
            </a:r>
            <a:r>
              <a:rPr b="0" i="1" lang="en-US" sz="2400" u="none" strike="noStrike"/>
              <a:t>A</a:t>
            </a:r>
            <a:r>
              <a:rPr b="0" baseline="-25000" i="1" lang="en-US" sz="2400" u="none" strike="noStrike"/>
              <a:t>k</a:t>
            </a:r>
            <a:r>
              <a:rPr b="0" i="1" lang="en-US" sz="2400" u="none" strike="noStrike"/>
              <a:t> </a:t>
            </a:r>
            <a:r>
              <a:rPr b="0" i="0" lang="en-US" sz="2400" u="none" strike="noStrike"/>
              <a:t>for tuple </a:t>
            </a:r>
            <a:r>
              <a:rPr b="1" i="1" lang="en-US" sz="2400" u="none" strike="noStrike"/>
              <a:t>X</a:t>
            </a:r>
            <a:r>
              <a:rPr b="0" i="0" lang="en-US" sz="2400" u="none" strike="noStrike"/>
              <a:t>.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For each attribute, we look at whether the attribute is categorical or continuous-valued.</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For instance, to compute </a:t>
            </a:r>
            <a:r>
              <a:rPr b="0" i="1" lang="en-US" sz="2400" u="none" strike="noStrike"/>
              <a:t>P(</a:t>
            </a:r>
            <a:r>
              <a:rPr b="1" i="1" lang="en-US" sz="2400" u="none" strike="noStrike"/>
              <a:t>X</a:t>
            </a:r>
            <a:r>
              <a:rPr lang="en-US" sz="2400"/>
              <a:t>|</a:t>
            </a:r>
            <a:r>
              <a:rPr b="0" i="1" lang="en-US" sz="2400" u="none" strike="noStrike"/>
              <a:t>Ci</a:t>
            </a:r>
            <a:r>
              <a:rPr lang="en-US" sz="2400"/>
              <a:t>)</a:t>
            </a:r>
            <a:r>
              <a:rPr b="0" i="0" lang="en-US" sz="2400" u="none" strike="noStrike"/>
              <a:t>, we consider the following:</a:t>
            </a:r>
            <a:endParaRPr/>
          </a:p>
          <a:p>
            <a:pPr indent="-228600" lvl="0" marL="228600" rtl="0" algn="l">
              <a:lnSpc>
                <a:spcPct val="90000"/>
              </a:lnSpc>
              <a:spcBef>
                <a:spcPts val="1000"/>
              </a:spcBef>
              <a:spcAft>
                <a:spcPts val="0"/>
              </a:spcAft>
              <a:buClr>
                <a:schemeClr val="dk1"/>
              </a:buClr>
              <a:buSzPts val="2400"/>
              <a:buChar char="•"/>
            </a:pPr>
            <a:r>
              <a:rPr lang="en-US" sz="2400"/>
              <a:t>i) </a:t>
            </a:r>
            <a:r>
              <a:rPr b="0" i="0" lang="en-US" sz="2400" u="none" strike="noStrike"/>
              <a:t>If </a:t>
            </a:r>
            <a:r>
              <a:rPr b="0" i="1" lang="en-US" sz="2400" u="none" strike="noStrike"/>
              <a:t>Ak </a:t>
            </a:r>
            <a:r>
              <a:rPr b="0" i="0" lang="en-US" sz="2400" u="none" strike="noStrike"/>
              <a:t>is categorical, then </a:t>
            </a:r>
            <a:r>
              <a:rPr b="0" i="1" lang="en-US" sz="2400" u="none" strike="noStrike"/>
              <a:t>P(xk</a:t>
            </a:r>
            <a:r>
              <a:rPr lang="en-US" sz="2400"/>
              <a:t>|</a:t>
            </a:r>
            <a:r>
              <a:rPr b="0" i="1" lang="en-US" sz="2400" u="none" strike="noStrike"/>
              <a:t>Ci)</a:t>
            </a:r>
            <a:r>
              <a:rPr b="0" i="0" lang="en-US" sz="2400" u="none" strike="noStrike"/>
              <a:t> is the number of tuples of class </a:t>
            </a:r>
            <a:r>
              <a:rPr b="0" i="1" lang="en-US" sz="2400" u="none" strike="noStrike"/>
              <a:t>Ci </a:t>
            </a:r>
            <a:r>
              <a:rPr b="0" i="0" lang="en-US" sz="2400" u="none" strike="noStrike"/>
              <a:t>in </a:t>
            </a:r>
            <a:r>
              <a:rPr b="0" i="1" lang="en-US" sz="2400" u="none" strike="noStrike"/>
              <a:t>D </a:t>
            </a:r>
            <a:r>
              <a:rPr b="0" i="0" lang="en-US" sz="2400" u="none" strike="noStrike"/>
              <a:t>having the value </a:t>
            </a:r>
            <a:r>
              <a:rPr b="0" i="1" lang="en-US" sz="2400" u="none" strike="noStrike"/>
              <a:t>xk </a:t>
            </a:r>
            <a:r>
              <a:rPr b="0" i="0" lang="en-US" sz="2400" u="none" strike="noStrike"/>
              <a:t>for </a:t>
            </a:r>
            <a:r>
              <a:rPr b="0" i="1" lang="en-US" sz="2400" u="none" strike="noStrike"/>
              <a:t>Ak</a:t>
            </a:r>
            <a:r>
              <a:rPr b="0" i="0" lang="en-US" sz="2400" u="none" strike="noStrike"/>
              <a:t>, divided by |</a:t>
            </a:r>
            <a:r>
              <a:rPr b="0" i="1" lang="en-US" sz="2400" u="none" strike="noStrike"/>
              <a:t>C</a:t>
            </a:r>
            <a:r>
              <a:rPr b="0" baseline="-25000" i="1" lang="en-US" sz="2400" u="none" strike="noStrike"/>
              <a:t>i</a:t>
            </a:r>
            <a:r>
              <a:rPr b="0" baseline="-25000" i="0" lang="en-US" sz="2400" u="none" strike="noStrike"/>
              <a:t>,</a:t>
            </a:r>
            <a:r>
              <a:rPr b="0" baseline="-25000" i="1" lang="en-US" sz="2400" u="none" strike="noStrike"/>
              <a:t>D</a:t>
            </a:r>
            <a:r>
              <a:rPr b="0" lang="en-US" sz="2400" u="none" strike="noStrike"/>
              <a:t>|</a:t>
            </a:r>
            <a:r>
              <a:rPr b="0" i="0" lang="en-US" sz="2400" u="none" strike="noStrike"/>
              <a:t>, the number of tuples of class </a:t>
            </a:r>
            <a:r>
              <a:rPr b="0" i="1" lang="en-US" sz="2400" u="none" strike="noStrike"/>
              <a:t>Ci </a:t>
            </a:r>
            <a:r>
              <a:rPr b="0" i="0" lang="en-US" sz="2400" u="none" strike="noStrike"/>
              <a:t>in </a:t>
            </a:r>
            <a:r>
              <a:rPr b="0" i="1" lang="en-US" sz="2400" u="none" strike="noStrike"/>
              <a:t>D</a:t>
            </a:r>
            <a:r>
              <a:rPr b="0" i="0" lang="en-US" sz="2400" u="none" strike="noStrike"/>
              <a:t>.</a:t>
            </a:r>
            <a:endParaRPr/>
          </a:p>
          <a:p>
            <a:pPr indent="-228600" lvl="0" marL="228600" rtl="0" algn="l">
              <a:lnSpc>
                <a:spcPct val="90000"/>
              </a:lnSpc>
              <a:spcBef>
                <a:spcPts val="1000"/>
              </a:spcBef>
              <a:spcAft>
                <a:spcPts val="0"/>
              </a:spcAft>
              <a:buClr>
                <a:schemeClr val="dk1"/>
              </a:buClr>
              <a:buSzPts val="2400"/>
              <a:buChar char="•"/>
            </a:pPr>
            <a:r>
              <a:rPr lang="en-US" sz="2400"/>
              <a:t>ii) </a:t>
            </a:r>
            <a:r>
              <a:rPr b="0" i="0" lang="en-US" sz="2400" u="none" strike="noStrike"/>
              <a:t>If </a:t>
            </a:r>
            <a:r>
              <a:rPr b="0" i="1" lang="en-US" sz="2400" u="none" strike="noStrike"/>
              <a:t>Ak </a:t>
            </a:r>
            <a:r>
              <a:rPr b="0" i="0" lang="en-US" sz="2400" u="none" strike="noStrike"/>
              <a:t>is continuous-valued, then we need to do a bit more work, but the calculation is pretty straightforward. </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Working of Na¨ıve Bayesian Classifier</a:t>
            </a:r>
            <a:endParaRPr/>
          </a:p>
        </p:txBody>
      </p:sp>
      <p:sp>
        <p:nvSpPr>
          <p:cNvPr id="608" name="Google Shape;608;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sz="2800" u="none" strike="noStrike"/>
              <a:t>A continuous-valued attribute is typically assumed to have a Gaussian distribution with a mean  and standard deviation, defined by</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So that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400"/>
              <a:buChar char="•"/>
            </a:pPr>
            <a:r>
              <a:rPr lang="en-US" sz="2400"/>
              <a:t>Where μ</a:t>
            </a:r>
            <a:r>
              <a:rPr b="0" baseline="-25000" i="1" lang="en-US" sz="2400" u="none" strike="noStrike"/>
              <a:t>Ci</a:t>
            </a:r>
            <a:r>
              <a:rPr b="0" i="1" lang="en-US" sz="2400" u="none" strike="noStrike"/>
              <a:t> and </a:t>
            </a:r>
            <a:r>
              <a:rPr lang="en-US" sz="2400"/>
              <a:t>σ</a:t>
            </a:r>
            <a:r>
              <a:rPr b="0" baseline="-25000" i="1" lang="en-US" sz="2400" u="none" strike="noStrike"/>
              <a:t>Ci</a:t>
            </a:r>
            <a:r>
              <a:rPr lang="en-US" sz="2400"/>
              <a:t> are mean and standard deviation </a:t>
            </a:r>
            <a:r>
              <a:rPr b="0" i="0" lang="en-US" sz="2400" u="none" strike="noStrike"/>
              <a:t>of the values of attribute </a:t>
            </a:r>
            <a:r>
              <a:rPr b="0" i="1" lang="en-US" sz="2400" u="none" strike="noStrike"/>
              <a:t>Ak </a:t>
            </a:r>
            <a:r>
              <a:rPr b="0" i="0" lang="en-US" sz="2400" u="none" strike="noStrike"/>
              <a:t>for training tuples of class </a:t>
            </a:r>
            <a:r>
              <a:rPr b="0" i="1" lang="en-US" sz="2400" u="none" strike="noStrike"/>
              <a:t>Ci </a:t>
            </a:r>
            <a:r>
              <a:rPr b="0" i="0" lang="en-US" sz="2400" u="none" strike="noStrike"/>
              <a:t>.</a:t>
            </a:r>
            <a:endParaRPr/>
          </a:p>
        </p:txBody>
      </p:sp>
      <p:pic>
        <p:nvPicPr>
          <p:cNvPr id="609" name="Google Shape;609;p17"/>
          <p:cNvPicPr preferRelativeResize="0"/>
          <p:nvPr/>
        </p:nvPicPr>
        <p:blipFill rotWithShape="1">
          <a:blip r:embed="rId3">
            <a:alphaModFix/>
          </a:blip>
          <a:srcRect b="0" l="0" r="0" t="0"/>
          <a:stretch/>
        </p:blipFill>
        <p:spPr>
          <a:xfrm>
            <a:off x="3865297" y="2755617"/>
            <a:ext cx="3895339" cy="930118"/>
          </a:xfrm>
          <a:prstGeom prst="rect">
            <a:avLst/>
          </a:prstGeom>
          <a:noFill/>
          <a:ln>
            <a:noFill/>
          </a:ln>
        </p:spPr>
      </p:pic>
      <p:pic>
        <p:nvPicPr>
          <p:cNvPr id="610" name="Google Shape;610;p17"/>
          <p:cNvPicPr preferRelativeResize="0"/>
          <p:nvPr/>
        </p:nvPicPr>
        <p:blipFill rotWithShape="1">
          <a:blip r:embed="rId4">
            <a:alphaModFix/>
          </a:blip>
          <a:srcRect b="0" l="0" r="0" t="0"/>
          <a:stretch/>
        </p:blipFill>
        <p:spPr>
          <a:xfrm>
            <a:off x="4270277" y="4190180"/>
            <a:ext cx="3356132" cy="39034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g3a2f70455b0_0_4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343541"/>
              </a:buClr>
              <a:buSzPct val="100000"/>
              <a:buFont typeface="Arial"/>
              <a:buNone/>
            </a:pPr>
            <a:r>
              <a:rPr b="0" i="0" lang="en-US">
                <a:solidFill>
                  <a:srgbClr val="343541"/>
                </a:solidFill>
                <a:latin typeface="Arial"/>
                <a:ea typeface="Arial"/>
                <a:cs typeface="Arial"/>
                <a:sym typeface="Arial"/>
              </a:rPr>
              <a:t>example: how Naive Bayes calculates the probability of a feature given each class label</a:t>
            </a:r>
            <a:endParaRPr/>
          </a:p>
        </p:txBody>
      </p:sp>
      <p:graphicFrame>
        <p:nvGraphicFramePr>
          <p:cNvPr id="616" name="Google Shape;616;g3a2f70455b0_0_433"/>
          <p:cNvGraphicFramePr/>
          <p:nvPr/>
        </p:nvGraphicFramePr>
        <p:xfrm>
          <a:off x="2986087" y="2904014"/>
          <a:ext cx="3000000" cy="3000000"/>
        </p:xfrm>
        <a:graphic>
          <a:graphicData uri="http://schemas.openxmlformats.org/drawingml/2006/table">
            <a:tbl>
              <a:tblPr>
                <a:noFill/>
                <a:tableStyleId>{B1B8FBF1-EC8C-488A-A255-9533FCABEAAF}</a:tableStyleId>
              </a:tblPr>
              <a:tblGrid>
                <a:gridCol w="2073275"/>
                <a:gridCol w="2073275"/>
                <a:gridCol w="2073275"/>
              </a:tblGrid>
              <a:tr h="228600">
                <a:tc>
                  <a:txBody>
                    <a:bodyPr/>
                    <a:lstStyle/>
                    <a:p>
                      <a:pPr indent="0" lvl="0" marL="0" marR="0" rtl="0" algn="l">
                        <a:spcBef>
                          <a:spcPts val="0"/>
                        </a:spcBef>
                        <a:spcAft>
                          <a:spcPts val="0"/>
                        </a:spcAft>
                        <a:buNone/>
                      </a:pPr>
                      <a:r>
                        <a:rPr b="1" lang="en-US" sz="1800" u="none" cap="none" strike="noStrike"/>
                        <a:t>Age</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b="1" lang="en-US" sz="1800" u="none" cap="none" strike="noStrike"/>
                        <a:t>Income</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b="1" lang="en-US" sz="1800" u="none" cap="none" strike="noStrike"/>
                        <a:t>Class</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30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50,000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Yes</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25</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70,000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Yes</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35</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80,000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Yes</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45</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60,000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No</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40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70,000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No</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a2f70455b0_0_4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22" name="Google Shape;622;g3a2f70455b0_0_43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374151"/>
              </a:buClr>
              <a:buSzPct val="100000"/>
              <a:buChar char="•"/>
            </a:pPr>
            <a:r>
              <a:rPr b="0" i="0" lang="en-US">
                <a:solidFill>
                  <a:srgbClr val="374151"/>
                </a:solidFill>
                <a:latin typeface="Arial"/>
                <a:ea typeface="Arial"/>
                <a:cs typeface="Arial"/>
                <a:sym typeface="Arial"/>
              </a:rPr>
              <a:t>To calculate the likelihood of a feature given a class label, Naive Bayes computes the frequency of each value of that feature for each class label. </a:t>
            </a:r>
            <a:endParaRPr/>
          </a:p>
          <a:p>
            <a:pPr indent="-228600" lvl="0" marL="228600" rtl="0" algn="l">
              <a:lnSpc>
                <a:spcPct val="90000"/>
              </a:lnSpc>
              <a:spcBef>
                <a:spcPts val="1000"/>
              </a:spcBef>
              <a:spcAft>
                <a:spcPts val="0"/>
              </a:spcAft>
              <a:buClr>
                <a:srgbClr val="374151"/>
              </a:buClr>
              <a:buSzPct val="100000"/>
              <a:buChar char="•"/>
            </a:pPr>
            <a:r>
              <a:rPr b="0" i="0" lang="en-US">
                <a:solidFill>
                  <a:srgbClr val="374151"/>
                </a:solidFill>
                <a:latin typeface="Arial"/>
                <a:ea typeface="Arial"/>
                <a:cs typeface="Arial"/>
                <a:sym typeface="Arial"/>
              </a:rPr>
              <a:t>For example, to calculate the likelihood of the "age" feature given the "Yes" class label, we count the number of times each age appears in the "Yes" class, and divide by the total number of instances in the "Yes" class. </a:t>
            </a:r>
            <a:endParaRPr/>
          </a:p>
          <a:p>
            <a:pPr indent="-228600" lvl="0" marL="228600" rtl="0" algn="l">
              <a:lnSpc>
                <a:spcPct val="90000"/>
              </a:lnSpc>
              <a:spcBef>
                <a:spcPts val="1000"/>
              </a:spcBef>
              <a:spcAft>
                <a:spcPts val="0"/>
              </a:spcAft>
              <a:buClr>
                <a:srgbClr val="374151"/>
              </a:buClr>
              <a:buSzPct val="100000"/>
              <a:buChar char="•"/>
            </a:pPr>
            <a:r>
              <a:rPr b="0" i="0" lang="en-US">
                <a:solidFill>
                  <a:srgbClr val="374151"/>
                </a:solidFill>
                <a:latin typeface="Arial"/>
                <a:ea typeface="Arial"/>
                <a:cs typeface="Arial"/>
                <a:sym typeface="Arial"/>
              </a:rPr>
              <a:t>We can then do the same for the "No" class.</a:t>
            </a:r>
            <a:endParaRPr/>
          </a:p>
          <a:p>
            <a:pPr indent="-228600" lvl="0" marL="228600" rtl="0" algn="l">
              <a:lnSpc>
                <a:spcPct val="90000"/>
              </a:lnSpc>
              <a:spcBef>
                <a:spcPts val="1000"/>
              </a:spcBef>
              <a:spcAft>
                <a:spcPts val="0"/>
              </a:spcAft>
              <a:buClr>
                <a:srgbClr val="374151"/>
              </a:buClr>
              <a:buSzPct val="100000"/>
              <a:buChar char="•"/>
            </a:pPr>
            <a:r>
              <a:rPr b="0" i="0" lang="en-US">
                <a:solidFill>
                  <a:srgbClr val="374151"/>
                </a:solidFill>
                <a:latin typeface="Arial"/>
                <a:ea typeface="Arial"/>
                <a:cs typeface="Arial"/>
                <a:sym typeface="Arial"/>
              </a:rPr>
              <a:t>In this example, we can see that all three instances in the "Yes" class have a different age value, so the frequency for each age is 1/3. </a:t>
            </a:r>
            <a:endParaRPr/>
          </a:p>
          <a:p>
            <a:pPr indent="-228600" lvl="0" marL="228600" rtl="0" algn="l">
              <a:lnSpc>
                <a:spcPct val="90000"/>
              </a:lnSpc>
              <a:spcBef>
                <a:spcPts val="1000"/>
              </a:spcBef>
              <a:spcAft>
                <a:spcPts val="0"/>
              </a:spcAft>
              <a:buClr>
                <a:srgbClr val="374151"/>
              </a:buClr>
              <a:buSzPct val="100000"/>
              <a:buChar char="•"/>
            </a:pPr>
            <a:r>
              <a:rPr b="0" i="0" lang="en-US">
                <a:solidFill>
                  <a:srgbClr val="374151"/>
                </a:solidFill>
                <a:latin typeface="Arial"/>
                <a:ea typeface="Arial"/>
                <a:cs typeface="Arial"/>
                <a:sym typeface="Arial"/>
              </a:rPr>
              <a:t>In the "No" class, there are two instances with age values of 40 and 45, respectively, so the frequency for each of these values is 1/2.</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a2f70455b0_0_44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graphicFrame>
        <p:nvGraphicFramePr>
          <p:cNvPr id="628" name="Google Shape;628;g3a2f70455b0_0_443"/>
          <p:cNvGraphicFramePr/>
          <p:nvPr/>
        </p:nvGraphicFramePr>
        <p:xfrm>
          <a:off x="2986087" y="2904014"/>
          <a:ext cx="3000000" cy="3000000"/>
        </p:xfrm>
        <a:graphic>
          <a:graphicData uri="http://schemas.openxmlformats.org/drawingml/2006/table">
            <a:tbl>
              <a:tblPr>
                <a:noFill/>
                <a:tableStyleId>{B1B8FBF1-EC8C-488A-A255-9533FCABEAAF}</a:tableStyleId>
              </a:tblPr>
              <a:tblGrid>
                <a:gridCol w="1243975"/>
                <a:gridCol w="1243975"/>
                <a:gridCol w="1243975"/>
                <a:gridCol w="1243975"/>
                <a:gridCol w="1243975"/>
              </a:tblGrid>
              <a:tr h="228600">
                <a:tc>
                  <a:txBody>
                    <a:bodyPr/>
                    <a:lstStyle/>
                    <a:p>
                      <a:pPr indent="0" lvl="0" marL="0" marR="0" rtl="0" algn="l">
                        <a:spcBef>
                          <a:spcPts val="0"/>
                        </a:spcBef>
                        <a:spcAft>
                          <a:spcPts val="0"/>
                        </a:spcAft>
                        <a:buNone/>
                      </a:pPr>
                      <a:r>
                        <a:rPr b="1" lang="en-US" sz="1800" u="none" cap="none" strike="noStrike"/>
                        <a:t>Age</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b="1" lang="en-US" sz="1800" u="none" cap="none" strike="noStrike"/>
                        <a:t>Yes Count</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b="1" lang="en-US" sz="1800" u="none" cap="none" strike="noStrike"/>
                        <a:t>Yes Freq</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b="1" lang="en-US" sz="1800" u="none" cap="none" strike="noStrike"/>
                        <a:t>No Count</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b="1" lang="en-US" sz="1800" u="none" cap="none" strike="noStrike"/>
                        <a:t>No Freq</a:t>
                      </a:r>
                      <a:endParaRPr/>
                    </a:p>
                  </a:txBody>
                  <a:tcPr marT="45725" marB="45725" marR="91450" marL="91450" anchor="b">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9525">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25</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1/3</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30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1/3</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35</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1/3</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40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1/2</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12700">
                      <a:solidFill>
                        <a:srgbClr val="D9D9E3"/>
                      </a:solidFill>
                      <a:prstDash val="solid"/>
                      <a:round/>
                      <a:headEnd len="sm" w="sm" type="none"/>
                      <a:tailEnd len="sm" w="sm" type="none"/>
                    </a:lnB>
                    <a:solidFill>
                      <a:srgbClr val="F7F7F8"/>
                    </a:solidFill>
                  </a:tcPr>
                </a:tc>
              </a:tr>
              <a:tr h="228600">
                <a:tc>
                  <a:txBody>
                    <a:bodyPr/>
                    <a:lstStyle/>
                    <a:p>
                      <a:pPr indent="0" lvl="0" marL="0" marR="0" rtl="0" algn="l">
                        <a:spcBef>
                          <a:spcPts val="0"/>
                        </a:spcBef>
                        <a:spcAft>
                          <a:spcPts val="0"/>
                        </a:spcAft>
                        <a:buNone/>
                      </a:pPr>
                      <a:r>
                        <a:rPr lang="en-US" sz="1800" u="none" cap="none" strike="noStrike"/>
                        <a:t>45</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0</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c>
                  <a:txBody>
                    <a:bodyPr/>
                    <a:lstStyle/>
                    <a:p>
                      <a:pPr indent="0" lvl="0" marL="0" marR="0" rtl="0" algn="l">
                        <a:spcBef>
                          <a:spcPts val="0"/>
                        </a:spcBef>
                        <a:spcAft>
                          <a:spcPts val="0"/>
                        </a:spcAft>
                        <a:buNone/>
                      </a:pPr>
                      <a:r>
                        <a:rPr lang="en-US" sz="1800" u="none" cap="none" strike="noStrike"/>
                        <a:t>1/2</a:t>
                      </a:r>
                      <a:endParaRPr/>
                    </a:p>
                  </a:txBody>
                  <a:tcPr marT="45725" marB="45725" marR="91450" marL="91450" anchor="ctr">
                    <a:lnL cap="flat" cmpd="sng" w="9525">
                      <a:solidFill>
                        <a:srgbClr val="D9D9E3"/>
                      </a:solidFill>
                      <a:prstDash val="solid"/>
                      <a:round/>
                      <a:headEnd len="sm" w="sm" type="none"/>
                      <a:tailEnd len="sm" w="sm" type="none"/>
                    </a:lnL>
                    <a:lnR cap="flat" cmpd="sng" w="9525">
                      <a:solidFill>
                        <a:srgbClr val="D9D9E3"/>
                      </a:solidFill>
                      <a:prstDash val="solid"/>
                      <a:round/>
                      <a:headEnd len="sm" w="sm" type="none"/>
                      <a:tailEnd len="sm" w="sm" type="none"/>
                    </a:lnR>
                    <a:lnT cap="flat" cmpd="sng" w="12700">
                      <a:solidFill>
                        <a:srgbClr val="D9D9E3"/>
                      </a:solidFill>
                      <a:prstDash val="solid"/>
                      <a:round/>
                      <a:headEnd len="sm" w="sm" type="none"/>
                      <a:tailEnd len="sm" w="sm" type="none"/>
                    </a:lnT>
                    <a:lnB cap="flat" cmpd="sng" w="9525">
                      <a:solidFill>
                        <a:srgbClr val="D9D9E3"/>
                      </a:solidFill>
                      <a:prstDash val="solid"/>
                      <a:round/>
                      <a:headEnd len="sm" w="sm" type="none"/>
                      <a:tailEnd len="sm" w="sm" type="none"/>
                    </a:lnB>
                    <a:solidFill>
                      <a:srgbClr val="F7F7F8"/>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3a2f70455b0_0_44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34" name="Google Shape;634;g3a2f70455b0_0_44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800"/>
              <a:buChar char="•"/>
            </a:pPr>
            <a:r>
              <a:rPr b="0" i="0" lang="en-US">
                <a:solidFill>
                  <a:srgbClr val="374151"/>
                </a:solidFill>
                <a:latin typeface="Arial"/>
                <a:ea typeface="Arial"/>
                <a:cs typeface="Arial"/>
                <a:sym typeface="Arial"/>
              </a:rPr>
              <a:t>We can then do the same calculation for the "income" feature given each class label, and obtain the likelihood probabilities for each feature and class label. </a:t>
            </a:r>
            <a:endParaRPr/>
          </a:p>
          <a:p>
            <a:pPr indent="-228600" lvl="0" marL="228600" rtl="0" algn="l">
              <a:lnSpc>
                <a:spcPct val="90000"/>
              </a:lnSpc>
              <a:spcBef>
                <a:spcPts val="1000"/>
              </a:spcBef>
              <a:spcAft>
                <a:spcPts val="0"/>
              </a:spcAft>
              <a:buClr>
                <a:srgbClr val="374151"/>
              </a:buClr>
              <a:buSzPts val="2800"/>
              <a:buChar char="•"/>
            </a:pPr>
            <a:r>
              <a:rPr b="0" i="0" lang="en-US">
                <a:solidFill>
                  <a:srgbClr val="374151"/>
                </a:solidFill>
                <a:latin typeface="Arial"/>
                <a:ea typeface="Arial"/>
                <a:cs typeface="Arial"/>
                <a:sym typeface="Arial"/>
              </a:rPr>
              <a:t>These likelihood probabilities can then be combined with the prior probabilities of each class to compute the posterior probabilities and make predictions for new instances.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Working of Na¨ıve Bayesian Classifier</a:t>
            </a:r>
            <a:endParaRPr/>
          </a:p>
        </p:txBody>
      </p:sp>
      <p:sp>
        <p:nvSpPr>
          <p:cNvPr id="640" name="Google Shape;64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b="0" i="0" lang="en-US" sz="2400" u="none" strike="noStrike"/>
              <a:t>Example:</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let </a:t>
            </a:r>
            <a:r>
              <a:rPr b="1" i="1" lang="en-US" sz="2400" u="none" strike="noStrike"/>
              <a:t>X =</a:t>
            </a:r>
            <a:r>
              <a:rPr b="0" i="0" lang="en-US" sz="2400" u="none" strike="noStrike"/>
              <a:t> (35,$40,000</a:t>
            </a:r>
            <a:r>
              <a:rPr lang="en-US" sz="2400"/>
              <a:t>)</a:t>
            </a:r>
            <a:r>
              <a:rPr b="0" i="0" lang="en-US" sz="2400" u="none" strike="noStrike"/>
              <a:t>, where </a:t>
            </a:r>
            <a:r>
              <a:rPr b="0" i="1" lang="en-US" sz="2400" u="none" strike="noStrike"/>
              <a:t>A</a:t>
            </a:r>
            <a:r>
              <a:rPr b="0" i="0" lang="en-US" sz="2400" u="none" strike="noStrike"/>
              <a:t>1 and </a:t>
            </a:r>
            <a:r>
              <a:rPr b="0" i="1" lang="en-US" sz="2400" u="none" strike="noStrike"/>
              <a:t>A</a:t>
            </a:r>
            <a:r>
              <a:rPr b="0" i="0" lang="en-US" sz="2400" u="none" strike="noStrike"/>
              <a:t>2 are the attributes </a:t>
            </a:r>
            <a:r>
              <a:rPr b="0" i="1" lang="en-US" sz="2400" u="none" strike="noStrike"/>
              <a:t>age </a:t>
            </a:r>
            <a:r>
              <a:rPr b="0" i="0" lang="en-US" sz="2400" u="none" strike="noStrike"/>
              <a:t>and </a:t>
            </a:r>
            <a:r>
              <a:rPr b="0" i="1" lang="en-US" sz="2400" u="none" strike="noStrike"/>
              <a:t>income</a:t>
            </a:r>
            <a:r>
              <a:rPr b="0" i="0" lang="en-US" sz="2400" u="none" strike="noStrike"/>
              <a:t>, respectively.</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Let the class label attribute be </a:t>
            </a:r>
            <a:r>
              <a:rPr b="0" i="1" lang="en-US" sz="2400" u="none" strike="noStrike"/>
              <a:t>buys computer</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The associated class label for </a:t>
            </a:r>
            <a:r>
              <a:rPr b="1" i="1" lang="en-US" sz="2400" u="none" strike="noStrike"/>
              <a:t>X </a:t>
            </a:r>
            <a:r>
              <a:rPr b="0" i="0" lang="en-US" sz="2400" u="none" strike="noStrike"/>
              <a:t>is </a:t>
            </a:r>
            <a:r>
              <a:rPr b="0" i="1" lang="en-US" sz="2400" u="none" strike="noStrike"/>
              <a:t>yes </a:t>
            </a:r>
            <a:r>
              <a:rPr b="0" i="0" lang="en-US" sz="2400" u="none" strike="noStrike"/>
              <a:t>(i.e., </a:t>
            </a:r>
            <a:r>
              <a:rPr b="0" i="1" lang="en-US" sz="2400" u="none" strike="noStrike"/>
              <a:t>buys computer =</a:t>
            </a:r>
            <a:r>
              <a:rPr b="0" i="0" lang="en-US" sz="2400" u="none" strike="noStrike"/>
              <a:t> </a:t>
            </a:r>
            <a:r>
              <a:rPr b="0" i="1" lang="en-US" sz="2400" u="none" strike="noStrike"/>
              <a:t>yes</a:t>
            </a:r>
            <a:r>
              <a:rPr b="0" i="0" lang="en-US" sz="2400" u="none" strike="noStrike"/>
              <a:t>)</a:t>
            </a:r>
            <a:endParaRPr sz="2400"/>
          </a:p>
          <a:p>
            <a:pPr indent="-228600" lvl="0" marL="228600" rtl="0" algn="l">
              <a:lnSpc>
                <a:spcPct val="90000"/>
              </a:lnSpc>
              <a:spcBef>
                <a:spcPts val="1000"/>
              </a:spcBef>
              <a:spcAft>
                <a:spcPts val="0"/>
              </a:spcAft>
              <a:buClr>
                <a:schemeClr val="dk1"/>
              </a:buClr>
              <a:buSzPts val="2400"/>
              <a:buChar char="•"/>
            </a:pPr>
            <a:r>
              <a:rPr b="0" i="0" lang="en-US" sz="2400" u="none" strike="noStrike"/>
              <a:t>Let’s suppose that </a:t>
            </a:r>
            <a:r>
              <a:rPr b="0" i="1" lang="en-US" sz="2400" u="none" strike="noStrike"/>
              <a:t>age </a:t>
            </a:r>
            <a:r>
              <a:rPr b="0" i="0" lang="en-US" sz="2400" u="none" strike="noStrike"/>
              <a:t>has not been discretized and therefore exists as a continuous-valued attribute.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Suppose that from the training set, we find that customers in </a:t>
            </a:r>
            <a:r>
              <a:rPr b="0" i="1" lang="en-US" sz="2400" u="none" strike="noStrike"/>
              <a:t>D </a:t>
            </a:r>
            <a:r>
              <a:rPr b="0" i="0" lang="en-US" sz="2400" u="none" strike="noStrike"/>
              <a:t>who buy a computer are 38</a:t>
            </a:r>
            <a:r>
              <a:rPr b="0" i="0" lang="en-US" sz="2400">
                <a:solidFill>
                  <a:srgbClr val="202124"/>
                </a:solidFill>
              </a:rPr>
              <a:t>±</a:t>
            </a:r>
            <a:r>
              <a:rPr b="0" i="0" lang="en-US" sz="2400" u="none" strike="noStrike"/>
              <a:t>12 years of age. </a:t>
            </a:r>
            <a:endParaRPr/>
          </a:p>
          <a:p>
            <a:pPr indent="-228600" lvl="1" marL="685800" rtl="0" algn="l">
              <a:lnSpc>
                <a:spcPct val="90000"/>
              </a:lnSpc>
              <a:spcBef>
                <a:spcPts val="500"/>
              </a:spcBef>
              <a:spcAft>
                <a:spcPts val="0"/>
              </a:spcAft>
              <a:buClr>
                <a:schemeClr val="dk1"/>
              </a:buClr>
              <a:buSzPts val="2000"/>
              <a:buChar char="•"/>
            </a:pPr>
            <a:r>
              <a:rPr b="0" i="0" lang="en-US" sz="2000" u="none" strike="noStrike"/>
              <a:t>In other words, for attribute </a:t>
            </a:r>
            <a:r>
              <a:rPr b="0" i="1" lang="en-US" sz="2000" u="none" strike="noStrike"/>
              <a:t>age </a:t>
            </a:r>
            <a:r>
              <a:rPr b="0" i="0" lang="en-US" sz="2000" u="none" strike="noStrike"/>
              <a:t>and this class, we have </a:t>
            </a:r>
            <a:r>
              <a:rPr lang="en-US" sz="2400"/>
              <a:t>μ=</a:t>
            </a:r>
            <a:r>
              <a:rPr b="0" i="0" lang="en-US" sz="2400" u="none" strike="noStrike"/>
              <a:t> 38 years and </a:t>
            </a:r>
            <a:r>
              <a:rPr lang="en-US" sz="2400"/>
              <a:t>σ=</a:t>
            </a:r>
            <a:r>
              <a:rPr b="0" i="0" lang="en-US" sz="2400" u="none" strike="noStrike"/>
              <a:t>12.</a:t>
            </a:r>
            <a:endParaRPr/>
          </a:p>
          <a:p>
            <a:pPr indent="-228600" lvl="0" marL="228600" rtl="0" algn="l">
              <a:lnSpc>
                <a:spcPct val="90000"/>
              </a:lnSpc>
              <a:spcBef>
                <a:spcPts val="1000"/>
              </a:spcBef>
              <a:spcAft>
                <a:spcPts val="0"/>
              </a:spcAft>
              <a:buClr>
                <a:schemeClr val="dk1"/>
              </a:buClr>
              <a:buSzPts val="1800"/>
              <a:buChar char="•"/>
            </a:pPr>
            <a:r>
              <a:rPr b="0" i="0" lang="en-US" sz="1800" u="none" strike="noStrike">
                <a:latin typeface="Arial"/>
                <a:ea typeface="Arial"/>
                <a:cs typeface="Arial"/>
                <a:sym typeface="Arial"/>
              </a:rPr>
              <a:t>We can plug these quantities, along with </a:t>
            </a:r>
            <a:r>
              <a:rPr b="0" i="1" lang="en-US" sz="1800" u="none" strike="noStrike">
                <a:latin typeface="Arial"/>
                <a:ea typeface="Arial"/>
                <a:cs typeface="Arial"/>
                <a:sym typeface="Arial"/>
              </a:rPr>
              <a:t>x</a:t>
            </a:r>
            <a:r>
              <a:rPr b="0" i="0" lang="en-US" sz="1800" u="none" strike="noStrike">
                <a:latin typeface="Arial"/>
                <a:ea typeface="Arial"/>
                <a:cs typeface="Arial"/>
                <a:sym typeface="Arial"/>
              </a:rPr>
              <a:t>1= 35 for our tuple </a:t>
            </a:r>
            <a:r>
              <a:rPr b="1" i="1" lang="en-US" sz="1800" u="none" strike="noStrike">
                <a:latin typeface="Times"/>
                <a:ea typeface="Times"/>
                <a:cs typeface="Times"/>
                <a:sym typeface="Times"/>
              </a:rPr>
              <a:t>X</a:t>
            </a:r>
            <a:r>
              <a:rPr b="0" i="0" lang="en-US" sz="1800" u="none" strike="noStrike">
                <a:latin typeface="Arial"/>
                <a:ea typeface="Arial"/>
                <a:cs typeface="Arial"/>
                <a:sym typeface="Arial"/>
              </a:rPr>
              <a:t>, into previous Eq. to estimate </a:t>
            </a:r>
            <a:r>
              <a:rPr b="0" i="1" lang="en-US" sz="1800" u="none" strike="noStrike">
                <a:latin typeface="Arial"/>
                <a:ea typeface="Arial"/>
                <a:cs typeface="Arial"/>
                <a:sym typeface="Arial"/>
              </a:rPr>
              <a:t>P(age=</a:t>
            </a:r>
            <a:r>
              <a:rPr b="0" i="0" lang="en-US" sz="1800" u="none" strike="noStrike">
                <a:latin typeface="Arial"/>
                <a:ea typeface="Arial"/>
                <a:cs typeface="Arial"/>
                <a:sym typeface="Arial"/>
              </a:rPr>
              <a:t> </a:t>
            </a:r>
            <a:r>
              <a:rPr b="0" i="1" lang="en-US" sz="1800" u="none" strike="noStrike">
                <a:latin typeface="Arial"/>
                <a:ea typeface="Arial"/>
                <a:cs typeface="Arial"/>
                <a:sym typeface="Arial"/>
              </a:rPr>
              <a:t>35</a:t>
            </a:r>
            <a:r>
              <a:rPr b="0" lang="en-US" sz="1800" u="none" strike="noStrike">
                <a:latin typeface="Arial"/>
                <a:ea typeface="Arial"/>
                <a:cs typeface="Arial"/>
                <a:sym typeface="Arial"/>
              </a:rPr>
              <a:t>|</a:t>
            </a:r>
            <a:r>
              <a:rPr b="0" i="1" lang="en-US" sz="1800" u="none" strike="noStrike">
                <a:latin typeface="Arial"/>
                <a:ea typeface="Arial"/>
                <a:cs typeface="Arial"/>
                <a:sym typeface="Arial"/>
              </a:rPr>
              <a:t>buys computer </a:t>
            </a:r>
            <a:r>
              <a:rPr lang="en-US" sz="1800">
                <a:latin typeface="Arial"/>
                <a:ea typeface="Arial"/>
                <a:cs typeface="Arial"/>
                <a:sym typeface="Arial"/>
              </a:rPr>
              <a:t>=</a:t>
            </a:r>
            <a:r>
              <a:rPr b="0" i="0" lang="en-US" sz="1800" u="none" strike="noStrike">
                <a:latin typeface="Arial"/>
                <a:ea typeface="Arial"/>
                <a:cs typeface="Arial"/>
                <a:sym typeface="Arial"/>
              </a:rPr>
              <a:t> </a:t>
            </a:r>
            <a:r>
              <a:rPr b="0" i="1" lang="en-US" sz="1800" u="none" strike="noStrike">
                <a:latin typeface="Arial"/>
                <a:ea typeface="Arial"/>
                <a:cs typeface="Arial"/>
                <a:sym typeface="Arial"/>
              </a:rPr>
              <a:t>yes)</a:t>
            </a:r>
            <a:r>
              <a:rPr b="0" i="0" lang="en-US" sz="1800" u="none" strike="noStrike">
                <a:latin typeface="Arial"/>
                <a:ea typeface="Arial"/>
                <a:cs typeface="Arial"/>
                <a:sym typeface="Arial"/>
              </a:rPr>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Working of Na¨ıve Bayesian Classifier</a:t>
            </a:r>
            <a:endParaRPr/>
          </a:p>
        </p:txBody>
      </p:sp>
      <p:sp>
        <p:nvSpPr>
          <p:cNvPr id="646" name="Google Shape;646;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5. To predict the class label of </a:t>
            </a:r>
            <a:r>
              <a:rPr b="1" i="1" lang="en-US" sz="2400" u="none" strike="noStrike"/>
              <a:t>X</a:t>
            </a:r>
            <a:r>
              <a:rPr b="0" i="0" lang="en-US" sz="2400" u="none" strike="noStrike"/>
              <a:t>, </a:t>
            </a:r>
            <a:r>
              <a:rPr b="0" i="1" lang="en-US" sz="2400" u="none" strike="noStrike"/>
              <a:t>P</a:t>
            </a:r>
            <a:r>
              <a:rPr lang="en-US" sz="2400"/>
              <a:t>(</a:t>
            </a:r>
            <a:r>
              <a:rPr b="1" i="1" lang="en-US" sz="2400" u="none" strike="noStrike"/>
              <a:t>X|</a:t>
            </a:r>
            <a:r>
              <a:rPr b="0" i="1" lang="en-US" sz="2400" u="none" strike="noStrike"/>
              <a:t>Ci)P(Ci)</a:t>
            </a:r>
            <a:r>
              <a:rPr b="0" i="0" lang="en-US" sz="2400" u="none" strike="noStrike"/>
              <a:t> is evaluated for each class </a:t>
            </a:r>
            <a:r>
              <a:rPr b="0" i="1" lang="en-US" sz="2400" u="none" strike="noStrike"/>
              <a:t>Ci </a:t>
            </a:r>
            <a:r>
              <a:rPr b="0" i="0" lang="en-US" sz="2400" u="none" strike="noStrike"/>
              <a:t>.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The classifier predicts that the class label of tuple </a:t>
            </a:r>
            <a:r>
              <a:rPr b="1" i="1" lang="en-US" sz="2400" u="none" strike="noStrike"/>
              <a:t>X </a:t>
            </a:r>
            <a:r>
              <a:rPr b="0" i="0" lang="en-US" sz="2400" u="none" strike="noStrike"/>
              <a:t>is the class </a:t>
            </a:r>
            <a:r>
              <a:rPr b="0" i="1" lang="en-US" sz="2400" u="none" strike="noStrike"/>
              <a:t>Ci </a:t>
            </a:r>
            <a:r>
              <a:rPr b="0" i="0" lang="en-US" sz="2400" u="none" strike="noStrike"/>
              <a:t>if and only if</a:t>
            </a:r>
            <a:endParaRPr/>
          </a:p>
          <a:p>
            <a:pPr indent="-228600" lvl="1" marL="685800" rtl="0" algn="l">
              <a:lnSpc>
                <a:spcPct val="90000"/>
              </a:lnSpc>
              <a:spcBef>
                <a:spcPts val="500"/>
              </a:spcBef>
              <a:spcAft>
                <a:spcPts val="0"/>
              </a:spcAft>
              <a:buClr>
                <a:schemeClr val="dk1"/>
              </a:buClr>
              <a:buSzPts val="2400"/>
              <a:buChar char="•"/>
            </a:pPr>
            <a:r>
              <a:rPr b="0" i="1" lang="en-US" u="none" strike="noStrike"/>
              <a:t>P(X|Ci</a:t>
            </a:r>
            <a:r>
              <a:rPr b="1" i="1" lang="en-US" u="none" strike="noStrike"/>
              <a:t>)</a:t>
            </a:r>
            <a:r>
              <a:rPr i="1" lang="en-US" u="none" strike="noStrike"/>
              <a:t>P(Ci)</a:t>
            </a:r>
            <a:r>
              <a:rPr b="0" i="0" lang="en-US" u="none" strike="noStrike"/>
              <a:t> &gt; </a:t>
            </a:r>
            <a:r>
              <a:rPr b="0" i="1" lang="en-US" u="none" strike="noStrike"/>
              <a:t>P(X|Cj)P(Cj)</a:t>
            </a:r>
            <a:r>
              <a:rPr b="0" i="0" lang="en-US" u="none" strike="noStrike"/>
              <a:t>     for 1≤ </a:t>
            </a:r>
            <a:r>
              <a:rPr b="0" i="1" lang="en-US" u="none" strike="noStrike"/>
              <a:t>j </a:t>
            </a:r>
            <a:r>
              <a:rPr b="0" i="0" lang="en-US" u="none" strike="noStrike"/>
              <a:t>≤ </a:t>
            </a:r>
            <a:r>
              <a:rPr b="0" i="1" lang="en-US" u="none" strike="noStrike"/>
              <a:t>m</a:t>
            </a:r>
            <a:r>
              <a:rPr b="0" i="0" lang="en-US" u="none" strike="noStrike"/>
              <a:t>, </a:t>
            </a:r>
            <a:r>
              <a:rPr b="0" i="1" lang="en-US" u="none" strike="noStrike"/>
              <a:t>j ≠ i</a:t>
            </a:r>
            <a:r>
              <a:rPr b="0" i="0" lang="en-US" u="none" strike="noStrike"/>
              <a:t>.</a:t>
            </a:r>
            <a:endParaRPr b="0" i="1" u="none" strike="noStrike"/>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i="0" lang="en-US" sz="3600" u="none" strike="noStrike">
                <a:latin typeface="Calibri"/>
                <a:ea typeface="Calibri"/>
                <a:cs typeface="Calibri"/>
                <a:sym typeface="Calibri"/>
              </a:rPr>
              <a:t>Predicting a class label using na¨ıve Bayesian classification: Example</a:t>
            </a:r>
            <a:endParaRPr sz="3600">
              <a:latin typeface="Calibri"/>
              <a:ea typeface="Calibri"/>
              <a:cs typeface="Calibri"/>
              <a:sym typeface="Calibri"/>
            </a:endParaRPr>
          </a:p>
        </p:txBody>
      </p:sp>
      <p:pic>
        <p:nvPicPr>
          <p:cNvPr id="652" name="Google Shape;652;p20"/>
          <p:cNvPicPr preferRelativeResize="0"/>
          <p:nvPr>
            <p:ph idx="1" type="body"/>
          </p:nvPr>
        </p:nvPicPr>
        <p:blipFill rotWithShape="1">
          <a:blip r:embed="rId3">
            <a:alphaModFix/>
          </a:blip>
          <a:srcRect b="0" l="0" r="0" t="0"/>
          <a:stretch/>
        </p:blipFill>
        <p:spPr>
          <a:xfrm>
            <a:off x="2391508" y="1576230"/>
            <a:ext cx="7652823" cy="500975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Predicting a class label using na¨ıve Bayesian classification: Example</a:t>
            </a:r>
            <a:endParaRPr/>
          </a:p>
        </p:txBody>
      </p:sp>
      <p:sp>
        <p:nvSpPr>
          <p:cNvPr id="658" name="Google Shape;658;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Let </a:t>
            </a:r>
            <a:r>
              <a:rPr b="0" i="1" lang="en-US" sz="2400" u="none" strike="noStrike"/>
              <a:t>C</a:t>
            </a:r>
            <a:r>
              <a:rPr b="0" i="0" lang="en-US" sz="2400" u="none" strike="noStrike"/>
              <a:t>1 correspond to the class </a:t>
            </a:r>
            <a:r>
              <a:rPr b="0" i="1" lang="en-US" sz="2400" u="none" strike="noStrike"/>
              <a:t>buys computer =</a:t>
            </a:r>
            <a:r>
              <a:rPr b="0" i="0" lang="en-US" sz="2400" u="none" strike="noStrike"/>
              <a:t> </a:t>
            </a:r>
            <a:r>
              <a:rPr b="0" i="1" lang="en-US" sz="2400" u="none" strike="noStrike"/>
              <a:t>yes </a:t>
            </a:r>
            <a:r>
              <a:rPr b="0" i="0" lang="en-US" sz="2400" u="none" strike="noStrike"/>
              <a:t>and </a:t>
            </a:r>
            <a:r>
              <a:rPr b="0" i="1" lang="en-US" sz="2400" u="none" strike="noStrike"/>
              <a:t>C</a:t>
            </a:r>
            <a:r>
              <a:rPr b="0" i="0" lang="en-US" sz="2400" u="none" strike="noStrike"/>
              <a:t>2 correspond to </a:t>
            </a:r>
            <a:r>
              <a:rPr b="0" i="1" lang="en-US" sz="2400" u="none" strike="noStrike"/>
              <a:t>buys computer </a:t>
            </a:r>
            <a:r>
              <a:rPr lang="en-US" sz="2400"/>
              <a:t>=</a:t>
            </a:r>
            <a:r>
              <a:rPr b="0" i="0" lang="en-US" sz="2400" u="none" strike="noStrike"/>
              <a:t> </a:t>
            </a:r>
            <a:r>
              <a:rPr b="0" i="1" lang="en-US" sz="2400" u="none" strike="noStrike"/>
              <a:t>no.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The tuple we wish to classify is </a:t>
            </a:r>
            <a:r>
              <a:rPr b="1" i="1" lang="en-US" sz="2400" u="none" strike="noStrike"/>
              <a:t>X =</a:t>
            </a:r>
            <a:r>
              <a:rPr b="0" i="0" lang="en-US" sz="2400" u="none" strike="noStrike"/>
              <a:t> (</a:t>
            </a:r>
            <a:r>
              <a:rPr b="0" i="1" lang="en-US" sz="2400" u="none" strike="noStrike"/>
              <a:t>age =</a:t>
            </a:r>
            <a:r>
              <a:rPr b="0" i="0" lang="en-US" sz="2400" u="none" strike="noStrike"/>
              <a:t> </a:t>
            </a:r>
            <a:r>
              <a:rPr b="0" i="1" lang="en-US" sz="2400" u="none" strike="noStrike"/>
              <a:t>youth, income =</a:t>
            </a:r>
            <a:r>
              <a:rPr b="0" i="0" lang="en-US" sz="2400" u="none" strike="noStrike"/>
              <a:t> </a:t>
            </a:r>
            <a:r>
              <a:rPr b="0" i="1" lang="en-US" sz="2400" u="none" strike="noStrike"/>
              <a:t>medium, student =</a:t>
            </a:r>
            <a:r>
              <a:rPr b="0" i="0" lang="en-US" sz="2400" u="none" strike="noStrike"/>
              <a:t> </a:t>
            </a:r>
            <a:r>
              <a:rPr b="0" i="1" lang="en-US" sz="2400" u="none" strike="noStrike"/>
              <a:t>yes, credit rating </a:t>
            </a:r>
            <a:r>
              <a:rPr lang="en-US" sz="2400"/>
              <a:t>=</a:t>
            </a:r>
            <a:r>
              <a:rPr b="0" i="0" lang="en-US" sz="2400" u="none" strike="noStrike"/>
              <a:t> </a:t>
            </a:r>
            <a:r>
              <a:rPr b="0" i="1" lang="en-US" sz="2400" u="none" strike="noStrike"/>
              <a:t>fair</a:t>
            </a:r>
            <a:r>
              <a:rPr b="0" i="0" lang="en-US" sz="2400" u="none" strike="noStrike"/>
              <a:t>)</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We need to maximize </a:t>
            </a:r>
            <a:r>
              <a:rPr b="0" i="1" lang="en-US" sz="2400" u="none" strike="noStrike"/>
              <a:t>P(</a:t>
            </a:r>
            <a:r>
              <a:rPr b="1" i="1" lang="en-US" sz="2400" u="none" strike="noStrike"/>
              <a:t>X|</a:t>
            </a:r>
            <a:r>
              <a:rPr b="0" i="1" lang="en-US" sz="2400" u="none" strike="noStrike"/>
              <a:t>Ci)P(Ci)</a:t>
            </a:r>
            <a:r>
              <a:rPr b="0" i="0" lang="en-US" sz="2400" u="none" strike="noStrike"/>
              <a:t>, for </a:t>
            </a:r>
            <a:r>
              <a:rPr b="0" i="1" lang="en-US" sz="2400" u="none" strike="noStrike"/>
              <a:t>i =</a:t>
            </a:r>
            <a:r>
              <a:rPr b="0" i="0" lang="en-US" sz="2400" u="none" strike="noStrike"/>
              <a:t> 1, 2. </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P(Ci)</a:t>
            </a:r>
            <a:r>
              <a:rPr b="0" i="0" lang="en-US" sz="2400" u="none" strike="noStrike"/>
              <a:t>, the prior probability of each class, can be computed based on the training tuples:</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buys computer =</a:t>
            </a:r>
            <a:r>
              <a:rPr b="0" i="0" lang="en-US" sz="2400" u="none" strike="noStrike"/>
              <a:t> </a:t>
            </a:r>
            <a:r>
              <a:rPr b="0" i="1" lang="en-US" sz="2400" u="none" strike="noStrike"/>
              <a:t>yes</a:t>
            </a:r>
            <a:r>
              <a:rPr b="0" i="0" lang="en-US" sz="2400" u="none" strike="noStrike"/>
              <a:t>) </a:t>
            </a:r>
            <a:r>
              <a:rPr lang="en-US" sz="2400"/>
              <a:t>=</a:t>
            </a:r>
            <a:r>
              <a:rPr b="0" i="0" lang="en-US" sz="2400" u="none" strike="noStrike"/>
              <a:t> 9/14 </a:t>
            </a:r>
            <a:r>
              <a:rPr lang="en-US" sz="2400"/>
              <a:t>=</a:t>
            </a:r>
            <a:r>
              <a:rPr b="0" i="0" lang="en-US" sz="2400" u="none" strike="noStrike"/>
              <a:t> 0.643</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buys computer </a:t>
            </a:r>
            <a:r>
              <a:rPr lang="en-US" sz="2400"/>
              <a:t>=</a:t>
            </a:r>
            <a:r>
              <a:rPr b="0" i="0" lang="en-US" sz="2400" u="none" strike="noStrike"/>
              <a:t> </a:t>
            </a:r>
            <a:r>
              <a:rPr b="0" i="1" lang="en-US" sz="2400" u="none" strike="noStrike"/>
              <a:t>no</a:t>
            </a:r>
            <a:r>
              <a:rPr b="0" i="0" lang="en-US" sz="2400" u="none" strike="noStrike"/>
              <a:t>) = 5/14 = 0.357</a:t>
            </a:r>
            <a:endParaRPr sz="24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0" lang="en-US" sz="4400" u="none" strike="noStrike">
                <a:latin typeface="Calibri"/>
                <a:ea typeface="Calibri"/>
                <a:cs typeface="Calibri"/>
                <a:sym typeface="Calibri"/>
              </a:rPr>
              <a:t>Predicting a class label using na¨ıve Bayesian classification: Example</a:t>
            </a:r>
            <a:endParaRPr/>
          </a:p>
        </p:txBody>
      </p:sp>
      <p:sp>
        <p:nvSpPr>
          <p:cNvPr id="664" name="Google Shape;664;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To compute </a:t>
            </a:r>
            <a:r>
              <a:rPr b="0" i="1" lang="en-US" sz="2400" u="none" strike="noStrike"/>
              <a:t>P(</a:t>
            </a:r>
            <a:r>
              <a:rPr b="1" i="1" lang="en-US" sz="2400" u="none" strike="noStrike"/>
              <a:t>X</a:t>
            </a:r>
            <a:r>
              <a:rPr lang="en-US" sz="2400"/>
              <a:t>|</a:t>
            </a:r>
            <a:r>
              <a:rPr b="0" i="1" lang="en-US" sz="2400" u="none" strike="noStrike"/>
              <a:t>Ci)</a:t>
            </a:r>
            <a:r>
              <a:rPr b="0" i="0" lang="en-US" sz="2400" u="none" strike="noStrike"/>
              <a:t>, for </a:t>
            </a:r>
            <a:r>
              <a:rPr b="0" i="1" lang="en-US" sz="2400" u="none" strike="noStrike"/>
              <a:t>i </a:t>
            </a:r>
            <a:r>
              <a:rPr lang="en-US" sz="2400"/>
              <a:t>=</a:t>
            </a:r>
            <a:r>
              <a:rPr b="0" i="0" lang="en-US" sz="2400" u="none" strike="noStrike"/>
              <a:t> 1, 2, we compute the following conditional probabilities:</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age =</a:t>
            </a:r>
            <a:r>
              <a:rPr b="0" i="0" lang="en-US" sz="2400" u="none" strike="noStrike"/>
              <a:t> </a:t>
            </a:r>
            <a:r>
              <a:rPr b="0" i="1" lang="en-US" sz="2400" u="none" strike="noStrike"/>
              <a:t>youth </a:t>
            </a:r>
            <a:r>
              <a:rPr lang="en-US" sz="2400"/>
              <a:t>|</a:t>
            </a:r>
            <a:r>
              <a:rPr b="0" i="0" lang="en-US" sz="2400" u="none" strike="noStrike"/>
              <a:t> </a:t>
            </a:r>
            <a:r>
              <a:rPr b="0" i="1" lang="en-US" sz="2400" u="none" strike="noStrike"/>
              <a:t>buys computer =</a:t>
            </a:r>
            <a:r>
              <a:rPr b="0" i="0" lang="en-US" sz="2400" u="none" strike="noStrike"/>
              <a:t> </a:t>
            </a:r>
            <a:r>
              <a:rPr b="0" i="1" lang="en-US" sz="2400" u="none" strike="noStrike"/>
              <a:t>yes</a:t>
            </a:r>
            <a:r>
              <a:rPr b="0" i="0" lang="en-US" sz="2400" u="none" strike="noStrike"/>
              <a:t>) </a:t>
            </a:r>
            <a:r>
              <a:rPr lang="en-US" sz="2400"/>
              <a:t>=</a:t>
            </a:r>
            <a:r>
              <a:rPr b="0" i="0" lang="en-US" sz="2400" u="none" strike="noStrike"/>
              <a:t> 2/9 = 0.222</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age </a:t>
            </a:r>
            <a:r>
              <a:rPr lang="en-US" sz="2400"/>
              <a:t>=</a:t>
            </a:r>
            <a:r>
              <a:rPr b="0" i="0" lang="en-US" sz="2400" u="none" strike="noStrike"/>
              <a:t> </a:t>
            </a:r>
            <a:r>
              <a:rPr b="0" i="1" lang="en-US" sz="2400" u="none" strike="noStrike"/>
              <a:t>youth </a:t>
            </a:r>
            <a:r>
              <a:rPr lang="en-US" sz="2400"/>
              <a:t>|</a:t>
            </a:r>
            <a:r>
              <a:rPr b="0" i="0" lang="en-US" sz="2400" u="none" strike="noStrike"/>
              <a:t> </a:t>
            </a:r>
            <a:r>
              <a:rPr b="0" i="1" lang="en-US" sz="2400" u="none" strike="noStrike"/>
              <a:t>buys computer </a:t>
            </a:r>
            <a:r>
              <a:rPr lang="en-US" sz="2400"/>
              <a:t>=</a:t>
            </a:r>
            <a:r>
              <a:rPr b="0" i="0" lang="en-US" sz="2400" u="none" strike="noStrike"/>
              <a:t> </a:t>
            </a:r>
            <a:r>
              <a:rPr b="0" i="1" lang="en-US" sz="2400" u="none" strike="noStrike"/>
              <a:t>no</a:t>
            </a:r>
            <a:r>
              <a:rPr b="0" i="0" lang="en-US" sz="2400" u="none" strike="noStrike"/>
              <a:t>) </a:t>
            </a:r>
            <a:r>
              <a:rPr lang="en-US" sz="2400"/>
              <a:t>= </a:t>
            </a:r>
            <a:r>
              <a:rPr b="0" i="0" lang="en-US" sz="2400" u="none" strike="noStrike"/>
              <a:t>3</a:t>
            </a:r>
            <a:r>
              <a:rPr lang="en-US" sz="2400"/>
              <a:t>/</a:t>
            </a:r>
            <a:r>
              <a:rPr b="0" i="0" lang="en-US" sz="2400" u="none" strike="noStrike"/>
              <a:t>5 </a:t>
            </a:r>
            <a:r>
              <a:rPr lang="en-US" sz="2400"/>
              <a:t>= </a:t>
            </a:r>
            <a:r>
              <a:rPr b="0" i="0" lang="en-US" sz="2400" u="none" strike="noStrike"/>
              <a:t>0.600</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income =</a:t>
            </a:r>
            <a:r>
              <a:rPr b="0" i="0" lang="en-US" sz="2400" u="none" strike="noStrike"/>
              <a:t> </a:t>
            </a:r>
            <a:r>
              <a:rPr b="0" i="1" lang="en-US" sz="2400" u="none" strike="noStrike"/>
              <a:t>medium </a:t>
            </a:r>
            <a:r>
              <a:rPr lang="en-US" sz="2400"/>
              <a:t>|</a:t>
            </a:r>
            <a:r>
              <a:rPr b="0" i="0" lang="en-US" sz="2400" u="none" strike="noStrike"/>
              <a:t> </a:t>
            </a:r>
            <a:r>
              <a:rPr b="0" i="1" lang="en-US" sz="2400" u="none" strike="noStrike"/>
              <a:t>buys computer =</a:t>
            </a:r>
            <a:r>
              <a:rPr b="0" i="0" lang="en-US" sz="2400" u="none" strike="noStrike"/>
              <a:t> </a:t>
            </a:r>
            <a:r>
              <a:rPr b="0" i="1" lang="en-US" sz="2400" u="none" strike="noStrike"/>
              <a:t>yes</a:t>
            </a:r>
            <a:r>
              <a:rPr b="0" i="0" lang="en-US" sz="2400" u="none" strike="noStrike"/>
              <a:t>) = 4/9 = 0.444</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income </a:t>
            </a:r>
            <a:r>
              <a:rPr lang="en-US" sz="2400"/>
              <a:t>=</a:t>
            </a:r>
            <a:r>
              <a:rPr b="0" i="0" lang="en-US" sz="2400" u="none" strike="noStrike"/>
              <a:t> </a:t>
            </a:r>
            <a:r>
              <a:rPr b="0" i="1" lang="en-US" sz="2400" u="none" strike="noStrike"/>
              <a:t>medium </a:t>
            </a:r>
            <a:r>
              <a:rPr lang="en-US" sz="2400"/>
              <a:t>|</a:t>
            </a:r>
            <a:r>
              <a:rPr b="0" i="0" lang="en-US" sz="2400" u="none" strike="noStrike"/>
              <a:t> </a:t>
            </a:r>
            <a:r>
              <a:rPr b="0" i="1" lang="en-US" sz="2400" u="none" strike="noStrike"/>
              <a:t>buys computer </a:t>
            </a:r>
            <a:r>
              <a:rPr lang="en-US" sz="2400"/>
              <a:t>=</a:t>
            </a:r>
            <a:r>
              <a:rPr b="0" i="0" lang="en-US" sz="2400" u="none" strike="noStrike"/>
              <a:t> </a:t>
            </a:r>
            <a:r>
              <a:rPr b="0" i="1" lang="en-US" sz="2400" u="none" strike="noStrike"/>
              <a:t>no</a:t>
            </a:r>
            <a:r>
              <a:rPr b="0" i="0" lang="en-US" sz="2400" u="none" strike="noStrike"/>
              <a:t>) </a:t>
            </a:r>
            <a:r>
              <a:rPr lang="en-US" sz="2400"/>
              <a:t>=</a:t>
            </a:r>
            <a:r>
              <a:rPr b="0" i="0" lang="en-US" sz="2400" u="none" strike="noStrike"/>
              <a:t> 2</a:t>
            </a:r>
            <a:r>
              <a:rPr lang="en-US" sz="2400"/>
              <a:t>/</a:t>
            </a:r>
            <a:r>
              <a:rPr b="0" i="0" lang="en-US" sz="2400" u="none" strike="noStrike"/>
              <a:t>5 = 0.400</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student </a:t>
            </a:r>
            <a:r>
              <a:rPr lang="en-US" sz="2400"/>
              <a:t>= </a:t>
            </a:r>
            <a:r>
              <a:rPr b="0" i="1" lang="en-US" sz="2400" u="none" strike="noStrike"/>
              <a:t>yes </a:t>
            </a:r>
            <a:r>
              <a:rPr lang="en-US" sz="2400"/>
              <a:t>|</a:t>
            </a:r>
            <a:r>
              <a:rPr b="0" i="0" lang="en-US" sz="2400" u="none" strike="noStrike"/>
              <a:t> </a:t>
            </a:r>
            <a:r>
              <a:rPr b="0" i="1" lang="en-US" sz="2400" u="none" strike="noStrike"/>
              <a:t>buys computer </a:t>
            </a:r>
            <a:r>
              <a:rPr lang="en-US" sz="2400"/>
              <a:t>=</a:t>
            </a:r>
            <a:r>
              <a:rPr b="0" i="0" lang="en-US" sz="2400" u="none" strike="noStrike"/>
              <a:t> </a:t>
            </a:r>
            <a:r>
              <a:rPr b="0" i="1" lang="en-US" sz="2400" u="none" strike="noStrike"/>
              <a:t>yes</a:t>
            </a:r>
            <a:r>
              <a:rPr b="0" i="0" lang="en-US" sz="2400" u="none" strike="noStrike"/>
              <a:t>) </a:t>
            </a:r>
            <a:r>
              <a:rPr lang="en-US" sz="2400"/>
              <a:t>=</a:t>
            </a:r>
            <a:r>
              <a:rPr b="0" i="0" lang="en-US" sz="2400" u="none" strike="noStrike"/>
              <a:t> 6/9 </a:t>
            </a:r>
            <a:r>
              <a:rPr lang="en-US" sz="2400"/>
              <a:t>=</a:t>
            </a:r>
            <a:r>
              <a:rPr b="0" i="0" lang="en-US" sz="2400" u="none" strike="noStrike"/>
              <a:t> 0.667</a:t>
            </a:r>
            <a:endParaRPr sz="2400"/>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student </a:t>
            </a:r>
            <a:r>
              <a:rPr lang="en-US" sz="2400"/>
              <a:t>=</a:t>
            </a:r>
            <a:r>
              <a:rPr b="0" i="0" lang="en-US" sz="2400" u="none" strike="noStrike"/>
              <a:t> </a:t>
            </a:r>
            <a:r>
              <a:rPr b="0" i="1" lang="en-US" sz="2400" u="none" strike="noStrike"/>
              <a:t>yes </a:t>
            </a:r>
            <a:r>
              <a:rPr lang="en-US" sz="2400"/>
              <a:t>|</a:t>
            </a:r>
            <a:r>
              <a:rPr b="0" i="0" lang="en-US" sz="2400" u="none" strike="noStrike"/>
              <a:t> </a:t>
            </a:r>
            <a:r>
              <a:rPr b="0" i="1" lang="en-US" sz="2400" u="none" strike="noStrike"/>
              <a:t>buys computer </a:t>
            </a:r>
            <a:r>
              <a:rPr lang="en-US" sz="2400"/>
              <a:t>=</a:t>
            </a:r>
            <a:r>
              <a:rPr b="0" i="0" lang="en-US" sz="2400" u="none" strike="noStrike"/>
              <a:t> </a:t>
            </a:r>
            <a:r>
              <a:rPr b="0" i="1" lang="en-US" sz="2400" u="none" strike="noStrike"/>
              <a:t>no</a:t>
            </a:r>
            <a:r>
              <a:rPr b="0" i="0" lang="en-US" sz="2400" u="none" strike="noStrike"/>
              <a:t>) </a:t>
            </a:r>
            <a:r>
              <a:rPr lang="en-US" sz="2400"/>
              <a:t>=</a:t>
            </a:r>
            <a:r>
              <a:rPr b="0" i="0" lang="en-US" sz="2400" u="none" strike="noStrike"/>
              <a:t> 1</a:t>
            </a:r>
            <a:r>
              <a:rPr lang="en-US" sz="2400"/>
              <a:t>/</a:t>
            </a:r>
            <a:r>
              <a:rPr b="0" i="0" lang="en-US" sz="2400" u="none" strike="noStrike"/>
              <a:t>5 </a:t>
            </a:r>
            <a:r>
              <a:rPr lang="en-US" sz="2400"/>
              <a:t>=</a:t>
            </a:r>
            <a:r>
              <a:rPr b="0" i="0" lang="en-US" sz="2400" u="none" strike="noStrike"/>
              <a:t> 0.200</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credit rating </a:t>
            </a:r>
            <a:r>
              <a:rPr lang="en-US" sz="2400"/>
              <a:t>=</a:t>
            </a:r>
            <a:r>
              <a:rPr b="0" i="0" lang="en-US" sz="2400" u="none" strike="noStrike"/>
              <a:t> </a:t>
            </a:r>
            <a:r>
              <a:rPr b="0" i="1" lang="en-US" sz="2400" u="none" strike="noStrike"/>
              <a:t>fair </a:t>
            </a:r>
            <a:r>
              <a:rPr lang="en-US" sz="2400"/>
              <a:t>|</a:t>
            </a:r>
            <a:r>
              <a:rPr b="0" i="0" lang="en-US" sz="2400" u="none" strike="noStrike"/>
              <a:t> </a:t>
            </a:r>
            <a:r>
              <a:rPr b="0" i="1" lang="en-US" sz="2400" u="none" strike="noStrike"/>
              <a:t>buys computer =</a:t>
            </a:r>
            <a:r>
              <a:rPr b="0" i="0" lang="en-US" sz="2400" u="none" strike="noStrike"/>
              <a:t> </a:t>
            </a:r>
            <a:r>
              <a:rPr b="0" i="1" lang="en-US" sz="2400" u="none" strike="noStrike"/>
              <a:t>yes</a:t>
            </a:r>
            <a:r>
              <a:rPr b="0" i="0" lang="en-US" sz="2400" u="none" strike="noStrike"/>
              <a:t>) = 6/9 = 0.667</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0" i="0" lang="en-US" sz="2400" u="none" strike="noStrike"/>
              <a:t>(</a:t>
            </a:r>
            <a:r>
              <a:rPr b="0" i="1" lang="en-US" sz="2400" u="none" strike="noStrike"/>
              <a:t>credit rating </a:t>
            </a:r>
            <a:r>
              <a:rPr lang="en-US" sz="2400"/>
              <a:t>=</a:t>
            </a:r>
            <a:r>
              <a:rPr b="0" i="0" lang="en-US" sz="2400" u="none" strike="noStrike"/>
              <a:t> </a:t>
            </a:r>
            <a:r>
              <a:rPr b="0" i="1" lang="en-US" sz="2400" u="none" strike="noStrike"/>
              <a:t>fair </a:t>
            </a:r>
            <a:r>
              <a:rPr lang="en-US" sz="2400"/>
              <a:t>|</a:t>
            </a:r>
            <a:r>
              <a:rPr b="0" i="0" lang="en-US" sz="2400" u="none" strike="noStrike"/>
              <a:t> </a:t>
            </a:r>
            <a:r>
              <a:rPr b="0" i="1" lang="en-US" sz="2400" u="none" strike="noStrike"/>
              <a:t>buys computer </a:t>
            </a:r>
            <a:r>
              <a:rPr lang="en-US" sz="2400"/>
              <a:t>=</a:t>
            </a:r>
            <a:r>
              <a:rPr b="0" i="0" lang="en-US" sz="2400" u="none" strike="noStrike"/>
              <a:t> </a:t>
            </a:r>
            <a:r>
              <a:rPr b="0" i="1" lang="en-US" sz="2400" u="none" strike="noStrike"/>
              <a:t>no</a:t>
            </a:r>
            <a:r>
              <a:rPr b="0" i="0" lang="en-US" sz="2400" u="none" strike="noStrike"/>
              <a:t>) </a:t>
            </a:r>
            <a:r>
              <a:rPr lang="en-US" sz="2400"/>
              <a:t>=</a:t>
            </a:r>
            <a:r>
              <a:rPr b="0" i="0" lang="en-US" sz="2400" u="none" strike="noStrike"/>
              <a:t> 2</a:t>
            </a:r>
            <a:r>
              <a:rPr lang="en-US" sz="2400"/>
              <a:t>/</a:t>
            </a:r>
            <a:r>
              <a:rPr b="0" i="0" lang="en-US" sz="2400" u="none" strike="noStrike"/>
              <a:t>5 </a:t>
            </a:r>
            <a:r>
              <a:rPr lang="en-US" sz="2400"/>
              <a:t>=</a:t>
            </a:r>
            <a:r>
              <a:rPr b="0" i="0" lang="en-US" sz="2400" u="none" strike="noStrike"/>
              <a:t> 0.400</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70" name="Google Shape;670;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Using these probabilities, we obtain</a:t>
            </a:r>
            <a:endParaRPr/>
          </a:p>
          <a:p>
            <a:pPr indent="-228600" lvl="0" marL="228600" rtl="0" algn="l">
              <a:lnSpc>
                <a:spcPct val="90000"/>
              </a:lnSpc>
              <a:spcBef>
                <a:spcPts val="1000"/>
              </a:spcBef>
              <a:spcAft>
                <a:spcPts val="0"/>
              </a:spcAft>
              <a:buClr>
                <a:schemeClr val="dk1"/>
              </a:buClr>
              <a:buSzPts val="2400"/>
              <a:buChar char="•"/>
            </a:pPr>
            <a:r>
              <a:rPr b="0" i="1" lang="en-US" sz="2400" u="none" strike="noStrike"/>
              <a:t>P(</a:t>
            </a:r>
            <a:r>
              <a:rPr b="1" i="1" lang="en-US" sz="2400" u="none" strike="noStrike"/>
              <a:t>X</a:t>
            </a:r>
            <a:r>
              <a:rPr lang="en-US" sz="2400"/>
              <a:t>|</a:t>
            </a:r>
            <a:r>
              <a:rPr b="0" i="1" lang="en-US" sz="2400" u="none" strike="noStrike"/>
              <a:t>buys computer =</a:t>
            </a:r>
            <a:r>
              <a:rPr b="0" i="0" lang="en-US" sz="2400" u="none" strike="noStrike"/>
              <a:t> </a:t>
            </a:r>
            <a:r>
              <a:rPr b="0" i="1" lang="en-US" sz="2400" u="none" strike="noStrike"/>
              <a:t>yes)</a:t>
            </a:r>
            <a:r>
              <a:rPr b="0" i="0" lang="en-US" sz="2400" u="none" strike="noStrike"/>
              <a:t> = </a:t>
            </a:r>
            <a:r>
              <a:rPr b="0" i="1" lang="en-US" sz="2400" u="none" strike="noStrike"/>
              <a:t>P</a:t>
            </a:r>
            <a:r>
              <a:rPr b="0" i="0" lang="en-US" sz="2400" u="none" strike="noStrike"/>
              <a:t>(</a:t>
            </a:r>
            <a:r>
              <a:rPr b="0" i="1" lang="en-US" sz="2400" u="none" strike="noStrike"/>
              <a:t>age </a:t>
            </a:r>
            <a:r>
              <a:rPr lang="en-US" sz="2400"/>
              <a:t>=</a:t>
            </a:r>
            <a:r>
              <a:rPr b="0" i="0" lang="en-US" sz="2400" u="none" strike="noStrike"/>
              <a:t> </a:t>
            </a:r>
            <a:r>
              <a:rPr b="0" i="1" lang="en-US" sz="2400" u="none" strike="noStrike"/>
              <a:t>youth |</a:t>
            </a:r>
            <a:r>
              <a:rPr b="0" i="0" lang="en-US" sz="2400" u="none" strike="noStrike"/>
              <a:t> </a:t>
            </a:r>
            <a:r>
              <a:rPr b="0" i="1" lang="en-US" sz="2400" u="none" strike="noStrike"/>
              <a:t>buys computer =</a:t>
            </a:r>
            <a:r>
              <a:rPr b="0" i="0" lang="en-US" sz="2400" u="none" strike="noStrike"/>
              <a:t> </a:t>
            </a:r>
            <a:r>
              <a:rPr b="0" i="1" lang="en-US" sz="2400" u="none" strike="noStrike"/>
              <a:t>yes</a:t>
            </a:r>
            <a:r>
              <a:rPr b="0" i="0" lang="en-US" sz="2400" u="none" strike="noStrike"/>
              <a:t>)</a:t>
            </a:r>
            <a:endParaRPr/>
          </a:p>
          <a:p>
            <a:pPr indent="0" lvl="0" marL="0" rtl="0" algn="l">
              <a:lnSpc>
                <a:spcPct val="90000"/>
              </a:lnSpc>
              <a:spcBef>
                <a:spcPts val="1000"/>
              </a:spcBef>
              <a:spcAft>
                <a:spcPts val="0"/>
              </a:spcAft>
              <a:buClr>
                <a:schemeClr val="dk1"/>
              </a:buClr>
              <a:buSzPts val="2400"/>
              <a:buNone/>
            </a:pPr>
            <a:r>
              <a:rPr b="0" i="0" lang="en-US" sz="2400" u="none" strike="noStrike"/>
              <a:t> 			x </a:t>
            </a:r>
            <a:r>
              <a:rPr b="0" i="1" lang="en-US" sz="2400" u="none" strike="noStrike"/>
              <a:t>P</a:t>
            </a:r>
            <a:r>
              <a:rPr b="0" i="0" lang="en-US" sz="2400" u="none" strike="noStrike"/>
              <a:t>(</a:t>
            </a:r>
            <a:r>
              <a:rPr b="0" i="1" lang="en-US" sz="2400" u="none" strike="noStrike"/>
              <a:t>income =</a:t>
            </a:r>
            <a:r>
              <a:rPr b="0" i="0" lang="en-US" sz="2400" u="none" strike="noStrike"/>
              <a:t> </a:t>
            </a:r>
            <a:r>
              <a:rPr b="0" i="1" lang="en-US" sz="2400" u="none" strike="noStrike"/>
              <a:t>medium </a:t>
            </a:r>
            <a:r>
              <a:rPr lang="en-US" sz="2400"/>
              <a:t>|</a:t>
            </a:r>
            <a:r>
              <a:rPr b="0" i="0" lang="en-US" sz="2400" u="none" strike="noStrike"/>
              <a:t> </a:t>
            </a:r>
            <a:r>
              <a:rPr b="0" i="1" lang="en-US" sz="2400" u="none" strike="noStrike"/>
              <a:t>buys computer =</a:t>
            </a:r>
            <a:r>
              <a:rPr b="0" i="0" lang="en-US" sz="2400" u="none" strike="noStrike"/>
              <a:t> </a:t>
            </a:r>
            <a:r>
              <a:rPr b="0" i="1" lang="en-US" sz="2400" u="none" strike="noStrike"/>
              <a:t>yes</a:t>
            </a:r>
            <a:r>
              <a:rPr b="0" i="0" lang="en-US" sz="2400" u="none" strike="noStrike"/>
              <a:t>)</a:t>
            </a:r>
            <a:endParaRPr/>
          </a:p>
          <a:p>
            <a:pPr indent="0" lvl="0" marL="0" rtl="0" algn="l">
              <a:lnSpc>
                <a:spcPct val="90000"/>
              </a:lnSpc>
              <a:spcBef>
                <a:spcPts val="1000"/>
              </a:spcBef>
              <a:spcAft>
                <a:spcPts val="0"/>
              </a:spcAft>
              <a:buClr>
                <a:schemeClr val="dk1"/>
              </a:buClr>
              <a:buSzPts val="2400"/>
              <a:buNone/>
            </a:pPr>
            <a:r>
              <a:rPr b="0" i="0" lang="en-US" sz="2400" u="none" strike="noStrike"/>
              <a:t>			x </a:t>
            </a:r>
            <a:r>
              <a:rPr b="0" i="1" lang="en-US" sz="2400" u="none" strike="noStrike"/>
              <a:t>P</a:t>
            </a:r>
            <a:r>
              <a:rPr b="0" i="0" lang="en-US" sz="2400" u="none" strike="noStrike"/>
              <a:t>(</a:t>
            </a:r>
            <a:r>
              <a:rPr b="0" i="1" lang="en-US" sz="2400" u="none" strike="noStrike"/>
              <a:t>student </a:t>
            </a:r>
            <a:r>
              <a:rPr lang="en-US" sz="2400"/>
              <a:t>=</a:t>
            </a:r>
            <a:r>
              <a:rPr b="0" i="0" lang="en-US" sz="2400" u="none" strike="noStrike"/>
              <a:t> </a:t>
            </a:r>
            <a:r>
              <a:rPr b="0" i="1" lang="en-US" sz="2400" u="none" strike="noStrike"/>
              <a:t>yes |</a:t>
            </a:r>
            <a:r>
              <a:rPr b="0" i="0" lang="en-US" sz="2400" u="none" strike="noStrike"/>
              <a:t> </a:t>
            </a:r>
            <a:r>
              <a:rPr b="0" i="1" lang="en-US" sz="2400" u="none" strike="noStrike"/>
              <a:t>buys computer </a:t>
            </a:r>
            <a:r>
              <a:rPr lang="en-US" sz="2400"/>
              <a:t>=</a:t>
            </a:r>
            <a:r>
              <a:rPr b="0" i="0" lang="en-US" sz="2400" u="none" strike="noStrike"/>
              <a:t> </a:t>
            </a:r>
            <a:r>
              <a:rPr b="0" i="1" lang="en-US" sz="2400" u="none" strike="noStrike"/>
              <a:t>yes</a:t>
            </a:r>
            <a:r>
              <a:rPr b="0" i="0" lang="en-US" sz="2400" u="none" strike="noStrike"/>
              <a:t>)</a:t>
            </a:r>
            <a:endParaRPr/>
          </a:p>
          <a:p>
            <a:pPr indent="0" lvl="0" marL="0" rtl="0" algn="l">
              <a:lnSpc>
                <a:spcPct val="90000"/>
              </a:lnSpc>
              <a:spcBef>
                <a:spcPts val="1000"/>
              </a:spcBef>
              <a:spcAft>
                <a:spcPts val="0"/>
              </a:spcAft>
              <a:buClr>
                <a:schemeClr val="dk1"/>
              </a:buClr>
              <a:buSzPts val="2400"/>
              <a:buNone/>
            </a:pPr>
            <a:r>
              <a:rPr b="0" i="0" lang="en-US" sz="2400" u="none" strike="noStrike"/>
              <a:t>			x </a:t>
            </a:r>
            <a:r>
              <a:rPr b="0" i="1" lang="en-US" sz="2400" u="none" strike="noStrike"/>
              <a:t>P</a:t>
            </a:r>
            <a:r>
              <a:rPr b="0" i="0" lang="en-US" sz="2400" u="none" strike="noStrike"/>
              <a:t>(</a:t>
            </a:r>
            <a:r>
              <a:rPr b="0" i="1" lang="en-US" sz="2400" u="none" strike="noStrike"/>
              <a:t>credit rating </a:t>
            </a:r>
            <a:r>
              <a:rPr lang="en-US" sz="2400"/>
              <a:t>=</a:t>
            </a:r>
            <a:r>
              <a:rPr b="0" i="0" lang="en-US" sz="2400" u="none" strike="noStrike"/>
              <a:t> </a:t>
            </a:r>
            <a:r>
              <a:rPr b="0" i="1" lang="en-US" sz="2400" u="none" strike="noStrike"/>
              <a:t>fair |</a:t>
            </a:r>
            <a:r>
              <a:rPr b="0" i="0" lang="en-US" sz="2400" u="none" strike="noStrike"/>
              <a:t> </a:t>
            </a:r>
            <a:r>
              <a:rPr b="0" i="1" lang="en-US" sz="2400" u="none" strike="noStrike"/>
              <a:t>buys computer =</a:t>
            </a:r>
            <a:r>
              <a:rPr b="0" i="0" lang="en-US" sz="2400" u="none" strike="noStrike"/>
              <a:t> </a:t>
            </a:r>
            <a:r>
              <a:rPr b="0" i="1" lang="en-US" sz="2400" u="none" strike="noStrike"/>
              <a:t>yes</a:t>
            </a:r>
            <a:r>
              <a:rPr b="0" i="0" lang="en-US" sz="2400" u="none" strike="noStrike"/>
              <a:t>)</a:t>
            </a:r>
            <a:endParaRPr/>
          </a:p>
          <a:p>
            <a:pPr indent="0" lvl="0" marL="0" rtl="0" algn="l">
              <a:lnSpc>
                <a:spcPct val="90000"/>
              </a:lnSpc>
              <a:spcBef>
                <a:spcPts val="1000"/>
              </a:spcBef>
              <a:spcAft>
                <a:spcPts val="0"/>
              </a:spcAft>
              <a:buClr>
                <a:schemeClr val="dk1"/>
              </a:buClr>
              <a:buSzPts val="2400"/>
              <a:buNone/>
            </a:pPr>
            <a:r>
              <a:rPr b="0" i="0" lang="en-US" sz="2400" u="none" strike="noStrike"/>
              <a:t>			= 0.222x0.444x0.667x0.667 = 0.044.</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Similarly, </a:t>
            </a:r>
            <a:r>
              <a:rPr b="0" i="1" lang="en-US" sz="2400" u="none" strike="noStrike"/>
              <a:t>P(</a:t>
            </a:r>
            <a:r>
              <a:rPr b="1" i="1" lang="en-US" sz="2400" u="none" strike="noStrike"/>
              <a:t>X|</a:t>
            </a:r>
            <a:r>
              <a:rPr b="0" i="1" lang="en-US" sz="2400" u="none" strike="noStrike"/>
              <a:t>buys computer </a:t>
            </a:r>
            <a:r>
              <a:rPr lang="en-US" sz="2400"/>
              <a:t>=</a:t>
            </a:r>
            <a:r>
              <a:rPr b="0" i="0" lang="en-US" sz="2400" u="none" strike="noStrike"/>
              <a:t> </a:t>
            </a:r>
            <a:r>
              <a:rPr b="0" i="1" lang="en-US" sz="2400" u="none" strike="noStrike"/>
              <a:t>no</a:t>
            </a:r>
            <a:r>
              <a:rPr lang="en-US" sz="2400"/>
              <a:t>)</a:t>
            </a:r>
            <a:r>
              <a:rPr b="0" i="0" lang="en-US" sz="2400" u="none" strike="noStrike"/>
              <a:t> = 0.600x.400x.200x.400 = 0.019</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To find the class, </a:t>
            </a:r>
            <a:r>
              <a:rPr b="0" i="1" lang="en-US" sz="2400" u="none" strike="noStrike"/>
              <a:t>Ci </a:t>
            </a:r>
            <a:r>
              <a:rPr b="0" i="0" lang="en-US" sz="2400" u="none" strike="noStrike"/>
              <a:t>, that maximizes </a:t>
            </a:r>
            <a:r>
              <a:rPr b="0" i="1" lang="en-US" sz="2400" u="none" strike="noStrike"/>
              <a:t>P(</a:t>
            </a:r>
            <a:r>
              <a:rPr b="1" i="1" lang="en-US" sz="2400" u="none" strike="noStrike"/>
              <a:t>X</a:t>
            </a:r>
            <a:r>
              <a:rPr lang="en-US" sz="2400"/>
              <a:t>|</a:t>
            </a:r>
            <a:r>
              <a:rPr b="0" i="1" lang="en-US" sz="2400" u="none" strike="noStrike"/>
              <a:t>Ci</a:t>
            </a:r>
            <a:r>
              <a:rPr i="1" lang="en-US" sz="2400"/>
              <a:t>)</a:t>
            </a:r>
            <a:r>
              <a:rPr b="0" i="1" lang="en-US" sz="2400" u="none" strike="noStrike"/>
              <a:t>P(Ci)</a:t>
            </a:r>
            <a:r>
              <a:rPr b="0" i="0" lang="en-US" sz="2400" u="none" strike="noStrike"/>
              <a:t>, we compute</a:t>
            </a:r>
            <a:endParaRPr/>
          </a:p>
          <a:p>
            <a:pPr indent="-228600" lvl="1" marL="685800" rtl="0" algn="l">
              <a:lnSpc>
                <a:spcPct val="90000"/>
              </a:lnSpc>
              <a:spcBef>
                <a:spcPts val="500"/>
              </a:spcBef>
              <a:spcAft>
                <a:spcPts val="0"/>
              </a:spcAft>
              <a:buClr>
                <a:schemeClr val="dk1"/>
              </a:buClr>
              <a:buSzPts val="2000"/>
              <a:buChar char="•"/>
            </a:pPr>
            <a:r>
              <a:rPr b="0" i="1" lang="en-US" sz="2000" u="none" strike="noStrike"/>
              <a:t>P</a:t>
            </a:r>
            <a:r>
              <a:rPr lang="en-US" sz="2000"/>
              <a:t>(</a:t>
            </a:r>
            <a:r>
              <a:rPr b="1" i="1" lang="en-US" sz="2000" u="none" strike="noStrike"/>
              <a:t>X</a:t>
            </a:r>
            <a:r>
              <a:rPr lang="en-US" sz="2000"/>
              <a:t>|</a:t>
            </a:r>
            <a:r>
              <a:rPr b="0" i="1" lang="en-US" sz="2000" u="none" strike="noStrike"/>
              <a:t>buys computer =</a:t>
            </a:r>
            <a:r>
              <a:rPr b="0" i="0" lang="en-US" sz="2000" u="none" strike="noStrike"/>
              <a:t> </a:t>
            </a:r>
            <a:r>
              <a:rPr b="0" i="1" lang="en-US" sz="2000" u="none" strike="noStrike"/>
              <a:t>yes</a:t>
            </a:r>
            <a:r>
              <a:rPr lang="en-US" sz="2000"/>
              <a:t>)</a:t>
            </a:r>
            <a:r>
              <a:rPr b="0" i="1" lang="en-US" sz="2000" u="none" strike="noStrike"/>
              <a:t>P</a:t>
            </a:r>
            <a:r>
              <a:rPr lang="en-US" sz="2000"/>
              <a:t>(</a:t>
            </a:r>
            <a:r>
              <a:rPr b="0" i="1" lang="en-US" sz="2000" u="none" strike="noStrike"/>
              <a:t>buys computer =</a:t>
            </a:r>
            <a:r>
              <a:rPr b="0" i="0" lang="en-US" sz="2000" u="none" strike="noStrike"/>
              <a:t> </a:t>
            </a:r>
            <a:r>
              <a:rPr b="0" i="1" lang="en-US" sz="2000" u="none" strike="noStrike"/>
              <a:t>yes)</a:t>
            </a:r>
            <a:r>
              <a:rPr b="0" i="0" lang="en-US" sz="2000" u="none" strike="noStrike"/>
              <a:t> = 0.044 x 0.643 = 0.028</a:t>
            </a:r>
            <a:endParaRPr/>
          </a:p>
          <a:p>
            <a:pPr indent="-228600" lvl="1" marL="685800" rtl="0" algn="l">
              <a:lnSpc>
                <a:spcPct val="90000"/>
              </a:lnSpc>
              <a:spcBef>
                <a:spcPts val="500"/>
              </a:spcBef>
              <a:spcAft>
                <a:spcPts val="0"/>
              </a:spcAft>
              <a:buClr>
                <a:schemeClr val="dk1"/>
              </a:buClr>
              <a:buSzPts val="2000"/>
              <a:buChar char="•"/>
            </a:pPr>
            <a:r>
              <a:rPr b="0" i="1" lang="en-US" sz="2000" u="none" strike="noStrike"/>
              <a:t>P(</a:t>
            </a:r>
            <a:r>
              <a:rPr b="1" i="1" lang="en-US" sz="2000" u="none" strike="noStrike"/>
              <a:t>X</a:t>
            </a:r>
            <a:r>
              <a:rPr lang="en-US" sz="2000"/>
              <a:t>|</a:t>
            </a:r>
            <a:r>
              <a:rPr b="0" i="1" lang="en-US" sz="2000" u="none" strike="noStrike"/>
              <a:t>buys computer </a:t>
            </a:r>
            <a:r>
              <a:rPr lang="en-US" sz="2000"/>
              <a:t>=</a:t>
            </a:r>
            <a:r>
              <a:rPr b="0" i="0" lang="en-US" sz="2000" u="none" strike="noStrike"/>
              <a:t> </a:t>
            </a:r>
            <a:r>
              <a:rPr b="0" i="1" lang="en-US" sz="2000" u="none" strike="noStrike"/>
              <a:t>no)P(buys computer </a:t>
            </a:r>
            <a:r>
              <a:rPr lang="en-US" sz="2000"/>
              <a:t>=</a:t>
            </a:r>
            <a:r>
              <a:rPr b="0" i="0" lang="en-US" sz="2000" u="none" strike="noStrike"/>
              <a:t> </a:t>
            </a:r>
            <a:r>
              <a:rPr b="0" i="1" lang="en-US" sz="2000" u="none" strike="noStrike"/>
              <a:t>no)</a:t>
            </a:r>
            <a:r>
              <a:rPr b="0" i="0" lang="en-US" sz="2000" u="none" strike="noStrike"/>
              <a:t> = 0.019 x 0.357 = 0.007</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Therefore, the na¨ıve Bayesian classifier predicts </a:t>
            </a:r>
            <a:r>
              <a:rPr b="0" i="1" lang="en-US" sz="2400" u="none" strike="noStrike"/>
              <a:t>buys computer =</a:t>
            </a:r>
            <a:r>
              <a:rPr b="0" i="0" lang="en-US" sz="2400" u="none" strike="noStrike"/>
              <a:t> </a:t>
            </a:r>
            <a:r>
              <a:rPr b="0" i="1" lang="en-US" sz="2400" u="none" strike="noStrike"/>
              <a:t>yes </a:t>
            </a:r>
            <a:r>
              <a:rPr b="0" i="0" lang="en-US" sz="2400" u="none" strike="noStrike"/>
              <a:t>for tuple </a:t>
            </a:r>
            <a:r>
              <a:rPr b="1" i="1" lang="en-US" sz="2400" u="none" strike="noStrike"/>
              <a:t>X</a:t>
            </a:r>
            <a:r>
              <a:rPr b="0" i="0" lang="en-US" sz="2400" u="none" strike="noStrike"/>
              <a:t>.</a:t>
            </a: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0" lang="en-US" sz="3200" u="none" strike="noStrike">
                <a:latin typeface="Calibri"/>
                <a:ea typeface="Calibri"/>
                <a:cs typeface="Calibri"/>
                <a:sym typeface="Calibri"/>
              </a:rPr>
              <a:t>What if I encounter probability values of zero?”</a:t>
            </a:r>
            <a:endParaRPr sz="3200">
              <a:latin typeface="Calibri"/>
              <a:ea typeface="Calibri"/>
              <a:cs typeface="Calibri"/>
              <a:sym typeface="Calibri"/>
            </a:endParaRPr>
          </a:p>
        </p:txBody>
      </p:sp>
      <p:sp>
        <p:nvSpPr>
          <p:cNvPr id="676" name="Google Shape;676;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what happens if we should end up with a probability value of zero for some </a:t>
            </a:r>
            <a:r>
              <a:rPr b="0" i="1" lang="en-US" sz="2400" u="none" strike="noStrike"/>
              <a:t>P(xk</a:t>
            </a:r>
            <a:r>
              <a:rPr b="0" lang="en-US" sz="2400" u="none" strike="noStrike"/>
              <a:t>|C</a:t>
            </a:r>
            <a:r>
              <a:rPr b="0" i="1" lang="en-US" sz="2400" u="none" strike="noStrike"/>
              <a:t>i)</a:t>
            </a:r>
            <a:r>
              <a:rPr b="0" i="0" lang="en-US" sz="2400" u="none" strike="noStrike"/>
              <a:t>?</a:t>
            </a:r>
            <a:endParaRPr/>
          </a:p>
          <a:p>
            <a:pPr indent="-228600" lvl="0" marL="228600" rtl="0" algn="l">
              <a:lnSpc>
                <a:spcPct val="90000"/>
              </a:lnSpc>
              <a:spcBef>
                <a:spcPts val="1000"/>
              </a:spcBef>
              <a:spcAft>
                <a:spcPts val="0"/>
              </a:spcAft>
              <a:buClr>
                <a:schemeClr val="dk1"/>
              </a:buClr>
              <a:buSzPts val="2400"/>
              <a:buChar char="•"/>
            </a:pPr>
            <a:r>
              <a:rPr lang="en-US" sz="2400"/>
              <a:t>For example if </a:t>
            </a:r>
            <a:r>
              <a:rPr b="0" i="0" lang="en-US" sz="2400" u="none" strike="noStrike"/>
              <a:t> there are no training tuples representing students for the class </a:t>
            </a:r>
            <a:r>
              <a:rPr b="0" i="1" lang="en-US" sz="2400" u="none" strike="noStrike"/>
              <a:t>buys computer =</a:t>
            </a:r>
            <a:r>
              <a:rPr b="0" i="0" lang="en-US" sz="2400" u="none" strike="noStrike"/>
              <a:t> </a:t>
            </a:r>
            <a:r>
              <a:rPr b="0" i="1" lang="en-US" sz="2400" u="none" strike="noStrike"/>
              <a:t>no</a:t>
            </a:r>
            <a:r>
              <a:rPr b="0" i="0" lang="en-US" sz="2400" u="none" strike="noStrike"/>
              <a:t>, resulting in </a:t>
            </a:r>
            <a:r>
              <a:rPr b="0" i="1" lang="en-US" sz="2400" u="none" strike="noStrike"/>
              <a:t>P(student =</a:t>
            </a:r>
            <a:r>
              <a:rPr b="0" i="0" lang="en-US" sz="2400" u="none" strike="noStrike"/>
              <a:t> </a:t>
            </a:r>
            <a:r>
              <a:rPr b="0" i="1" lang="en-US" sz="2400" u="none" strike="noStrike"/>
              <a:t>yes</a:t>
            </a:r>
            <a:r>
              <a:rPr b="0" lang="en-US" sz="2400" u="none" strike="noStrike"/>
              <a:t>|</a:t>
            </a:r>
            <a:r>
              <a:rPr b="0" i="1" lang="en-US" sz="2400" u="none" strike="noStrike"/>
              <a:t>buys computer =</a:t>
            </a:r>
            <a:r>
              <a:rPr b="0" i="0" lang="en-US" sz="2400" u="none" strike="noStrike"/>
              <a:t> </a:t>
            </a:r>
            <a:r>
              <a:rPr b="0" i="1" lang="en-US" sz="2400" u="none" strike="noStrike"/>
              <a:t>no</a:t>
            </a:r>
            <a:r>
              <a:rPr lang="en-US" sz="2400"/>
              <a:t>)</a:t>
            </a:r>
            <a:r>
              <a:rPr b="0" i="0" lang="en-US" sz="2400" u="none" strike="noStrike"/>
              <a:t> = 0?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Plugging this zero value into previous Eq. would return a zero probability for </a:t>
            </a:r>
            <a:r>
              <a:rPr b="0" i="1" lang="en-US" sz="2400" u="none" strike="noStrike"/>
              <a:t>P(</a:t>
            </a:r>
            <a:r>
              <a:rPr b="1" i="1" lang="en-US" sz="2400" u="none" strike="noStrike"/>
              <a:t>X</a:t>
            </a:r>
            <a:r>
              <a:rPr lang="en-US" sz="2400"/>
              <a:t>|</a:t>
            </a:r>
            <a:r>
              <a:rPr b="0" i="1" lang="en-US" sz="2400" u="none" strike="noStrike"/>
              <a:t>Ci)</a:t>
            </a:r>
            <a:r>
              <a:rPr b="0" i="0" lang="en-US" sz="2400" u="none" strike="noStrike"/>
              <a:t>, even though, without the zero probability, we may have ended up with a high probability, suggesting that </a:t>
            </a:r>
            <a:r>
              <a:rPr b="1" i="1" lang="en-US" sz="2400" u="none" strike="noStrike"/>
              <a:t>X </a:t>
            </a:r>
            <a:r>
              <a:rPr b="0" i="0" lang="en-US" sz="2400" u="none" strike="noStrike"/>
              <a:t>belonged to class </a:t>
            </a:r>
            <a:r>
              <a:rPr b="0" i="1" lang="en-US" sz="2400" u="none" strike="noStrike"/>
              <a:t>Ci </a:t>
            </a:r>
            <a:r>
              <a:rPr b="0" i="0" lang="en-US" sz="2400" u="none" strike="noStrike"/>
              <a:t>!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A zero probability cancels the effects of all the other (posteriori) probabilities (on </a:t>
            </a:r>
            <a:r>
              <a:rPr b="0" i="1" lang="en-US" sz="2400" u="none" strike="noStrike"/>
              <a:t>Ci</a:t>
            </a:r>
            <a:r>
              <a:rPr b="0" i="0" lang="en-US" sz="2400" u="none" strike="noStrike"/>
              <a:t>) involved in the product.</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If we have, say, </a:t>
            </a:r>
            <a:r>
              <a:rPr b="0" i="1" lang="en-US" sz="2400" u="none" strike="noStrike"/>
              <a:t>q </a:t>
            </a:r>
            <a:r>
              <a:rPr b="0" i="0" lang="en-US" sz="2400" u="none" strike="noStrike"/>
              <a:t>counts to which we each add one, then we must remember to add </a:t>
            </a:r>
            <a:r>
              <a:rPr b="0" i="1" lang="en-US" sz="2400" u="none" strike="noStrike"/>
              <a:t>q </a:t>
            </a:r>
            <a:r>
              <a:rPr b="0" i="0" lang="en-US" sz="2400" u="none" strike="noStrike"/>
              <a:t>to the corresponding denominator used in the probability calculation.</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sz="4400" u="none" strike="noStrike">
                <a:latin typeface="Calibri"/>
                <a:ea typeface="Calibri"/>
                <a:cs typeface="Calibri"/>
                <a:sym typeface="Calibri"/>
              </a:rPr>
              <a:t>What if I encounter probability values of zero?”</a:t>
            </a:r>
            <a:endParaRPr/>
          </a:p>
        </p:txBody>
      </p:sp>
      <p:sp>
        <p:nvSpPr>
          <p:cNvPr id="682" name="Google Shape;682;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sz="2800" u="none" strike="noStrike"/>
              <a:t>simple trick to avoid this problem</a:t>
            </a:r>
            <a:endParaRPr sz="2800"/>
          </a:p>
          <a:p>
            <a:pPr indent="-228600" lvl="0" marL="228600" rtl="0" algn="l">
              <a:lnSpc>
                <a:spcPct val="90000"/>
              </a:lnSpc>
              <a:spcBef>
                <a:spcPts val="1000"/>
              </a:spcBef>
              <a:spcAft>
                <a:spcPts val="0"/>
              </a:spcAft>
              <a:buClr>
                <a:schemeClr val="dk1"/>
              </a:buClr>
              <a:buSzPts val="2800"/>
              <a:buChar char="•"/>
            </a:pPr>
            <a:r>
              <a:rPr b="0" i="0" lang="en-US" sz="2800" u="none" strike="noStrike"/>
              <a:t>We can assume that our training database,</a:t>
            </a:r>
            <a:endParaRPr/>
          </a:p>
          <a:p>
            <a:pPr indent="-228600" lvl="0" marL="228600" rtl="0" algn="l">
              <a:lnSpc>
                <a:spcPct val="90000"/>
              </a:lnSpc>
              <a:spcBef>
                <a:spcPts val="1000"/>
              </a:spcBef>
              <a:spcAft>
                <a:spcPts val="0"/>
              </a:spcAft>
              <a:buClr>
                <a:schemeClr val="dk1"/>
              </a:buClr>
              <a:buSzPts val="2800"/>
              <a:buChar char="•"/>
            </a:pPr>
            <a:r>
              <a:rPr b="0" i="1" lang="en-US" sz="2800" u="none" strike="noStrike"/>
              <a:t>D</a:t>
            </a:r>
            <a:r>
              <a:rPr b="0" i="0" lang="en-US" sz="2800" u="none" strike="noStrike"/>
              <a:t>, is so large that adding one to each count that we need would only make a negligible difference in the estimated probability value, yet would conveniently avoid the case of probability values of zero. </a:t>
            </a:r>
            <a:endParaRPr/>
          </a:p>
          <a:p>
            <a:pPr indent="-228600" lvl="0" marL="228600" rtl="0" algn="l">
              <a:lnSpc>
                <a:spcPct val="90000"/>
              </a:lnSpc>
              <a:spcBef>
                <a:spcPts val="1000"/>
              </a:spcBef>
              <a:spcAft>
                <a:spcPts val="0"/>
              </a:spcAft>
              <a:buClr>
                <a:schemeClr val="dk1"/>
              </a:buClr>
              <a:buSzPts val="2800"/>
              <a:buChar char="•"/>
            </a:pPr>
            <a:r>
              <a:rPr b="0" i="0" lang="en-US" sz="2800" u="none" strike="noStrike"/>
              <a:t>This technique for probability estimation is known as the </a:t>
            </a:r>
            <a:r>
              <a:rPr b="1" i="0" lang="en-US" sz="2800" u="none" strike="noStrike"/>
              <a:t>Laplacian correction </a:t>
            </a:r>
            <a:r>
              <a:rPr b="0" i="0" lang="en-US" sz="2800" u="none" strike="noStrike"/>
              <a:t>or </a:t>
            </a:r>
            <a:r>
              <a:rPr b="1" i="0" lang="en-US" sz="2800" u="none" strike="noStrike"/>
              <a:t>Laplace estimator</a:t>
            </a:r>
            <a:r>
              <a:rPr b="0" i="0" lang="en-US" sz="2800" u="none" strike="noStrike"/>
              <a:t>, named after Pierre Laplace, a French mathematician who lived from 1749 to 1827.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6"/>
          <p:cNvSpPr txBox="1"/>
          <p:nvPr>
            <p:ph type="title"/>
          </p:nvPr>
        </p:nvSpPr>
        <p:spPr>
          <a:xfrm>
            <a:off x="838200" y="1026942"/>
            <a:ext cx="10515600" cy="66374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0" lang="en-US" sz="3600" u="none" strike="noStrike">
                <a:latin typeface="Calibri"/>
                <a:ea typeface="Calibri"/>
                <a:cs typeface="Calibri"/>
                <a:sym typeface="Calibri"/>
              </a:rPr>
              <a:t>What if I encounter probability values of zero</a:t>
            </a:r>
            <a:r>
              <a:rPr lang="en-US" sz="3600" u="none" strike="noStrike">
                <a:latin typeface="Calibri"/>
                <a:ea typeface="Calibri"/>
                <a:cs typeface="Calibri"/>
                <a:sym typeface="Calibri"/>
              </a:rPr>
              <a:t>?”</a:t>
            </a:r>
            <a:r>
              <a:rPr i="0" lang="en-US" sz="3600" u="none" strike="noStrike">
                <a:latin typeface="Calibri"/>
                <a:ea typeface="Calibri"/>
                <a:cs typeface="Calibri"/>
                <a:sym typeface="Calibri"/>
              </a:rPr>
              <a:t> Example: Using the Laplacian correction to avoid computing probability values of zero</a:t>
            </a:r>
            <a:br>
              <a:rPr i="0" lang="en-US" sz="4400" u="none" strike="noStrike"/>
            </a:br>
            <a:endParaRPr/>
          </a:p>
        </p:txBody>
      </p:sp>
      <p:sp>
        <p:nvSpPr>
          <p:cNvPr id="688" name="Google Shape;688;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0" i="0" lang="en-US" sz="2400" u="none" strike="noStrike"/>
              <a:t>Suppose that for the class </a:t>
            </a:r>
            <a:r>
              <a:rPr b="0" i="1" lang="en-US" sz="2400" u="none" strike="noStrike"/>
              <a:t>buys computer =</a:t>
            </a:r>
            <a:r>
              <a:rPr b="0" i="0" lang="en-US" sz="2400" u="none" strike="noStrike"/>
              <a:t> </a:t>
            </a:r>
            <a:r>
              <a:rPr b="0" i="1" lang="en-US" sz="2400" u="none" strike="noStrike"/>
              <a:t>yes </a:t>
            </a:r>
            <a:r>
              <a:rPr b="0" i="0" lang="en-US" sz="2400" u="none" strike="noStrike"/>
              <a:t>in some training database, </a:t>
            </a:r>
            <a:r>
              <a:rPr b="0" i="1" lang="en-US" sz="2400" u="none" strike="noStrike"/>
              <a:t>D</a:t>
            </a:r>
            <a:r>
              <a:rPr b="0" i="0" lang="en-US" sz="2400" u="none" strike="noStrike"/>
              <a:t>, containing 1000 tuples, we have 0 tuples with </a:t>
            </a:r>
            <a:r>
              <a:rPr b="0" i="1" lang="en-US" sz="2400" u="none" strike="noStrike"/>
              <a:t>income =</a:t>
            </a:r>
            <a:r>
              <a:rPr b="0" i="0" lang="en-US" sz="2400" u="none" strike="noStrike"/>
              <a:t> </a:t>
            </a:r>
            <a:r>
              <a:rPr b="0" i="1" lang="en-US" sz="2400" u="none" strike="noStrike"/>
              <a:t>low</a:t>
            </a:r>
            <a:r>
              <a:rPr b="0" i="0" lang="en-US" sz="2400" u="none" strike="noStrike"/>
              <a:t>, 990 tuples with </a:t>
            </a:r>
            <a:r>
              <a:rPr b="0" i="1" lang="en-US" sz="2400" u="none" strike="noStrike"/>
              <a:t>income =</a:t>
            </a:r>
            <a:r>
              <a:rPr b="0" i="0" lang="en-US" sz="2400" u="none" strike="noStrike"/>
              <a:t> </a:t>
            </a:r>
            <a:r>
              <a:rPr b="0" i="1" lang="en-US" sz="2400" u="none" strike="noStrike"/>
              <a:t>medium</a:t>
            </a:r>
            <a:r>
              <a:rPr b="0" i="0" lang="en-US" sz="2400" u="none" strike="noStrike"/>
              <a:t>, and 10 tuples with </a:t>
            </a:r>
            <a:r>
              <a:rPr b="0" i="1" lang="en-US" sz="2400" u="none" strike="noStrike"/>
              <a:t>income =</a:t>
            </a:r>
            <a:r>
              <a:rPr b="0" i="0" lang="en-US" sz="2400" u="none" strike="noStrike"/>
              <a:t> </a:t>
            </a:r>
            <a:r>
              <a:rPr b="0" i="1" lang="en-US" sz="2400" u="none" strike="noStrike"/>
              <a:t>high</a:t>
            </a:r>
            <a:r>
              <a:rPr b="0" i="0" lang="en-US" sz="2400" u="none" strike="noStrike"/>
              <a:t>.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The probabilities of these events, without the Laplacian correction, are 0, 0.990 (from 990/1000), and 0.010 (from 10/1000), respectively.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Using the Laplacian correction for the three quantities, we pretend that we have 1 more tuple for each income-value pair.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In this way, we instead obtain the following probabilities (rounded up to three decimal places):</a:t>
            </a:r>
            <a:endParaRPr/>
          </a:p>
          <a:p>
            <a:pPr indent="0" lvl="0" marL="0" rtl="0" algn="l">
              <a:lnSpc>
                <a:spcPct val="90000"/>
              </a:lnSpc>
              <a:spcBef>
                <a:spcPts val="1000"/>
              </a:spcBef>
              <a:spcAft>
                <a:spcPts val="0"/>
              </a:spcAft>
              <a:buClr>
                <a:schemeClr val="dk1"/>
              </a:buClr>
              <a:buSzPts val="2400"/>
              <a:buNone/>
            </a:pPr>
            <a:r>
              <a:rPr b="0" i="0" lang="en-US" sz="2400" u="none" strike="noStrike"/>
              <a:t>	1/1003 = 0.001, 991/1003 = 0.988, and 11/1003 = 0.011, respectively.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t>The “corrected” probability estimates are close to their “uncorrected” counterparts, yet the zero probability value is avoided.</a:t>
            </a: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Minimum Error Classification</a:t>
            </a:r>
            <a:endParaRPr/>
          </a:p>
        </p:txBody>
      </p:sp>
      <p:sp>
        <p:nvSpPr>
          <p:cNvPr id="694" name="Google Shape;694;p48"/>
          <p:cNvSpPr txBox="1"/>
          <p:nvPr>
            <p:ph idx="1" type="body"/>
          </p:nvPr>
        </p:nvSpPr>
        <p:spPr>
          <a:xfrm>
            <a:off x="4785213" y="1825624"/>
            <a:ext cx="7032821"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If(p(walks|X)&gt;p(drives|X) =&gt; X</a:t>
            </a:r>
            <a:r>
              <a:rPr lang="en-US">
                <a:latin typeface="Times New Roman"/>
                <a:ea typeface="Times New Roman"/>
                <a:cs typeface="Times New Roman"/>
                <a:sym typeface="Times New Roman"/>
              </a:rPr>
              <a:t>ϵ</a:t>
            </a:r>
            <a:r>
              <a:rPr lang="en-US"/>
              <a:t> walks</a:t>
            </a:r>
            <a:endParaRPr/>
          </a:p>
          <a:p>
            <a:pPr indent="-228600" lvl="0" marL="228600" rtl="0" algn="l">
              <a:lnSpc>
                <a:spcPct val="90000"/>
              </a:lnSpc>
              <a:spcBef>
                <a:spcPts val="1000"/>
              </a:spcBef>
              <a:spcAft>
                <a:spcPts val="0"/>
              </a:spcAft>
              <a:buClr>
                <a:schemeClr val="dk1"/>
              </a:buClr>
              <a:buSzPct val="100000"/>
              <a:buChar char="•"/>
            </a:pPr>
            <a:r>
              <a:rPr lang="en-US"/>
              <a:t>So we will decide X</a:t>
            </a:r>
            <a:r>
              <a:rPr lang="en-US">
                <a:latin typeface="Times New Roman"/>
                <a:ea typeface="Times New Roman"/>
                <a:cs typeface="Times New Roman"/>
                <a:sym typeface="Times New Roman"/>
              </a:rPr>
              <a:t>ϵ</a:t>
            </a:r>
            <a:r>
              <a:rPr lang="en-US"/>
              <a:t> walks</a:t>
            </a:r>
            <a:endParaRPr/>
          </a:p>
          <a:p>
            <a:pPr indent="-228600" lvl="0" marL="228600" rtl="0" algn="l">
              <a:lnSpc>
                <a:spcPct val="90000"/>
              </a:lnSpc>
              <a:spcBef>
                <a:spcPts val="1000"/>
              </a:spcBef>
              <a:spcAft>
                <a:spcPts val="0"/>
              </a:spcAft>
              <a:buClr>
                <a:schemeClr val="dk1"/>
              </a:buClr>
              <a:buSzPct val="100000"/>
              <a:buChar char="•"/>
            </a:pPr>
            <a:r>
              <a:rPr lang="en-US"/>
              <a:t>But there is a finite probability that X</a:t>
            </a:r>
            <a:r>
              <a:rPr lang="en-US">
                <a:latin typeface="Times New Roman"/>
                <a:ea typeface="Times New Roman"/>
                <a:cs typeface="Times New Roman"/>
                <a:sym typeface="Times New Roman"/>
              </a:rPr>
              <a:t> ϵ drives</a:t>
            </a:r>
            <a:endParaRPr/>
          </a:p>
          <a:p>
            <a:pPr indent="-228600" lvl="1" marL="685800" rtl="0" algn="l">
              <a:lnSpc>
                <a:spcPct val="90000"/>
              </a:lnSpc>
              <a:spcBef>
                <a:spcPts val="500"/>
              </a:spcBef>
              <a:spcAft>
                <a:spcPts val="0"/>
              </a:spcAft>
              <a:buClr>
                <a:schemeClr val="dk1"/>
              </a:buClr>
              <a:buSzPct val="100000"/>
              <a:buChar char="•"/>
            </a:pPr>
            <a:r>
              <a:rPr lang="en-US">
                <a:latin typeface="Times New Roman"/>
                <a:ea typeface="Times New Roman"/>
                <a:cs typeface="Times New Roman"/>
                <a:sym typeface="Times New Roman"/>
              </a:rPr>
              <a:t>This is the probability of error. </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i.e. </a:t>
            </a:r>
            <a:endParaRPr/>
          </a:p>
          <a:p>
            <a:pPr indent="-228600" lvl="1" marL="685800" rtl="0" algn="l">
              <a:lnSpc>
                <a:spcPct val="90000"/>
              </a:lnSpc>
              <a:spcBef>
                <a:spcPts val="500"/>
              </a:spcBef>
              <a:spcAft>
                <a:spcPts val="0"/>
              </a:spcAft>
              <a:buClr>
                <a:schemeClr val="dk1"/>
              </a:buClr>
              <a:buSzPct val="100000"/>
              <a:buChar char="•"/>
            </a:pPr>
            <a:r>
              <a:rPr lang="en-US"/>
              <a:t>P(error|X)= min{p(walks|X), p(drives|X)}</a:t>
            </a:r>
            <a:endParaRPr/>
          </a:p>
          <a:p>
            <a:pPr indent="-228600" lvl="0" marL="228600" rtl="0" algn="l">
              <a:lnSpc>
                <a:spcPct val="90000"/>
              </a:lnSpc>
              <a:spcBef>
                <a:spcPts val="1000"/>
              </a:spcBef>
              <a:spcAft>
                <a:spcPts val="0"/>
              </a:spcAft>
              <a:buClr>
                <a:schemeClr val="dk1"/>
              </a:buClr>
              <a:buSzPct val="100000"/>
              <a:buChar char="•"/>
            </a:pPr>
            <a:r>
              <a:rPr lang="en-US"/>
              <a:t>As we are deciding based on minimizing the error it is known as </a:t>
            </a:r>
            <a:endParaRPr/>
          </a:p>
          <a:p>
            <a:pPr indent="-228600" lvl="0" marL="228600" rtl="0" algn="l">
              <a:lnSpc>
                <a:spcPct val="90000"/>
              </a:lnSpc>
              <a:spcBef>
                <a:spcPts val="1000"/>
              </a:spcBef>
              <a:spcAft>
                <a:spcPts val="0"/>
              </a:spcAft>
              <a:buClr>
                <a:schemeClr val="dk1"/>
              </a:buClr>
              <a:buSzPct val="100000"/>
              <a:buChar char="•"/>
            </a:pPr>
            <a:r>
              <a:rPr lang="en-US"/>
              <a:t>Total error of classification= the area under this curve=  integration of min{p(walks|X), p(drives|X)} 	        </a:t>
            </a:r>
            <a:r>
              <a:rPr lang="en-US" sz="1300"/>
              <a:t>X from-</a:t>
            </a:r>
            <a:r>
              <a:rPr b="0" i="0" lang="en-US" sz="1300">
                <a:solidFill>
                  <a:srgbClr val="333333"/>
                </a:solidFill>
                <a:latin typeface="Arial"/>
                <a:ea typeface="Arial"/>
                <a:cs typeface="Arial"/>
                <a:sym typeface="Arial"/>
              </a:rPr>
              <a:t>∞ to +∞</a:t>
            </a:r>
            <a:endParaRPr/>
          </a:p>
        </p:txBody>
      </p:sp>
      <p:pic>
        <p:nvPicPr>
          <p:cNvPr id="695" name="Google Shape;695;p48"/>
          <p:cNvPicPr preferRelativeResize="0"/>
          <p:nvPr/>
        </p:nvPicPr>
        <p:blipFill rotWithShape="1">
          <a:blip r:embed="rId3">
            <a:alphaModFix/>
          </a:blip>
          <a:srcRect b="0" l="0" r="0" t="0"/>
          <a:stretch/>
        </p:blipFill>
        <p:spPr>
          <a:xfrm>
            <a:off x="232263" y="2610655"/>
            <a:ext cx="4552950" cy="21431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Minimum Risk Classifier</a:t>
            </a:r>
            <a:endParaRPr/>
          </a:p>
        </p:txBody>
      </p:sp>
      <p:sp>
        <p:nvSpPr>
          <p:cNvPr id="701" name="Google Shape;701;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More general than bayes minimum error classifier</a:t>
            </a:r>
            <a:endParaRPr/>
          </a:p>
          <a:p>
            <a:pPr indent="-228600" lvl="0" marL="228600" rtl="0" algn="l">
              <a:lnSpc>
                <a:spcPct val="90000"/>
              </a:lnSpc>
              <a:spcBef>
                <a:spcPts val="1000"/>
              </a:spcBef>
              <a:spcAft>
                <a:spcPts val="0"/>
              </a:spcAft>
              <a:buClr>
                <a:schemeClr val="dk1"/>
              </a:buClr>
              <a:buSzPts val="2800"/>
              <a:buChar char="•"/>
            </a:pPr>
            <a:r>
              <a:rPr lang="en-US"/>
              <a:t>ω</a:t>
            </a:r>
            <a:r>
              <a:rPr baseline="-25000" lang="en-US"/>
              <a:t>i</a:t>
            </a:r>
            <a:r>
              <a:rPr lang="en-US"/>
              <a:t>:  i=1…C  (classes)</a:t>
            </a:r>
            <a:endParaRPr/>
          </a:p>
          <a:p>
            <a:pPr indent="-228600" lvl="0" marL="228600" rtl="0" algn="l">
              <a:lnSpc>
                <a:spcPct val="90000"/>
              </a:lnSpc>
              <a:spcBef>
                <a:spcPts val="1000"/>
              </a:spcBef>
              <a:spcAft>
                <a:spcPts val="0"/>
              </a:spcAft>
              <a:buClr>
                <a:srgbClr val="202124"/>
              </a:buClr>
              <a:buSzPts val="2800"/>
              <a:buChar char="•"/>
            </a:pPr>
            <a:r>
              <a:rPr i="0" lang="en-US">
                <a:solidFill>
                  <a:srgbClr val="202124"/>
                </a:solidFill>
                <a:latin typeface="arial"/>
                <a:ea typeface="arial"/>
                <a:cs typeface="arial"/>
                <a:sym typeface="arial"/>
              </a:rPr>
              <a:t>α</a:t>
            </a:r>
            <a:r>
              <a:rPr baseline="-25000" lang="en-US">
                <a:solidFill>
                  <a:srgbClr val="202124"/>
                </a:solidFill>
                <a:latin typeface="arial"/>
                <a:ea typeface="arial"/>
                <a:cs typeface="arial"/>
                <a:sym typeface="arial"/>
              </a:rPr>
              <a:t>j</a:t>
            </a:r>
            <a:r>
              <a:rPr i="0" lang="en-US">
                <a:solidFill>
                  <a:srgbClr val="202124"/>
                </a:solidFill>
                <a:latin typeface="arial"/>
                <a:ea typeface="arial"/>
                <a:cs typeface="arial"/>
                <a:sym typeface="arial"/>
              </a:rPr>
              <a:t>: j=1…K  (actions/predictions)</a:t>
            </a:r>
            <a:endParaRPr baseline="-25000"/>
          </a:p>
          <a:p>
            <a:pPr indent="-228600" lvl="0" marL="228600" rtl="0" algn="l">
              <a:lnSpc>
                <a:spcPct val="90000"/>
              </a:lnSpc>
              <a:spcBef>
                <a:spcPts val="1000"/>
              </a:spcBef>
              <a:spcAft>
                <a:spcPts val="0"/>
              </a:spcAft>
              <a:buClr>
                <a:schemeClr val="dk1"/>
              </a:buClr>
              <a:buSzPts val="2800"/>
              <a:buChar char="•"/>
            </a:pPr>
            <a:r>
              <a:rPr lang="en-US"/>
              <a:t>X- d-dimensional feature vector</a:t>
            </a:r>
            <a:endParaRPr/>
          </a:p>
          <a:p>
            <a:pPr indent="-228600" lvl="0" marL="228600" rtl="0" algn="l">
              <a:lnSpc>
                <a:spcPct val="90000"/>
              </a:lnSpc>
              <a:spcBef>
                <a:spcPts val="1000"/>
              </a:spcBef>
              <a:spcAft>
                <a:spcPts val="0"/>
              </a:spcAft>
              <a:buClr>
                <a:schemeClr val="dk1"/>
              </a:buClr>
              <a:buSzPts val="2800"/>
              <a:buChar char="•"/>
            </a:pPr>
            <a:r>
              <a:rPr lang="en-US"/>
              <a:t>Why is it more general</a:t>
            </a:r>
            <a:endParaRPr/>
          </a:p>
          <a:p>
            <a:pPr indent="-228600" lvl="1" marL="685800" rtl="0" algn="l">
              <a:lnSpc>
                <a:spcPct val="90000"/>
              </a:lnSpc>
              <a:spcBef>
                <a:spcPts val="500"/>
              </a:spcBef>
              <a:spcAft>
                <a:spcPts val="0"/>
              </a:spcAft>
              <a:buClr>
                <a:schemeClr val="dk1"/>
              </a:buClr>
              <a:buSzPts val="2400"/>
              <a:buChar char="•"/>
            </a:pPr>
            <a:r>
              <a:rPr lang="en-US"/>
              <a:t>Because of introduction of loss function</a:t>
            </a:r>
            <a:r>
              <a:rPr b="0" i="0" lang="en-US">
                <a:solidFill>
                  <a:srgbClr val="202124"/>
                </a:solidFill>
                <a:latin typeface="arial"/>
                <a:ea typeface="arial"/>
                <a:cs typeface="arial"/>
                <a:sym typeface="arial"/>
              </a:rPr>
              <a:t> λ(</a:t>
            </a:r>
            <a:r>
              <a:rPr i="0" lang="en-US">
                <a:solidFill>
                  <a:srgbClr val="202124"/>
                </a:solidFill>
                <a:latin typeface="arial"/>
                <a:ea typeface="arial"/>
                <a:cs typeface="arial"/>
                <a:sym typeface="arial"/>
              </a:rPr>
              <a:t>α</a:t>
            </a:r>
            <a:r>
              <a:rPr baseline="-25000" i="0" lang="en-US">
                <a:solidFill>
                  <a:srgbClr val="202124"/>
                </a:solidFill>
                <a:latin typeface="arial"/>
                <a:ea typeface="arial"/>
                <a:cs typeface="arial"/>
                <a:sym typeface="arial"/>
              </a:rPr>
              <a:t>i</a:t>
            </a:r>
            <a:r>
              <a:rPr i="0" lang="en-US">
                <a:solidFill>
                  <a:srgbClr val="202124"/>
                </a:solidFill>
                <a:latin typeface="arial"/>
                <a:ea typeface="arial"/>
                <a:cs typeface="arial"/>
                <a:sym typeface="arial"/>
              </a:rPr>
              <a:t>|</a:t>
            </a:r>
            <a:r>
              <a:rPr lang="en-US"/>
              <a:t>ω</a:t>
            </a:r>
            <a:r>
              <a:rPr baseline="-25000" i="0" lang="en-US">
                <a:solidFill>
                  <a:srgbClr val="202124"/>
                </a:solidFill>
                <a:latin typeface="arial"/>
                <a:ea typeface="arial"/>
                <a:cs typeface="arial"/>
                <a:sym typeface="arial"/>
              </a:rPr>
              <a:t>j</a:t>
            </a:r>
            <a:r>
              <a:rPr i="0" lang="en-US">
                <a:solidFill>
                  <a:srgbClr val="202124"/>
                </a:solidFill>
                <a:latin typeface="arial"/>
                <a:ea typeface="arial"/>
                <a:cs typeface="arial"/>
                <a:sym typeface="arial"/>
              </a:rPr>
              <a:t>)</a:t>
            </a:r>
            <a:endParaRPr/>
          </a:p>
          <a:p>
            <a:pPr indent="-228600" lvl="2" marL="1143000" rtl="0" algn="l">
              <a:lnSpc>
                <a:spcPct val="90000"/>
              </a:lnSpc>
              <a:spcBef>
                <a:spcPts val="500"/>
              </a:spcBef>
              <a:spcAft>
                <a:spcPts val="0"/>
              </a:spcAft>
              <a:buClr>
                <a:srgbClr val="202124"/>
              </a:buClr>
              <a:buSzPts val="2000"/>
              <a:buChar char="•"/>
            </a:pPr>
            <a:r>
              <a:rPr lang="en-US">
                <a:solidFill>
                  <a:srgbClr val="202124"/>
                </a:solidFill>
                <a:latin typeface="arial"/>
                <a:ea typeface="arial"/>
                <a:cs typeface="arial"/>
                <a:sym typeface="arial"/>
              </a:rPr>
              <a:t>If we take an action </a:t>
            </a:r>
            <a:r>
              <a:rPr i="0" lang="en-US">
                <a:solidFill>
                  <a:srgbClr val="202124"/>
                </a:solidFill>
                <a:latin typeface="arial"/>
                <a:ea typeface="arial"/>
                <a:cs typeface="arial"/>
                <a:sym typeface="arial"/>
              </a:rPr>
              <a:t>α</a:t>
            </a:r>
            <a:r>
              <a:rPr baseline="-25000" i="0" lang="en-US">
                <a:solidFill>
                  <a:srgbClr val="202124"/>
                </a:solidFill>
                <a:latin typeface="arial"/>
                <a:ea typeface="arial"/>
                <a:cs typeface="arial"/>
                <a:sym typeface="arial"/>
              </a:rPr>
              <a:t>i </a:t>
            </a:r>
            <a:r>
              <a:rPr lang="en-US">
                <a:solidFill>
                  <a:srgbClr val="202124"/>
                </a:solidFill>
                <a:latin typeface="arial"/>
                <a:ea typeface="arial"/>
                <a:cs typeface="arial"/>
                <a:sym typeface="arial"/>
              </a:rPr>
              <a:t>where the true class is </a:t>
            </a:r>
            <a:r>
              <a:rPr lang="en-US"/>
              <a:t>ω</a:t>
            </a:r>
            <a:r>
              <a:rPr baseline="-25000" i="0" lang="en-US">
                <a:solidFill>
                  <a:srgbClr val="202124"/>
                </a:solidFill>
                <a:latin typeface="arial"/>
                <a:ea typeface="arial"/>
                <a:cs typeface="arial"/>
                <a:sym typeface="arial"/>
              </a:rPr>
              <a:t>j </a:t>
            </a:r>
            <a:r>
              <a:rPr lang="en-US">
                <a:solidFill>
                  <a:srgbClr val="202124"/>
                </a:solidFill>
                <a:latin typeface="arial"/>
                <a:ea typeface="arial"/>
                <a:cs typeface="arial"/>
                <a:sym typeface="arial"/>
              </a:rPr>
              <a:t>then the Loss that we incur is </a:t>
            </a:r>
            <a:r>
              <a:rPr b="0" i="0" lang="en-US">
                <a:solidFill>
                  <a:srgbClr val="202124"/>
                </a:solidFill>
                <a:latin typeface="arial"/>
                <a:ea typeface="arial"/>
                <a:cs typeface="arial"/>
                <a:sym typeface="arial"/>
              </a:rPr>
              <a:t>λ(</a:t>
            </a:r>
            <a:r>
              <a:rPr i="0" lang="en-US">
                <a:solidFill>
                  <a:srgbClr val="202124"/>
                </a:solidFill>
                <a:latin typeface="arial"/>
                <a:ea typeface="arial"/>
                <a:cs typeface="arial"/>
                <a:sym typeface="arial"/>
              </a:rPr>
              <a:t>α</a:t>
            </a:r>
            <a:r>
              <a:rPr baseline="-25000" i="0" lang="en-US">
                <a:solidFill>
                  <a:srgbClr val="202124"/>
                </a:solidFill>
                <a:latin typeface="arial"/>
                <a:ea typeface="arial"/>
                <a:cs typeface="arial"/>
                <a:sym typeface="arial"/>
              </a:rPr>
              <a:t>i</a:t>
            </a:r>
            <a:r>
              <a:rPr i="0" lang="en-US">
                <a:solidFill>
                  <a:srgbClr val="202124"/>
                </a:solidFill>
                <a:latin typeface="arial"/>
                <a:ea typeface="arial"/>
                <a:cs typeface="arial"/>
                <a:sym typeface="arial"/>
              </a:rPr>
              <a:t>|</a:t>
            </a:r>
            <a:r>
              <a:rPr lang="en-US"/>
              <a:t> ω</a:t>
            </a:r>
            <a:r>
              <a:rPr baseline="-25000" i="0" lang="en-US">
                <a:solidFill>
                  <a:srgbClr val="202124"/>
                </a:solidFill>
                <a:latin typeface="arial"/>
                <a:ea typeface="arial"/>
                <a:cs typeface="arial"/>
                <a:sym typeface="arial"/>
              </a:rPr>
              <a:t>j</a:t>
            </a:r>
            <a:r>
              <a:rPr i="0" lang="en-US">
                <a:solidFill>
                  <a:srgbClr val="202124"/>
                </a:solidFill>
                <a:latin typeface="arial"/>
                <a:ea typeface="arial"/>
                <a:cs typeface="arial"/>
                <a:sym typeface="arial"/>
              </a:rPr>
              <a:t>)</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Bayes Minimum Risk Classifier</a:t>
            </a:r>
            <a:endParaRPr/>
          </a:p>
        </p:txBody>
      </p:sp>
      <p:sp>
        <p:nvSpPr>
          <p:cNvPr id="707" name="Google Shape;707;p50"/>
          <p:cNvSpPr txBox="1"/>
          <p:nvPr>
            <p:ph idx="1" type="body"/>
          </p:nvPr>
        </p:nvSpPr>
        <p:spPr>
          <a:xfrm>
            <a:off x="838200" y="1825625"/>
            <a:ext cx="10515600" cy="4351338"/>
          </a:xfrm>
          <a:prstGeom prst="rect">
            <a:avLst/>
          </a:prstGeom>
          <a:blipFill rotWithShape="1">
            <a:blip r:embed="rId3">
              <a:alphaModFix/>
            </a:blip>
            <a:stretch>
              <a:fillRect b="0" l="-1042" r="-1041" t="-22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Relationship between BMRC and BMEC</a:t>
            </a:r>
            <a:endParaRPr/>
          </a:p>
        </p:txBody>
      </p:sp>
      <p:sp>
        <p:nvSpPr>
          <p:cNvPr id="713" name="Google Shape;713;p51"/>
          <p:cNvSpPr txBox="1"/>
          <p:nvPr>
            <p:ph idx="1" type="body"/>
          </p:nvPr>
        </p:nvSpPr>
        <p:spPr>
          <a:xfrm>
            <a:off x="838200" y="1825625"/>
            <a:ext cx="10515600" cy="4351338"/>
          </a:xfrm>
          <a:prstGeom prst="rect">
            <a:avLst/>
          </a:prstGeom>
          <a:blipFill rotWithShape="1">
            <a:blip r:embed="rId3">
              <a:alphaModFix/>
            </a:blip>
            <a:stretch>
              <a:fillRect b="-2659" l="-927" r="0" t="-2799"/>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Discriminant function</a:t>
            </a:r>
            <a:endParaRPr/>
          </a:p>
        </p:txBody>
      </p:sp>
      <p:sp>
        <p:nvSpPr>
          <p:cNvPr id="719" name="Google Shape;719;p52"/>
          <p:cNvSpPr txBox="1"/>
          <p:nvPr>
            <p:ph idx="1" type="body"/>
          </p:nvPr>
        </p:nvSpPr>
        <p:spPr>
          <a:xfrm>
            <a:off x="838200" y="1825625"/>
            <a:ext cx="10515600" cy="4351338"/>
          </a:xfrm>
          <a:prstGeom prst="rect">
            <a:avLst/>
          </a:prstGeom>
          <a:blipFill rotWithShape="1">
            <a:blip r:embed="rId3">
              <a:alphaModFix/>
            </a:blip>
            <a:stretch>
              <a:fillRect b="0" l="-1042" r="0" t="-224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Applications and pros and cons</a:t>
            </a:r>
            <a:endParaRPr/>
          </a:p>
        </p:txBody>
      </p:sp>
      <p:sp>
        <p:nvSpPr>
          <p:cNvPr id="725" name="Google Shape;725;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b="0" i="0" lang="en-US">
                <a:solidFill>
                  <a:srgbClr val="292929"/>
                </a:solidFill>
                <a:latin typeface="Arial"/>
                <a:ea typeface="Arial"/>
                <a:cs typeface="Arial"/>
                <a:sym typeface="Arial"/>
              </a:rPr>
              <a:t>Naive Bayes algorithms are mostly used in </a:t>
            </a:r>
            <a:endParaRPr/>
          </a:p>
          <a:p>
            <a:pPr indent="-228600" lvl="1" marL="685800" rtl="0" algn="l">
              <a:lnSpc>
                <a:spcPct val="90000"/>
              </a:lnSpc>
              <a:spcBef>
                <a:spcPts val="500"/>
              </a:spcBef>
              <a:spcAft>
                <a:spcPts val="0"/>
              </a:spcAft>
              <a:buClr>
                <a:srgbClr val="292929"/>
              </a:buClr>
              <a:buSzPts val="2400"/>
              <a:buChar char="•"/>
            </a:pPr>
            <a:r>
              <a:rPr b="0" i="0" lang="en-US">
                <a:solidFill>
                  <a:srgbClr val="292929"/>
                </a:solidFill>
                <a:latin typeface="Arial"/>
                <a:ea typeface="Arial"/>
                <a:cs typeface="Arial"/>
                <a:sym typeface="Arial"/>
              </a:rPr>
              <a:t>sentiment analysis, spam filtering, recommendation systems etc.</a:t>
            </a:r>
            <a:endParaRPr/>
          </a:p>
          <a:p>
            <a:pPr indent="-228600" lvl="0" marL="228600" rtl="0" algn="l">
              <a:lnSpc>
                <a:spcPct val="90000"/>
              </a:lnSpc>
              <a:spcBef>
                <a:spcPts val="1000"/>
              </a:spcBef>
              <a:spcAft>
                <a:spcPts val="0"/>
              </a:spcAft>
              <a:buClr>
                <a:srgbClr val="292929"/>
              </a:buClr>
              <a:buSzPts val="2800"/>
              <a:buChar char="•"/>
            </a:pPr>
            <a:r>
              <a:rPr b="0" i="0" lang="en-US">
                <a:solidFill>
                  <a:srgbClr val="292929"/>
                </a:solidFill>
                <a:latin typeface="Arial"/>
                <a:ea typeface="Arial"/>
                <a:cs typeface="Arial"/>
                <a:sym typeface="Arial"/>
              </a:rPr>
              <a:t>They are fast and easy to implement</a:t>
            </a:r>
            <a:endParaRPr/>
          </a:p>
          <a:p>
            <a:pPr indent="-228600" lvl="0" marL="228600" rtl="0" algn="l">
              <a:lnSpc>
                <a:spcPct val="90000"/>
              </a:lnSpc>
              <a:spcBef>
                <a:spcPts val="1000"/>
              </a:spcBef>
              <a:spcAft>
                <a:spcPts val="0"/>
              </a:spcAft>
              <a:buClr>
                <a:srgbClr val="292929"/>
              </a:buClr>
              <a:buSzPts val="2800"/>
              <a:buChar char="•"/>
            </a:pPr>
            <a:r>
              <a:rPr lang="en-US">
                <a:solidFill>
                  <a:srgbClr val="292929"/>
                </a:solidFill>
                <a:latin typeface="Arial"/>
                <a:ea typeface="Arial"/>
                <a:cs typeface="Arial"/>
                <a:sym typeface="Arial"/>
              </a:rPr>
              <a:t>B</a:t>
            </a:r>
            <a:r>
              <a:rPr b="0" i="0" lang="en-US">
                <a:solidFill>
                  <a:srgbClr val="292929"/>
                </a:solidFill>
                <a:latin typeface="Arial"/>
                <a:ea typeface="Arial"/>
                <a:cs typeface="Arial"/>
                <a:sym typeface="Arial"/>
              </a:rPr>
              <a:t>ut their biggest disadvantage is that the requirement of predictors to be independent</a:t>
            </a:r>
            <a:endParaRPr/>
          </a:p>
          <a:p>
            <a:pPr indent="-228600" lvl="1" marL="685800" rtl="0" algn="l">
              <a:lnSpc>
                <a:spcPct val="90000"/>
              </a:lnSpc>
              <a:spcBef>
                <a:spcPts val="500"/>
              </a:spcBef>
              <a:spcAft>
                <a:spcPts val="0"/>
              </a:spcAft>
              <a:buClr>
                <a:srgbClr val="292929"/>
              </a:buClr>
              <a:buSzPts val="2400"/>
              <a:buChar char="•"/>
            </a:pPr>
            <a:r>
              <a:rPr b="0" i="0" lang="en-US">
                <a:solidFill>
                  <a:srgbClr val="292929"/>
                </a:solidFill>
                <a:latin typeface="Arial"/>
                <a:ea typeface="Arial"/>
                <a:cs typeface="Arial"/>
                <a:sym typeface="Arial"/>
              </a:rPr>
              <a:t>In most of the real life cases, the predictors are dependent, this hinders the performance of the classifier</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731" name="Google Shape;731;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sz="2800" u="none" cap="none" strike="noStrike">
                <a:solidFill>
                  <a:schemeClr val="dk1"/>
                </a:solidFill>
                <a:latin typeface="Arial"/>
                <a:ea typeface="Arial"/>
                <a:cs typeface="Arial"/>
                <a:sym typeface="Arial"/>
              </a:rPr>
              <a:t>Naive Bayes is an eager algorithm that learns a probabilistic model from the training data to make predictions. </a:t>
            </a:r>
            <a:endParaRPr/>
          </a:p>
          <a:p>
            <a:pPr indent="-228600" lvl="0" marL="228600" rtl="0" algn="l">
              <a:lnSpc>
                <a:spcPct val="90000"/>
              </a:lnSpc>
              <a:spcBef>
                <a:spcPts val="1000"/>
              </a:spcBef>
              <a:spcAft>
                <a:spcPts val="0"/>
              </a:spcAft>
              <a:buClr>
                <a:schemeClr val="dk1"/>
              </a:buClr>
              <a:buSzPts val="2800"/>
              <a:buChar char="•"/>
            </a:pPr>
            <a:r>
              <a:rPr b="0" i="0" lang="en-US" sz="2800" u="none" cap="none" strike="noStrike">
                <a:solidFill>
                  <a:schemeClr val="dk1"/>
                </a:solidFill>
                <a:latin typeface="Arial"/>
                <a:ea typeface="Arial"/>
                <a:cs typeface="Arial"/>
                <a:sym typeface="Arial"/>
              </a:rPr>
              <a:t>During training phase it learns and calculate</a:t>
            </a:r>
            <a:endParaRPr/>
          </a:p>
          <a:p>
            <a:pPr indent="-228600" lvl="1" marL="685800" rtl="0" algn="l">
              <a:lnSpc>
                <a:spcPct val="90000"/>
              </a:lnSpc>
              <a:spcBef>
                <a:spcPts val="500"/>
              </a:spcBef>
              <a:spcAft>
                <a:spcPts val="0"/>
              </a:spcAft>
              <a:buClr>
                <a:srgbClr val="374151"/>
              </a:buClr>
              <a:buSzPts val="2400"/>
              <a:buChar char="•"/>
            </a:pPr>
            <a:r>
              <a:rPr b="0" i="0" lang="en-US">
                <a:solidFill>
                  <a:srgbClr val="374151"/>
                </a:solidFill>
                <a:latin typeface="Arial"/>
                <a:ea typeface="Arial"/>
                <a:cs typeface="Arial"/>
                <a:sym typeface="Arial"/>
              </a:rPr>
              <a:t>the prior probability of each class label, which is the frequency of each class label in the training data. </a:t>
            </a:r>
            <a:endParaRPr/>
          </a:p>
          <a:p>
            <a:pPr indent="-228600" lvl="1" marL="685800" rtl="0" algn="l">
              <a:lnSpc>
                <a:spcPct val="90000"/>
              </a:lnSpc>
              <a:spcBef>
                <a:spcPts val="500"/>
              </a:spcBef>
              <a:spcAft>
                <a:spcPts val="0"/>
              </a:spcAft>
              <a:buClr>
                <a:srgbClr val="374151"/>
              </a:buClr>
              <a:buSzPts val="2400"/>
              <a:buChar char="•"/>
            </a:pPr>
            <a:r>
              <a:rPr b="0" i="0" lang="en-US">
                <a:solidFill>
                  <a:srgbClr val="374151"/>
                </a:solidFill>
                <a:latin typeface="Arial"/>
                <a:ea typeface="Arial"/>
                <a:cs typeface="Arial"/>
                <a:sym typeface="Arial"/>
              </a:rPr>
              <a:t>Then, for each feature, Naive Bayes calculates the probability of that feature given each class label, which is known as the likelihood.</a:t>
            </a:r>
            <a:endParaRPr/>
          </a:p>
        </p:txBody>
      </p:sp>
      <p:sp>
        <p:nvSpPr>
          <p:cNvPr id="732" name="Google Shape;732;p54"/>
          <p:cNvSpPr/>
          <p:nvPr/>
        </p:nvSpPr>
        <p:spPr>
          <a:xfrm>
            <a:off x="0" y="36239"/>
            <a:ext cx="896399" cy="38472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900"/>
              <a:buFont typeface="Arial"/>
              <a:buNone/>
            </a:pPr>
            <a:r>
              <a:rPr b="0" i="0" lang="en-US" sz="1900" u="none" cap="none" strike="noStrike">
                <a:solidFill>
                  <a:schemeClr val="dk1"/>
                </a:solidFill>
                <a:latin typeface="Arial"/>
                <a:ea typeface="Arial"/>
                <a:cs typeface="Arial"/>
                <a:sym typeface="Arial"/>
              </a:rPr>
              <a:t>      </a:t>
            </a:r>
            <a:r>
              <a:rPr b="0" i="0" lang="en-US" sz="1000" u="none" cap="none" strike="noStrike">
                <a:solidFill>
                  <a:schemeClr val="dk1"/>
                </a:solidFill>
                <a:latin typeface="Arial"/>
                <a:ea typeface="Arial"/>
                <a:cs typeface="Arial"/>
                <a:sym typeface="Arial"/>
              </a:rPr>
              <a:t>  </a:t>
            </a:r>
            <a:r>
              <a:rPr b="0" i="0" lang="en-US" sz="19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733" name="Google Shape;733;p54"/>
          <p:cNvSpPr/>
          <p:nvPr/>
        </p:nvSpPr>
        <p:spPr>
          <a:xfrm>
            <a:off x="57150" y="-682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manjari@bhu.ac.in" id="734" name="Google Shape;734;p54"/>
          <p:cNvSpPr/>
          <p:nvPr/>
        </p:nvSpPr>
        <p:spPr>
          <a:xfrm>
            <a:off x="438150" y="-682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a2f70455b0_0_45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Bayesian Network</a:t>
            </a:r>
            <a:endParaRPr/>
          </a:p>
        </p:txBody>
      </p:sp>
      <p:sp>
        <p:nvSpPr>
          <p:cNvPr id="740" name="Google Shape;740;g3a2f70455b0_0_45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Char char="•"/>
            </a:pPr>
            <a:r>
              <a:rPr lang="en-US" sz="2400"/>
              <a:t>Bayesian Network (BN) is a graphical model that represents the probabilistic relationships among a set of variables using a Directed Acyclic Graph (DAG).</a:t>
            </a:r>
            <a:endParaRPr sz="2400"/>
          </a:p>
          <a:p>
            <a:pPr indent="-381000" lvl="0" marL="457200" rtl="0" algn="l">
              <a:lnSpc>
                <a:spcPct val="115000"/>
              </a:lnSpc>
              <a:spcBef>
                <a:spcPts val="0"/>
              </a:spcBef>
              <a:spcAft>
                <a:spcPts val="0"/>
              </a:spcAft>
              <a:buSzPts val="2400"/>
              <a:buChar char="•"/>
            </a:pPr>
            <a:r>
              <a:rPr lang="en-US" sz="2400"/>
              <a:t>Each node represents </a:t>
            </a:r>
            <a:endParaRPr sz="2400"/>
          </a:p>
          <a:p>
            <a:pPr indent="-381000" lvl="1" marL="914400" rtl="0" algn="l">
              <a:lnSpc>
                <a:spcPct val="115000"/>
              </a:lnSpc>
              <a:spcBef>
                <a:spcPts val="0"/>
              </a:spcBef>
              <a:spcAft>
                <a:spcPts val="0"/>
              </a:spcAft>
              <a:buSzPts val="2400"/>
              <a:buChar char="•"/>
            </a:pPr>
            <a:r>
              <a:rPr lang="en-US" sz="2400"/>
              <a:t>a random variable,</a:t>
            </a:r>
            <a:endParaRPr/>
          </a:p>
          <a:p>
            <a:pPr indent="-381000" lvl="0" marL="457200" rtl="0" algn="l">
              <a:lnSpc>
                <a:spcPct val="115000"/>
              </a:lnSpc>
              <a:spcBef>
                <a:spcPts val="0"/>
              </a:spcBef>
              <a:spcAft>
                <a:spcPts val="0"/>
              </a:spcAft>
              <a:buSzPts val="2400"/>
              <a:buChar char="•"/>
            </a:pPr>
            <a:r>
              <a:rPr lang="en-US" sz="2400"/>
              <a:t>and each directed edge represents </a:t>
            </a:r>
            <a:endParaRPr sz="2400"/>
          </a:p>
          <a:p>
            <a:pPr indent="-381000" lvl="1" marL="914400" rtl="0" algn="l">
              <a:lnSpc>
                <a:spcPct val="115000"/>
              </a:lnSpc>
              <a:spcBef>
                <a:spcPts val="0"/>
              </a:spcBef>
              <a:spcAft>
                <a:spcPts val="0"/>
              </a:spcAft>
              <a:buSzPts val="2400"/>
              <a:buFont typeface="Calibri"/>
              <a:buChar char="•"/>
            </a:pPr>
            <a:r>
              <a:rPr lang="en-US"/>
              <a:t>a probabilistic dependency between variables.</a:t>
            </a:r>
            <a:endParaRPr/>
          </a:p>
          <a:p>
            <a:pPr indent="-381000" lvl="0" marL="457200" rtl="0" algn="l">
              <a:spcBef>
                <a:spcPts val="0"/>
              </a:spcBef>
              <a:spcAft>
                <a:spcPts val="0"/>
              </a:spcAft>
              <a:buSzPts val="2400"/>
              <a:buChar char="•"/>
            </a:pPr>
            <a:r>
              <a:rPr lang="en-US" sz="2400"/>
              <a:t>It encodes conditional dependencies</a:t>
            </a:r>
            <a:endParaRPr sz="2400"/>
          </a:p>
          <a:p>
            <a:pPr indent="-381000" lvl="0" marL="457200" rtl="0" algn="l">
              <a:spcBef>
                <a:spcPts val="0"/>
              </a:spcBef>
              <a:spcAft>
                <a:spcPts val="0"/>
              </a:spcAft>
              <a:buSzPts val="2400"/>
              <a:buChar char="•"/>
            </a:pPr>
            <a:r>
              <a:rPr lang="en-US" sz="2400"/>
              <a:t>The joint probability distribution (JPD) over all variables can be factored as a product of local conditional probabilities:</a:t>
            </a:r>
            <a:endParaRPr sz="2400"/>
          </a:p>
        </p:txBody>
      </p:sp>
      <p:pic>
        <p:nvPicPr>
          <p:cNvPr id="741" name="Google Shape;741;g3a2f70455b0_0_453"/>
          <p:cNvPicPr preferRelativeResize="0"/>
          <p:nvPr/>
        </p:nvPicPr>
        <p:blipFill>
          <a:blip r:embed="rId3">
            <a:alphaModFix/>
          </a:blip>
          <a:stretch>
            <a:fillRect/>
          </a:stretch>
        </p:blipFill>
        <p:spPr>
          <a:xfrm>
            <a:off x="3902050" y="5333275"/>
            <a:ext cx="3482850" cy="5608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2f70455b0_0_46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Bayesian Network Classifier</a:t>
            </a:r>
            <a:endParaRPr/>
          </a:p>
        </p:txBody>
      </p:sp>
      <p:sp>
        <p:nvSpPr>
          <p:cNvPr id="747" name="Google Shape;747;g3a2f70455b0_0_464"/>
          <p:cNvSpPr txBox="1"/>
          <p:nvPr>
            <p:ph idx="1" type="body"/>
          </p:nvPr>
        </p:nvSpPr>
        <p:spPr>
          <a:xfrm>
            <a:off x="1054150" y="1825625"/>
            <a:ext cx="10515600" cy="43512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Char char="•"/>
            </a:pPr>
            <a:r>
              <a:rPr lang="en-US" sz="2400"/>
              <a:t>A Bayesian Network Classifier is a Bayesian Network in which one variable is designated as the class variable, and others are features (or attributes).</a:t>
            </a:r>
            <a:endParaRPr sz="2400"/>
          </a:p>
          <a:p>
            <a:pPr indent="-381000" lvl="0" marL="457200" rtl="0" algn="l">
              <a:spcBef>
                <a:spcPts val="0"/>
              </a:spcBef>
              <a:spcAft>
                <a:spcPts val="0"/>
              </a:spcAft>
              <a:buSzPts val="2400"/>
              <a:buFont typeface="Calibri"/>
              <a:buChar char="•"/>
            </a:pPr>
            <a:r>
              <a:rPr lang="en-US" sz="2400"/>
              <a:t>Instead of assuming independence (like Naïve Bayes),</a:t>
            </a:r>
            <a:endParaRPr sz="2400"/>
          </a:p>
          <a:p>
            <a:pPr indent="-381000" lvl="0" marL="457200" rtl="0" algn="l">
              <a:spcBef>
                <a:spcPts val="0"/>
              </a:spcBef>
              <a:spcAft>
                <a:spcPts val="0"/>
              </a:spcAft>
              <a:buSzPts val="2400"/>
              <a:buChar char="•"/>
            </a:pPr>
            <a:r>
              <a:rPr lang="en-US" sz="2400"/>
              <a:t>we allow dependencies among features</a:t>
            </a:r>
            <a:endParaRPr sz="2400"/>
          </a:p>
          <a:p>
            <a:pPr indent="-381000" lvl="1" marL="914400" rtl="0" algn="l">
              <a:spcBef>
                <a:spcPts val="0"/>
              </a:spcBef>
              <a:spcAft>
                <a:spcPts val="0"/>
              </a:spcAft>
              <a:buSzPts val="2400"/>
              <a:buChar char="•"/>
            </a:pPr>
            <a:r>
              <a:rPr lang="en-US" sz="2400"/>
              <a:t>as long as they are captured by the DAG.</a:t>
            </a:r>
            <a:endParaRPr sz="2400"/>
          </a:p>
          <a:p>
            <a:pPr indent="-342900" lvl="0" marL="457200" rtl="0" algn="l">
              <a:spcBef>
                <a:spcPts val="0"/>
              </a:spcBef>
              <a:spcAft>
                <a:spcPts val="0"/>
              </a:spcAft>
              <a:buSzPts val="1800"/>
              <a:buChar char="•"/>
            </a:pPr>
            <a:r>
              <a:rPr lang="en-US"/>
              <a:t>Example</a:t>
            </a:r>
            <a:endParaRPr/>
          </a:p>
          <a:p>
            <a:pPr indent="-381000" lvl="1" marL="914400" rtl="0" algn="l">
              <a:spcBef>
                <a:spcPts val="0"/>
              </a:spcBef>
              <a:spcAft>
                <a:spcPts val="0"/>
              </a:spcAft>
              <a:buSzPts val="2400"/>
              <a:buChar char="•"/>
            </a:pPr>
            <a:r>
              <a:rPr lang="en-US"/>
              <a:t>Weather and Playing Tennis” Classifier</a:t>
            </a:r>
            <a:endParaRPr/>
          </a:p>
          <a:p>
            <a:pPr indent="-381000" lvl="1" marL="914400" rtl="0" algn="l">
              <a:spcBef>
                <a:spcPts val="0"/>
              </a:spcBef>
              <a:spcAft>
                <a:spcPts val="0"/>
              </a:spcAft>
              <a:buSzPts val="2400"/>
              <a:buChar char="•"/>
            </a:pPr>
            <a:r>
              <a:rPr lang="en-US"/>
              <a:t>Let’s predict whether a person will play tennis (Yes/No) based on Weather, Temperature, and Humidity.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2f70455b0_0_47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400"/>
              </a:spcBef>
              <a:spcAft>
                <a:spcPts val="400"/>
              </a:spcAft>
              <a:buNone/>
            </a:pPr>
            <a:r>
              <a:rPr lang="en-US" sz="2400"/>
              <a:t>Step 1: Variables</a:t>
            </a:r>
            <a:endParaRPr/>
          </a:p>
        </p:txBody>
      </p:sp>
      <p:sp>
        <p:nvSpPr>
          <p:cNvPr id="753" name="Google Shape;753;g3a2f70455b0_0_47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55600" lvl="0" marL="457200" rtl="0" algn="l">
              <a:lnSpc>
                <a:spcPct val="115000"/>
              </a:lnSpc>
              <a:spcBef>
                <a:spcPts val="1200"/>
              </a:spcBef>
              <a:spcAft>
                <a:spcPts val="0"/>
              </a:spcAft>
              <a:buSzPts val="2000"/>
              <a:buFont typeface="Calibri"/>
              <a:buChar char="●"/>
            </a:pPr>
            <a:r>
              <a:rPr lang="en-US" sz="2000"/>
              <a:t>C: PlayTennis (Yes/No) — </a:t>
            </a:r>
            <a:r>
              <a:rPr i="1" lang="en-US" sz="2000"/>
              <a:t>class variable</a:t>
            </a:r>
            <a:br>
              <a:rPr i="1" lang="en-US" sz="2000"/>
            </a:br>
            <a:endParaRPr i="1" sz="2000"/>
          </a:p>
          <a:p>
            <a:pPr indent="-355600" lvl="0" marL="457200" rtl="0" algn="l">
              <a:lnSpc>
                <a:spcPct val="115000"/>
              </a:lnSpc>
              <a:spcBef>
                <a:spcPts val="0"/>
              </a:spcBef>
              <a:spcAft>
                <a:spcPts val="0"/>
              </a:spcAft>
              <a:buSzPts val="2000"/>
              <a:buFont typeface="Calibri"/>
              <a:buChar char="●"/>
            </a:pPr>
            <a:r>
              <a:rPr lang="en-US" sz="2000"/>
              <a:t>W: Weather (Sunny, Rainy)</a:t>
            </a:r>
            <a:br>
              <a:rPr lang="en-US" sz="2000"/>
            </a:br>
            <a:endParaRPr sz="2000"/>
          </a:p>
          <a:p>
            <a:pPr indent="-355600" lvl="0" marL="457200" rtl="0" algn="l">
              <a:lnSpc>
                <a:spcPct val="115000"/>
              </a:lnSpc>
              <a:spcBef>
                <a:spcPts val="0"/>
              </a:spcBef>
              <a:spcAft>
                <a:spcPts val="0"/>
              </a:spcAft>
              <a:buSzPts val="2000"/>
              <a:buFont typeface="Calibri"/>
              <a:buChar char="●"/>
            </a:pPr>
            <a:r>
              <a:rPr lang="en-US" sz="2000"/>
              <a:t>H: Humidity (High, Normal)</a:t>
            </a:r>
            <a:br>
              <a:rPr lang="en-US" sz="2000"/>
            </a:br>
            <a:endParaRPr sz="2000"/>
          </a:p>
          <a:p>
            <a:pPr indent="-298450" lvl="0" marL="457200" rtl="0" algn="l">
              <a:lnSpc>
                <a:spcPct val="115000"/>
              </a:lnSpc>
              <a:spcBef>
                <a:spcPts val="0"/>
              </a:spcBef>
              <a:spcAft>
                <a:spcPts val="0"/>
              </a:spcAft>
              <a:buSzPts val="1100"/>
              <a:buFont typeface="Calibri"/>
              <a:buChar char="●"/>
            </a:pPr>
            <a:r>
              <a:rPr lang="en-US" sz="2000"/>
              <a:t>T: Temperature (Hot, Mild, Cool)</a:t>
            </a:r>
            <a:br>
              <a:rPr lang="en-US" sz="1100"/>
            </a:br>
            <a:endParaRPr sz="1100"/>
          </a:p>
          <a:p>
            <a:pPr indent="0" lvl="0" marL="457200" rtl="0" algn="l">
              <a:spcBef>
                <a:spcPts val="1200"/>
              </a:spcBef>
              <a:spcAft>
                <a:spcPts val="0"/>
              </a:spcAft>
              <a:buNone/>
            </a:pPr>
            <a:r>
              <a:t/>
            </a:r>
            <a:endParaRPr sz="24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2f70455b0_0_48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US" sz="2400"/>
              <a:t>Step 2: Define Dependencies</a:t>
            </a:r>
            <a:endParaRPr/>
          </a:p>
        </p:txBody>
      </p:sp>
      <p:sp>
        <p:nvSpPr>
          <p:cNvPr id="759" name="Google Shape;759;g3a2f70455b0_0_48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Suppose from experience we know:</a:t>
            </a:r>
            <a:endParaRPr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The </a:t>
            </a:r>
            <a:r>
              <a:rPr b="1" lang="en-US" sz="2000">
                <a:latin typeface="Arial"/>
                <a:ea typeface="Arial"/>
                <a:cs typeface="Arial"/>
                <a:sym typeface="Arial"/>
              </a:rPr>
              <a:t>weather</a:t>
            </a:r>
            <a:r>
              <a:rPr lang="en-US" sz="2000">
                <a:latin typeface="Arial"/>
                <a:ea typeface="Arial"/>
                <a:cs typeface="Arial"/>
                <a:sym typeface="Arial"/>
              </a:rPr>
              <a:t> affects </a:t>
            </a:r>
            <a:r>
              <a:rPr b="1" lang="en-US" sz="2000">
                <a:latin typeface="Arial"/>
                <a:ea typeface="Arial"/>
                <a:cs typeface="Arial"/>
                <a:sym typeface="Arial"/>
              </a:rPr>
              <a:t>humidity</a:t>
            </a:r>
            <a:r>
              <a:rPr lang="en-US" sz="2000">
                <a:latin typeface="Arial"/>
                <a:ea typeface="Arial"/>
                <a:cs typeface="Arial"/>
                <a:sym typeface="Arial"/>
              </a:rPr>
              <a:t>.</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The </a:t>
            </a:r>
            <a:r>
              <a:rPr b="1" lang="en-US" sz="2000">
                <a:latin typeface="Arial"/>
                <a:ea typeface="Arial"/>
                <a:cs typeface="Arial"/>
                <a:sym typeface="Arial"/>
              </a:rPr>
              <a:t>temperature</a:t>
            </a:r>
            <a:r>
              <a:rPr lang="en-US" sz="2000">
                <a:latin typeface="Arial"/>
                <a:ea typeface="Arial"/>
                <a:cs typeface="Arial"/>
                <a:sym typeface="Arial"/>
              </a:rPr>
              <a:t> depends on </a:t>
            </a:r>
            <a:r>
              <a:rPr b="1" lang="en-US" sz="2000">
                <a:latin typeface="Arial"/>
                <a:ea typeface="Arial"/>
                <a:cs typeface="Arial"/>
                <a:sym typeface="Arial"/>
              </a:rPr>
              <a:t>weather</a:t>
            </a:r>
            <a:r>
              <a:rPr lang="en-US" sz="2000">
                <a:latin typeface="Arial"/>
                <a:ea typeface="Arial"/>
                <a:cs typeface="Arial"/>
                <a:sym typeface="Arial"/>
              </a:rPr>
              <a:t>.</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The decision to </a:t>
            </a:r>
            <a:r>
              <a:rPr b="1" lang="en-US" sz="2000">
                <a:latin typeface="Arial"/>
                <a:ea typeface="Arial"/>
                <a:cs typeface="Arial"/>
                <a:sym typeface="Arial"/>
              </a:rPr>
              <a:t>play tennis</a:t>
            </a:r>
            <a:r>
              <a:rPr lang="en-US" sz="2000">
                <a:latin typeface="Arial"/>
                <a:ea typeface="Arial"/>
                <a:cs typeface="Arial"/>
                <a:sym typeface="Arial"/>
              </a:rPr>
              <a:t> depends on </a:t>
            </a:r>
            <a:r>
              <a:rPr b="1" lang="en-US" sz="2000">
                <a:latin typeface="Arial"/>
                <a:ea typeface="Arial"/>
                <a:cs typeface="Arial"/>
                <a:sym typeface="Arial"/>
              </a:rPr>
              <a:t>humidity</a:t>
            </a:r>
            <a:r>
              <a:rPr lang="en-US" sz="2000">
                <a:latin typeface="Arial"/>
                <a:ea typeface="Arial"/>
                <a:cs typeface="Arial"/>
                <a:sym typeface="Arial"/>
              </a:rPr>
              <a:t> and </a:t>
            </a:r>
            <a:r>
              <a:rPr b="1" lang="en-US" sz="2000">
                <a:latin typeface="Arial"/>
                <a:ea typeface="Arial"/>
                <a:cs typeface="Arial"/>
                <a:sym typeface="Arial"/>
              </a:rPr>
              <a:t>temperature</a:t>
            </a: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We can represent this as a DAG:</a:t>
            </a:r>
            <a:endParaRPr sz="2000">
              <a:latin typeface="Arial"/>
              <a:ea typeface="Arial"/>
              <a:cs typeface="Arial"/>
              <a:sym typeface="Arial"/>
            </a:endParaRPr>
          </a:p>
          <a:p>
            <a:pPr indent="0" lvl="0" marL="0" rtl="0" algn="l">
              <a:spcBef>
                <a:spcPts val="1200"/>
              </a:spcBef>
              <a:spcAft>
                <a:spcPts val="0"/>
              </a:spcAft>
              <a:buNone/>
            </a:pPr>
            <a:r>
              <a:t/>
            </a:r>
            <a:endParaRPr/>
          </a:p>
        </p:txBody>
      </p:sp>
      <p:pic>
        <p:nvPicPr>
          <p:cNvPr id="760" name="Google Shape;760;g3a2f70455b0_0_485"/>
          <p:cNvPicPr preferRelativeResize="0"/>
          <p:nvPr/>
        </p:nvPicPr>
        <p:blipFill>
          <a:blip r:embed="rId3">
            <a:alphaModFix/>
          </a:blip>
          <a:stretch>
            <a:fillRect/>
          </a:stretch>
        </p:blipFill>
        <p:spPr>
          <a:xfrm>
            <a:off x="4641763" y="4976050"/>
            <a:ext cx="2581275" cy="8191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2f70455b0_0_49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Step 3: Joint Probability Factorization</a:t>
            </a:r>
            <a:endParaRPr/>
          </a:p>
        </p:txBody>
      </p:sp>
      <p:sp>
        <p:nvSpPr>
          <p:cNvPr id="766" name="Google Shape;766;g3a2f70455b0_0_49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a:t>Based on the DAG, the joint probability is:</a:t>
            </a:r>
            <a:endParaRPr/>
          </a:p>
          <a:p>
            <a:pPr indent="0" lvl="0" marL="0" rtl="0" algn="l">
              <a:spcBef>
                <a:spcPts val="1200"/>
              </a:spcBef>
              <a:spcAft>
                <a:spcPts val="0"/>
              </a:spcAft>
              <a:buNone/>
            </a:pPr>
            <a:r>
              <a:rPr lang="en-US"/>
              <a:t>P(W,H,T,C)=P(W) P(H∣W) P(T∣W) P(C∣H,T)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2f70455b0_0_49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Step 4: How Classification Works</a:t>
            </a:r>
            <a:endParaRPr/>
          </a:p>
        </p:txBody>
      </p:sp>
      <p:sp>
        <p:nvSpPr>
          <p:cNvPr id="772" name="Google Shape;772;g3a2f70455b0_0_49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a:t>When we get new data (e.g., Weather = Sunny, Humidity = High, Temperature = Hot),</a:t>
            </a:r>
            <a:br>
              <a:rPr lang="en-US"/>
            </a:br>
            <a:r>
              <a:rPr lang="en-US"/>
              <a:t> we compute the posterior probability of each class (Play = Yes or No):</a:t>
            </a:r>
            <a:endParaRPr/>
          </a:p>
          <a:p>
            <a:pPr indent="0" lvl="0" marL="0" rtl="0" algn="l">
              <a:lnSpc>
                <a:spcPct val="115000"/>
              </a:lnSpc>
              <a:spcBef>
                <a:spcPts val="1200"/>
              </a:spcBef>
              <a:spcAft>
                <a:spcPts val="0"/>
              </a:spcAft>
              <a:buClr>
                <a:schemeClr val="dk1"/>
              </a:buClr>
              <a:buSzPts val="1100"/>
              <a:buFont typeface="Arial"/>
              <a:buNone/>
            </a:pPr>
            <a:r>
              <a:rPr lang="en-US"/>
              <a:t>P(C=Yes∣W,H,T)∝P(W) P(H∣W) P(T∣W) P(C=Yes∣H,T) and similarly for C=No</a:t>
            </a:r>
            <a:endParaRPr/>
          </a:p>
          <a:p>
            <a:pPr indent="0" lvl="0" marL="0" rtl="0" algn="l">
              <a:lnSpc>
                <a:spcPct val="115000"/>
              </a:lnSpc>
              <a:spcBef>
                <a:spcPts val="1200"/>
              </a:spcBef>
              <a:spcAft>
                <a:spcPts val="0"/>
              </a:spcAft>
              <a:buClr>
                <a:schemeClr val="dk1"/>
              </a:buClr>
              <a:buSzPts val="1100"/>
              <a:buFont typeface="Arial"/>
              <a:buNone/>
            </a:pPr>
            <a:r>
              <a:rPr lang="en-US"/>
              <a:t>Then choose the class with the higher posterior probability.</a:t>
            </a:r>
            <a:endParaRPr/>
          </a:p>
          <a:p>
            <a:pPr indent="0" lvl="0" marL="0" rtl="0" algn="l">
              <a:spcBef>
                <a:spcPts val="120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2f70455b0_0_50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Step 5: Sample Numbers (for illustration)</a:t>
            </a:r>
            <a:endParaRPr/>
          </a:p>
        </p:txBody>
      </p:sp>
      <p:sp>
        <p:nvSpPr>
          <p:cNvPr id="778" name="Google Shape;778;g3a2f70455b0_0_50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P(W=Sunny)=0.6,                                       P(W=Rainy)=0.4</a:t>
            </a:r>
            <a:endParaRPr/>
          </a:p>
          <a:p>
            <a:pPr indent="0" lvl="0" marL="0" rtl="0" algn="l">
              <a:spcBef>
                <a:spcPts val="1000"/>
              </a:spcBef>
              <a:spcAft>
                <a:spcPts val="0"/>
              </a:spcAft>
              <a:buNone/>
            </a:pPr>
            <a:r>
              <a:rPr lang="en-US"/>
              <a:t>P(H=High∣W=Sunny)=0.7,                         P(H=High∣W=Rainy)=0.2</a:t>
            </a:r>
            <a:endParaRPr/>
          </a:p>
          <a:p>
            <a:pPr indent="0" lvl="0" marL="0" rtl="0" algn="l">
              <a:spcBef>
                <a:spcPts val="1000"/>
              </a:spcBef>
              <a:spcAft>
                <a:spcPts val="0"/>
              </a:spcAft>
              <a:buNone/>
            </a:pPr>
            <a:r>
              <a:rPr lang="en-US"/>
              <a:t>P(T=Hot∣W=Sunny)=0.8,                           </a:t>
            </a:r>
            <a:r>
              <a:rPr lang="en-US"/>
              <a:t>P(T=Hot∣W=</a:t>
            </a:r>
            <a:r>
              <a:rPr lang="en-US"/>
              <a:t>Rainy)=0.3</a:t>
            </a:r>
            <a:endParaRPr/>
          </a:p>
          <a:p>
            <a:pPr indent="0" lvl="0" marL="0" rtl="0" algn="l">
              <a:spcBef>
                <a:spcPts val="1000"/>
              </a:spcBef>
              <a:spcAft>
                <a:spcPts val="0"/>
              </a:spcAft>
              <a:buNone/>
            </a:pPr>
            <a:r>
              <a:rPr lang="en-US"/>
              <a:t>P(C=Yes∣H=High,T=Hot)=0.1,                    P(C=No∣H=High,T=Hot)=0.9</a:t>
            </a:r>
            <a:endParaRPr/>
          </a:p>
          <a:p>
            <a:pPr indent="0" lvl="0" marL="0" rtl="0" algn="l">
              <a:spcBef>
                <a:spcPts val="1000"/>
              </a:spcBef>
              <a:spcAft>
                <a:spcPts val="0"/>
              </a:spcAft>
              <a:buNone/>
            </a:pPr>
            <a:r>
              <a:rPr b="1" lang="en-US"/>
              <a:t>If Weather = Sunny, Humidity = High, Temperature = Hot, </a:t>
            </a:r>
            <a:r>
              <a:rPr lang="en-US"/>
              <a:t>then:</a:t>
            </a:r>
            <a:endParaRPr/>
          </a:p>
          <a:p>
            <a:pPr indent="0" lvl="0" marL="0" rtl="0" algn="l">
              <a:spcBef>
                <a:spcPts val="1000"/>
              </a:spcBef>
              <a:spcAft>
                <a:spcPts val="0"/>
              </a:spcAft>
              <a:buNone/>
            </a:pPr>
            <a:r>
              <a:rPr lang="en-US"/>
              <a:t>P(C=Yes)∝(0.6)(0.7)(0.8)(0.1)=0.0336</a:t>
            </a:r>
            <a:endParaRPr/>
          </a:p>
          <a:p>
            <a:pPr indent="0" lvl="0" marL="0" rtl="0" algn="l">
              <a:spcBef>
                <a:spcPts val="1000"/>
              </a:spcBef>
              <a:spcAft>
                <a:spcPts val="0"/>
              </a:spcAft>
              <a:buNone/>
            </a:pPr>
            <a:r>
              <a:rPr lang="en-US"/>
              <a:t>P(C=No)∝(0.6)(0.7)(0.8)(0.9)=0.3024</a:t>
            </a:r>
            <a:endParaRPr/>
          </a:p>
          <a:p>
            <a:pPr indent="0" lvl="0" marL="0" rtl="0" algn="l">
              <a:spcBef>
                <a:spcPts val="1000"/>
              </a:spcBef>
              <a:spcAft>
                <a:spcPts val="0"/>
              </a:spcAft>
              <a:buNone/>
            </a:pPr>
            <a:r>
              <a:rPr lang="en-US" sz="2400">
                <a:latin typeface="Arial"/>
                <a:ea typeface="Arial"/>
                <a:cs typeface="Arial"/>
                <a:sym typeface="Arial"/>
              </a:rPr>
              <a:t>So the model predicts </a:t>
            </a:r>
            <a:r>
              <a:rPr b="1" lang="en-US" sz="2400">
                <a:latin typeface="Arial"/>
                <a:ea typeface="Arial"/>
                <a:cs typeface="Arial"/>
                <a:sym typeface="Arial"/>
              </a:rPr>
              <a:t>PlayTennis = No</a:t>
            </a: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Importing the libraries</a:t>
            </a:r>
            <a:br>
              <a:rPr b="0" i="0" lang="en-US">
                <a:solidFill>
                  <a:srgbClr val="212121"/>
                </a:solidFill>
                <a:latin typeface="Roboto"/>
                <a:ea typeface="Roboto"/>
                <a:cs typeface="Roboto"/>
                <a:sym typeface="Roboto"/>
              </a:rPr>
            </a:br>
            <a:endParaRPr/>
          </a:p>
        </p:txBody>
      </p:sp>
      <p:sp>
        <p:nvSpPr>
          <p:cNvPr id="784" name="Google Shape;784;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numpy </a:t>
            </a:r>
            <a:r>
              <a:rPr b="0" lang="en-US">
                <a:solidFill>
                  <a:srgbClr val="AF00DB"/>
                </a:solidFill>
                <a:latin typeface="Courier New"/>
                <a:ea typeface="Courier New"/>
                <a:cs typeface="Courier New"/>
                <a:sym typeface="Courier New"/>
              </a:rPr>
              <a:t>as</a:t>
            </a:r>
            <a:r>
              <a:rPr b="0" lang="en-US">
                <a:solidFill>
                  <a:srgbClr val="000000"/>
                </a:solidFill>
                <a:latin typeface="Courier New"/>
                <a:ea typeface="Courier New"/>
                <a:cs typeface="Courier New"/>
                <a:sym typeface="Courier New"/>
              </a:rPr>
              <a:t> np</a:t>
            </a:r>
            <a:endParaRPr/>
          </a:p>
          <a:p>
            <a:pPr indent="-228600" lvl="0" marL="228600" rtl="0" algn="l">
              <a:lnSpc>
                <a:spcPct val="90000"/>
              </a:lnSpc>
              <a:spcBef>
                <a:spcPts val="1000"/>
              </a:spcBef>
              <a:spcAft>
                <a:spcPts val="0"/>
              </a:spcAft>
              <a:buClr>
                <a:srgbClr val="AF00DB"/>
              </a:buClr>
              <a:buSzPts val="2800"/>
              <a:buChar char="•"/>
            </a:pP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matplotlib.pyplot </a:t>
            </a:r>
            <a:r>
              <a:rPr b="0" lang="en-US">
                <a:solidFill>
                  <a:srgbClr val="AF00DB"/>
                </a:solidFill>
                <a:latin typeface="Courier New"/>
                <a:ea typeface="Courier New"/>
                <a:cs typeface="Courier New"/>
                <a:sym typeface="Courier New"/>
              </a:rPr>
              <a:t>as</a:t>
            </a:r>
            <a:r>
              <a:rPr b="0" lang="en-US">
                <a:solidFill>
                  <a:srgbClr val="000000"/>
                </a:solidFill>
                <a:latin typeface="Courier New"/>
                <a:ea typeface="Courier New"/>
                <a:cs typeface="Courier New"/>
                <a:sym typeface="Courier New"/>
              </a:rPr>
              <a:t> plt</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AF00DB"/>
              </a:buClr>
              <a:buSzPts val="2800"/>
              <a:buChar char="•"/>
            </a:pP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pandas </a:t>
            </a:r>
            <a:r>
              <a:rPr b="0" lang="en-US">
                <a:solidFill>
                  <a:srgbClr val="AF00DB"/>
                </a:solidFill>
                <a:latin typeface="Courier New"/>
                <a:ea typeface="Courier New"/>
                <a:cs typeface="Courier New"/>
                <a:sym typeface="Courier New"/>
              </a:rPr>
              <a:t>as</a:t>
            </a:r>
            <a:r>
              <a:rPr b="0" lang="en-US">
                <a:solidFill>
                  <a:srgbClr val="000000"/>
                </a:solidFill>
                <a:latin typeface="Courier New"/>
                <a:ea typeface="Courier New"/>
                <a:cs typeface="Courier New"/>
                <a:sym typeface="Courier New"/>
              </a:rPr>
              <a:t> pd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Importing the dataset</a:t>
            </a:r>
            <a:br>
              <a:rPr lang="en-US"/>
            </a:br>
            <a:endParaRPr/>
          </a:p>
        </p:txBody>
      </p:sp>
      <p:sp>
        <p:nvSpPr>
          <p:cNvPr id="790" name="Google Shape;790;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dataset = pd.read_csv('Social_Network_Ads.csv’)</a:t>
            </a:r>
            <a:endParaRPr/>
          </a:p>
          <a:p>
            <a:pPr indent="0" lvl="0" marL="0" rtl="0" algn="l">
              <a:lnSpc>
                <a:spcPct val="90000"/>
              </a:lnSpc>
              <a:spcBef>
                <a:spcPts val="1000"/>
              </a:spcBef>
              <a:spcAft>
                <a:spcPts val="0"/>
              </a:spcAft>
              <a:buClr>
                <a:schemeClr val="dk1"/>
              </a:buClr>
              <a:buSzPts val="2800"/>
              <a:buNone/>
            </a:pPr>
            <a:r>
              <a:rPr lang="en-US"/>
              <a:t>x = dataset.iloc[:, :-1].values</a:t>
            </a:r>
            <a:endParaRPr/>
          </a:p>
          <a:p>
            <a:pPr indent="0" lvl="0" marL="0" rtl="0" algn="l">
              <a:lnSpc>
                <a:spcPct val="90000"/>
              </a:lnSpc>
              <a:spcBef>
                <a:spcPts val="1000"/>
              </a:spcBef>
              <a:spcAft>
                <a:spcPts val="0"/>
              </a:spcAft>
              <a:buClr>
                <a:schemeClr val="dk1"/>
              </a:buClr>
              <a:buSzPts val="2800"/>
              <a:buNone/>
            </a:pPr>
            <a:r>
              <a:rPr lang="en-US"/>
              <a:t>y = dataset.iloc[:, -1].values</a:t>
            </a:r>
            <a:endParaRPr/>
          </a:p>
          <a:p>
            <a:pPr indent="0" lvl="0" marL="0" rtl="0" algn="l">
              <a:lnSpc>
                <a:spcPct val="90000"/>
              </a:lnSpc>
              <a:spcBef>
                <a:spcPts val="1000"/>
              </a:spcBef>
              <a:spcAft>
                <a:spcPts val="0"/>
              </a:spcAft>
              <a:buClr>
                <a:schemeClr val="dk1"/>
              </a:buClr>
              <a:buSzPts val="2800"/>
              <a:buNone/>
            </a:pPr>
            <a:r>
              <a:t/>
            </a:r>
            <a:endParaRPr/>
          </a:p>
        </p:txBody>
      </p:sp>
      <p:sp>
        <p:nvSpPr>
          <p:cNvPr id="791" name="Google Shape;791;p60"/>
          <p:cNvSpPr/>
          <p:nvPr/>
        </p:nvSpPr>
        <p:spPr>
          <a:xfrm>
            <a:off x="5745480" y="2391311"/>
            <a:ext cx="614172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Age	EstimatedSalary	Purchased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19		19000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35		20000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26		43000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27		57000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19		76000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27		58000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27		84000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32		150000		1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25		33000			0	</a:t>
            </a:r>
            <a:endParaRPr/>
          </a:p>
        </p:txBody>
      </p:sp>
      <p:sp>
        <p:nvSpPr>
          <p:cNvPr id="792" name="Google Shape;792;p60"/>
          <p:cNvSpPr txBox="1"/>
          <p:nvPr/>
        </p:nvSpPr>
        <p:spPr>
          <a:xfrm>
            <a:off x="6598920" y="6176963"/>
            <a:ext cx="33832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Total- 1000 entries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Splitting the dataset into the Training set and Test set</a:t>
            </a:r>
            <a:endParaRPr/>
          </a:p>
        </p:txBody>
      </p:sp>
      <p:sp>
        <p:nvSpPr>
          <p:cNvPr id="798" name="Google Shape;798;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US">
                <a:solidFill>
                  <a:srgbClr val="AF00DB"/>
                </a:solidFill>
                <a:latin typeface="Courier New"/>
                <a:ea typeface="Courier New"/>
                <a:cs typeface="Courier New"/>
                <a:sym typeface="Courier New"/>
              </a:rPr>
              <a:t>from</a:t>
            </a:r>
            <a:r>
              <a:rPr b="0" lang="en-US">
                <a:solidFill>
                  <a:srgbClr val="000000"/>
                </a:solidFill>
                <a:latin typeface="Courier New"/>
                <a:ea typeface="Courier New"/>
                <a:cs typeface="Courier New"/>
                <a:sym typeface="Courier New"/>
              </a:rPr>
              <a:t> sklearn.model_selection </a:t>
            </a: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train_test_split</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X_train, X_test, y_train, y_test = train_test_split(X, y, test_size = </a:t>
            </a:r>
            <a:r>
              <a:rPr b="0" lang="en-US">
                <a:solidFill>
                  <a:srgbClr val="09885A"/>
                </a:solidFill>
                <a:latin typeface="Courier New"/>
                <a:ea typeface="Courier New"/>
                <a:cs typeface="Courier New"/>
                <a:sym typeface="Courier New"/>
              </a:rPr>
              <a:t>0.25</a:t>
            </a:r>
            <a:r>
              <a:rPr b="0" lang="en-US">
                <a:solidFill>
                  <a:srgbClr val="000000"/>
                </a:solidFill>
                <a:latin typeface="Courier New"/>
                <a:ea typeface="Courier New"/>
                <a:cs typeface="Courier New"/>
                <a:sym typeface="Courier New"/>
              </a:rPr>
              <a:t>, random_state =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Feature Scaling</a:t>
            </a:r>
            <a:endParaRPr/>
          </a:p>
        </p:txBody>
      </p:sp>
      <p:sp>
        <p:nvSpPr>
          <p:cNvPr id="804" name="Google Shape;804;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US">
                <a:solidFill>
                  <a:srgbClr val="AF00DB"/>
                </a:solidFill>
                <a:latin typeface="Courier New"/>
                <a:ea typeface="Courier New"/>
                <a:cs typeface="Courier New"/>
                <a:sym typeface="Courier New"/>
              </a:rPr>
              <a:t>from</a:t>
            </a:r>
            <a:r>
              <a:rPr b="0" lang="en-US">
                <a:solidFill>
                  <a:srgbClr val="000000"/>
                </a:solidFill>
                <a:latin typeface="Courier New"/>
                <a:ea typeface="Courier New"/>
                <a:cs typeface="Courier New"/>
                <a:sym typeface="Courier New"/>
              </a:rPr>
              <a:t> sklearn.preprocessing </a:t>
            </a: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StandardScaler</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sc = StandardScaler()</a:t>
            </a:r>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X_train = sc.fit_transform(X_train)</a:t>
            </a:r>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X_test = sc.transform(X_test)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Training the Naive Bayes model on the Training set</a:t>
            </a:r>
            <a:endParaRPr/>
          </a:p>
        </p:txBody>
      </p:sp>
      <p:sp>
        <p:nvSpPr>
          <p:cNvPr id="810" name="Google Shape;810;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US">
                <a:solidFill>
                  <a:srgbClr val="AF00DB"/>
                </a:solidFill>
                <a:latin typeface="Courier New"/>
                <a:ea typeface="Courier New"/>
                <a:cs typeface="Courier New"/>
                <a:sym typeface="Courier New"/>
              </a:rPr>
              <a:t>from</a:t>
            </a:r>
            <a:r>
              <a:rPr b="0" lang="en-US">
                <a:solidFill>
                  <a:srgbClr val="000000"/>
                </a:solidFill>
                <a:latin typeface="Courier New"/>
                <a:ea typeface="Courier New"/>
                <a:cs typeface="Courier New"/>
                <a:sym typeface="Courier New"/>
              </a:rPr>
              <a:t> sklearn.naive_bayes </a:t>
            </a: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GaussianNB</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classifier = GaussianNB()</a:t>
            </a:r>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classifier.fit(X_train, y_train)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Arial"/>
              <a:buNone/>
            </a:pPr>
            <a:r>
              <a:rPr b="0" i="0" lang="en-US">
                <a:solidFill>
                  <a:srgbClr val="212121"/>
                </a:solidFill>
                <a:latin typeface="Arial"/>
                <a:ea typeface="Arial"/>
                <a:cs typeface="Arial"/>
                <a:sym typeface="Arial"/>
              </a:rPr>
              <a:t>Predicting the Test set results</a:t>
            </a:r>
            <a:endParaRPr/>
          </a:p>
        </p:txBody>
      </p:sp>
      <p:sp>
        <p:nvSpPr>
          <p:cNvPr id="816" name="Google Shape;816;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0" lang="en-US">
                <a:solidFill>
                  <a:srgbClr val="000000"/>
                </a:solidFill>
                <a:latin typeface="Courier New"/>
                <a:ea typeface="Courier New"/>
                <a:cs typeface="Courier New"/>
                <a:sym typeface="Courier New"/>
              </a:rPr>
              <a:t>y_pred = classifier.predict(X_test)</a:t>
            </a:r>
            <a:endParaRPr/>
          </a:p>
          <a:p>
            <a:pPr indent="-228600" lvl="0" marL="228600" rtl="0" algn="l">
              <a:lnSpc>
                <a:spcPct val="90000"/>
              </a:lnSpc>
              <a:spcBef>
                <a:spcPts val="1000"/>
              </a:spcBef>
              <a:spcAft>
                <a:spcPts val="0"/>
              </a:spcAft>
              <a:buClr>
                <a:srgbClr val="795E26"/>
              </a:buClr>
              <a:buSzPts val="2800"/>
              <a:buChar char="•"/>
            </a:pPr>
            <a:r>
              <a:rPr b="0" lang="en-US">
                <a:solidFill>
                  <a:srgbClr val="795E26"/>
                </a:solidFill>
                <a:latin typeface="Courier New"/>
                <a:ea typeface="Courier New"/>
                <a:cs typeface="Courier New"/>
                <a:sym typeface="Courier New"/>
              </a:rPr>
              <a:t>print</a:t>
            </a:r>
            <a:r>
              <a:rPr b="0" lang="en-US">
                <a:solidFill>
                  <a:srgbClr val="000000"/>
                </a:solidFill>
                <a:latin typeface="Courier New"/>
                <a:ea typeface="Courier New"/>
                <a:cs typeface="Courier New"/>
                <a:sym typeface="Courier New"/>
              </a:rPr>
              <a:t>(np.concatenate((y_pred.reshape(</a:t>
            </a:r>
            <a:r>
              <a:rPr b="0" lang="en-US">
                <a:solidFill>
                  <a:srgbClr val="795E26"/>
                </a:solidFill>
                <a:latin typeface="Courier New"/>
                <a:ea typeface="Courier New"/>
                <a:cs typeface="Courier New"/>
                <a:sym typeface="Courier New"/>
              </a:rPr>
              <a:t>len</a:t>
            </a:r>
            <a:r>
              <a:rPr b="0" lang="en-US">
                <a:solidFill>
                  <a:srgbClr val="000000"/>
                </a:solidFill>
                <a:latin typeface="Courier New"/>
                <a:ea typeface="Courier New"/>
                <a:cs typeface="Courier New"/>
                <a:sym typeface="Courier New"/>
              </a:rPr>
              <a:t>(y_pred),</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 y_test.reshape(</a:t>
            </a:r>
            <a:r>
              <a:rPr b="0" lang="en-US">
                <a:solidFill>
                  <a:srgbClr val="795E26"/>
                </a:solidFill>
                <a:latin typeface="Courier New"/>
                <a:ea typeface="Courier New"/>
                <a:cs typeface="Courier New"/>
                <a:sym typeface="Courier New"/>
              </a:rPr>
              <a:t>len</a:t>
            </a:r>
            <a:r>
              <a:rPr b="0" lang="en-US">
                <a:solidFill>
                  <a:srgbClr val="000000"/>
                </a:solidFill>
                <a:latin typeface="Courier New"/>
                <a:ea typeface="Courier New"/>
                <a:cs typeface="Courier New"/>
                <a:sym typeface="Courier New"/>
              </a:rPr>
              <a:t>(y_test),</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Making the Confusion Matrix</a:t>
            </a:r>
            <a:endParaRPr/>
          </a:p>
        </p:txBody>
      </p:sp>
      <p:sp>
        <p:nvSpPr>
          <p:cNvPr id="822" name="Google Shape;822;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AF00DB"/>
              </a:buClr>
              <a:buSzPts val="2800"/>
              <a:buChar char="•"/>
            </a:pPr>
            <a:r>
              <a:rPr b="0" lang="en-US">
                <a:solidFill>
                  <a:srgbClr val="AF00DB"/>
                </a:solidFill>
                <a:latin typeface="Courier New"/>
                <a:ea typeface="Courier New"/>
                <a:cs typeface="Courier New"/>
                <a:sym typeface="Courier New"/>
              </a:rPr>
              <a:t>from</a:t>
            </a:r>
            <a:r>
              <a:rPr b="0" lang="en-US">
                <a:solidFill>
                  <a:srgbClr val="000000"/>
                </a:solidFill>
                <a:latin typeface="Courier New"/>
                <a:ea typeface="Courier New"/>
                <a:cs typeface="Courier New"/>
                <a:sym typeface="Courier New"/>
              </a:rPr>
              <a:t> sklearn.metrics </a:t>
            </a: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confusion_matrix, accuracy_score</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cm = confusion_matrix(y_test, y_pred)</a:t>
            </a:r>
            <a:endParaRPr/>
          </a:p>
          <a:p>
            <a:pPr indent="-228600" lvl="0" marL="228600" rtl="0" algn="l">
              <a:lnSpc>
                <a:spcPct val="90000"/>
              </a:lnSpc>
              <a:spcBef>
                <a:spcPts val="1000"/>
              </a:spcBef>
              <a:spcAft>
                <a:spcPts val="0"/>
              </a:spcAft>
              <a:buClr>
                <a:srgbClr val="795E26"/>
              </a:buClr>
              <a:buSzPts val="2800"/>
              <a:buChar char="•"/>
            </a:pPr>
            <a:r>
              <a:rPr b="0" lang="en-US">
                <a:solidFill>
                  <a:srgbClr val="795E26"/>
                </a:solidFill>
                <a:latin typeface="Courier New"/>
                <a:ea typeface="Courier New"/>
                <a:cs typeface="Courier New"/>
                <a:sym typeface="Courier New"/>
              </a:rPr>
              <a:t>print</a:t>
            </a:r>
            <a:r>
              <a:rPr b="0" lang="en-US">
                <a:solidFill>
                  <a:srgbClr val="000000"/>
                </a:solidFill>
                <a:latin typeface="Courier New"/>
                <a:ea typeface="Courier New"/>
                <a:cs typeface="Courier New"/>
                <a:sym typeface="Courier New"/>
              </a:rPr>
              <a:t>(cm)</a:t>
            </a:r>
            <a:endParaRPr/>
          </a:p>
          <a:p>
            <a:pPr indent="-228600" lvl="0" marL="228600" rtl="0" algn="l">
              <a:lnSpc>
                <a:spcPct val="90000"/>
              </a:lnSpc>
              <a:spcBef>
                <a:spcPts val="1000"/>
              </a:spcBef>
              <a:spcAft>
                <a:spcPts val="0"/>
              </a:spcAft>
              <a:buClr>
                <a:srgbClr val="000000"/>
              </a:buClr>
              <a:buSzPts val="2800"/>
              <a:buChar char="•"/>
            </a:pPr>
            <a:r>
              <a:rPr b="0" lang="en-US">
                <a:solidFill>
                  <a:srgbClr val="000000"/>
                </a:solidFill>
                <a:latin typeface="Courier New"/>
                <a:ea typeface="Courier New"/>
                <a:cs typeface="Courier New"/>
                <a:sym typeface="Courier New"/>
              </a:rPr>
              <a:t>accuracy_score(y_test, y_pred)</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Output</a:t>
            </a:r>
            <a:endParaRPr/>
          </a:p>
          <a:p>
            <a:pPr indent="0" lvl="1" marL="457200" rtl="0" algn="l">
              <a:lnSpc>
                <a:spcPct val="90000"/>
              </a:lnSpc>
              <a:spcBef>
                <a:spcPts val="500"/>
              </a:spcBef>
              <a:spcAft>
                <a:spcPts val="0"/>
              </a:spcAft>
              <a:buClr>
                <a:schemeClr val="dk1"/>
              </a:buClr>
              <a:buSzPts val="2400"/>
              <a:buNone/>
            </a:pPr>
            <a:r>
              <a:rPr lang="en-US"/>
              <a:t>[[63	3]</a:t>
            </a:r>
            <a:endParaRPr/>
          </a:p>
          <a:p>
            <a:pPr indent="0" lvl="1" marL="457200" rtl="0" algn="l">
              <a:lnSpc>
                <a:spcPct val="90000"/>
              </a:lnSpc>
              <a:spcBef>
                <a:spcPts val="500"/>
              </a:spcBef>
              <a:spcAft>
                <a:spcPts val="0"/>
              </a:spcAft>
              <a:buClr>
                <a:schemeClr val="dk1"/>
              </a:buClr>
              <a:buSzPts val="2400"/>
              <a:buNone/>
            </a:pPr>
            <a:r>
              <a:rPr lang="en-US"/>
              <a:t>  [ 7          25]]</a:t>
            </a:r>
            <a:endParaRPr/>
          </a:p>
          <a:p>
            <a:pPr indent="0" lvl="1" marL="457200" rtl="0" algn="l">
              <a:lnSpc>
                <a:spcPct val="90000"/>
              </a:lnSpc>
              <a:spcBef>
                <a:spcPts val="500"/>
              </a:spcBef>
              <a:spcAft>
                <a:spcPts val="0"/>
              </a:spcAft>
              <a:buClr>
                <a:schemeClr val="dk1"/>
              </a:buClr>
              <a:buSzPts val="2400"/>
              <a:buNone/>
            </a:pPr>
            <a:r>
              <a:rPr lang="en-US"/>
              <a:t>0.9</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Visualising the Training set results</a:t>
            </a:r>
            <a:endParaRPr/>
          </a:p>
        </p:txBody>
      </p:sp>
      <p:sp>
        <p:nvSpPr>
          <p:cNvPr id="828" name="Google Shape;828;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90000"/>
              </a:lnSpc>
              <a:spcBef>
                <a:spcPts val="0"/>
              </a:spcBef>
              <a:spcAft>
                <a:spcPts val="0"/>
              </a:spcAft>
              <a:buClr>
                <a:srgbClr val="AF00DB"/>
              </a:buClr>
              <a:buSzPct val="100000"/>
              <a:buChar char="•"/>
            </a:pPr>
            <a:r>
              <a:rPr b="0" lang="en-US">
                <a:solidFill>
                  <a:srgbClr val="AF00DB"/>
                </a:solidFill>
                <a:latin typeface="Courier New"/>
                <a:ea typeface="Courier New"/>
                <a:cs typeface="Courier New"/>
                <a:sym typeface="Courier New"/>
              </a:rPr>
              <a:t>from</a:t>
            </a:r>
            <a:r>
              <a:rPr b="0" lang="en-US">
                <a:solidFill>
                  <a:srgbClr val="000000"/>
                </a:solidFill>
                <a:latin typeface="Courier New"/>
                <a:ea typeface="Courier New"/>
                <a:cs typeface="Courier New"/>
                <a:sym typeface="Courier New"/>
              </a:rPr>
              <a:t> matplotlib.colors </a:t>
            </a: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ListedColormap</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X_set, y_set = sc.inverse_transform(X_train), y_train</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X1, X2 = np.meshgrid(np.arange(start = X_set[:,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a:t>
            </a:r>
            <a:r>
              <a:rPr b="0" lang="en-US">
                <a:solidFill>
                  <a:srgbClr val="000000"/>
                </a:solidFill>
                <a:latin typeface="Courier New"/>
                <a:ea typeface="Courier New"/>
                <a:cs typeface="Courier New"/>
                <a:sym typeface="Courier New"/>
              </a:rPr>
              <a:t>, stop = X_set[:,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a:t>
            </a:r>
            <a:r>
              <a:rPr b="0" lang="en-US">
                <a:solidFill>
                  <a:srgbClr val="000000"/>
                </a:solidFill>
                <a:latin typeface="Courier New"/>
                <a:ea typeface="Courier New"/>
                <a:cs typeface="Courier New"/>
                <a:sym typeface="Courier New"/>
              </a:rPr>
              <a:t>, step = </a:t>
            </a:r>
            <a:r>
              <a:rPr b="0" lang="en-US">
                <a:solidFill>
                  <a:srgbClr val="09885A"/>
                </a:solidFill>
                <a:latin typeface="Courier New"/>
                <a:ea typeface="Courier New"/>
                <a:cs typeface="Courier New"/>
                <a:sym typeface="Courier New"/>
              </a:rPr>
              <a:t>0.25</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                     np.arange(start = X_set[:, </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1000</a:t>
            </a:r>
            <a:r>
              <a:rPr b="0" lang="en-US">
                <a:solidFill>
                  <a:srgbClr val="000000"/>
                </a:solidFill>
                <a:latin typeface="Courier New"/>
                <a:ea typeface="Courier New"/>
                <a:cs typeface="Courier New"/>
                <a:sym typeface="Courier New"/>
              </a:rPr>
              <a:t>, stop = X_set[:, </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1000</a:t>
            </a:r>
            <a:r>
              <a:rPr b="0" lang="en-US">
                <a:solidFill>
                  <a:srgbClr val="000000"/>
                </a:solidFill>
                <a:latin typeface="Courier New"/>
                <a:ea typeface="Courier New"/>
                <a:cs typeface="Courier New"/>
                <a:sym typeface="Courier New"/>
              </a:rPr>
              <a:t>, step = </a:t>
            </a:r>
            <a:r>
              <a:rPr b="0" lang="en-US">
                <a:solidFill>
                  <a:srgbClr val="09885A"/>
                </a:solidFill>
                <a:latin typeface="Courier New"/>
                <a:ea typeface="Courier New"/>
                <a:cs typeface="Courier New"/>
                <a:sym typeface="Courier New"/>
              </a:rPr>
              <a:t>0.25</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plt.contourf(X1, X2, classifier.predict(sc.transform(np.array([X1.ravel(), X2.ravel()]).T)).reshape(X1.shape),</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             alpha = </a:t>
            </a:r>
            <a:r>
              <a:rPr b="0" lang="en-US">
                <a:solidFill>
                  <a:srgbClr val="09885A"/>
                </a:solidFill>
                <a:latin typeface="Courier New"/>
                <a:ea typeface="Courier New"/>
                <a:cs typeface="Courier New"/>
                <a:sym typeface="Courier New"/>
              </a:rPr>
              <a:t>0.75</a:t>
            </a:r>
            <a:r>
              <a:rPr b="0" lang="en-US">
                <a:solidFill>
                  <a:srgbClr val="000000"/>
                </a:solidFill>
                <a:latin typeface="Courier New"/>
                <a:ea typeface="Courier New"/>
                <a:cs typeface="Courier New"/>
                <a:sym typeface="Courier New"/>
              </a:rPr>
              <a:t>, cmap = ListedColormap((</a:t>
            </a:r>
            <a:r>
              <a:rPr b="0" lang="en-US">
                <a:solidFill>
                  <a:srgbClr val="A31515"/>
                </a:solidFill>
                <a:latin typeface="Courier New"/>
                <a:ea typeface="Courier New"/>
                <a:cs typeface="Courier New"/>
                <a:sym typeface="Courier New"/>
              </a:rPr>
              <a:t>'red'</a:t>
            </a:r>
            <a:r>
              <a:rPr b="0" lang="en-US">
                <a:solidFill>
                  <a:srgbClr val="000000"/>
                </a:solidFill>
                <a:latin typeface="Courier New"/>
                <a:ea typeface="Courier New"/>
                <a:cs typeface="Courier New"/>
                <a:sym typeface="Courier New"/>
              </a:rPr>
              <a:t>, </a:t>
            </a:r>
            <a:r>
              <a:rPr b="0" lang="en-US">
                <a:solidFill>
                  <a:srgbClr val="A31515"/>
                </a:solidFill>
                <a:latin typeface="Courier New"/>
                <a:ea typeface="Courier New"/>
                <a:cs typeface="Courier New"/>
                <a:sym typeface="Courier New"/>
              </a:rPr>
              <a:t>'green'</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plt.xlim(X1.</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X1.</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plt.ylim(X2.</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X2.</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AF00DB"/>
              </a:buClr>
              <a:buSzPct val="100000"/>
              <a:buChar char="•"/>
            </a:pPr>
            <a:r>
              <a:rPr b="0" lang="en-US">
                <a:solidFill>
                  <a:srgbClr val="AF00DB"/>
                </a:solidFill>
                <a:latin typeface="Courier New"/>
                <a:ea typeface="Courier New"/>
                <a:cs typeface="Courier New"/>
                <a:sym typeface="Courier New"/>
              </a:rPr>
              <a:t>for</a:t>
            </a:r>
            <a:r>
              <a:rPr b="0" lang="en-US">
                <a:solidFill>
                  <a:srgbClr val="000000"/>
                </a:solidFill>
                <a:latin typeface="Courier New"/>
                <a:ea typeface="Courier New"/>
                <a:cs typeface="Courier New"/>
                <a:sym typeface="Courier New"/>
              </a:rPr>
              <a:t> i, j </a:t>
            </a:r>
            <a:r>
              <a:rPr b="0" lang="en-US">
                <a:solidFill>
                  <a:srgbClr val="0000FF"/>
                </a:solidFill>
                <a:latin typeface="Courier New"/>
                <a:ea typeface="Courier New"/>
                <a:cs typeface="Courier New"/>
                <a:sym typeface="Courier New"/>
              </a:rPr>
              <a:t>in</a:t>
            </a:r>
            <a:r>
              <a:rPr b="0" lang="en-US">
                <a:solidFill>
                  <a:srgbClr val="000000"/>
                </a:solidFill>
                <a:latin typeface="Courier New"/>
                <a:ea typeface="Courier New"/>
                <a:cs typeface="Courier New"/>
                <a:sym typeface="Courier New"/>
              </a:rPr>
              <a:t> </a:t>
            </a:r>
            <a:r>
              <a:rPr b="0" lang="en-US">
                <a:solidFill>
                  <a:srgbClr val="795E26"/>
                </a:solidFill>
                <a:latin typeface="Courier New"/>
                <a:ea typeface="Courier New"/>
                <a:cs typeface="Courier New"/>
                <a:sym typeface="Courier New"/>
              </a:rPr>
              <a:t>enumerate</a:t>
            </a:r>
            <a:r>
              <a:rPr b="0" lang="en-US">
                <a:solidFill>
                  <a:srgbClr val="000000"/>
                </a:solidFill>
                <a:latin typeface="Courier New"/>
                <a:ea typeface="Courier New"/>
                <a:cs typeface="Courier New"/>
                <a:sym typeface="Courier New"/>
              </a:rPr>
              <a:t>(np.unique(y_set)):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    plt.scatter(X_set[y_set == j,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 X_set[y_set == j, </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 c = ListedColormap((</a:t>
            </a:r>
            <a:r>
              <a:rPr b="0" lang="en-US">
                <a:solidFill>
                  <a:srgbClr val="A31515"/>
                </a:solidFill>
                <a:latin typeface="Courier New"/>
                <a:ea typeface="Courier New"/>
                <a:cs typeface="Courier New"/>
                <a:sym typeface="Courier New"/>
              </a:rPr>
              <a:t>'red'</a:t>
            </a:r>
            <a:r>
              <a:rPr b="0" lang="en-US">
                <a:solidFill>
                  <a:srgbClr val="000000"/>
                </a:solidFill>
                <a:latin typeface="Courier New"/>
                <a:ea typeface="Courier New"/>
                <a:cs typeface="Courier New"/>
                <a:sym typeface="Courier New"/>
              </a:rPr>
              <a:t>, </a:t>
            </a:r>
            <a:r>
              <a:rPr b="0" lang="en-US">
                <a:solidFill>
                  <a:srgbClr val="A31515"/>
                </a:solidFill>
                <a:latin typeface="Courier New"/>
                <a:ea typeface="Courier New"/>
                <a:cs typeface="Courier New"/>
                <a:sym typeface="Courier New"/>
              </a:rPr>
              <a:t>'green'</a:t>
            </a:r>
            <a:r>
              <a:rPr b="0" lang="en-US">
                <a:solidFill>
                  <a:srgbClr val="000000"/>
                </a:solidFill>
                <a:latin typeface="Courier New"/>
                <a:ea typeface="Courier New"/>
                <a:cs typeface="Courier New"/>
                <a:sym typeface="Courier New"/>
              </a:rPr>
              <a:t>))(i), label = j)</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plt.title(</a:t>
            </a:r>
            <a:r>
              <a:rPr b="0" lang="en-US">
                <a:solidFill>
                  <a:srgbClr val="A31515"/>
                </a:solidFill>
                <a:latin typeface="Courier New"/>
                <a:ea typeface="Courier New"/>
                <a:cs typeface="Courier New"/>
                <a:sym typeface="Courier New"/>
              </a:rPr>
              <a:t>'Naive Bayes (Training set)'</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plt.xlabel(</a:t>
            </a:r>
            <a:r>
              <a:rPr b="0" lang="en-US">
                <a:solidFill>
                  <a:srgbClr val="A31515"/>
                </a:solidFill>
                <a:latin typeface="Courier New"/>
                <a:ea typeface="Courier New"/>
                <a:cs typeface="Courier New"/>
                <a:sym typeface="Courier New"/>
              </a:rPr>
              <a:t>'Age'</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plt.ylabel(</a:t>
            </a:r>
            <a:r>
              <a:rPr b="0" lang="en-US">
                <a:solidFill>
                  <a:srgbClr val="A31515"/>
                </a:solidFill>
                <a:latin typeface="Courier New"/>
                <a:ea typeface="Courier New"/>
                <a:cs typeface="Courier New"/>
                <a:sym typeface="Courier New"/>
              </a:rPr>
              <a:t>'Estimated Salary'</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plt.legend()</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plt.show()</a:t>
            </a:r>
            <a:endParaRPr/>
          </a:p>
          <a:p>
            <a:pPr indent="-15748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Visualizing the Training set results</a:t>
            </a:r>
            <a:endParaRPr/>
          </a:p>
        </p:txBody>
      </p:sp>
      <p:pic>
        <p:nvPicPr>
          <p:cNvPr id="834" name="Google Shape;834;p67"/>
          <p:cNvPicPr preferRelativeResize="0"/>
          <p:nvPr/>
        </p:nvPicPr>
        <p:blipFill rotWithShape="1">
          <a:blip r:embed="rId3">
            <a:alphaModFix/>
          </a:blip>
          <a:srcRect b="0" l="0" r="0" t="0"/>
          <a:stretch/>
        </p:blipFill>
        <p:spPr>
          <a:xfrm>
            <a:off x="2039815" y="1760256"/>
            <a:ext cx="6499274" cy="443930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Visualizing the Test set results</a:t>
            </a:r>
            <a:endParaRPr/>
          </a:p>
        </p:txBody>
      </p:sp>
      <p:sp>
        <p:nvSpPr>
          <p:cNvPr id="840" name="Google Shape;840;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90000"/>
              </a:lnSpc>
              <a:spcBef>
                <a:spcPts val="0"/>
              </a:spcBef>
              <a:spcAft>
                <a:spcPts val="0"/>
              </a:spcAft>
              <a:buClr>
                <a:srgbClr val="AF00DB"/>
              </a:buClr>
              <a:buSzPct val="100000"/>
              <a:buChar char="•"/>
            </a:pPr>
            <a:r>
              <a:rPr b="0" lang="en-US">
                <a:solidFill>
                  <a:srgbClr val="AF00DB"/>
                </a:solidFill>
                <a:latin typeface="Courier New"/>
                <a:ea typeface="Courier New"/>
                <a:cs typeface="Courier New"/>
                <a:sym typeface="Courier New"/>
              </a:rPr>
              <a:t>from</a:t>
            </a:r>
            <a:r>
              <a:rPr b="0" lang="en-US">
                <a:solidFill>
                  <a:srgbClr val="000000"/>
                </a:solidFill>
                <a:latin typeface="Courier New"/>
                <a:ea typeface="Courier New"/>
                <a:cs typeface="Courier New"/>
                <a:sym typeface="Courier New"/>
              </a:rPr>
              <a:t> matplotlib.colors </a:t>
            </a:r>
            <a:r>
              <a:rPr b="0" lang="en-US">
                <a:solidFill>
                  <a:srgbClr val="AF00DB"/>
                </a:solidFill>
                <a:latin typeface="Courier New"/>
                <a:ea typeface="Courier New"/>
                <a:cs typeface="Courier New"/>
                <a:sym typeface="Courier New"/>
              </a:rPr>
              <a:t>import</a:t>
            </a:r>
            <a:r>
              <a:rPr b="0" lang="en-US">
                <a:solidFill>
                  <a:srgbClr val="000000"/>
                </a:solidFill>
                <a:latin typeface="Courier New"/>
                <a:ea typeface="Courier New"/>
                <a:cs typeface="Courier New"/>
                <a:sym typeface="Courier New"/>
              </a:rPr>
              <a:t> ListedColormap</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X_set, y_set = sc.inverse_transform(X_test), y_test</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X1, X2 = np.meshgrid(np.arange(start = X_set[:,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a:t>
            </a:r>
            <a:r>
              <a:rPr b="0" lang="en-US">
                <a:solidFill>
                  <a:srgbClr val="000000"/>
                </a:solidFill>
                <a:latin typeface="Courier New"/>
                <a:ea typeface="Courier New"/>
                <a:cs typeface="Courier New"/>
                <a:sym typeface="Courier New"/>
              </a:rPr>
              <a:t>, stop = X_set[:,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a:t>
            </a:r>
            <a:r>
              <a:rPr b="0" lang="en-US">
                <a:solidFill>
                  <a:srgbClr val="000000"/>
                </a:solidFill>
                <a:latin typeface="Courier New"/>
                <a:ea typeface="Courier New"/>
                <a:cs typeface="Courier New"/>
                <a:sym typeface="Courier New"/>
              </a:rPr>
              <a:t>, step = </a:t>
            </a:r>
            <a:r>
              <a:rPr b="0" lang="en-US">
                <a:solidFill>
                  <a:srgbClr val="09885A"/>
                </a:solidFill>
                <a:latin typeface="Courier New"/>
                <a:ea typeface="Courier New"/>
                <a:cs typeface="Courier New"/>
                <a:sym typeface="Courier New"/>
              </a:rPr>
              <a:t>0.25</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                     np.arange(start = X_set[:, </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1000</a:t>
            </a:r>
            <a:r>
              <a:rPr b="0" lang="en-US">
                <a:solidFill>
                  <a:srgbClr val="000000"/>
                </a:solidFill>
                <a:latin typeface="Courier New"/>
                <a:ea typeface="Courier New"/>
                <a:cs typeface="Courier New"/>
                <a:sym typeface="Courier New"/>
              </a:rPr>
              <a:t>, stop = X_set[:, </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 + </a:t>
            </a:r>
            <a:r>
              <a:rPr b="0" lang="en-US">
                <a:solidFill>
                  <a:srgbClr val="09885A"/>
                </a:solidFill>
                <a:latin typeface="Courier New"/>
                <a:ea typeface="Courier New"/>
                <a:cs typeface="Courier New"/>
                <a:sym typeface="Courier New"/>
              </a:rPr>
              <a:t>1000</a:t>
            </a:r>
            <a:r>
              <a:rPr b="0" lang="en-US">
                <a:solidFill>
                  <a:srgbClr val="000000"/>
                </a:solidFill>
                <a:latin typeface="Courier New"/>
                <a:ea typeface="Courier New"/>
                <a:cs typeface="Courier New"/>
                <a:sym typeface="Courier New"/>
              </a:rPr>
              <a:t>, step = </a:t>
            </a:r>
            <a:r>
              <a:rPr b="0" lang="en-US">
                <a:solidFill>
                  <a:srgbClr val="09885A"/>
                </a:solidFill>
                <a:latin typeface="Courier New"/>
                <a:ea typeface="Courier New"/>
                <a:cs typeface="Courier New"/>
                <a:sym typeface="Courier New"/>
              </a:rPr>
              <a:t>0.25</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plt.contourf(X1, X2, classifier.predict(sc.transform(np.array([X1.ravel(), X2.ravel()]).T)).reshape(X1.shape),</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             alpha = </a:t>
            </a:r>
            <a:r>
              <a:rPr b="0" lang="en-US">
                <a:solidFill>
                  <a:srgbClr val="09885A"/>
                </a:solidFill>
                <a:latin typeface="Courier New"/>
                <a:ea typeface="Courier New"/>
                <a:cs typeface="Courier New"/>
                <a:sym typeface="Courier New"/>
              </a:rPr>
              <a:t>0.75</a:t>
            </a:r>
            <a:r>
              <a:rPr b="0" lang="en-US">
                <a:solidFill>
                  <a:srgbClr val="000000"/>
                </a:solidFill>
                <a:latin typeface="Courier New"/>
                <a:ea typeface="Courier New"/>
                <a:cs typeface="Courier New"/>
                <a:sym typeface="Courier New"/>
              </a:rPr>
              <a:t>, cmap = ListedColormap((</a:t>
            </a:r>
            <a:r>
              <a:rPr b="0" lang="en-US">
                <a:solidFill>
                  <a:srgbClr val="A31515"/>
                </a:solidFill>
                <a:latin typeface="Courier New"/>
                <a:ea typeface="Courier New"/>
                <a:cs typeface="Courier New"/>
                <a:sym typeface="Courier New"/>
              </a:rPr>
              <a:t>'red'</a:t>
            </a:r>
            <a:r>
              <a:rPr b="0" lang="en-US">
                <a:solidFill>
                  <a:srgbClr val="000000"/>
                </a:solidFill>
                <a:latin typeface="Courier New"/>
                <a:ea typeface="Courier New"/>
                <a:cs typeface="Courier New"/>
                <a:sym typeface="Courier New"/>
              </a:rPr>
              <a:t>, </a:t>
            </a:r>
            <a:r>
              <a:rPr b="0" lang="en-US">
                <a:solidFill>
                  <a:srgbClr val="A31515"/>
                </a:solidFill>
                <a:latin typeface="Courier New"/>
                <a:ea typeface="Courier New"/>
                <a:cs typeface="Courier New"/>
                <a:sym typeface="Courier New"/>
              </a:rPr>
              <a:t>'green'</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plt.xlim(X1.</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X1.</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plt.ylim(X2.</a:t>
            </a:r>
            <a:r>
              <a:rPr b="0" lang="en-US">
                <a:solidFill>
                  <a:srgbClr val="795E26"/>
                </a:solidFill>
                <a:latin typeface="Courier New"/>
                <a:ea typeface="Courier New"/>
                <a:cs typeface="Courier New"/>
                <a:sym typeface="Courier New"/>
              </a:rPr>
              <a:t>min</a:t>
            </a:r>
            <a:r>
              <a:rPr b="0" lang="en-US">
                <a:solidFill>
                  <a:srgbClr val="000000"/>
                </a:solidFill>
                <a:latin typeface="Courier New"/>
                <a:ea typeface="Courier New"/>
                <a:cs typeface="Courier New"/>
                <a:sym typeface="Courier New"/>
              </a:rPr>
              <a:t>(), X2.</a:t>
            </a:r>
            <a:r>
              <a:rPr b="0" lang="en-US">
                <a:solidFill>
                  <a:srgbClr val="795E26"/>
                </a:solidFill>
                <a:latin typeface="Courier New"/>
                <a:ea typeface="Courier New"/>
                <a:cs typeface="Courier New"/>
                <a:sym typeface="Courier New"/>
              </a:rPr>
              <a:t>max</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AF00DB"/>
              </a:buClr>
              <a:buSzPct val="100000"/>
              <a:buChar char="•"/>
            </a:pPr>
            <a:r>
              <a:rPr b="0" lang="en-US">
                <a:solidFill>
                  <a:srgbClr val="AF00DB"/>
                </a:solidFill>
                <a:latin typeface="Courier New"/>
                <a:ea typeface="Courier New"/>
                <a:cs typeface="Courier New"/>
                <a:sym typeface="Courier New"/>
              </a:rPr>
              <a:t>for</a:t>
            </a:r>
            <a:r>
              <a:rPr b="0" lang="en-US">
                <a:solidFill>
                  <a:srgbClr val="000000"/>
                </a:solidFill>
                <a:latin typeface="Courier New"/>
                <a:ea typeface="Courier New"/>
                <a:cs typeface="Courier New"/>
                <a:sym typeface="Courier New"/>
              </a:rPr>
              <a:t> i, j </a:t>
            </a:r>
            <a:r>
              <a:rPr b="0" lang="en-US">
                <a:solidFill>
                  <a:srgbClr val="0000FF"/>
                </a:solidFill>
                <a:latin typeface="Courier New"/>
                <a:ea typeface="Courier New"/>
                <a:cs typeface="Courier New"/>
                <a:sym typeface="Courier New"/>
              </a:rPr>
              <a:t>in</a:t>
            </a:r>
            <a:r>
              <a:rPr b="0" lang="en-US">
                <a:solidFill>
                  <a:srgbClr val="000000"/>
                </a:solidFill>
                <a:latin typeface="Courier New"/>
                <a:ea typeface="Courier New"/>
                <a:cs typeface="Courier New"/>
                <a:sym typeface="Courier New"/>
              </a:rPr>
              <a:t> </a:t>
            </a:r>
            <a:r>
              <a:rPr b="0" lang="en-US">
                <a:solidFill>
                  <a:srgbClr val="795E26"/>
                </a:solidFill>
                <a:latin typeface="Courier New"/>
                <a:ea typeface="Courier New"/>
                <a:cs typeface="Courier New"/>
                <a:sym typeface="Courier New"/>
              </a:rPr>
              <a:t>enumerate</a:t>
            </a:r>
            <a:r>
              <a:rPr b="0" lang="en-US">
                <a:solidFill>
                  <a:srgbClr val="000000"/>
                </a:solidFill>
                <a:latin typeface="Courier New"/>
                <a:ea typeface="Courier New"/>
                <a:cs typeface="Courier New"/>
                <a:sym typeface="Courier New"/>
              </a:rPr>
              <a:t>(np.unique(y_set)):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    plt.scatter(X_set[y_set == j, </a:t>
            </a:r>
            <a:r>
              <a:rPr b="0" lang="en-US">
                <a:solidFill>
                  <a:srgbClr val="09885A"/>
                </a:solidFill>
                <a:latin typeface="Courier New"/>
                <a:ea typeface="Courier New"/>
                <a:cs typeface="Courier New"/>
                <a:sym typeface="Courier New"/>
              </a:rPr>
              <a:t>0</a:t>
            </a:r>
            <a:r>
              <a:rPr b="0" lang="en-US">
                <a:solidFill>
                  <a:srgbClr val="000000"/>
                </a:solidFill>
                <a:latin typeface="Courier New"/>
                <a:ea typeface="Courier New"/>
                <a:cs typeface="Courier New"/>
                <a:sym typeface="Courier New"/>
              </a:rPr>
              <a:t>], X_set[y_set == j, </a:t>
            </a:r>
            <a:r>
              <a:rPr b="0" lang="en-US">
                <a:solidFill>
                  <a:srgbClr val="09885A"/>
                </a:solidFill>
                <a:latin typeface="Courier New"/>
                <a:ea typeface="Courier New"/>
                <a:cs typeface="Courier New"/>
                <a:sym typeface="Courier New"/>
              </a:rPr>
              <a:t>1</a:t>
            </a:r>
            <a:r>
              <a:rPr b="0" lang="en-US">
                <a:solidFill>
                  <a:srgbClr val="000000"/>
                </a:solidFill>
                <a:latin typeface="Courier New"/>
                <a:ea typeface="Courier New"/>
                <a:cs typeface="Courier New"/>
                <a:sym typeface="Courier New"/>
              </a:rPr>
              <a:t>], c = ListedColormap((</a:t>
            </a:r>
            <a:r>
              <a:rPr b="0" lang="en-US">
                <a:solidFill>
                  <a:srgbClr val="A31515"/>
                </a:solidFill>
                <a:latin typeface="Courier New"/>
                <a:ea typeface="Courier New"/>
                <a:cs typeface="Courier New"/>
                <a:sym typeface="Courier New"/>
              </a:rPr>
              <a:t>'red'</a:t>
            </a:r>
            <a:r>
              <a:rPr b="0" lang="en-US">
                <a:solidFill>
                  <a:srgbClr val="000000"/>
                </a:solidFill>
                <a:latin typeface="Courier New"/>
                <a:ea typeface="Courier New"/>
                <a:cs typeface="Courier New"/>
                <a:sym typeface="Courier New"/>
              </a:rPr>
              <a:t>, </a:t>
            </a:r>
            <a:r>
              <a:rPr b="0" lang="en-US">
                <a:solidFill>
                  <a:srgbClr val="A31515"/>
                </a:solidFill>
                <a:latin typeface="Courier New"/>
                <a:ea typeface="Courier New"/>
                <a:cs typeface="Courier New"/>
                <a:sym typeface="Courier New"/>
              </a:rPr>
              <a:t>'green'</a:t>
            </a:r>
            <a:r>
              <a:rPr b="0" lang="en-US">
                <a:solidFill>
                  <a:srgbClr val="000000"/>
                </a:solidFill>
                <a:latin typeface="Courier New"/>
                <a:ea typeface="Courier New"/>
                <a:cs typeface="Courier New"/>
                <a:sym typeface="Courier New"/>
              </a:rPr>
              <a:t>))(i), label = j)</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plt.title(</a:t>
            </a:r>
            <a:r>
              <a:rPr b="0" lang="en-US">
                <a:solidFill>
                  <a:srgbClr val="A31515"/>
                </a:solidFill>
                <a:latin typeface="Courier New"/>
                <a:ea typeface="Courier New"/>
                <a:cs typeface="Courier New"/>
                <a:sym typeface="Courier New"/>
              </a:rPr>
              <a:t>'Naive Bayes (Test set)'</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plt.xlabel(</a:t>
            </a:r>
            <a:r>
              <a:rPr b="0" lang="en-US">
                <a:solidFill>
                  <a:srgbClr val="A31515"/>
                </a:solidFill>
                <a:latin typeface="Courier New"/>
                <a:ea typeface="Courier New"/>
                <a:cs typeface="Courier New"/>
                <a:sym typeface="Courier New"/>
              </a:rPr>
              <a:t>'Age'</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plt.ylabel(</a:t>
            </a:r>
            <a:r>
              <a:rPr b="0" lang="en-US">
                <a:solidFill>
                  <a:srgbClr val="A31515"/>
                </a:solidFill>
                <a:latin typeface="Courier New"/>
                <a:ea typeface="Courier New"/>
                <a:cs typeface="Courier New"/>
                <a:sym typeface="Courier New"/>
              </a:rPr>
              <a:t>'Estimated Salary'</a:t>
            </a:r>
            <a:r>
              <a:rPr b="0" lang="en-US">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plt.legend()</a:t>
            </a:r>
            <a:endParaRPr/>
          </a:p>
          <a:p>
            <a:pPr indent="-228600" lvl="0" marL="228600" rtl="0" algn="l">
              <a:lnSpc>
                <a:spcPct val="90000"/>
              </a:lnSpc>
              <a:spcBef>
                <a:spcPts val="1000"/>
              </a:spcBef>
              <a:spcAft>
                <a:spcPts val="0"/>
              </a:spcAft>
              <a:buClr>
                <a:srgbClr val="000000"/>
              </a:buClr>
              <a:buSzPct val="100000"/>
              <a:buChar char="•"/>
            </a:pPr>
            <a:r>
              <a:rPr b="0" lang="en-US">
                <a:solidFill>
                  <a:srgbClr val="000000"/>
                </a:solidFill>
                <a:latin typeface="Courier New"/>
                <a:ea typeface="Courier New"/>
                <a:cs typeface="Courier New"/>
                <a:sym typeface="Courier New"/>
              </a:rPr>
              <a:t>plt.show()</a:t>
            </a:r>
            <a:endParaRPr/>
          </a:p>
          <a:p>
            <a:pPr indent="-15748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US">
                <a:solidFill>
                  <a:srgbClr val="212121"/>
                </a:solidFill>
                <a:latin typeface="Roboto"/>
                <a:ea typeface="Roboto"/>
                <a:cs typeface="Roboto"/>
                <a:sym typeface="Roboto"/>
              </a:rPr>
              <a:t>Visualising the Test set results</a:t>
            </a:r>
            <a:endParaRPr/>
          </a:p>
        </p:txBody>
      </p:sp>
      <p:pic>
        <p:nvPicPr>
          <p:cNvPr id="846" name="Google Shape;846;p69"/>
          <p:cNvPicPr preferRelativeResize="0"/>
          <p:nvPr/>
        </p:nvPicPr>
        <p:blipFill rotWithShape="1">
          <a:blip r:embed="rId3">
            <a:alphaModFix/>
          </a:blip>
          <a:srcRect b="0" l="0" r="0" t="0"/>
          <a:stretch/>
        </p:blipFill>
        <p:spPr>
          <a:xfrm>
            <a:off x="1663855" y="2105024"/>
            <a:ext cx="6370483" cy="43513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2021-04-09T14:07:36Z</dcterms:created>
  <dc:creator>Manjari Gupta</dc:creator>
</cp:coreProperties>
</file>