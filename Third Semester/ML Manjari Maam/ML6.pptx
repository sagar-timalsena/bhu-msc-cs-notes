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3" r:id="rId4"/>
    <p:sldId id="274" r:id="rId5"/>
    <p:sldId id="275" r:id="rId6"/>
    <p:sldId id="289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67" r:id="rId19"/>
    <p:sldId id="290" r:id="rId20"/>
    <p:sldId id="268" r:id="rId21"/>
    <p:sldId id="288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Default Section" id="{367034F9-E1FE-4525-9F81-83DFFC26A998}">
          <p14:sldIdLst>
            <p14:sldId id="256"/>
            <p14:sldId id="271"/>
            <p14:sldId id="273"/>
            <p14:sldId id="274"/>
            <p14:sldId id="275"/>
            <p14:sldId id="289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67"/>
            <p14:sldId id="290"/>
            <p14:sldId id="268"/>
            <p14:sldId id="288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Untitled Section" id="{96004F00-944D-41E6-9B13-914D0730DD68}">
          <p14:sldIdLst>
            <p14:sldId id="265"/>
            <p14:sldId id="266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-314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793814-3262-41E7-B7E3-5CE118007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1049FAD-342A-4D52-8404-B356B92AA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A4C0E7-5F9C-4DB8-8345-C2D59E62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FE907E9-AC35-4040-98E2-7B941DB6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0FFBB61-E84E-4323-B557-84812FC6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03072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7FD34E-8578-41CE-BD29-8A45CF83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9DD6BE-33FD-43A2-AD3B-55BC29442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6CCD309-7C36-4BB8-96E5-980E6787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564FCF5-BD29-4B72-A184-E31F9BC65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FA3283-6A15-4F39-A066-74D1A230D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4808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B5AC41-D1C6-4DB4-8D42-AF2605770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6F882E5-4B9B-44A3-B646-A9D00CB5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AD0CB79-F27E-4FE8-979B-C1ACFD8A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95049BA-4AD9-4C28-8F61-2405B9AD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CFDBBDA-619C-4564-82DF-82FCCC86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81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4E21B1-EF57-44EE-990D-64CCDE2F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6A79257-C4A9-487B-83B2-9E1B83BB0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6C44EB5-0E38-4C2C-93F0-AEDAA0B04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AAEBD08-3230-4755-A995-35A53BC0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55967A5-744A-4966-926A-D67D9AD6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102DE29-7EDE-4BCF-936C-03D27BB09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29219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CF16F2-343C-4F50-B7FF-A28272177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1C0D303-8253-4579-874F-C737E218A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D897D84-9A8E-48FB-BD08-D0F1CF1D3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5E78E75-BD47-4A8B-85F9-A207BADDC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06EC1E82-CC23-4EEE-80DE-60274BE18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B1D42BB-4231-4D70-809C-B14B566F9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59C4D71-8492-41B8-A68E-06618060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854D986-DE05-4218-A1A4-47F72847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4020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F882D3-4A99-497E-BC62-B3EB1220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44D6418-C77E-4F03-9949-56B2691F9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993D681-2245-4FB5-9818-3CCB2CE4F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49D84AA-16A3-4DE1-8C8D-1968C3E5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14491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CA35F12-F03F-446D-AD94-982C30F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2E8BFF4-44F9-4B3C-9094-C744F1B72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67E31E4-8811-4745-BE26-86200FF4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00639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E7F137-4205-423C-953F-D7093A4C6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A88FDF-AED1-4CA9-8BBE-77B16F4D7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584188C-69FA-47F0-8C6A-EFF480618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4BBC9DE-9391-4791-AF57-DB72F9C5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24D89C8-CCF8-4227-A851-D7F54CD9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0A8FEC2-787D-428F-BF20-3E9357E9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000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A8941F-6765-4837-B09B-94234184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8A17A4DB-7193-41D6-8840-2F734ADC9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B2836DF-6AEF-486E-B270-7016560FD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E88DF8B-D7C3-49DB-B87D-138D24DFC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80EA241-F345-4F1A-BA8E-BE2B1332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1905C45-DD9B-4974-925C-929DD8D7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7357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274C19-2431-4B63-88AF-CA2E1C99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9F83D4C-1144-4D55-BAC9-0954EED19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E34F1D6-EBF0-4228-92D3-6F450D6F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D5D5C81-A420-4034-94F4-A983B0DC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BA258B0-1B13-45C1-8F55-E3A81F49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6572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E92ECD23-D7E4-42DB-851F-54028F96A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587B89-65BF-44C7-981A-809C605C1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3BF6BA9-763B-45EA-9251-578DA391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E96386D-AFD9-448F-8906-13815172E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F729A96-638F-4157-9596-4EA70B36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2162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AED428A-85E1-4485-8B83-C0C584E77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ECBE8E1-445E-41D4-8839-5658DEF46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F4B427A-E48A-4C2B-A840-B216DCAD9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3FEB1-FB0A-46AB-8C2C-8238982ED9B5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E3232E2-3273-4038-90DC-B7EDC2A14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E64B9C1-E84D-42DB-B1D5-5CBE2D908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310E1-28BE-4325-A3F1-338E43D26D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7922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One%20Hot%20Encoding.pptx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7F7DE6-65D4-46A8-9116-FF9CD2D1C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Preprocessing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6421620-DFD0-4193-AED3-444D9E6C90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16526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7C26A0-989C-41FB-A1B7-EB1FC19E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Data </a:t>
            </a:r>
            <a:r>
              <a:rPr lang="en-IN" i="0" dirty="0" err="1">
                <a:solidFill>
                  <a:srgbClr val="292929"/>
                </a:solidFill>
                <a:effectLst/>
                <a:latin typeface="charter"/>
              </a:rPr>
              <a:t>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114725-8A21-4023-86AB-46A8A42E3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harter"/>
              </a:rPr>
              <a:t>L</a:t>
            </a:r>
            <a:r>
              <a:rPr lang="en-IN" b="0" i="0" dirty="0">
                <a:effectLst/>
                <a:latin typeface="charter"/>
              </a:rPr>
              <a:t>arge datasets </a:t>
            </a:r>
          </a:p>
          <a:p>
            <a:pPr lvl="1"/>
            <a:r>
              <a:rPr lang="fr-FR" b="0" i="0" dirty="0" err="1">
                <a:effectLst/>
                <a:latin typeface="charter"/>
              </a:rPr>
              <a:t>Structured</a:t>
            </a:r>
            <a:r>
              <a:rPr lang="fr-FR" b="0" i="0" dirty="0">
                <a:effectLst/>
                <a:latin typeface="charter"/>
              </a:rPr>
              <a:t> Tables, Images, Audio files, </a:t>
            </a:r>
            <a:r>
              <a:rPr lang="fr-FR" b="0" i="0" dirty="0" err="1">
                <a:effectLst/>
                <a:latin typeface="charter"/>
              </a:rPr>
              <a:t>Videos</a:t>
            </a:r>
            <a:r>
              <a:rPr lang="fr-FR" b="0" i="0" dirty="0">
                <a:effectLst/>
                <a:latin typeface="charter"/>
              </a:rPr>
              <a:t>, etc..</a:t>
            </a:r>
          </a:p>
          <a:p>
            <a:r>
              <a:rPr lang="en-US" b="0" i="0" dirty="0">
                <a:effectLst/>
                <a:latin typeface="charter"/>
              </a:rPr>
              <a:t>Machines don’t understand free text, image, or video data as it is, they understand 1s and 0s. </a:t>
            </a:r>
          </a:p>
          <a:p>
            <a:r>
              <a:rPr lang="en-US" dirty="0">
                <a:latin typeface="sohne"/>
              </a:rPr>
              <a:t>S</a:t>
            </a:r>
            <a:r>
              <a:rPr lang="en-US" b="0" i="0" dirty="0">
                <a:effectLst/>
                <a:latin typeface="sohne"/>
              </a:rPr>
              <a:t>tep in which the data gets transformed, or </a:t>
            </a:r>
            <a:r>
              <a:rPr lang="en-US" b="0" i="1" dirty="0">
                <a:effectLst/>
                <a:latin typeface="sohne"/>
              </a:rPr>
              <a:t>Encoded</a:t>
            </a:r>
            <a:r>
              <a:rPr lang="en-US" b="0" i="0" dirty="0">
                <a:effectLst/>
                <a:latin typeface="sohne"/>
              </a:rPr>
              <a:t>, to bring it to such a state that now the machine can easily parse it. </a:t>
            </a:r>
          </a:p>
          <a:p>
            <a:r>
              <a:rPr lang="en-US" b="0" i="0" dirty="0">
                <a:effectLst/>
                <a:latin typeface="sohne"/>
              </a:rPr>
              <a:t>In other words, the </a:t>
            </a:r>
            <a:r>
              <a:rPr lang="en-US" b="0" i="1" dirty="0">
                <a:effectLst/>
                <a:latin typeface="sohne"/>
              </a:rPr>
              <a:t>features </a:t>
            </a:r>
            <a:r>
              <a:rPr lang="en-US" b="0" i="0" dirty="0">
                <a:effectLst/>
                <a:latin typeface="sohne"/>
              </a:rPr>
              <a:t>of the data can now be easily interpreted by the algorithm.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10395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E0A394-CA2A-457F-9232-C5D3D075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292929"/>
                </a:solidFill>
                <a:latin typeface="charter"/>
              </a:rPr>
              <a:t>S</a:t>
            </a:r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teps of Data </a:t>
            </a:r>
            <a:r>
              <a:rPr lang="en-IN" i="0" dirty="0" err="1">
                <a:solidFill>
                  <a:srgbClr val="292929"/>
                </a:solidFill>
                <a:effectLst/>
                <a:latin typeface="charter"/>
              </a:rPr>
              <a:t>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679DEA9-1C67-4692-9ED8-9E9562D77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92929"/>
                </a:solidFill>
                <a:latin typeface="charter"/>
              </a:rPr>
              <a:t>N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ot all the steps are applicable for each problem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Data Quality Assessment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Feature Aggregation</a:t>
            </a:r>
          </a:p>
          <a:p>
            <a:pPr lvl="1"/>
            <a:r>
              <a:rPr lang="en-US" dirty="0">
                <a:solidFill>
                  <a:srgbClr val="292929"/>
                </a:solidFill>
                <a:latin typeface="charter"/>
              </a:rPr>
              <a:t>Feature Discretization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Feature Sampling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Dimensionality Reduction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Feature Encoding</a:t>
            </a:r>
          </a:p>
          <a:p>
            <a:pPr lvl="1"/>
            <a:r>
              <a:rPr lang="en-US" dirty="0">
                <a:solidFill>
                  <a:srgbClr val="292929"/>
                </a:solidFill>
                <a:latin typeface="charter"/>
              </a:rPr>
              <a:t>Feature Scaling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8103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71C8038-34B9-43DE-9C93-D6A6BD16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Missing values </a:t>
            </a:r>
          </a:p>
          <a:p>
            <a:r>
              <a:rPr lang="en-IN" dirty="0">
                <a:solidFill>
                  <a:srgbClr val="292929"/>
                </a:solidFill>
                <a:latin typeface="charter"/>
              </a:rPr>
              <a:t>Outliers</a:t>
            </a:r>
            <a:endParaRPr lang="en-IN" i="0" dirty="0">
              <a:solidFill>
                <a:srgbClr val="292929"/>
              </a:solidFill>
              <a:effectLst/>
              <a:latin typeface="charter"/>
            </a:endParaRPr>
          </a:p>
          <a:p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Inconsistent values</a:t>
            </a:r>
            <a:endParaRPr lang="en-IN" dirty="0">
              <a:solidFill>
                <a:srgbClr val="292929"/>
              </a:solidFill>
              <a:latin typeface="charter"/>
            </a:endParaRPr>
          </a:p>
          <a:p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Duplicate values </a:t>
            </a:r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233DBD23-108B-401E-9527-08E6BC9A8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243079"/>
            <a:ext cx="812504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rgbClr val="292929"/>
                </a:solidFill>
                <a:effectLst/>
                <a:latin typeface="charter"/>
              </a:rPr>
              <a:t>Data Quality Assessment</a:t>
            </a:r>
            <a:endParaRPr kumimoji="0" lang="en-US" altLang="en-US" sz="4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07933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F922E4-10FE-40CA-B6C9-DDEABAF9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Feature Aggregation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06B7C1C-022D-46DF-8F8A-DE2AEA50A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292929"/>
                </a:solidFill>
                <a:latin typeface="charter"/>
              </a:rPr>
              <a:t>T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o take the aggregated values in order to put the data in a better perspective.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Example 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day-to-day transactions of a product to record the daily sales of that product in various store locations over the year. 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Aggregating the transactions to single store-wide monthly or yearly transactions will help us reducing hundreds or potentially thousands of transactions that occur daily at a specific store, thereby reducing the number of data objects.</a:t>
            </a:r>
            <a:endParaRPr lang="en-US" dirty="0">
              <a:solidFill>
                <a:srgbClr val="292929"/>
              </a:solidFill>
              <a:latin typeface="char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Why?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This results in reduction of memory consumption and processing time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Aggregations provide us with a high-level view of the data as the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behaviour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of groups or aggregates is more stable than individual data objects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4280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BE8E8B-01BC-41A9-96A5-A963DE16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solidFill>
                  <a:srgbClr val="2929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Feature Discretization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A9942CF-9C17-4AF0-9FD5-A210E5173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rk"/>
              </a:rPr>
              <a:t>transforms the data into sets of small intervals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rk"/>
              </a:rPr>
              <a:t>For example, putting people in categories “young”, “middle age”, “senior” rather than working with continuous age values.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rk"/>
              </a:rPr>
              <a:t>Discretization helps to improve efficiency.</a:t>
            </a:r>
            <a:r>
              <a:rPr lang="en-US" b="1" i="0" dirty="0">
                <a:solidFill>
                  <a:srgbClr val="000000"/>
                </a:solidFill>
                <a:effectLst/>
                <a:latin typeface="srk-condensed"/>
              </a:rPr>
              <a:t/>
            </a:r>
            <a:br>
              <a:rPr lang="en-US" b="1" i="0" dirty="0">
                <a:solidFill>
                  <a:srgbClr val="000000"/>
                </a:solidFill>
                <a:effectLst/>
                <a:latin typeface="srk-condensed"/>
              </a:rPr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9919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5B85CA-A4D4-4A0A-ADDF-1DD141C64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0DADC1-384B-4015-B584-70F1C145F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Sampling is a very common method for selecting a subset of the dataset that we are analyzing.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In most cases, working with the complete dataset can turn out to be too expensive considering the memory and time constraints.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 key principle here is </a:t>
            </a:r>
            <a:endParaRPr lang="en-US" dirty="0">
              <a:solidFill>
                <a:srgbClr val="292929"/>
              </a:solidFill>
              <a:latin typeface="charter"/>
            </a:endParaRP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 sampling should be done in such a manner that the sample generated should have approximately the same properties as the original dataset, meaning that the sample is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representative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.</a:t>
            </a:r>
          </a:p>
          <a:p>
            <a:r>
              <a:rPr lang="en-IN" b="0" i="1" dirty="0">
                <a:solidFill>
                  <a:srgbClr val="292929"/>
                </a:solidFill>
                <a:effectLst/>
                <a:latin typeface="charter"/>
              </a:rPr>
              <a:t>Simple Random Sampling</a:t>
            </a:r>
            <a:r>
              <a:rPr lang="en-IN" b="0" i="0" dirty="0">
                <a:solidFill>
                  <a:srgbClr val="292929"/>
                </a:solidFill>
                <a:effectLst/>
                <a:latin typeface="charter"/>
              </a:rPr>
              <a:t> </a:t>
            </a:r>
          </a:p>
          <a:p>
            <a:pPr lvl="1"/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Sampling without Replacement</a:t>
            </a:r>
            <a:endParaRPr lang="en-IN" dirty="0">
              <a:solidFill>
                <a:srgbClr val="292929"/>
              </a:solidFill>
              <a:latin typeface="charter"/>
            </a:endParaRPr>
          </a:p>
          <a:p>
            <a:pPr lvl="1"/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Sampling with Replacement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24510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BAFBB5-C2AB-436C-BD32-B9D2BE52D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3EDD74-FB0B-4B52-BAB7-14DE60760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dirty="0">
                <a:effectLst/>
                <a:latin typeface="charter"/>
              </a:rPr>
              <a:t>Simple Random Sampling </a:t>
            </a:r>
          </a:p>
          <a:p>
            <a:pPr lvl="1"/>
            <a:r>
              <a:rPr lang="en-IN" b="0" dirty="0">
                <a:effectLst/>
                <a:latin typeface="charter"/>
              </a:rPr>
              <a:t>imbalanced dataset</a:t>
            </a:r>
          </a:p>
          <a:p>
            <a:pPr lvl="2"/>
            <a:r>
              <a:rPr lang="en-US" b="0" dirty="0" smtClean="0">
                <a:effectLst/>
                <a:latin typeface="sohne"/>
              </a:rPr>
              <a:t>number </a:t>
            </a:r>
            <a:r>
              <a:rPr lang="en-US" b="0" dirty="0">
                <a:effectLst/>
                <a:latin typeface="sohne"/>
              </a:rPr>
              <a:t>of instances of a class(es) are significantly higher than another </a:t>
            </a:r>
            <a:r>
              <a:rPr lang="en-US" b="0" dirty="0" smtClean="0">
                <a:effectLst/>
                <a:latin typeface="sohne"/>
              </a:rPr>
              <a:t>class(</a:t>
            </a:r>
            <a:r>
              <a:rPr lang="en-US" b="0" dirty="0" err="1" smtClean="0">
                <a:effectLst/>
                <a:latin typeface="sohne"/>
              </a:rPr>
              <a:t>es</a:t>
            </a:r>
            <a:r>
              <a:rPr lang="en-US" b="0" dirty="0" smtClean="0">
                <a:effectLst/>
                <a:latin typeface="sohne"/>
              </a:rPr>
              <a:t>),</a:t>
            </a:r>
            <a:endParaRPr lang="en-IN" dirty="0" smtClean="0">
              <a:latin typeface="charter"/>
            </a:endParaRPr>
          </a:p>
          <a:p>
            <a:r>
              <a:rPr lang="en-IN" dirty="0" smtClean="0">
                <a:effectLst/>
              </a:rPr>
              <a:t>Stratified Sampling</a:t>
            </a:r>
            <a:endParaRPr lang="en-IN" dirty="0" smtClean="0">
              <a:latin typeface="charter"/>
            </a:endParaRPr>
          </a:p>
          <a:p>
            <a:pPr lvl="1"/>
            <a:r>
              <a:rPr lang="en-US" b="0" dirty="0" smtClean="0">
                <a:effectLst/>
                <a:latin typeface="charter"/>
              </a:rPr>
              <a:t>which </a:t>
            </a:r>
            <a:r>
              <a:rPr lang="en-US" b="0" dirty="0">
                <a:effectLst/>
                <a:latin typeface="charter"/>
              </a:rPr>
              <a:t>begins with predefined groups of objects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765014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BF5D06-18FE-4B89-9608-B28DC684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Dimensionality Reduction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A805E2-7804-42B0-8544-81FE22778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Most real world datasets have a large number of features. 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For example, consider an image processing problem, we might have to deal with thousands of features, also called as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dimensions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. </a:t>
            </a:r>
          </a:p>
          <a:p>
            <a:r>
              <a:rPr lang="en-US" dirty="0">
                <a:solidFill>
                  <a:srgbClr val="292929"/>
                </a:solidFill>
                <a:latin typeface="charter"/>
              </a:rPr>
              <a:t>D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imensionality reduction aims to reduce the number of features 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but not simply by selecting a sample of features from the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feature-set: 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Feature Subset Selection or simply Feature Selection.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Conceptually,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dimension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refers to the number of geometric planes the dataset lies in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More the number of such planes, more is the complexity of the dataset.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48708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E90198-8B2F-44F9-B534-F937E814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Dimensionality Reduction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5A6FE06-1B4C-44AC-8C13-8AA7AD0C9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Dimension reduction maps the dataset to a lower-dimensional space 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 basic objective of techniques is to reduce the dimensionality of a dataset by creating new features which are a combination of the old features.</a:t>
            </a:r>
          </a:p>
          <a:p>
            <a:r>
              <a:rPr lang="en-IN" dirty="0">
                <a:solidFill>
                  <a:srgbClr val="292929"/>
                </a:solidFill>
                <a:latin typeface="charter"/>
              </a:rPr>
              <a:t>T</a:t>
            </a:r>
            <a:r>
              <a:rPr lang="en-IN" b="0" i="0" dirty="0">
                <a:solidFill>
                  <a:srgbClr val="292929"/>
                </a:solidFill>
                <a:effectLst/>
                <a:latin typeface="charter"/>
              </a:rPr>
              <a:t>wo widely accepted techniques</a:t>
            </a:r>
            <a:endParaRPr lang="en-US" dirty="0">
              <a:solidFill>
                <a:srgbClr val="292929"/>
              </a:solidFill>
              <a:latin typeface="charter"/>
            </a:endParaRPr>
          </a:p>
          <a:p>
            <a:pPr lvl="1"/>
            <a:r>
              <a:rPr lang="en-US" b="0" i="0" dirty="0">
                <a:effectLst/>
                <a:latin typeface="charter"/>
              </a:rPr>
              <a:t>Principal Component Analysis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</a:t>
            </a:r>
          </a:p>
          <a:p>
            <a:pPr lvl="1"/>
            <a:r>
              <a:rPr lang="en-US" b="0" i="0" dirty="0">
                <a:effectLst/>
                <a:latin typeface="charter"/>
              </a:rPr>
              <a:t>Singular Value Decomposition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3744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30B0BD-9895-4779-9222-96F34450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solidFill>
                  <a:srgbClr val="292929"/>
                </a:solidFill>
                <a:effectLst/>
                <a:latin typeface="charter"/>
              </a:rPr>
              <a:t>Feature Encoding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EA47AA3-1CA9-4B1D-AE24-1C710F6EB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sohne"/>
              </a:rPr>
              <a:t>P</a:t>
            </a:r>
            <a:r>
              <a:rPr lang="en-US" b="0" i="0" dirty="0">
                <a:effectLst/>
                <a:latin typeface="sohne"/>
              </a:rPr>
              <a:t>erforming transformations on the data such that it can be easily accepted as input for machine learning algorithms while still retaining its original meaning.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There are some general norms or rules which are followed when performing feature encoding.</a:t>
            </a:r>
            <a:endParaRPr lang="en-US" dirty="0">
              <a:solidFill>
                <a:srgbClr val="292929"/>
              </a:solidFill>
              <a:latin typeface="sohne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3577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4E3315-A7B7-4235-88EC-0AAA3540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92929"/>
                </a:solidFill>
                <a:latin typeface="charter"/>
              </a:rPr>
              <a:t>G</a:t>
            </a:r>
            <a:r>
              <a:rPr lang="en-US" sz="4000" b="0" i="0" dirty="0">
                <a:solidFill>
                  <a:srgbClr val="292929"/>
                </a:solidFill>
                <a:effectLst/>
                <a:latin typeface="charter"/>
              </a:rPr>
              <a:t>eneral norms or rules which are followed when performing feature encoding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FAC6997-382A-45A1-9DD7-EB8435276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123"/>
          </a:xfrm>
        </p:spPr>
        <p:txBody>
          <a:bodyPr>
            <a:normAutofit fontScale="85000" lnSpcReduction="20000"/>
          </a:bodyPr>
          <a:lstStyle/>
          <a:p>
            <a:r>
              <a:rPr lang="en-IN" i="0" dirty="0">
                <a:effectLst/>
                <a:latin typeface="charter"/>
              </a:rPr>
              <a:t>Nominal</a:t>
            </a:r>
            <a:endParaRPr lang="en-US" i="0" dirty="0">
              <a:effectLst/>
              <a:latin typeface="sohne"/>
            </a:endParaRPr>
          </a:p>
          <a:p>
            <a:pPr lvl="1"/>
            <a:r>
              <a:rPr lang="en-US" b="0" i="0" dirty="0">
                <a:effectLst/>
                <a:latin typeface="charter"/>
              </a:rPr>
              <a:t>Any one-to-one mapping can be done which retains the meaning. </a:t>
            </a:r>
          </a:p>
          <a:p>
            <a:pPr lvl="1"/>
            <a:r>
              <a:rPr lang="en-US" b="0" i="0" dirty="0">
                <a:effectLst/>
                <a:latin typeface="charter"/>
              </a:rPr>
              <a:t>For instance, a permutation of values like in One-Hot Encoding.</a:t>
            </a:r>
          </a:p>
          <a:p>
            <a:r>
              <a:rPr lang="en-IN" i="0" dirty="0">
                <a:effectLst/>
                <a:latin typeface="charter"/>
              </a:rPr>
              <a:t>Ordinal</a:t>
            </a:r>
            <a:endParaRPr lang="en-US" i="0" dirty="0">
              <a:effectLst/>
              <a:latin typeface="charter"/>
            </a:endParaRPr>
          </a:p>
          <a:p>
            <a:pPr lvl="1"/>
            <a:r>
              <a:rPr lang="en-US" b="0" i="0" dirty="0">
                <a:effectLst/>
                <a:latin typeface="charter"/>
              </a:rPr>
              <a:t>An order-preserving change of values. </a:t>
            </a:r>
          </a:p>
          <a:p>
            <a:pPr lvl="1"/>
            <a:r>
              <a:rPr lang="en-US" b="0" i="0" dirty="0">
                <a:effectLst/>
                <a:latin typeface="charter"/>
              </a:rPr>
              <a:t>Unhappy, </a:t>
            </a:r>
            <a:r>
              <a:rPr lang="en-US" dirty="0">
                <a:latin typeface="charter"/>
              </a:rPr>
              <a:t>Happy, Very Happy- 1,2,3</a:t>
            </a:r>
          </a:p>
          <a:p>
            <a:r>
              <a:rPr lang="en-IN" i="0" dirty="0">
                <a:effectLst/>
                <a:latin typeface="charter"/>
              </a:rPr>
              <a:t>Interval</a:t>
            </a:r>
          </a:p>
          <a:p>
            <a:pPr lvl="1"/>
            <a:r>
              <a:rPr lang="en-US" b="0" i="0" dirty="0" err="1">
                <a:effectLst/>
                <a:latin typeface="charter"/>
              </a:rPr>
              <a:t>new_value</a:t>
            </a:r>
            <a:r>
              <a:rPr lang="en-US" b="0" i="0" dirty="0">
                <a:effectLst/>
                <a:latin typeface="charter"/>
              </a:rPr>
              <a:t> = a*</a:t>
            </a:r>
            <a:r>
              <a:rPr lang="en-US" b="0" i="0" dirty="0" err="1">
                <a:effectLst/>
                <a:latin typeface="charter"/>
              </a:rPr>
              <a:t>old_value</a:t>
            </a:r>
            <a:r>
              <a:rPr lang="en-US" b="0" i="0" dirty="0">
                <a:effectLst/>
                <a:latin typeface="charter"/>
              </a:rPr>
              <a:t> + b, a and b being constants. </a:t>
            </a:r>
          </a:p>
          <a:p>
            <a:pPr lvl="1"/>
            <a:r>
              <a:rPr lang="en-US" b="0" i="0" dirty="0">
                <a:effectLst/>
                <a:latin typeface="charter"/>
              </a:rPr>
              <a:t>For example, Fahrenheit and Celsius scales, which differ in their Zero values size of a unit</a:t>
            </a:r>
          </a:p>
          <a:p>
            <a:r>
              <a:rPr lang="en-IN" i="0" dirty="0">
                <a:effectLst/>
                <a:latin typeface="charter"/>
              </a:rPr>
              <a:t>Ratio</a:t>
            </a:r>
          </a:p>
          <a:p>
            <a:pPr lvl="1"/>
            <a:r>
              <a:rPr lang="en-US" b="0" i="0" dirty="0">
                <a:effectLst/>
                <a:latin typeface="charter"/>
              </a:rPr>
              <a:t>These variables can be scaled to any particular measures, while maintaining the meaning and ratio of their values. </a:t>
            </a:r>
          </a:p>
          <a:p>
            <a:pPr lvl="1"/>
            <a:r>
              <a:rPr lang="en-US" b="0" i="0" dirty="0" err="1">
                <a:effectLst/>
                <a:latin typeface="charter"/>
              </a:rPr>
              <a:t>new_value</a:t>
            </a:r>
            <a:r>
              <a:rPr lang="en-US" b="0" i="0" dirty="0">
                <a:effectLst/>
                <a:latin typeface="charter"/>
              </a:rPr>
              <a:t> = a*</a:t>
            </a:r>
            <a:r>
              <a:rPr lang="en-US" b="0" i="0" dirty="0" err="1">
                <a:effectLst/>
                <a:latin typeface="charter"/>
              </a:rPr>
              <a:t>old_value</a:t>
            </a:r>
            <a:r>
              <a:rPr lang="en-US" b="0" i="0" dirty="0">
                <a:effectLst/>
                <a:latin typeface="charter"/>
              </a:rPr>
              <a:t> </a:t>
            </a:r>
          </a:p>
          <a:p>
            <a:pPr lvl="1"/>
            <a:r>
              <a:rPr lang="en-US" b="0" i="0" dirty="0">
                <a:effectLst/>
                <a:latin typeface="charter"/>
              </a:rPr>
              <a:t>length can be measured in meters or feet, money can be taken in different currencies.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76923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607FEB-083E-41C6-ADE7-B43DE0AC63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One Hot Encoding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867939B-CF26-4E85-9348-18EE7FFEFD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Dummy vars trap</a:t>
            </a:r>
          </a:p>
        </p:txBody>
      </p:sp>
    </p:spTree>
    <p:extLst>
      <p:ext uri="{BB962C8B-B14F-4D97-AF65-F5344CB8AC3E}">
        <p14:creationId xmlns="" xmlns:p14="http://schemas.microsoft.com/office/powerpoint/2010/main" val="3007149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334B33-3FC8-4B4B-ADCC-5EE20192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 Hot Encoding 				Dummy Vars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="" xmlns:a16="http://schemas.microsoft.com/office/drawing/2014/main" id="{7545161D-FB92-4875-A4A0-192F5455A0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600891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="" xmlns:a16="http://schemas.microsoft.com/office/drawing/2014/main" val="2983902449"/>
                    </a:ext>
                  </a:extLst>
                </a:gridCol>
                <a:gridCol w="1502228">
                  <a:extLst>
                    <a:ext uri="{9D8B030D-6E8A-4147-A177-3AD203B41FA5}">
                      <a16:colId xmlns="" xmlns:a16="http://schemas.microsoft.com/office/drawing/2014/main" val="1781557860"/>
                    </a:ext>
                  </a:extLst>
                </a:gridCol>
                <a:gridCol w="1502228">
                  <a:extLst>
                    <a:ext uri="{9D8B030D-6E8A-4147-A177-3AD203B41FA5}">
                      <a16:colId xmlns="" xmlns:a16="http://schemas.microsoft.com/office/drawing/2014/main" val="2027739405"/>
                    </a:ext>
                  </a:extLst>
                </a:gridCol>
                <a:gridCol w="1502228">
                  <a:extLst>
                    <a:ext uri="{9D8B030D-6E8A-4147-A177-3AD203B41FA5}">
                      <a16:colId xmlns="" xmlns:a16="http://schemas.microsoft.com/office/drawing/2014/main" val="2852272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Years of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of years of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Last Degree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12766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M.Sc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3009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M.Tech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1499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M.Tech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91764702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="" xmlns:a16="http://schemas.microsoft.com/office/drawing/2014/main" id="{E2A7EE3F-9C0D-45DD-A6A5-B6D7054818EA}"/>
              </a:ext>
            </a:extLst>
          </p:cNvPr>
          <p:cNvSpPr txBox="1">
            <a:spLocks/>
          </p:cNvSpPr>
          <p:nvPr/>
        </p:nvSpPr>
        <p:spPr>
          <a:xfrm>
            <a:off x="838200" y="44283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Y= b</a:t>
            </a:r>
            <a:r>
              <a:rPr lang="en-IN" baseline="-25000" dirty="0"/>
              <a:t>0 </a:t>
            </a:r>
            <a:r>
              <a:rPr lang="en-IN" dirty="0"/>
              <a:t>+ b</a:t>
            </a:r>
            <a:r>
              <a:rPr lang="en-IN" baseline="-25000" dirty="0"/>
              <a:t>1</a:t>
            </a:r>
            <a:r>
              <a:rPr lang="en-IN" dirty="0"/>
              <a:t>*x</a:t>
            </a:r>
            <a:r>
              <a:rPr lang="en-IN" baseline="-25000" dirty="0"/>
              <a:t>1</a:t>
            </a:r>
            <a:r>
              <a:rPr lang="en-IN" dirty="0"/>
              <a:t> + b</a:t>
            </a:r>
            <a:r>
              <a:rPr lang="en-IN" baseline="-25000" dirty="0"/>
              <a:t>2</a:t>
            </a:r>
            <a:r>
              <a:rPr lang="en-IN" dirty="0"/>
              <a:t>*x</a:t>
            </a:r>
            <a:r>
              <a:rPr lang="en-IN" baseline="-25000" dirty="0"/>
              <a:t>2</a:t>
            </a:r>
            <a:r>
              <a:rPr lang="en-IN" dirty="0"/>
              <a:t> + b</a:t>
            </a:r>
            <a:r>
              <a:rPr lang="en-IN" baseline="-25000" dirty="0"/>
              <a:t>3</a:t>
            </a:r>
            <a:r>
              <a:rPr lang="en-IN" dirty="0"/>
              <a:t>*D</a:t>
            </a:r>
            <a:r>
              <a:rPr lang="en-IN" baseline="-25000" dirty="0"/>
              <a:t>1</a:t>
            </a:r>
            <a:r>
              <a:rPr lang="en-IN" dirty="0"/>
              <a:t> </a:t>
            </a:r>
            <a:r>
              <a:rPr lang="en-IN" sz="3600" dirty="0"/>
              <a:t>(for M.Sc.)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54095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334B33-3FC8-4B4B-ADCC-5EE20192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Dummy Vars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="" xmlns:a16="http://schemas.microsoft.com/office/drawing/2014/main" id="{7545161D-FB92-4875-A4A0-192F5455A0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90133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="" xmlns:a16="http://schemas.microsoft.com/office/drawing/2014/main" val="2983902449"/>
                    </a:ext>
                  </a:extLst>
                </a:gridCol>
                <a:gridCol w="1502228">
                  <a:extLst>
                    <a:ext uri="{9D8B030D-6E8A-4147-A177-3AD203B41FA5}">
                      <a16:colId xmlns="" xmlns:a16="http://schemas.microsoft.com/office/drawing/2014/main" val="1781557860"/>
                    </a:ext>
                  </a:extLst>
                </a:gridCol>
                <a:gridCol w="1502228">
                  <a:extLst>
                    <a:ext uri="{9D8B030D-6E8A-4147-A177-3AD203B41FA5}">
                      <a16:colId xmlns="" xmlns:a16="http://schemas.microsoft.com/office/drawing/2014/main" val="2027739405"/>
                    </a:ext>
                  </a:extLst>
                </a:gridCol>
                <a:gridCol w="1502228">
                  <a:extLst>
                    <a:ext uri="{9D8B030D-6E8A-4147-A177-3AD203B41FA5}">
                      <a16:colId xmlns="" xmlns:a16="http://schemas.microsoft.com/office/drawing/2014/main" val="2852272155"/>
                    </a:ext>
                  </a:extLst>
                </a:gridCol>
                <a:gridCol w="1502228">
                  <a:extLst>
                    <a:ext uri="{9D8B030D-6E8A-4147-A177-3AD203B41FA5}">
                      <a16:colId xmlns="" xmlns:a16="http://schemas.microsoft.com/office/drawing/2014/main" val="3997604221"/>
                    </a:ext>
                  </a:extLst>
                </a:gridCol>
                <a:gridCol w="1502228">
                  <a:extLst>
                    <a:ext uri="{9D8B030D-6E8A-4147-A177-3AD203B41FA5}">
                      <a16:colId xmlns="" xmlns:a16="http://schemas.microsoft.com/office/drawing/2014/main" val="183520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Years of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of years of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Last Degree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M.Sc.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M.Tech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12766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M.Sc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3009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M.Tech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1499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M.Tech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91764702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="" xmlns:a16="http://schemas.microsoft.com/office/drawing/2014/main" id="{E2A7EE3F-9C0D-45DD-A6A5-B6D7054818EA}"/>
              </a:ext>
            </a:extLst>
          </p:cNvPr>
          <p:cNvSpPr txBox="1">
            <a:spLocks/>
          </p:cNvSpPr>
          <p:nvPr/>
        </p:nvSpPr>
        <p:spPr>
          <a:xfrm>
            <a:off x="838200" y="44283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Y= b</a:t>
            </a:r>
            <a:r>
              <a:rPr lang="en-IN" baseline="-25000" dirty="0"/>
              <a:t>0 </a:t>
            </a:r>
            <a:r>
              <a:rPr lang="en-IN" dirty="0"/>
              <a:t>+ b</a:t>
            </a:r>
            <a:r>
              <a:rPr lang="en-IN" baseline="-25000" dirty="0"/>
              <a:t>1</a:t>
            </a:r>
            <a:r>
              <a:rPr lang="en-IN" dirty="0"/>
              <a:t>*x</a:t>
            </a:r>
            <a:r>
              <a:rPr lang="en-IN" baseline="-25000" dirty="0"/>
              <a:t>1</a:t>
            </a:r>
            <a:r>
              <a:rPr lang="en-IN" dirty="0"/>
              <a:t> + b</a:t>
            </a:r>
            <a:r>
              <a:rPr lang="en-IN" baseline="-25000" dirty="0"/>
              <a:t>2</a:t>
            </a:r>
            <a:r>
              <a:rPr lang="en-IN" dirty="0"/>
              <a:t>*x</a:t>
            </a:r>
            <a:r>
              <a:rPr lang="en-IN" baseline="-25000" dirty="0"/>
              <a:t>2</a:t>
            </a:r>
            <a:r>
              <a:rPr lang="en-IN" dirty="0"/>
              <a:t> + b</a:t>
            </a:r>
            <a:r>
              <a:rPr lang="en-IN" baseline="-25000" dirty="0"/>
              <a:t>3</a:t>
            </a:r>
            <a:r>
              <a:rPr lang="en-IN" dirty="0"/>
              <a:t>*D</a:t>
            </a:r>
            <a:r>
              <a:rPr lang="en-IN" baseline="-25000" dirty="0"/>
              <a:t>1</a:t>
            </a:r>
            <a:r>
              <a:rPr lang="en-IN" dirty="0"/>
              <a:t> </a:t>
            </a:r>
            <a:r>
              <a:rPr lang="en-IN" sz="3600" dirty="0"/>
              <a:t>(for M.Sc.)</a:t>
            </a: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B324732E-5B1B-4045-ACFF-E6007B82001A}"/>
              </a:ext>
            </a:extLst>
          </p:cNvPr>
          <p:cNvCxnSpPr/>
          <p:nvPr/>
        </p:nvCxnSpPr>
        <p:spPr>
          <a:xfrm>
            <a:off x="5416062" y="1927274"/>
            <a:ext cx="1252024" cy="15017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3ED2CB9-1ADB-4E36-9AA5-9B4D202C5337}"/>
              </a:ext>
            </a:extLst>
          </p:cNvPr>
          <p:cNvCxnSpPr/>
          <p:nvPr/>
        </p:nvCxnSpPr>
        <p:spPr>
          <a:xfrm flipH="1">
            <a:off x="5387926" y="1895965"/>
            <a:ext cx="1434904" cy="16033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06367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489417-64E3-4E1F-AB39-9F8F927E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Dummy Var 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9A4B1A-8830-4E71-A90D-27EDBD1F9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we will take var for each dummy vars like</a:t>
            </a:r>
          </a:p>
          <a:p>
            <a:pPr lvl="1"/>
            <a:r>
              <a:rPr lang="en-IN" dirty="0"/>
              <a:t>Y= b</a:t>
            </a:r>
            <a:r>
              <a:rPr lang="en-IN" baseline="-25000" dirty="0"/>
              <a:t>0 </a:t>
            </a:r>
            <a:r>
              <a:rPr lang="en-IN" dirty="0"/>
              <a:t>+ b</a:t>
            </a:r>
            <a:r>
              <a:rPr lang="en-IN" baseline="-25000" dirty="0"/>
              <a:t>1</a:t>
            </a:r>
            <a:r>
              <a:rPr lang="en-IN" dirty="0"/>
              <a:t>*x</a:t>
            </a:r>
            <a:r>
              <a:rPr lang="en-IN" baseline="-25000" dirty="0"/>
              <a:t>1</a:t>
            </a:r>
            <a:r>
              <a:rPr lang="en-IN" dirty="0"/>
              <a:t> + b</a:t>
            </a:r>
            <a:r>
              <a:rPr lang="en-IN" baseline="-25000" dirty="0"/>
              <a:t>2</a:t>
            </a:r>
            <a:r>
              <a:rPr lang="en-IN" dirty="0"/>
              <a:t>*x</a:t>
            </a:r>
            <a:r>
              <a:rPr lang="en-IN" baseline="-25000" dirty="0"/>
              <a:t>2</a:t>
            </a:r>
            <a:r>
              <a:rPr lang="en-IN" dirty="0"/>
              <a:t> + b</a:t>
            </a:r>
            <a:r>
              <a:rPr lang="en-IN" baseline="-25000" dirty="0"/>
              <a:t>3</a:t>
            </a:r>
            <a:r>
              <a:rPr lang="en-IN" dirty="0"/>
              <a:t>*D</a:t>
            </a:r>
            <a:r>
              <a:rPr lang="en-IN" baseline="-25000" dirty="0"/>
              <a:t>1</a:t>
            </a:r>
            <a:r>
              <a:rPr lang="en-IN" sz="1200" dirty="0"/>
              <a:t> </a:t>
            </a:r>
            <a:r>
              <a:rPr lang="en-IN" dirty="0"/>
              <a:t>(for M.Sc.) +b</a:t>
            </a:r>
            <a:r>
              <a:rPr lang="en-IN" baseline="-25000" dirty="0"/>
              <a:t>4</a:t>
            </a:r>
            <a:r>
              <a:rPr lang="en-IN" dirty="0"/>
              <a:t>*D</a:t>
            </a:r>
            <a:r>
              <a:rPr lang="en-IN" baseline="-25000" dirty="0"/>
              <a:t>2</a:t>
            </a:r>
            <a:r>
              <a:rPr lang="en-IN" dirty="0"/>
              <a:t>(for </a:t>
            </a:r>
            <a:r>
              <a:rPr lang="en-IN" dirty="0" err="1"/>
              <a:t>M.Tech</a:t>
            </a:r>
            <a:r>
              <a:rPr lang="en-IN" dirty="0"/>
              <a:t>.)</a:t>
            </a:r>
          </a:p>
          <a:p>
            <a:pPr lvl="1"/>
            <a:r>
              <a:rPr lang="en-IN" dirty="0"/>
              <a:t>We will duplicate the vars because D</a:t>
            </a:r>
            <a:r>
              <a:rPr lang="en-IN" baseline="-25000" dirty="0"/>
              <a:t>2</a:t>
            </a:r>
            <a:r>
              <a:rPr lang="en-IN" dirty="0"/>
              <a:t>=D</a:t>
            </a:r>
            <a:r>
              <a:rPr lang="en-IN" baseline="-25000" dirty="0"/>
              <a:t>1</a:t>
            </a:r>
            <a:r>
              <a:rPr lang="en-IN" dirty="0"/>
              <a:t>-1</a:t>
            </a:r>
          </a:p>
          <a:p>
            <a:pPr lvl="1"/>
            <a:r>
              <a:rPr lang="en-IN" dirty="0"/>
              <a:t>Model will not distinguish the effect of D1 from the effect of D2.</a:t>
            </a:r>
          </a:p>
          <a:p>
            <a:pPr lvl="1"/>
            <a:r>
              <a:rPr lang="en-IN" dirty="0"/>
              <a:t>This is called the dummy var trap</a:t>
            </a:r>
          </a:p>
          <a:p>
            <a:pPr lvl="1"/>
            <a:r>
              <a:rPr lang="en-IN" dirty="0"/>
              <a:t>We can not have constant and all dummy vars at the same time.</a:t>
            </a:r>
          </a:p>
          <a:p>
            <a:pPr lvl="1"/>
            <a:r>
              <a:rPr lang="en-IN" dirty="0"/>
              <a:t>Whenever you build the model, always omit one dummy var.</a:t>
            </a:r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51692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E0483C-A4FB-4B72-B75E-18A9D852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AEE67F-72D1-4972-9E50-87DD8A37E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Lato"/>
              </a:rPr>
              <a:t>Some machine learning algorithms are sensitive to feature scaling while others are virtually invariant to it.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We need to perform Feature Scaling when we are dealing with </a:t>
            </a:r>
          </a:p>
          <a:p>
            <a:pPr lvl="1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Gradient Descent Based algorithms and</a:t>
            </a:r>
          </a:p>
          <a:p>
            <a:pPr lvl="2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Linear and Logistic Regression, Neural Network </a:t>
            </a:r>
          </a:p>
          <a:p>
            <a:pPr lvl="1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Distance-based algorithms </a:t>
            </a:r>
          </a:p>
          <a:p>
            <a:pPr lvl="2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KNN, K-means, SVM</a:t>
            </a:r>
          </a:p>
          <a:p>
            <a:pPr lvl="1"/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A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 </a:t>
            </a:r>
            <a:r>
              <a:rPr lang="en-US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these algorithms are 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very sensitive to the range of the data points.</a:t>
            </a:r>
            <a:endParaRPr lang="en-US" b="0" i="0" dirty="0">
              <a:solidFill>
                <a:srgbClr val="222222"/>
              </a:solidFill>
              <a:effectLst/>
              <a:latin typeface="Lato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79916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640FA4-6240-4768-916F-C2D44CD41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549666A-3BE1-487B-8976-8FB42061F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269207"/>
            <a:ext cx="5157787" cy="823912"/>
          </a:xfrm>
        </p:spPr>
        <p:txBody>
          <a:bodyPr/>
          <a:lstStyle/>
          <a:p>
            <a:r>
              <a:rPr lang="en-US" b="0" dirty="0"/>
              <a:t>Standardization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553984B-E0D4-464A-AEB3-38F39AE98CF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6611" y="2164483"/>
                <a:ext cx="5157787" cy="368458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X’=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σ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Values are shifted and rescaled so that they end up ranging between -3 and +3.</a:t>
                </a:r>
              </a:p>
              <a:p>
                <a:r>
                  <a:rPr lang="en-US" dirty="0"/>
                  <a:t>the values are centered around the mean with a unit standard deviation. </a:t>
                </a:r>
              </a:p>
              <a:p>
                <a:r>
                  <a:rPr lang="en-US"/>
                  <a:t>converts the data to mean of 0 and standard deviation of 1.</a:t>
                </a:r>
                <a:endParaRPr lang="en-US" dirty="0"/>
              </a:p>
              <a:p>
                <a:r>
                  <a:rPr lang="en-US" dirty="0"/>
                  <a:t>Works all the time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="" xmlns:a16="http://schemas.microsoft.com/office/drawing/2014/main" id="{0553984B-E0D4-464A-AEB3-38F39AE9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6611" y="2164483"/>
                <a:ext cx="5157787" cy="3684588"/>
              </a:xfrm>
              <a:blipFill>
                <a:blip r:embed="rId2"/>
                <a:stretch>
                  <a:fillRect l="-1773" t="-2483" r="-28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AB87FF97-2BA5-4716-92BF-7D74276BEF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269207"/>
            <a:ext cx="5183188" cy="823912"/>
          </a:xfrm>
        </p:spPr>
        <p:txBody>
          <a:bodyPr/>
          <a:lstStyle/>
          <a:p>
            <a:r>
              <a:rPr lang="en-US" b="0" dirty="0"/>
              <a:t>Normalization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FCDE542-6878-4141-919E-9A88B5D2AD59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97604" y="2164483"/>
                <a:ext cx="5183188" cy="3684588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𝑋𝑚𝑖𝑛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𝑋𝑚𝑖𝑛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values are shifted and rescaled so that they end up ranging between 0 and 1. </a:t>
                </a:r>
              </a:p>
              <a:p>
                <a:r>
                  <a:rPr lang="en-US" dirty="0"/>
                  <a:t>It is also known as Min-Max scaling.</a:t>
                </a:r>
              </a:p>
              <a:p>
                <a:r>
                  <a:rPr lang="en-US" dirty="0"/>
                  <a:t>Is recommended when we have normal distribution in most of the features.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="" xmlns:a16="http://schemas.microsoft.com/office/drawing/2014/main" id="{DFCDE542-6878-4141-919E-9A88B5D2A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97604" y="2164483"/>
                <a:ext cx="5183188" cy="3684588"/>
              </a:xfrm>
              <a:blipFill>
                <a:blip r:embed="rId3"/>
                <a:stretch>
                  <a:fillRect l="-1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1596188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316610-0822-4A99-87D2-043F5436B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C36FC921-196D-4910-83AC-FD64FF3776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09" y="1690688"/>
            <a:ext cx="4417378" cy="43513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0C0F80C-4EC9-4588-90BA-EE9E7D5A5864}"/>
              </a:ext>
            </a:extLst>
          </p:cNvPr>
          <p:cNvSpPr txBox="1"/>
          <p:nvPr/>
        </p:nvSpPr>
        <p:spPr>
          <a:xfrm>
            <a:off x="5778304" y="3005063"/>
            <a:ext cx="609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1" dirty="0">
                <a:solidFill>
                  <a:srgbClr val="292929"/>
                </a:solidFill>
                <a:effectLst/>
                <a:latin typeface="charter"/>
              </a:rPr>
              <a:t>Gaussian Distribution</a:t>
            </a:r>
            <a:r>
              <a:rPr lang="en-IN" b="0" i="0" dirty="0">
                <a:solidFill>
                  <a:srgbClr val="292929"/>
                </a:solidFill>
                <a:effectLst/>
                <a:latin typeface="charter"/>
              </a:rPr>
              <a:t> — BMI, </a:t>
            </a:r>
            <a:r>
              <a:rPr lang="en-IN" b="0" i="0" dirty="0" err="1">
                <a:solidFill>
                  <a:srgbClr val="292929"/>
                </a:solidFill>
                <a:effectLst/>
                <a:latin typeface="charter"/>
              </a:rPr>
              <a:t>BloodPressure</a:t>
            </a:r>
            <a:r>
              <a:rPr lang="en-IN" b="0" i="0" dirty="0">
                <a:solidFill>
                  <a:srgbClr val="292929"/>
                </a:solidFill>
                <a:effectLst/>
                <a:latin typeface="charter"/>
              </a:rPr>
              <a:t>, Glucose.</a:t>
            </a:r>
          </a:p>
          <a:p>
            <a:pPr algn="l"/>
            <a:r>
              <a:rPr lang="en-IN" b="1" i="1" dirty="0">
                <a:solidFill>
                  <a:srgbClr val="292929"/>
                </a:solidFill>
                <a:effectLst/>
                <a:latin typeface="charter"/>
              </a:rPr>
              <a:t>Non-Gaussian Distribution</a:t>
            </a:r>
            <a:r>
              <a:rPr lang="en-IN" b="0" i="0" dirty="0">
                <a:solidFill>
                  <a:srgbClr val="292929"/>
                </a:solidFill>
                <a:effectLst/>
                <a:latin typeface="charter"/>
              </a:rPr>
              <a:t> — Age, </a:t>
            </a:r>
            <a:r>
              <a:rPr lang="en-IN" b="0" i="0" dirty="0" err="1">
                <a:solidFill>
                  <a:srgbClr val="292929"/>
                </a:solidFill>
                <a:effectLst/>
                <a:latin typeface="charter"/>
              </a:rPr>
              <a:t>DiabetesPedigreeFunction</a:t>
            </a:r>
            <a:r>
              <a:rPr lang="en-IN" b="0" i="0" dirty="0">
                <a:solidFill>
                  <a:srgbClr val="292929"/>
                </a:solidFill>
                <a:effectLst/>
                <a:latin typeface="charter"/>
              </a:rPr>
              <a:t>, Insulin, Pregnancies, </a:t>
            </a:r>
            <a:r>
              <a:rPr lang="en-IN" b="0" i="0" dirty="0" err="1">
                <a:solidFill>
                  <a:srgbClr val="292929"/>
                </a:solidFill>
                <a:effectLst/>
                <a:latin typeface="charter"/>
              </a:rPr>
              <a:t>SkinThickness</a:t>
            </a:r>
            <a:endParaRPr lang="en-IN" b="0" i="0" dirty="0">
              <a:solidFill>
                <a:srgbClr val="292929"/>
              </a:solidFill>
              <a:effectLst/>
              <a:latin typeface="char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3CEDCA5-0A3C-493C-941E-F6395635F4DF}"/>
              </a:ext>
            </a:extLst>
          </p:cNvPr>
          <p:cNvSpPr txBox="1"/>
          <p:nvPr/>
        </p:nvSpPr>
        <p:spPr>
          <a:xfrm>
            <a:off x="5427847" y="4596437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92929"/>
                </a:solidFill>
                <a:effectLst/>
                <a:latin typeface="sohne"/>
              </a:rPr>
              <a:t>Normalize Non-Gaussian features and Standardize Gaussian-like features</a:t>
            </a:r>
          </a:p>
        </p:txBody>
      </p:sp>
    </p:spTree>
    <p:extLst>
      <p:ext uri="{BB962C8B-B14F-4D97-AF65-F5344CB8AC3E}">
        <p14:creationId xmlns="" xmlns:p14="http://schemas.microsoft.com/office/powerpoint/2010/main" val="3429440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6E74C84B-F4B3-428D-B7F7-2E48D0E84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810" y="503237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features are now more comparable and will have a similar effect on the learning models</a:t>
            </a:r>
          </a:p>
        </p:txBody>
      </p:sp>
      <p:pic>
        <p:nvPicPr>
          <p:cNvPr id="1026" name="Picture 2" descr="Feature scaling: Normalization vs Standardization">
            <a:extLst>
              <a:ext uri="{FF2B5EF4-FFF2-40B4-BE49-F238E27FC236}">
                <a16:creationId xmlns="" xmlns:a16="http://schemas.microsoft.com/office/drawing/2014/main" id="{EC299DB6-B63C-4EEA-AD27-02F9C3CFE8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920" y="190572"/>
            <a:ext cx="7047914" cy="519735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806190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12DC197-3131-4EB8-9A14-78B780F85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 Requirement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D15DA4B-9D34-4D31-81ED-C90752EF9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0" i="0" dirty="0">
                <a:effectLst/>
                <a:latin typeface="Lato"/>
              </a:rPr>
              <a:t>Gradient Descent Based Algorithms</a:t>
            </a:r>
          </a:p>
          <a:p>
            <a:pPr lvl="1"/>
            <a:r>
              <a:rPr lang="en-US" i="0" u="none" strike="noStrike" dirty="0">
                <a:effectLst/>
                <a:latin typeface="Lato"/>
              </a:rPr>
              <a:t>linear regression</a:t>
            </a:r>
            <a:r>
              <a:rPr lang="en-US" i="0" dirty="0">
                <a:effectLst/>
                <a:latin typeface="Lato"/>
              </a:rPr>
              <a:t>, </a:t>
            </a:r>
            <a:r>
              <a:rPr lang="en-US" i="0" u="none" strike="noStrike" dirty="0">
                <a:effectLst/>
                <a:latin typeface="Lato"/>
              </a:rPr>
              <a:t>logistic regression</a:t>
            </a:r>
            <a:r>
              <a:rPr lang="en-US" i="0" dirty="0">
                <a:effectLst/>
                <a:latin typeface="Lato"/>
              </a:rPr>
              <a:t>, </a:t>
            </a:r>
            <a:r>
              <a:rPr lang="en-US" i="0" u="none" strike="noStrike" dirty="0">
                <a:effectLst/>
                <a:latin typeface="Lato"/>
              </a:rPr>
              <a:t>neural network</a:t>
            </a:r>
            <a:r>
              <a:rPr lang="en-US" i="0" dirty="0">
                <a:effectLst/>
                <a:latin typeface="Lato"/>
              </a:rPr>
              <a:t>, etc. that use gradient descent as an optimization technique require data to be scaled</a:t>
            </a:r>
          </a:p>
          <a:p>
            <a:pPr lvl="1"/>
            <a:r>
              <a:rPr lang="en-US" b="0" i="0" dirty="0">
                <a:effectLst/>
                <a:latin typeface="Lato"/>
              </a:rPr>
              <a:t>Having features on a similar scale can help the gradient descent converge more quickly towards the minima</a:t>
            </a:r>
          </a:p>
          <a:p>
            <a:r>
              <a:rPr lang="en-IN" b="0" i="0" dirty="0">
                <a:effectLst/>
                <a:latin typeface="Lato"/>
              </a:rPr>
              <a:t>Distance-Based Algorithms </a:t>
            </a:r>
            <a:endParaRPr lang="en-IN" dirty="0">
              <a:latin typeface="Lato"/>
            </a:endParaRPr>
          </a:p>
          <a:p>
            <a:pPr lvl="1"/>
            <a:r>
              <a:rPr lang="en-IN" b="0" i="0" dirty="0">
                <a:effectLst/>
                <a:latin typeface="Lato"/>
              </a:rPr>
              <a:t>KNN, K-means and SVM </a:t>
            </a:r>
          </a:p>
          <a:p>
            <a:pPr lvl="1"/>
            <a:r>
              <a:rPr lang="en-US" b="0" i="0" dirty="0">
                <a:effectLst/>
                <a:latin typeface="Lato"/>
              </a:rPr>
              <a:t>are most affected by the range of features. </a:t>
            </a:r>
            <a:endParaRPr lang="en-US" dirty="0">
              <a:latin typeface="Lato"/>
            </a:endParaRPr>
          </a:p>
          <a:p>
            <a:pPr lvl="1"/>
            <a:r>
              <a:rPr lang="en-US" i="0" dirty="0">
                <a:effectLst/>
                <a:latin typeface="Lato"/>
              </a:rPr>
              <a:t>they are using distances between data points to determine their similarity. </a:t>
            </a:r>
          </a:p>
          <a:p>
            <a:pPr lvl="1"/>
            <a:r>
              <a:rPr lang="en-US" i="0" dirty="0">
                <a:effectLst/>
                <a:latin typeface="Lato"/>
              </a:rPr>
              <a:t>there is a chance that higher weightage is given to features with </a:t>
            </a:r>
            <a:r>
              <a:rPr lang="en-US" b="0" i="0" dirty="0">
                <a:effectLst/>
                <a:latin typeface="Lato"/>
              </a:rPr>
              <a:t>higher magnitude. </a:t>
            </a:r>
            <a:endParaRPr lang="en-IN" b="0" i="0" dirty="0">
              <a:effectLst/>
              <a:latin typeface="Lato"/>
            </a:endParaRPr>
          </a:p>
          <a:p>
            <a:r>
              <a:rPr lang="en-IN" b="0" i="0" dirty="0">
                <a:effectLst/>
                <a:latin typeface="Lato"/>
              </a:rPr>
              <a:t>Tree-Based Algorithms</a:t>
            </a:r>
          </a:p>
          <a:p>
            <a:pPr lvl="1"/>
            <a:r>
              <a:rPr lang="en-US" b="0" i="0" dirty="0">
                <a:effectLst/>
                <a:latin typeface="Lato"/>
              </a:rPr>
              <a:t>are fairly insensitive to the scale of the features.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126549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4011D1-5E8B-49B6-BF44-E71B68B1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EDA688-7A6C-450A-8C29-341A7B1CC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Importing the libraries</a:t>
            </a:r>
          </a:p>
          <a:p>
            <a:r>
              <a:rPr lang="en-US" dirty="0"/>
              <a:t>Importing the dataset</a:t>
            </a:r>
          </a:p>
          <a:p>
            <a:r>
              <a:rPr lang="en-US" dirty="0"/>
              <a:t>Taking care of missing data</a:t>
            </a:r>
          </a:p>
          <a:p>
            <a:r>
              <a:rPr lang="en-US" dirty="0"/>
              <a:t>Encoding categorical data</a:t>
            </a:r>
          </a:p>
          <a:p>
            <a:pPr lvl="1"/>
            <a:r>
              <a:rPr lang="en-US" dirty="0"/>
              <a:t>Encoding the Independent Variable</a:t>
            </a:r>
          </a:p>
          <a:p>
            <a:pPr lvl="1"/>
            <a:r>
              <a:rPr lang="en-US" dirty="0"/>
              <a:t>Encoding the Dependent Variable</a:t>
            </a:r>
          </a:p>
          <a:p>
            <a:r>
              <a:rPr lang="en-US" dirty="0"/>
              <a:t>Splitting the dataset into the Training set and Test set</a:t>
            </a:r>
          </a:p>
          <a:p>
            <a:r>
              <a:rPr lang="en-US" dirty="0"/>
              <a:t>Feature Scaling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1778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EB7A9F-3F60-4FE5-9525-EE16A838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the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F8E9AEF-833E-4C0F-9851-16D075BF1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 </a:t>
            </a:r>
            <a:r>
              <a:rPr lang="en-US" dirty="0" err="1"/>
              <a:t>numpy</a:t>
            </a:r>
            <a:r>
              <a:rPr lang="en-US" dirty="0"/>
              <a:t> as np</a:t>
            </a:r>
          </a:p>
          <a:p>
            <a:r>
              <a:rPr lang="en-US" dirty="0"/>
              <a:t>import </a:t>
            </a:r>
            <a:r>
              <a:rPr lang="en-US" dirty="0" err="1"/>
              <a:t>matplotlib.pyplot</a:t>
            </a:r>
            <a:r>
              <a:rPr lang="en-US" dirty="0"/>
              <a:t> as 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import pandas as pd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02684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BE6A0C-4D82-4080-B392-6E03C0B3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the dataset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B9D94E6-5629-480F-B117-DB6039053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dataset = </a:t>
            </a:r>
            <a:r>
              <a:rPr lang="en-US" dirty="0" err="1"/>
              <a:t>pd.read_csv</a:t>
            </a:r>
            <a:r>
              <a:rPr lang="en-US" dirty="0"/>
              <a:t>('Data.csv')</a:t>
            </a:r>
          </a:p>
          <a:p>
            <a:r>
              <a:rPr lang="en-US" dirty="0"/>
              <a:t>X = </a:t>
            </a:r>
            <a:r>
              <a:rPr lang="en-US" dirty="0" err="1"/>
              <a:t>dataset.iloc</a:t>
            </a:r>
            <a:r>
              <a:rPr lang="en-US" dirty="0"/>
              <a:t>[:, :-1].values</a:t>
            </a:r>
          </a:p>
          <a:p>
            <a:r>
              <a:rPr lang="en-US" dirty="0"/>
              <a:t>y = </a:t>
            </a:r>
            <a:r>
              <a:rPr lang="en-US" dirty="0" err="1"/>
              <a:t>dataset.iloc</a:t>
            </a:r>
            <a:r>
              <a:rPr lang="en-US" dirty="0"/>
              <a:t>[:, -1].values</a:t>
            </a:r>
          </a:p>
          <a:p>
            <a:endParaRPr lang="en-US" dirty="0"/>
          </a:p>
          <a:p>
            <a:r>
              <a:rPr lang="en-US" dirty="0"/>
              <a:t>print(X)</a:t>
            </a:r>
          </a:p>
          <a:p>
            <a:pPr lvl="1"/>
            <a:r>
              <a:rPr lang="en-US" dirty="0"/>
              <a:t>[['France' 44.0 72000.0] ['Spain' 27.0 48000.0] ['Germany' 30.0 54000.0] ['Spain' 38.0 61000.0] ['Germany' 40.0 nan] ['France' 35.0 58000.0] ['Spain' nan 52000.0] ['France' 48.0 79000.0] ['Germany' 50.0 83000.0] ['France' 37.0 67000.0]]</a:t>
            </a:r>
          </a:p>
          <a:p>
            <a:r>
              <a:rPr lang="en-US" dirty="0"/>
              <a:t>print(y)</a:t>
            </a:r>
          </a:p>
          <a:p>
            <a:pPr lvl="1"/>
            <a:r>
              <a:rPr lang="en-US" dirty="0"/>
              <a:t>['No' 'Yes' 'No' 'No' 'Yes' 'Yes' 'No' 'Yes' 'No' 'Yes']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90895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1DEB16-58C6-45C7-8827-9EC05C8C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(data.csv)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579710B7-23BB-4C98-B7B9-8E9FD0A0A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007902337"/>
              </p:ext>
            </p:extLst>
          </p:nvPr>
        </p:nvGraphicFramePr>
        <p:xfrm>
          <a:off x="3587262" y="2145824"/>
          <a:ext cx="5683344" cy="3436620"/>
        </p:xfrm>
        <a:graphic>
          <a:graphicData uri="http://schemas.openxmlformats.org/drawingml/2006/table">
            <a:tbl>
              <a:tblPr/>
              <a:tblGrid>
                <a:gridCol w="1420836">
                  <a:extLst>
                    <a:ext uri="{9D8B030D-6E8A-4147-A177-3AD203B41FA5}">
                      <a16:colId xmlns="" xmlns:a16="http://schemas.microsoft.com/office/drawing/2014/main" val="1712971888"/>
                    </a:ext>
                  </a:extLst>
                </a:gridCol>
                <a:gridCol w="675250">
                  <a:extLst>
                    <a:ext uri="{9D8B030D-6E8A-4147-A177-3AD203B41FA5}">
                      <a16:colId xmlns="" xmlns:a16="http://schemas.microsoft.com/office/drawing/2014/main" val="3744776702"/>
                    </a:ext>
                  </a:extLst>
                </a:gridCol>
                <a:gridCol w="1209821">
                  <a:extLst>
                    <a:ext uri="{9D8B030D-6E8A-4147-A177-3AD203B41FA5}">
                      <a16:colId xmlns="" xmlns:a16="http://schemas.microsoft.com/office/drawing/2014/main" val="290421563"/>
                    </a:ext>
                  </a:extLst>
                </a:gridCol>
                <a:gridCol w="2377437">
                  <a:extLst>
                    <a:ext uri="{9D8B030D-6E8A-4147-A177-3AD203B41FA5}">
                      <a16:colId xmlns="" xmlns:a16="http://schemas.microsoft.com/office/drawing/2014/main" val="179312787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Country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Age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Salary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Purchased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18673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France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44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72000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No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10007881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Spain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27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48000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604332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Germany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30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54000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No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365690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Spain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38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61000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No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353470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Germany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40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086149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France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35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58000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4338066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Spain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52000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No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511928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France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48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79000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2997235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Germany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50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83000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No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11385999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>
                          <a:effectLst/>
                        </a:rPr>
                        <a:t>France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37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67000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35060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717205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8B4E91-7C4C-4C9A-9913-739A6F87B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care of missing data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9FFA98-830E-4197-8732-0DC5723B3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from </a:t>
            </a:r>
            <a:r>
              <a:rPr lang="en-US" dirty="0" err="1"/>
              <a:t>sklearn.impute</a:t>
            </a:r>
            <a:r>
              <a:rPr lang="en-US" dirty="0"/>
              <a:t> import </a:t>
            </a:r>
            <a:r>
              <a:rPr lang="en-US" dirty="0" err="1"/>
              <a:t>SimpleImputer</a:t>
            </a:r>
            <a:endParaRPr lang="en-US" dirty="0"/>
          </a:p>
          <a:p>
            <a:r>
              <a:rPr lang="en-US" dirty="0"/>
              <a:t>imputer = </a:t>
            </a:r>
            <a:r>
              <a:rPr lang="en-US" dirty="0" err="1"/>
              <a:t>SimpleImputer</a:t>
            </a:r>
            <a:r>
              <a:rPr lang="en-US" dirty="0"/>
              <a:t>(</a:t>
            </a:r>
            <a:r>
              <a:rPr lang="en-US" dirty="0" err="1"/>
              <a:t>missing_values</a:t>
            </a:r>
            <a:r>
              <a:rPr lang="en-US" dirty="0"/>
              <a:t>=</a:t>
            </a:r>
            <a:r>
              <a:rPr lang="en-US" dirty="0" err="1"/>
              <a:t>np.nan</a:t>
            </a:r>
            <a:r>
              <a:rPr lang="en-US" dirty="0"/>
              <a:t>, strategy='mean')</a:t>
            </a:r>
          </a:p>
          <a:p>
            <a:r>
              <a:rPr lang="en-US" dirty="0" err="1"/>
              <a:t>imputer.fit</a:t>
            </a:r>
            <a:r>
              <a:rPr lang="en-US" dirty="0"/>
              <a:t>(X[:, 1:3])</a:t>
            </a:r>
          </a:p>
          <a:p>
            <a:r>
              <a:rPr lang="en-US" dirty="0"/>
              <a:t>X[:, 1:3] = </a:t>
            </a:r>
            <a:r>
              <a:rPr lang="en-US" dirty="0" err="1"/>
              <a:t>imputer.transform</a:t>
            </a:r>
            <a:r>
              <a:rPr lang="en-US" dirty="0"/>
              <a:t>(X[:, 1:3])</a:t>
            </a:r>
          </a:p>
          <a:p>
            <a:endParaRPr lang="en-US" dirty="0"/>
          </a:p>
          <a:p>
            <a:r>
              <a:rPr lang="en-US" dirty="0"/>
              <a:t>print(X)</a:t>
            </a:r>
          </a:p>
          <a:p>
            <a:pPr lvl="1"/>
            <a:r>
              <a:rPr lang="en-US" dirty="0"/>
              <a:t>[['France' 44.0   72000.0] ['Spain' 27.0   48000.0] ['Germany' 30.0   54000.0] ['Spain' 38.0   61000.0] ['Germany' 40.0   63777.77777777778] ['France' 35.0  58000.0] ['Spain' 38.77777777777778   52000.0] ['France' 48.0   79000.0] ['Germany' 50.0   83000.0] ['France' 37.0   67000.0]]</a:t>
            </a:r>
          </a:p>
        </p:txBody>
      </p:sp>
    </p:spTree>
    <p:extLst>
      <p:ext uri="{BB962C8B-B14F-4D97-AF65-F5344CB8AC3E}">
        <p14:creationId xmlns="" xmlns:p14="http://schemas.microsoft.com/office/powerpoint/2010/main" val="3985395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9508F8-1349-42B3-96CB-8DD537006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pres?slideindex=1&amp;slidetitle="/>
              </a:rPr>
              <a:t>Encoding categorical data</a:t>
            </a:r>
            <a:r>
              <a:rPr lang="en-US" dirty="0"/>
              <a:t>:</a:t>
            </a:r>
            <a:br>
              <a:rPr lang="en-US" dirty="0"/>
            </a:br>
            <a:r>
              <a:rPr lang="en-US" sz="3600" dirty="0"/>
              <a:t>Encoding the Independent Variable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2D0A6A-8E24-4BF0-82CA-AE79817BA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from </a:t>
            </a:r>
            <a:r>
              <a:rPr lang="en-US" dirty="0" err="1"/>
              <a:t>sklearn.compose</a:t>
            </a:r>
            <a:r>
              <a:rPr lang="en-US" dirty="0"/>
              <a:t> import </a:t>
            </a:r>
            <a:r>
              <a:rPr lang="en-US" dirty="0" err="1"/>
              <a:t>ColumnTransformer</a:t>
            </a:r>
            <a:endParaRPr lang="en-US" dirty="0"/>
          </a:p>
          <a:p>
            <a:r>
              <a:rPr lang="en-US" dirty="0"/>
              <a:t>from </a:t>
            </a:r>
            <a:r>
              <a:rPr lang="en-US" dirty="0" err="1"/>
              <a:t>sklearn.preprocessing</a:t>
            </a:r>
            <a:r>
              <a:rPr lang="en-US" dirty="0"/>
              <a:t> import </a:t>
            </a:r>
            <a:r>
              <a:rPr lang="en-US" dirty="0" err="1"/>
              <a:t>OneHotEncoder</a:t>
            </a:r>
            <a:endParaRPr lang="en-US" dirty="0"/>
          </a:p>
          <a:p>
            <a:r>
              <a:rPr lang="en-US" dirty="0" err="1"/>
              <a:t>ct</a:t>
            </a:r>
            <a:r>
              <a:rPr lang="en-US" dirty="0"/>
              <a:t> = </a:t>
            </a:r>
            <a:r>
              <a:rPr lang="en-US" dirty="0" err="1"/>
              <a:t>ColumnTransformer</a:t>
            </a:r>
            <a:r>
              <a:rPr lang="en-US" dirty="0"/>
              <a:t>(transformers=[('encoder', </a:t>
            </a:r>
            <a:r>
              <a:rPr lang="en-US" dirty="0" err="1"/>
              <a:t>OneHotEncoder</a:t>
            </a:r>
            <a:r>
              <a:rPr lang="en-US" dirty="0"/>
              <a:t>(), [0])], remainder='passthrough')</a:t>
            </a:r>
          </a:p>
          <a:p>
            <a:r>
              <a:rPr lang="en-US" dirty="0"/>
              <a:t>X = </a:t>
            </a:r>
            <a:r>
              <a:rPr lang="en-US" dirty="0" err="1"/>
              <a:t>np.array</a:t>
            </a:r>
            <a:r>
              <a:rPr lang="en-US" dirty="0"/>
              <a:t>(</a:t>
            </a:r>
            <a:r>
              <a:rPr lang="en-US" dirty="0" err="1"/>
              <a:t>ct.fit_transform</a:t>
            </a:r>
            <a:r>
              <a:rPr lang="en-US" dirty="0"/>
              <a:t>(X))</a:t>
            </a:r>
          </a:p>
          <a:p>
            <a:endParaRPr lang="en-US" dirty="0"/>
          </a:p>
          <a:p>
            <a:r>
              <a:rPr lang="en-US" dirty="0"/>
              <a:t>print(X)</a:t>
            </a:r>
          </a:p>
          <a:p>
            <a:pPr lvl="1"/>
            <a:r>
              <a:rPr lang="en-US" dirty="0"/>
              <a:t>[[1.0  0.0  0.0  44.0  72000.0] [0.0  0.0  1.0  27.0  48000.0] [0.0  1.0  0.0  30.0  54000.0] [0.0  0.0  1.0  38.0  61000.0] [0.0  1.0  0.0  40.0  63777.77777777778] [1.0  0.0  0.0  35.0  58000.0] [0.0  0.0  1.0  38.77777777777778  52000.0] [1.0  0.0  0.0  48.0  79000.0] [0.0  1.0  0.0  50.0  83000.0] [1.0  0.0  0.0  37.0  67000.0]]</a:t>
            </a:r>
          </a:p>
        </p:txBody>
      </p:sp>
    </p:spTree>
    <p:extLst>
      <p:ext uri="{BB962C8B-B14F-4D97-AF65-F5344CB8AC3E}">
        <p14:creationId xmlns="" xmlns:p14="http://schemas.microsoft.com/office/powerpoint/2010/main" val="3120596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6C408F-0EEB-41CE-B5ED-FD247CF0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Encoding categorical data:</a:t>
            </a:r>
            <a:br>
              <a:rPr lang="en-US" dirty="0"/>
            </a:br>
            <a:r>
              <a:rPr lang="en-US" sz="3600" dirty="0"/>
              <a:t>Encoding the Dependent Variable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B1713BE-89AE-4BD7-852D-F92257C41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 </a:t>
            </a:r>
            <a:r>
              <a:rPr lang="en-US" dirty="0" err="1"/>
              <a:t>sklearn.preprocessing</a:t>
            </a:r>
            <a:r>
              <a:rPr lang="en-US" dirty="0"/>
              <a:t> import </a:t>
            </a:r>
            <a:r>
              <a:rPr lang="en-US" dirty="0" err="1"/>
              <a:t>LabelEncoder</a:t>
            </a:r>
            <a:endParaRPr lang="en-US" dirty="0"/>
          </a:p>
          <a:p>
            <a:r>
              <a:rPr lang="en-US" dirty="0"/>
              <a:t>le = </a:t>
            </a:r>
            <a:r>
              <a:rPr lang="en-US" dirty="0" err="1"/>
              <a:t>LabelEncoder</a:t>
            </a:r>
            <a:r>
              <a:rPr lang="en-US" dirty="0"/>
              <a:t>()</a:t>
            </a:r>
          </a:p>
          <a:p>
            <a:r>
              <a:rPr lang="en-US" dirty="0"/>
              <a:t>y = </a:t>
            </a:r>
            <a:r>
              <a:rPr lang="en-US" dirty="0" err="1"/>
              <a:t>le.fit_transform</a:t>
            </a:r>
            <a:r>
              <a:rPr lang="en-US" dirty="0"/>
              <a:t>(y)</a:t>
            </a:r>
          </a:p>
          <a:p>
            <a:endParaRPr lang="en-US" dirty="0"/>
          </a:p>
          <a:p>
            <a:r>
              <a:rPr lang="en-US" dirty="0"/>
              <a:t>print(y)</a:t>
            </a:r>
          </a:p>
          <a:p>
            <a:pPr lvl="1"/>
            <a:r>
              <a:rPr lang="en-US" dirty="0"/>
              <a:t>[0 1 0 0 1 1 0 1 0 1]</a:t>
            </a:r>
          </a:p>
        </p:txBody>
      </p:sp>
    </p:spTree>
    <p:extLst>
      <p:ext uri="{BB962C8B-B14F-4D97-AF65-F5344CB8AC3E}">
        <p14:creationId xmlns="" xmlns:p14="http://schemas.microsoft.com/office/powerpoint/2010/main" val="2099748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295AD5-D697-49FF-BB96-A62F34CB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Splitting the dataset into the Training set and Test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B0F915A-B167-4DDF-B199-28EC6853C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from </a:t>
            </a:r>
            <a:r>
              <a:rPr lang="en-US" dirty="0" err="1"/>
              <a:t>sklearn.model_selection</a:t>
            </a:r>
            <a:r>
              <a:rPr lang="en-US" dirty="0"/>
              <a:t> import </a:t>
            </a:r>
            <a:r>
              <a:rPr lang="en-US" dirty="0" err="1"/>
              <a:t>train_test_split</a:t>
            </a:r>
            <a:endParaRPr lang="en-US" dirty="0"/>
          </a:p>
          <a:p>
            <a:r>
              <a:rPr lang="en-US" dirty="0" err="1"/>
              <a:t>X_train</a:t>
            </a:r>
            <a:r>
              <a:rPr lang="en-US" dirty="0"/>
              <a:t>, </a:t>
            </a:r>
            <a:r>
              <a:rPr lang="en-US" dirty="0" err="1"/>
              <a:t>X_test</a:t>
            </a:r>
            <a:r>
              <a:rPr lang="en-US" dirty="0"/>
              <a:t>, </a:t>
            </a:r>
            <a:r>
              <a:rPr lang="en-US" dirty="0" err="1"/>
              <a:t>y_train</a:t>
            </a:r>
            <a:r>
              <a:rPr lang="en-US" dirty="0"/>
              <a:t>, </a:t>
            </a:r>
            <a:r>
              <a:rPr lang="en-US" dirty="0" err="1"/>
              <a:t>y_test</a:t>
            </a:r>
            <a:r>
              <a:rPr lang="en-US" dirty="0"/>
              <a:t> = </a:t>
            </a:r>
            <a:r>
              <a:rPr lang="en-US" dirty="0" err="1"/>
              <a:t>train_test_split</a:t>
            </a:r>
            <a:r>
              <a:rPr lang="en-US" dirty="0"/>
              <a:t>(X, y, </a:t>
            </a:r>
            <a:r>
              <a:rPr lang="en-US" dirty="0" err="1"/>
              <a:t>test_size</a:t>
            </a:r>
            <a:r>
              <a:rPr lang="en-US" dirty="0"/>
              <a:t> = 0.2, </a:t>
            </a:r>
            <a:r>
              <a:rPr lang="en-US" dirty="0" err="1"/>
              <a:t>random_state</a:t>
            </a:r>
            <a:r>
              <a:rPr lang="en-US" dirty="0"/>
              <a:t> = 1)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X_train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[[0.0 0.0 1.0 38.77777777777778 52000.0] [0.0 1.0 0.0 40.0 63777.77777777778] [1.0 0.0 0.0 44.0 72000.0] [0.0 0.0 1.0 38.0 61000.0] [0.0 0.0 1.0 27.0 48000.0] [1.0 0.0 0.0 48.0 79000.0] [0.0 1.0 0.0 50.0 83000.0] [1.0 0.0 0.0 35.0 58000.0]]</a:t>
            </a:r>
          </a:p>
          <a:p>
            <a:r>
              <a:rPr lang="en-US" dirty="0"/>
              <a:t>print(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[[0.0 1.0 0.0 30.0 54000.0] [1.0 0.0 0.0 37.0 67000.0]]</a:t>
            </a:r>
          </a:p>
        </p:txBody>
      </p:sp>
    </p:spTree>
    <p:extLst>
      <p:ext uri="{BB962C8B-B14F-4D97-AF65-F5344CB8AC3E}">
        <p14:creationId xmlns="" xmlns:p14="http://schemas.microsoft.com/office/powerpoint/2010/main" val="470121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AA1BFE-8C0B-4783-8F06-6F500E1B5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the dataset into the Training set and Test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5FB10D-CF28-4D7D-B848-3E001A3BA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[0 1 0 0 1 1 0 1]</a:t>
            </a:r>
          </a:p>
          <a:p>
            <a:r>
              <a:rPr lang="en-US" dirty="0"/>
              <a:t>print(</a:t>
            </a:r>
            <a:r>
              <a:rPr lang="en-US" dirty="0" err="1"/>
              <a:t>y_test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[0 1]</a:t>
            </a:r>
          </a:p>
        </p:txBody>
      </p:sp>
    </p:spTree>
    <p:extLst>
      <p:ext uri="{BB962C8B-B14F-4D97-AF65-F5344CB8AC3E}">
        <p14:creationId xmlns="" xmlns:p14="http://schemas.microsoft.com/office/powerpoint/2010/main" val="3916065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2BEDC7-B541-46DC-97C3-323AD7701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78B7AEB-F190-40D5-80BA-AD9464E45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from </a:t>
            </a:r>
            <a:r>
              <a:rPr lang="en-US" dirty="0" err="1"/>
              <a:t>sklearn.preprocessing</a:t>
            </a:r>
            <a:r>
              <a:rPr lang="en-US" dirty="0"/>
              <a:t> import </a:t>
            </a:r>
            <a:r>
              <a:rPr lang="en-US" dirty="0" err="1"/>
              <a:t>StandardScaler</a:t>
            </a:r>
            <a:endParaRPr lang="en-US" dirty="0"/>
          </a:p>
          <a:p>
            <a:r>
              <a:rPr lang="en-US" dirty="0" err="1"/>
              <a:t>sc</a:t>
            </a:r>
            <a:r>
              <a:rPr lang="en-US" dirty="0"/>
              <a:t> = </a:t>
            </a:r>
            <a:r>
              <a:rPr lang="en-US" dirty="0" err="1"/>
              <a:t>StandardScaler</a:t>
            </a:r>
            <a:r>
              <a:rPr lang="en-US" dirty="0"/>
              <a:t>()</a:t>
            </a:r>
          </a:p>
          <a:p>
            <a:r>
              <a:rPr lang="en-US" dirty="0" err="1"/>
              <a:t>X_train</a:t>
            </a:r>
            <a:r>
              <a:rPr lang="en-US" dirty="0"/>
              <a:t>[:, 3:] = </a:t>
            </a:r>
            <a:r>
              <a:rPr lang="en-US" dirty="0" err="1"/>
              <a:t>sc.fit_transform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[:, 3:])</a:t>
            </a:r>
          </a:p>
          <a:p>
            <a:r>
              <a:rPr lang="en-US" dirty="0" err="1"/>
              <a:t>X_test</a:t>
            </a:r>
            <a:r>
              <a:rPr lang="en-US" dirty="0"/>
              <a:t>[:, 3:] = </a:t>
            </a:r>
            <a:r>
              <a:rPr lang="en-US" dirty="0" err="1"/>
              <a:t>sc.transform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[:, 3:]) </a:t>
            </a:r>
          </a:p>
          <a:p>
            <a:pPr marL="0" indent="0">
              <a:buNone/>
            </a:pPr>
            <a:r>
              <a:rPr lang="en-US" dirty="0"/>
              <a:t>Note: for test set we will use same scaling so we will call only transform method in place of </a:t>
            </a:r>
            <a:r>
              <a:rPr lang="en-US" dirty="0" err="1"/>
              <a:t>fit_transform</a:t>
            </a:r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X_train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[[0.0 0.0 1.0 -0.19159184384578545 -1.0781259408412425] [0.0 1.0 0.0 -0.014117293757057777 -0.07013167641635372] [1.0 0.0 0.0 0.566708506533324 0.633562432710455] [0.0 0.0 1.0 -0.30453019390224867 -0.30786617274297867] [0.0 0.0 1.0 -1.9018011447007988 -1.420463615551582] [1.0 0.0 0.0 1.1475343068237058 1.232653363453549] [0.0 1.0 0.0 1.4379472069688968 1.5749910381638885] [1.0 0.0 0.0 -0.7401495441200351 -0.5646194287757332]]</a:t>
            </a:r>
          </a:p>
          <a:p>
            <a:r>
              <a:rPr lang="en-US" dirty="0"/>
              <a:t>print(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[[0.0 1.0 0.0 -1.4661817944830124 -0.9069571034860727] [1.0 0.0 0.0 -0.44973664397484414 0.2056403393225306]]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24605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789</Words>
  <Application>Microsoft Office PowerPoint</Application>
  <PresentationFormat>Custom</PresentationFormat>
  <Paragraphs>271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Data Preprocessing Tools</vt:lpstr>
      <vt:lpstr>Data Preprocessing</vt:lpstr>
      <vt:lpstr>Steps of Data Preprocessing</vt:lpstr>
      <vt:lpstr>Data Quality Assessment  </vt:lpstr>
      <vt:lpstr>Feature Aggregation</vt:lpstr>
      <vt:lpstr>Feature Discretization</vt:lpstr>
      <vt:lpstr>Feature Sampling</vt:lpstr>
      <vt:lpstr>Feature Sampling</vt:lpstr>
      <vt:lpstr>Dimensionality Reduction</vt:lpstr>
      <vt:lpstr>Dimensionality Reduction</vt:lpstr>
      <vt:lpstr>Feature Encoding</vt:lpstr>
      <vt:lpstr>General norms or rules which are followed when performing feature encoding</vt:lpstr>
      <vt:lpstr>One Hot Encoding</vt:lpstr>
      <vt:lpstr>One Hot Encoding     Dummy Vars</vt:lpstr>
      <vt:lpstr>Dummy Vars</vt:lpstr>
      <vt:lpstr>Dummy Var Trap</vt:lpstr>
      <vt:lpstr>Feature scaling</vt:lpstr>
      <vt:lpstr>Feature Scaling</vt:lpstr>
      <vt:lpstr>Slide 19</vt:lpstr>
      <vt:lpstr>features are now more comparable and will have a similar effect on the learning models</vt:lpstr>
      <vt:lpstr>Feature Scaling Requirement</vt:lpstr>
      <vt:lpstr>Framework</vt:lpstr>
      <vt:lpstr>Importing the libraries</vt:lpstr>
      <vt:lpstr>Importing the dataset </vt:lpstr>
      <vt:lpstr>Dataset (data.csv)</vt:lpstr>
      <vt:lpstr>Taking care of missing data </vt:lpstr>
      <vt:lpstr>Encoding categorical data: Encoding the Independent Variable</vt:lpstr>
      <vt:lpstr>Encoding categorical data: Encoding the Dependent Variable</vt:lpstr>
      <vt:lpstr>Splitting the dataset into the Training set and Test set</vt:lpstr>
      <vt:lpstr>Splitting the dataset into the Training set and Test set</vt:lpstr>
      <vt:lpstr>Feature Scaling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Preprocessing Tools</dc:title>
  <dc:creator>Lenovo</dc:creator>
  <cp:lastModifiedBy>Student</cp:lastModifiedBy>
  <cp:revision>135</cp:revision>
  <dcterms:created xsi:type="dcterms:W3CDTF">2021-03-18T14:08:24Z</dcterms:created>
  <dcterms:modified xsi:type="dcterms:W3CDTF">2025-08-25T06:32:04Z</dcterms:modified>
</cp:coreProperties>
</file>