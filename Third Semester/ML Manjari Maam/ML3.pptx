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351" r:id="rId3"/>
    <p:sldId id="352" r:id="rId4"/>
    <p:sldId id="353" r:id="rId5"/>
    <p:sldId id="354" r:id="rId6"/>
    <p:sldId id="355" r:id="rId7"/>
    <p:sldId id="356" r:id="rId8"/>
    <p:sldId id="357" r:id="rId9"/>
    <p:sldId id="358" r:id="rId10"/>
    <p:sldId id="359" r:id="rId11"/>
    <p:sldId id="360" r:id="rId12"/>
    <p:sldId id="361"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7" r:id="rId27"/>
    <p:sldId id="288" r:id="rId28"/>
    <p:sldId id="289" r:id="rId29"/>
    <p:sldId id="290" r:id="rId30"/>
  </p:sldIdLst>
  <p:sldSz cx="12192000" cy="6858000"/>
  <p:notesSz cx="6858000" cy="9144000"/>
  <p:embeddedFontLst>
    <p:embeddedFont>
      <p:font typeface="Trebuchet MS" pitchFamily="34" charset="0"/>
      <p:regular r:id="rId32"/>
      <p:bold r:id="rId33"/>
      <p:italic r:id="rId34"/>
      <p:boldItalic r:id="rId35"/>
    </p:embeddedFont>
    <p:embeddedFont>
      <p:font typeface="Calibri" pitchFamily="34" charset="0"/>
      <p:regular r:id="rId36"/>
      <p:bold r:id="rId37"/>
      <p:italic r:id="rId38"/>
      <p:boldItalic r:id="rId39"/>
    </p:embeddedFont>
    <p:embeddedFont>
      <p:font typeface="Lato"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4" roundtripDataSignature="AMtx7mgn9m3Ypkq6/mA8640CExNBO6x/I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78EC6E8E-6F0B-4602-9BB8-4EB90E122BEA}">
  <a:tblStyle styleId="{78EC6E8E-6F0B-4602-9BB8-4EB90E122BE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56" d="100"/>
          <a:sy n="156" d="100"/>
        </p:scale>
        <p:origin x="-3144"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12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124"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12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2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12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73e320c25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73e320c25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73e320c25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73e320c2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b81a1fde9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b81a1fde9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g2b81a1fde9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b81a1fde9d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b81a1fde9d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g2b81a1fde9d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b81a1fde9d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2b81a1fde9d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b81a1fde9d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2b81a1fde9d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b81a1fde9d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g2b81a1fde9d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b81a1fde9d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g2b81a1fde9d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b81a1fde9d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2b81a1fde9d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f26141527c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f26141527c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g2f26141527c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6"/>
        <p:cNvGrpSpPr/>
        <p:nvPr/>
      </p:nvGrpSpPr>
      <p:grpSpPr>
        <a:xfrm>
          <a:off x="0" y="0"/>
          <a:ext cx="0" cy="0"/>
          <a:chOff x="0" y="0"/>
          <a:chExt cx="0" cy="0"/>
        </a:xfrm>
      </p:grpSpPr>
      <p:grpSp>
        <p:nvGrpSpPr>
          <p:cNvPr id="27" name="Google Shape;27;p59"/>
          <p:cNvGrpSpPr/>
          <p:nvPr/>
        </p:nvGrpSpPr>
        <p:grpSpPr>
          <a:xfrm>
            <a:off x="0" y="-8467"/>
            <a:ext cx="12192000" cy="6866467"/>
            <a:chOff x="0" y="-8467"/>
            <a:chExt cx="12192000" cy="6866467"/>
          </a:xfrm>
        </p:grpSpPr>
        <p:cxnSp>
          <p:nvCxnSpPr>
            <p:cNvPr id="28" name="Google Shape;28;p59"/>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9" name="Google Shape;29;p59"/>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30" name="Google Shape;30;p59"/>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1" name="Google Shape;31;p59"/>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2" name="Google Shape;32;p59"/>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9"/>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4" name="Google Shape;34;p59"/>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5" name="Google Shape;35;p59"/>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6" name="Google Shape;36;p59"/>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9"/>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59"/>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9"/>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0" name="Google Shape;40;p5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
        <p:cNvGrpSpPr/>
        <p:nvPr/>
      </p:nvGrpSpPr>
      <p:grpSpPr>
        <a:xfrm>
          <a:off x="0" y="0"/>
          <a:ext cx="0" cy="0"/>
          <a:chOff x="0" y="0"/>
          <a:chExt cx="0" cy="0"/>
        </a:xfrm>
      </p:grpSpPr>
      <p:sp>
        <p:nvSpPr>
          <p:cNvPr id="44" name="Google Shape;44;p6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6" name="Google Shape;46;p6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61"/>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1"/>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2" name="Google Shape;52;p6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6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2"/>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8" name="Google Shape;58;p62"/>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9" name="Google Shape;59;p6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6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6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3"/>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5" name="Google Shape;65;p63"/>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6" name="Google Shape;66;p63"/>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7" name="Google Shape;67;p63"/>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8" name="Google Shape;68;p6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6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6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6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66"/>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6"/>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3" name="Google Shape;83;p66"/>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4" name="Google Shape;84;p6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6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67"/>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7"/>
          <p:cNvSpPr>
            <a:spLocks noGrp="1"/>
          </p:cNvSpPr>
          <p:nvPr>
            <p:ph type="pic" idx="2"/>
          </p:nvPr>
        </p:nvSpPr>
        <p:spPr>
          <a:xfrm>
            <a:off x="677334" y="609600"/>
            <a:ext cx="8596668" cy="3845718"/>
          </a:xfrm>
          <a:prstGeom prst="rect">
            <a:avLst/>
          </a:prstGeom>
          <a:noFill/>
          <a:ln>
            <a:noFill/>
          </a:ln>
        </p:spPr>
      </p:sp>
      <p:sp>
        <p:nvSpPr>
          <p:cNvPr id="90" name="Google Shape;90;p67"/>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6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6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6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4"/>
        <p:cNvGrpSpPr/>
        <p:nvPr/>
      </p:nvGrpSpPr>
      <p:grpSpPr>
        <a:xfrm>
          <a:off x="0" y="0"/>
          <a:ext cx="0" cy="0"/>
          <a:chOff x="0" y="0"/>
          <a:chExt cx="0" cy="0"/>
        </a:xfrm>
      </p:grpSpPr>
      <p:sp>
        <p:nvSpPr>
          <p:cNvPr id="95" name="Google Shape;95;p68"/>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8"/>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7" name="Google Shape;97;p6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6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6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0"/>
        <p:cNvGrpSpPr/>
        <p:nvPr/>
      </p:nvGrpSpPr>
      <p:grpSpPr>
        <a:xfrm>
          <a:off x="0" y="0"/>
          <a:ext cx="0" cy="0"/>
          <a:chOff x="0" y="0"/>
          <a:chExt cx="0" cy="0"/>
        </a:xfrm>
      </p:grpSpPr>
      <p:sp>
        <p:nvSpPr>
          <p:cNvPr id="101" name="Google Shape;101;p69"/>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69"/>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3" name="Google Shape;103;p69"/>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4" name="Google Shape;104;p6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6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07" name="Google Shape;107;p69"/>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08" name="Google Shape;108;p69"/>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70"/>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70"/>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2" name="Google Shape;112;p7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7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7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71"/>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71"/>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8" name="Google Shape;118;p71"/>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9" name="Google Shape;119;p7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7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7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22" name="Google Shape;122;p71"/>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23" name="Google Shape;123;p71"/>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4"/>
        <p:cNvGrpSpPr/>
        <p:nvPr/>
      </p:nvGrpSpPr>
      <p:grpSpPr>
        <a:xfrm>
          <a:off x="0" y="0"/>
          <a:ext cx="0" cy="0"/>
          <a:chOff x="0" y="0"/>
          <a:chExt cx="0" cy="0"/>
        </a:xfrm>
      </p:grpSpPr>
      <p:sp>
        <p:nvSpPr>
          <p:cNvPr id="125" name="Google Shape;125;p72"/>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72"/>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7" name="Google Shape;127;p72"/>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8" name="Google Shape;128;p7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7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7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7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73"/>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7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7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7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74"/>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74"/>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7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7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7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121897" tIns="121897" rIns="121897" bIns="121897"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58"/>
          <p:cNvGrpSpPr/>
          <p:nvPr/>
        </p:nvGrpSpPr>
        <p:grpSpPr>
          <a:xfrm>
            <a:off x="0" y="-8467"/>
            <a:ext cx="12192000" cy="6866467"/>
            <a:chOff x="0" y="-8467"/>
            <a:chExt cx="12192000" cy="6866467"/>
          </a:xfrm>
        </p:grpSpPr>
        <p:cxnSp>
          <p:nvCxnSpPr>
            <p:cNvPr id="11" name="Google Shape;11;p58"/>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12" name="Google Shape;12;p58"/>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13" name="Google Shape;13;p58"/>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58"/>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58"/>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58"/>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7" name="Google Shape;17;p58"/>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8" name="Google Shape;18;p58"/>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58"/>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58"/>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5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58"/>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5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5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5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5400"/>
              <a:buFont typeface="Trebuchet MS"/>
              <a:buNone/>
            </a:pPr>
            <a:r>
              <a:rPr lang="en-US"/>
              <a:t>Machine Learning</a:t>
            </a:r>
            <a:endParaRPr/>
          </a:p>
        </p:txBody>
      </p:sp>
      <p:sp>
        <p:nvSpPr>
          <p:cNvPr id="148" name="Google Shape;148;p1"/>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IN"/>
              <a:t>Semi Supervised Learning</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IN"/>
              <a:t>Semi Supervised Learning</a:t>
            </a:r>
            <a:endParaRPr/>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IN"/>
              <a:t>It is a combination of supervised and unsupervised learning</a:t>
            </a:r>
            <a:endParaRPr/>
          </a:p>
          <a:p>
            <a:pPr marL="228600" lvl="0" indent="-228600" algn="l" rtl="0">
              <a:lnSpc>
                <a:spcPct val="90000"/>
              </a:lnSpc>
              <a:spcBef>
                <a:spcPts val="1000"/>
              </a:spcBef>
              <a:spcAft>
                <a:spcPts val="0"/>
              </a:spcAft>
              <a:buClr>
                <a:schemeClr val="dk1"/>
              </a:buClr>
              <a:buSzPts val="2800"/>
              <a:buChar char="•"/>
            </a:pPr>
            <a:r>
              <a:rPr lang="en-IN"/>
              <a:t>It is used when we have labelled training data and a larger amount of unlabelled training data </a:t>
            </a:r>
            <a:endParaRPr/>
          </a:p>
          <a:p>
            <a:pPr marL="228600" lvl="0" indent="-228600" algn="l" rtl="0">
              <a:lnSpc>
                <a:spcPct val="90000"/>
              </a:lnSpc>
              <a:spcBef>
                <a:spcPts val="1000"/>
              </a:spcBef>
              <a:spcAft>
                <a:spcPts val="0"/>
              </a:spcAft>
              <a:buClr>
                <a:schemeClr val="dk1"/>
              </a:buClr>
              <a:buSzPts val="2800"/>
              <a:buChar char="•"/>
            </a:pPr>
            <a:r>
              <a:rPr lang="en-IN"/>
              <a:t>We try to come up with some learning algorithm that can work even when the training data is limited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3" descr="Two Minutes of Semi-Supervised Learning | by Jesus Rodriguez | DataSeries |  Medium"/>
          <p:cNvPicPr preferRelativeResize="0"/>
          <p:nvPr/>
        </p:nvPicPr>
        <p:blipFill rotWithShape="1">
          <a:blip r:embed="rId3">
            <a:alphaModFix/>
          </a:blip>
          <a:srcRect/>
          <a:stretch/>
        </p:blipFill>
        <p:spPr>
          <a:xfrm>
            <a:off x="2590800" y="1266825"/>
            <a:ext cx="7010400" cy="4324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11" y="992767"/>
            <a:ext cx="11360800" cy="2736800"/>
          </a:xfrm>
          <a:prstGeom prst="rect">
            <a:avLst/>
          </a:prstGeom>
        </p:spPr>
        <p:txBody>
          <a:bodyPr spcFirstLastPara="1" wrap="square" lIns="121897" tIns="121897" rIns="121897" bIns="121897" anchor="b" anchorCtr="0">
            <a:normAutofit/>
          </a:bodyPr>
          <a:lstStyle/>
          <a:p>
            <a:pPr algn="ctr"/>
            <a:r>
              <a:rPr lang="en" dirty="0"/>
              <a:t>Sequential learning</a:t>
            </a:r>
            <a:endParaRPr/>
          </a:p>
        </p:txBody>
      </p:sp>
      <p:sp>
        <p:nvSpPr>
          <p:cNvPr id="55" name="Google Shape;55;p13"/>
          <p:cNvSpPr txBox="1">
            <a:spLocks noGrp="1"/>
          </p:cNvSpPr>
          <p:nvPr>
            <p:ph type="subTitle" idx="1"/>
          </p:nvPr>
        </p:nvSpPr>
        <p:spPr>
          <a:xfrm>
            <a:off x="415600" y="3778833"/>
            <a:ext cx="11360800" cy="1056800"/>
          </a:xfrm>
          <a:prstGeom prst="rect">
            <a:avLst/>
          </a:prstGeom>
        </p:spPr>
        <p:txBody>
          <a:bodyPr spcFirstLastPara="1" wrap="square" lIns="121897" tIns="121897" rIns="121897" bIns="121897" anchor="t" anchorCtr="0">
            <a:normAutofit/>
          </a:bodyPr>
          <a:lstStyle/>
          <a:p>
            <a:pPr marL="0" indent="0" algn="ctr">
              <a:spcBef>
                <a:spcPts val="0"/>
              </a:spcBef>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pPr algn="ctr"/>
            <a:r>
              <a:rPr lang="en" sz="6900" dirty="0"/>
              <a:t>Sequential learning</a:t>
            </a:r>
            <a:endParaRPr sz="6900"/>
          </a:p>
          <a:p>
            <a:endParaRPr/>
          </a:p>
        </p:txBody>
      </p:sp>
      <p:sp>
        <p:nvSpPr>
          <p:cNvPr id="61" name="Google Shape;61;p14"/>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p>
            <a:pPr indent="0">
              <a:buNone/>
            </a:pPr>
            <a:endParaRPr/>
          </a:p>
          <a:p>
            <a:pPr>
              <a:spcBef>
                <a:spcPts val="1600"/>
              </a:spcBef>
            </a:pPr>
            <a:r>
              <a:rPr lang="en" dirty="0"/>
              <a:t>Learning not in a single shot but over the time</a:t>
            </a:r>
            <a:endParaRPr/>
          </a:p>
          <a:p>
            <a:r>
              <a:rPr lang="en" dirty="0"/>
              <a:t>It predicts and then gets feedback and based on that it learns.</a:t>
            </a:r>
            <a:endParaRPr/>
          </a:p>
          <a:p>
            <a:pPr marL="0" indent="0">
              <a:spcBef>
                <a:spcPts val="1600"/>
              </a:spcBef>
              <a:spcAft>
                <a:spcPts val="16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pPr algn="ctr">
              <a:buClr>
                <a:schemeClr val="dk1"/>
              </a:buClr>
              <a:buSzPts val="990"/>
            </a:pPr>
            <a:r>
              <a:rPr lang="en" sz="6900" dirty="0"/>
              <a:t>Sequential learning</a:t>
            </a:r>
            <a:endParaRPr sz="6900"/>
          </a:p>
          <a:p>
            <a:endParaRPr/>
          </a:p>
        </p:txBody>
      </p:sp>
      <p:sp>
        <p:nvSpPr>
          <p:cNvPr id="67" name="Google Shape;67;p15"/>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p>
            <a:r>
              <a:rPr lang="en" dirty="0"/>
              <a:t>Online learning</a:t>
            </a:r>
            <a:endParaRPr/>
          </a:p>
          <a:p>
            <a:pPr lvl="1"/>
            <a:r>
              <a:rPr lang="en" dirty="0"/>
              <a:t>Stock market prediction</a:t>
            </a:r>
            <a:endParaRPr/>
          </a:p>
          <a:p>
            <a:pPr lvl="1"/>
            <a:r>
              <a:rPr lang="en" dirty="0"/>
              <a:t>Based on few experts suggestions you buy some stock and then based on actual feedback you learn over the time. (not only you but all experts also learns based on feedback: this is called full learning)</a:t>
            </a:r>
            <a:endParaRPr/>
          </a:p>
          <a:p>
            <a:r>
              <a:rPr lang="en" dirty="0"/>
              <a:t>Multi-armed Bandits </a:t>
            </a:r>
            <a:endParaRPr/>
          </a:p>
          <a:p>
            <a:pPr lvl="1"/>
            <a:r>
              <a:rPr lang="en" dirty="0"/>
              <a:t>Based on the symptoms of a patient your algorithm suggest for treatments and you go for suppose 2nd treatment and then based on feedback (the patient recovers or deteriorates) you learn but you don’t know the output of other treatments (so not full learning)</a:t>
            </a:r>
            <a:endParaRPr/>
          </a:p>
          <a:p>
            <a:r>
              <a:rPr lang="en" dirty="0"/>
              <a:t>Reinforcement learning</a:t>
            </a:r>
            <a:endParaRPr/>
          </a:p>
          <a:p>
            <a:pPr lvl="1"/>
            <a:r>
              <a:rPr lang="en" dirty="0"/>
              <a:t>Robot navigation</a:t>
            </a:r>
            <a:endParaRPr/>
          </a:p>
          <a:p>
            <a:pPr lvl="1"/>
            <a:r>
              <a:rPr lang="en" dirty="0"/>
              <a:t>Robot need to reach from one part of a room to other end of the room. It can take decisions- left, right, back, forward based on the surrounding place. So mapping is required to learn from surrounding places to decisions. Based on taken decisions it will learn.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Reinforcement Learning</a:t>
            </a:r>
            <a:endParaRPr/>
          </a:p>
        </p:txBody>
      </p:sp>
      <p:sp>
        <p:nvSpPr>
          <p:cNvPr id="144" name="Google Shape;144;p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SzPct val="79999"/>
              <a:buChar char="►"/>
            </a:pPr>
            <a:r>
              <a:rPr lang="en-US"/>
              <a:t>No labels, No prepared training data</a:t>
            </a:r>
            <a:endParaRPr/>
          </a:p>
          <a:p>
            <a:pPr marL="342900" lvl="0" indent="-342900" algn="l" rtl="0">
              <a:spcBef>
                <a:spcPts val="1000"/>
              </a:spcBef>
              <a:spcAft>
                <a:spcPts val="0"/>
              </a:spcAft>
              <a:buSzPct val="79999"/>
              <a:buChar char="►"/>
            </a:pPr>
            <a:r>
              <a:rPr lang="en-US"/>
              <a:t>These are neither supervised nor unsupervised in nature</a:t>
            </a:r>
            <a:endParaRPr/>
          </a:p>
          <a:p>
            <a:pPr marL="342900" lvl="0" indent="-342900" algn="l" rtl="0">
              <a:spcBef>
                <a:spcPts val="1000"/>
              </a:spcBef>
              <a:spcAft>
                <a:spcPts val="0"/>
              </a:spcAft>
              <a:buSzPct val="79999"/>
              <a:buChar char="►"/>
            </a:pPr>
            <a:r>
              <a:rPr lang="en-US"/>
              <a:t>In RL, an agents learns via its interactions with an environment (feedback-driven policy learning)</a:t>
            </a:r>
            <a:endParaRPr/>
          </a:p>
          <a:p>
            <a:pPr marL="342900" lvl="0" indent="-342900" algn="l" rtl="0">
              <a:spcBef>
                <a:spcPts val="1000"/>
              </a:spcBef>
              <a:spcAft>
                <a:spcPts val="0"/>
              </a:spcAft>
              <a:buSzPct val="79999"/>
              <a:buChar char="►"/>
            </a:pPr>
            <a:r>
              <a:rPr lang="en-US"/>
              <a:t>Learning by trial and error</a:t>
            </a:r>
            <a:endParaRPr/>
          </a:p>
          <a:p>
            <a:pPr marL="342900" lvl="0" indent="-342900" algn="l" rtl="0">
              <a:spcBef>
                <a:spcPts val="1000"/>
              </a:spcBef>
              <a:spcAft>
                <a:spcPts val="0"/>
              </a:spcAft>
              <a:buSzPct val="79999"/>
              <a:buChar char="►"/>
            </a:pPr>
            <a:r>
              <a:rPr lang="en-US"/>
              <a:t>Data are not given. The learning agent must generate them by interacting with the environment </a:t>
            </a:r>
            <a:endParaRPr/>
          </a:p>
          <a:p>
            <a:pPr marL="342900" lvl="0" indent="-342900" algn="l" rtl="0">
              <a:spcBef>
                <a:spcPts val="1000"/>
              </a:spcBef>
              <a:spcAft>
                <a:spcPts val="0"/>
              </a:spcAft>
              <a:buSzPct val="79999"/>
              <a:buChar char="►"/>
            </a:pPr>
            <a:r>
              <a:rPr lang="en-US"/>
              <a:t>Typically these are problems where you are learning to control the behavior of the system</a:t>
            </a:r>
            <a:endParaRPr/>
          </a:p>
          <a:p>
            <a:pPr marL="342900" lvl="0" indent="-342900" algn="l" rtl="0">
              <a:spcBef>
                <a:spcPts val="1000"/>
              </a:spcBef>
              <a:spcAft>
                <a:spcPts val="0"/>
              </a:spcAft>
              <a:buSzPct val="79999"/>
              <a:buChar char="►"/>
            </a:pPr>
            <a:r>
              <a:rPr lang="en-US"/>
              <a:t>The model learns and updates itself through reward/punishment</a:t>
            </a:r>
            <a:endParaRPr/>
          </a:p>
          <a:p>
            <a:pPr marL="342900" lvl="0" indent="-342900" algn="l" rtl="0">
              <a:spcBef>
                <a:spcPts val="1000"/>
              </a:spcBef>
              <a:spcAft>
                <a:spcPts val="0"/>
              </a:spcAft>
              <a:buSzPct val="79999"/>
              <a:buChar char="►"/>
            </a:pPr>
            <a:r>
              <a:rPr lang="en-US"/>
              <a:t>It learns by itself what is the best strategy, called a policy, to get the most reward over time.</a:t>
            </a:r>
            <a:endParaRPr/>
          </a:p>
          <a:p>
            <a:pPr marL="342900" lvl="0" indent="-342900" algn="l" rtl="0">
              <a:spcBef>
                <a:spcPts val="1000"/>
              </a:spcBef>
              <a:spcAft>
                <a:spcPts val="0"/>
              </a:spcAft>
              <a:buSzPct val="79999"/>
              <a:buChar char="►"/>
            </a:pPr>
            <a:r>
              <a:rPr lang="en-US"/>
              <a:t>Model is evaluated by means of the reward function after it had some time to learn.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
          <p:cNvSpPr txBox="1">
            <a:spLocks noGrp="1"/>
          </p:cNvSpPr>
          <p:nvPr>
            <p:ph type="body" idx="1"/>
          </p:nvPr>
        </p:nvSpPr>
        <p:spPr>
          <a:xfrm>
            <a:off x="450574" y="3034748"/>
            <a:ext cx="8823428" cy="300661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We have an agent which acts in an environment</a:t>
            </a:r>
            <a:endParaRPr/>
          </a:p>
          <a:p>
            <a:pPr marL="342900" lvl="0" indent="-342900" algn="l" rtl="0">
              <a:spcBef>
                <a:spcPts val="1000"/>
              </a:spcBef>
              <a:spcAft>
                <a:spcPts val="0"/>
              </a:spcAft>
              <a:buSzPts val="1440"/>
              <a:buChar char="►"/>
            </a:pPr>
            <a:r>
              <a:rPr lang="en-US"/>
              <a:t>So the agent is in a particular state and can take action and this action can impact the environment </a:t>
            </a:r>
            <a:endParaRPr/>
          </a:p>
          <a:p>
            <a:pPr marL="342900" lvl="0" indent="-342900" algn="l" rtl="0">
              <a:spcBef>
                <a:spcPts val="1000"/>
              </a:spcBef>
              <a:spcAft>
                <a:spcPts val="0"/>
              </a:spcAft>
              <a:buSzPts val="1440"/>
              <a:buChar char="►"/>
            </a:pPr>
            <a:r>
              <a:rPr lang="en-US"/>
              <a:t>and environment goes to a new state and give reward/penalty/neutral to agent</a:t>
            </a:r>
            <a:endParaRPr/>
          </a:p>
          <a:p>
            <a:pPr marL="342900" lvl="0" indent="-342900" algn="l" rtl="0">
              <a:spcBef>
                <a:spcPts val="1000"/>
              </a:spcBef>
              <a:spcAft>
                <a:spcPts val="0"/>
              </a:spcAft>
              <a:buSzPts val="1440"/>
              <a:buChar char="►"/>
            </a:pPr>
            <a:r>
              <a:rPr lang="en-US"/>
              <a:t>Agent is continually acting in this environment</a:t>
            </a:r>
            <a:endParaRPr/>
          </a:p>
          <a:p>
            <a:pPr marL="342900" lvl="0" indent="-342900" algn="l" rtl="0">
              <a:spcBef>
                <a:spcPts val="1000"/>
              </a:spcBef>
              <a:spcAft>
                <a:spcPts val="0"/>
              </a:spcAft>
              <a:buSzPts val="1440"/>
              <a:buChar char="►"/>
            </a:pPr>
            <a:r>
              <a:rPr lang="en-US"/>
              <a:t>And the reinforcement learner learn a policy- given a state what action to take so that not only the short term reward is optimized but the overall utility of the agent over its entire time horizon is optimized. </a:t>
            </a:r>
            <a:endParaRPr/>
          </a:p>
        </p:txBody>
      </p:sp>
      <p:pic>
        <p:nvPicPr>
          <p:cNvPr id="150" name="Google Shape;150;p2" descr="5 Things You Need to Know about Reinforcement Learning - KDnuggets"/>
          <p:cNvPicPr preferRelativeResize="0"/>
          <p:nvPr/>
        </p:nvPicPr>
        <p:blipFill rotWithShape="1">
          <a:blip r:embed="rId3">
            <a:alphaModFix/>
          </a:blip>
          <a:srcRect/>
          <a:stretch/>
        </p:blipFill>
        <p:spPr>
          <a:xfrm>
            <a:off x="1528538" y="244061"/>
            <a:ext cx="6667500" cy="2571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Types of Reinforcement Learning Problems</a:t>
            </a:r>
            <a:endParaRPr/>
          </a:p>
        </p:txBody>
      </p:sp>
      <p:sp>
        <p:nvSpPr>
          <p:cNvPr id="156" name="Google Shape;156;p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b="0" i="0">
                <a:solidFill>
                  <a:srgbClr val="202124"/>
                </a:solidFill>
                <a:latin typeface="arial"/>
                <a:ea typeface="arial"/>
                <a:cs typeface="arial"/>
                <a:sym typeface="arial"/>
              </a:rPr>
              <a:t>can be used for a variety of </a:t>
            </a:r>
            <a:r>
              <a:rPr lang="en-US" b="1" i="0">
                <a:solidFill>
                  <a:srgbClr val="202124"/>
                </a:solidFill>
                <a:latin typeface="arial"/>
                <a:ea typeface="arial"/>
                <a:cs typeface="arial"/>
                <a:sym typeface="arial"/>
              </a:rPr>
              <a:t>planning problems</a:t>
            </a:r>
            <a:r>
              <a:rPr lang="en-US" b="0" i="0">
                <a:solidFill>
                  <a:srgbClr val="202124"/>
                </a:solidFill>
                <a:latin typeface="arial"/>
                <a:ea typeface="arial"/>
                <a:cs typeface="arial"/>
                <a:sym typeface="arial"/>
              </a:rPr>
              <a:t> including </a:t>
            </a:r>
            <a:endParaRPr/>
          </a:p>
          <a:p>
            <a:pPr marL="742950" lvl="1" indent="-285750" algn="l" rtl="0">
              <a:spcBef>
                <a:spcPts val="1000"/>
              </a:spcBef>
              <a:spcAft>
                <a:spcPts val="0"/>
              </a:spcAft>
              <a:buSzPts val="1280"/>
              <a:buChar char="►"/>
            </a:pPr>
            <a:r>
              <a:rPr lang="en-US" b="0" i="0">
                <a:solidFill>
                  <a:srgbClr val="202124"/>
                </a:solidFill>
                <a:latin typeface="arial"/>
                <a:ea typeface="arial"/>
                <a:cs typeface="arial"/>
                <a:sym typeface="arial"/>
              </a:rPr>
              <a:t>travel plans, </a:t>
            </a:r>
            <a:endParaRPr/>
          </a:p>
          <a:p>
            <a:pPr marL="742950" lvl="1" indent="-285750" algn="l" rtl="0">
              <a:spcBef>
                <a:spcPts val="1000"/>
              </a:spcBef>
              <a:spcAft>
                <a:spcPts val="0"/>
              </a:spcAft>
              <a:buSzPts val="1280"/>
              <a:buChar char="►"/>
            </a:pPr>
            <a:r>
              <a:rPr lang="en-US" b="0" i="0">
                <a:solidFill>
                  <a:srgbClr val="202124"/>
                </a:solidFill>
                <a:latin typeface="arial"/>
                <a:ea typeface="arial"/>
                <a:cs typeface="arial"/>
                <a:sym typeface="arial"/>
              </a:rPr>
              <a:t>budget planning and </a:t>
            </a:r>
            <a:endParaRPr/>
          </a:p>
          <a:p>
            <a:pPr marL="742950" lvl="1" indent="-285750" algn="l" rtl="0">
              <a:spcBef>
                <a:spcPts val="1000"/>
              </a:spcBef>
              <a:spcAft>
                <a:spcPts val="0"/>
              </a:spcAft>
              <a:buSzPts val="1280"/>
              <a:buChar char="►"/>
            </a:pPr>
            <a:r>
              <a:rPr lang="en-US" b="0" i="0">
                <a:solidFill>
                  <a:srgbClr val="202124"/>
                </a:solidFill>
                <a:latin typeface="arial"/>
                <a:ea typeface="arial"/>
                <a:cs typeface="arial"/>
                <a:sym typeface="arial"/>
              </a:rPr>
              <a:t>business strategy.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Most Important Reinforcement Learning Algorithms</a:t>
            </a:r>
            <a:endParaRPr/>
          </a:p>
        </p:txBody>
      </p:sp>
      <p:sp>
        <p:nvSpPr>
          <p:cNvPr id="162" name="Google Shape;162;p4"/>
          <p:cNvSpPr txBox="1">
            <a:spLocks noGrp="1"/>
          </p:cNvSpPr>
          <p:nvPr>
            <p:ph type="body" idx="1"/>
          </p:nvPr>
        </p:nvSpPr>
        <p:spPr>
          <a:xfrm>
            <a:off x="677334" y="1828801"/>
            <a:ext cx="8596668" cy="42125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Q-learning</a:t>
            </a:r>
            <a:endParaRPr/>
          </a:p>
          <a:p>
            <a:pPr marL="342900" lvl="0" indent="-342900" algn="l" rtl="0">
              <a:spcBef>
                <a:spcPts val="1000"/>
              </a:spcBef>
              <a:spcAft>
                <a:spcPts val="0"/>
              </a:spcAft>
              <a:buSzPts val="1440"/>
              <a:buChar char="►"/>
            </a:pPr>
            <a:r>
              <a:rPr lang="en-US"/>
              <a:t>SARSA (</a:t>
            </a:r>
            <a:r>
              <a:rPr lang="en-US" b="0" i="0">
                <a:solidFill>
                  <a:srgbClr val="4D5156"/>
                </a:solidFill>
                <a:latin typeface="arial"/>
                <a:ea typeface="arial"/>
                <a:cs typeface="arial"/>
                <a:sym typeface="arial"/>
              </a:rPr>
              <a:t>State–action–reward–state–action) is an algorithm for learning a Markov decision process policy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Practical Applications</a:t>
            </a:r>
            <a:endParaRPr/>
          </a:p>
        </p:txBody>
      </p:sp>
      <p:sp>
        <p:nvSpPr>
          <p:cNvPr id="168" name="Google Shape;168;p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Self-driving cars</a:t>
            </a:r>
            <a:endParaRPr/>
          </a:p>
          <a:p>
            <a:pPr marL="342900" lvl="0" indent="-342900" algn="l" rtl="0">
              <a:spcBef>
                <a:spcPts val="1000"/>
              </a:spcBef>
              <a:spcAft>
                <a:spcPts val="0"/>
              </a:spcAft>
              <a:buSzPts val="1440"/>
              <a:buChar char="►"/>
            </a:pPr>
            <a:r>
              <a:rPr lang="en-US"/>
              <a:t>Intelligent robots</a:t>
            </a:r>
            <a:endParaRPr/>
          </a:p>
          <a:p>
            <a:pPr marL="342900" lvl="0" indent="-342900" algn="l" rtl="0">
              <a:spcBef>
                <a:spcPts val="1000"/>
              </a:spcBef>
              <a:spcAft>
                <a:spcPts val="0"/>
              </a:spcAft>
              <a:buSzPts val="1440"/>
              <a:buChar char="►"/>
            </a:pPr>
            <a:r>
              <a:rPr lang="en-US"/>
              <a:t>AlphaGo Zero (the latest version of DeepMind’s AI system playing Go)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Batch learning (offline learning)</a:t>
            </a:r>
            <a:endParaRPr/>
          </a:p>
        </p:txBody>
      </p:sp>
      <p:sp>
        <p:nvSpPr>
          <p:cNvPr id="251" name="Google Shape;251;p2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The system is incapable of learning incrementally</a:t>
            </a:r>
            <a:endParaRPr/>
          </a:p>
          <a:p>
            <a:pPr marL="342900" lvl="0" indent="-342900" algn="l" rtl="0">
              <a:spcBef>
                <a:spcPts val="1000"/>
              </a:spcBef>
              <a:spcAft>
                <a:spcPts val="0"/>
              </a:spcAft>
              <a:buSzPts val="1440"/>
              <a:buChar char="►"/>
            </a:pPr>
            <a:r>
              <a:rPr lang="en-US"/>
              <a:t>It must be trained using all the available data</a:t>
            </a:r>
            <a:endParaRPr/>
          </a:p>
          <a:p>
            <a:pPr marL="342900" lvl="0" indent="-342900" algn="l" rtl="0">
              <a:spcBef>
                <a:spcPts val="1000"/>
              </a:spcBef>
              <a:spcAft>
                <a:spcPts val="0"/>
              </a:spcAft>
              <a:buSzPts val="1440"/>
              <a:buChar char="►"/>
            </a:pPr>
            <a:r>
              <a:rPr lang="en-US"/>
              <a:t>This will take a lot of time and computing resources, so it is typically done offline.</a:t>
            </a:r>
            <a:endParaRPr/>
          </a:p>
          <a:p>
            <a:pPr marL="342900" lvl="0" indent="-342900" algn="l" rtl="0">
              <a:spcBef>
                <a:spcPts val="1000"/>
              </a:spcBef>
              <a:spcAft>
                <a:spcPts val="0"/>
              </a:spcAft>
              <a:buSzPts val="1440"/>
              <a:buChar char="►"/>
            </a:pPr>
            <a:r>
              <a:rPr lang="en-US"/>
              <a:t>First the system is trained, then it is launched into production without learning anymore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Online (Incremental) Learning</a:t>
            </a:r>
            <a:endParaRPr/>
          </a:p>
        </p:txBody>
      </p:sp>
      <p:sp>
        <p:nvSpPr>
          <p:cNvPr id="257" name="Google Shape;257;p2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System is trained incrementally by feeding it data instances sequentially, either individually or by small groups called mini batches.</a:t>
            </a:r>
            <a:endParaRPr/>
          </a:p>
          <a:p>
            <a:pPr marL="0" lvl="0" indent="0" algn="l" rtl="0">
              <a:spcBef>
                <a:spcPts val="1000"/>
              </a:spcBef>
              <a:spcAft>
                <a:spcPts val="0"/>
              </a:spcAft>
              <a:buSzPts val="1440"/>
              <a:buNone/>
            </a:pPr>
            <a:r>
              <a:rPr lang="en-US"/>
              <a:t>Each learning step is fast and cheap, so the system can learn about new data on the fly, as it arrives</a:t>
            </a:r>
            <a:endParaRPr/>
          </a:p>
          <a:p>
            <a:pPr marL="0" lvl="0" indent="0" algn="l" rtl="0">
              <a:spcBef>
                <a:spcPts val="1000"/>
              </a:spcBef>
              <a:spcAft>
                <a:spcPts val="0"/>
              </a:spcAft>
              <a:buSzPts val="1440"/>
              <a:buNone/>
            </a:pPr>
            <a:r>
              <a:rPr lang="en-US"/>
              <a:t>Useful for systems that receive data as continuous flow (e.g., stock prices) and need to adapt to change rapidly.</a:t>
            </a:r>
            <a:endParaRPr/>
          </a:p>
          <a:p>
            <a:pPr marL="0" lvl="0" indent="0" algn="l" rtl="0">
              <a:spcBef>
                <a:spcPts val="1000"/>
              </a:spcBef>
              <a:spcAft>
                <a:spcPts val="0"/>
              </a:spcAft>
              <a:buSzPts val="1440"/>
              <a:buNone/>
            </a:pPr>
            <a:r>
              <a:rPr lang="en-US"/>
              <a:t>It is also a good option if there is limited computing resources.</a:t>
            </a:r>
            <a:endParaRPr/>
          </a:p>
          <a:p>
            <a:pPr marL="0" lvl="0" indent="0" algn="l" rtl="0">
              <a:spcBef>
                <a:spcPts val="1000"/>
              </a:spcBef>
              <a:spcAft>
                <a:spcPts val="0"/>
              </a:spcAft>
              <a:buSzPts val="1440"/>
              <a:buNone/>
            </a:pPr>
            <a:r>
              <a:rPr lang="en-US"/>
              <a:t>We can discard the data on which it has learned.</a:t>
            </a:r>
            <a:endParaRPr/>
          </a:p>
          <a:p>
            <a:pPr marL="0" lvl="0" indent="0" algn="l" rtl="0">
              <a:spcBef>
                <a:spcPts val="1000"/>
              </a:spcBef>
              <a:spcAft>
                <a:spcPts val="0"/>
              </a:spcAft>
              <a:buSzPts val="1440"/>
              <a:buNone/>
            </a:pPr>
            <a:r>
              <a:rPr lang="en-US"/>
              <a:t>Can be used to train systems on huge datasets that cannot fit in one machine’s main memory (out-of-core learning)</a:t>
            </a:r>
            <a:endParaRPr/>
          </a:p>
          <a:p>
            <a:pPr marL="0" lvl="0" indent="0" algn="l" rtl="0">
              <a:spcBef>
                <a:spcPts val="1000"/>
              </a:spcBef>
              <a:spcAft>
                <a:spcPts val="0"/>
              </a:spcAft>
              <a:buSzPts val="1440"/>
              <a:buNone/>
            </a:pPr>
            <a:r>
              <a:rPr lang="en-US"/>
              <a:t>Whole process is usually done offline (not on the live system)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Online (Incremental) Learning</a:t>
            </a:r>
            <a:endParaRPr/>
          </a:p>
        </p:txBody>
      </p:sp>
      <p:sp>
        <p:nvSpPr>
          <p:cNvPr id="263" name="Google Shape;263;p22"/>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Important parameter- learning rate</a:t>
            </a:r>
            <a:endParaRPr/>
          </a:p>
          <a:p>
            <a:pPr marL="342900" lvl="0" indent="-342900" algn="l" rtl="0">
              <a:spcBef>
                <a:spcPts val="1000"/>
              </a:spcBef>
              <a:spcAft>
                <a:spcPts val="0"/>
              </a:spcAft>
              <a:buSzPts val="1440"/>
              <a:buChar char="►"/>
            </a:pPr>
            <a:r>
              <a:rPr lang="en-US"/>
              <a:t>If too high</a:t>
            </a:r>
            <a:endParaRPr/>
          </a:p>
          <a:p>
            <a:pPr marL="742950" lvl="1" indent="-285750" algn="l" rtl="0">
              <a:spcBef>
                <a:spcPts val="1000"/>
              </a:spcBef>
              <a:spcAft>
                <a:spcPts val="0"/>
              </a:spcAft>
              <a:buSzPts val="1280"/>
              <a:buChar char="►"/>
            </a:pPr>
            <a:r>
              <a:rPr lang="en-US"/>
              <a:t>System will adapt to new data but will forget old data</a:t>
            </a:r>
            <a:endParaRPr/>
          </a:p>
          <a:p>
            <a:pPr marL="342900" lvl="0" indent="-342900" algn="l" rtl="0">
              <a:spcBef>
                <a:spcPts val="1000"/>
              </a:spcBef>
              <a:spcAft>
                <a:spcPts val="0"/>
              </a:spcAft>
              <a:buSzPts val="1440"/>
              <a:buChar char="►"/>
            </a:pPr>
            <a:r>
              <a:rPr lang="en-US"/>
              <a:t>If too slow</a:t>
            </a:r>
            <a:endParaRPr/>
          </a:p>
          <a:p>
            <a:pPr marL="742950" lvl="1" indent="-285750" algn="l" rtl="0">
              <a:spcBef>
                <a:spcPts val="1000"/>
              </a:spcBef>
              <a:spcAft>
                <a:spcPts val="0"/>
              </a:spcAft>
              <a:buSzPts val="1280"/>
              <a:buChar char="►"/>
            </a:pPr>
            <a:r>
              <a:rPr lang="en-US"/>
              <a:t>It will learn more slowly</a:t>
            </a:r>
            <a:endParaRPr/>
          </a:p>
          <a:p>
            <a:pPr marL="342900" lvl="0" indent="-251459" algn="l" rtl="0">
              <a:spcBef>
                <a:spcPts val="1000"/>
              </a:spcBef>
              <a:spcAft>
                <a:spcPts val="0"/>
              </a:spcAft>
              <a:buSzPts val="144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Machine Learning Tasks</a:t>
            </a:r>
            <a:endParaRPr/>
          </a:p>
        </p:txBody>
      </p:sp>
      <p:sp>
        <p:nvSpPr>
          <p:cNvPr id="269" name="Google Shape;269;p2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Task						Performance Measure</a:t>
            </a:r>
            <a:endParaRPr/>
          </a:p>
          <a:p>
            <a:pPr marL="342900" lvl="0" indent="-342900" algn="l" rtl="0">
              <a:spcBef>
                <a:spcPts val="1000"/>
              </a:spcBef>
              <a:spcAft>
                <a:spcPts val="0"/>
              </a:spcAft>
              <a:buSzPts val="1440"/>
              <a:buChar char="►"/>
            </a:pPr>
            <a:r>
              <a:rPr lang="en-US"/>
              <a:t>Classification				error</a:t>
            </a:r>
            <a:endParaRPr/>
          </a:p>
          <a:p>
            <a:pPr marL="342900" lvl="0" indent="-342900" algn="l" rtl="0">
              <a:spcBef>
                <a:spcPts val="1000"/>
              </a:spcBef>
              <a:spcAft>
                <a:spcPts val="0"/>
              </a:spcAft>
              <a:buSzPts val="1440"/>
              <a:buChar char="►"/>
            </a:pPr>
            <a:r>
              <a:rPr lang="en-US"/>
              <a:t>Regression				error</a:t>
            </a:r>
            <a:endParaRPr/>
          </a:p>
          <a:p>
            <a:pPr marL="342900" lvl="0" indent="-342900" algn="l" rtl="0">
              <a:spcBef>
                <a:spcPts val="1000"/>
              </a:spcBef>
              <a:spcAft>
                <a:spcPts val="0"/>
              </a:spcAft>
              <a:buSzPts val="1440"/>
              <a:buChar char="►"/>
            </a:pPr>
            <a:r>
              <a:rPr lang="en-US"/>
              <a:t>Clustering				scatter of points in a single cluster/purity</a:t>
            </a:r>
            <a:endParaRPr/>
          </a:p>
          <a:p>
            <a:pPr marL="342900" lvl="0" indent="-342900" algn="l" rtl="0">
              <a:spcBef>
                <a:spcPts val="1000"/>
              </a:spcBef>
              <a:spcAft>
                <a:spcPts val="0"/>
              </a:spcAft>
              <a:buSzPts val="1440"/>
              <a:buChar char="►"/>
            </a:pPr>
            <a:r>
              <a:rPr lang="en-US"/>
              <a:t>Associations				support/confidence</a:t>
            </a:r>
            <a:endParaRPr/>
          </a:p>
          <a:p>
            <a:pPr marL="342900" lvl="0" indent="-342900" algn="l" rtl="0">
              <a:spcBef>
                <a:spcPts val="1000"/>
              </a:spcBef>
              <a:spcAft>
                <a:spcPts val="0"/>
              </a:spcAft>
              <a:buSzPts val="1440"/>
              <a:buChar char="►"/>
            </a:pPr>
            <a:r>
              <a:rPr lang="en-US"/>
              <a:t>Reinforcement learning	cost/reward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Inductive learning versus Deductive Learning</a:t>
            </a:r>
            <a:endParaRPr/>
          </a:p>
        </p:txBody>
      </p:sp>
      <p:sp>
        <p:nvSpPr>
          <p:cNvPr id="275" name="Google Shape;275;p24"/>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Deductive Learning</a:t>
            </a:r>
            <a:endParaRPr/>
          </a:p>
          <a:p>
            <a:pPr marL="742950" lvl="1" indent="-285750" algn="l" rtl="0">
              <a:spcBef>
                <a:spcPts val="1000"/>
              </a:spcBef>
              <a:spcAft>
                <a:spcPts val="0"/>
              </a:spcAft>
              <a:buSzPts val="1280"/>
              <a:buChar char="►"/>
            </a:pPr>
            <a:r>
              <a:rPr lang="en-US"/>
              <a:t>logical,</a:t>
            </a:r>
            <a:endParaRPr/>
          </a:p>
          <a:p>
            <a:pPr marL="742950" lvl="1" indent="-285750" algn="l" rtl="0">
              <a:spcBef>
                <a:spcPts val="1000"/>
              </a:spcBef>
              <a:spcAft>
                <a:spcPts val="0"/>
              </a:spcAft>
              <a:buSzPts val="1280"/>
              <a:buChar char="►"/>
            </a:pPr>
            <a:r>
              <a:rPr lang="en-US"/>
              <a:t>From facts</a:t>
            </a:r>
            <a:endParaRPr/>
          </a:p>
          <a:p>
            <a:pPr marL="342900" lvl="0" indent="-342900" algn="l" rtl="0">
              <a:spcBef>
                <a:spcPts val="1000"/>
              </a:spcBef>
              <a:spcAft>
                <a:spcPts val="0"/>
              </a:spcAft>
              <a:buSzPts val="1440"/>
              <a:buChar char="►"/>
            </a:pPr>
            <a:r>
              <a:rPr lang="en-US"/>
              <a:t>Inductive learning</a:t>
            </a:r>
            <a:endParaRPr/>
          </a:p>
          <a:p>
            <a:pPr marL="742950" lvl="1" indent="-285750" algn="l" rtl="0">
              <a:spcBef>
                <a:spcPts val="1000"/>
              </a:spcBef>
              <a:spcAft>
                <a:spcPts val="0"/>
              </a:spcAft>
              <a:buSzPts val="1280"/>
              <a:buChar char="►"/>
            </a:pPr>
            <a:r>
              <a:rPr lang="en-US"/>
              <a:t>From evidence</a:t>
            </a:r>
            <a:endParaRPr/>
          </a:p>
          <a:p>
            <a:pPr marL="742950" lvl="1" indent="-285750" algn="l" rtl="0">
              <a:spcBef>
                <a:spcPts val="1000"/>
              </a:spcBef>
              <a:spcAft>
                <a:spcPts val="0"/>
              </a:spcAft>
              <a:buSzPts val="1280"/>
              <a:buChar char="►"/>
            </a:pPr>
            <a:r>
              <a:rPr lang="en-US"/>
              <a:t>Empirical sugessions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a:spLocks noGrp="1"/>
          </p:cNvSpPr>
          <p:nvPr>
            <p:ph type="title"/>
          </p:nvPr>
        </p:nvSpPr>
        <p:spPr>
          <a:xfrm>
            <a:off x="677334" y="609600"/>
            <a:ext cx="8596668" cy="82530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Main Challenges of Machine learning</a:t>
            </a:r>
            <a:endParaRPr/>
          </a:p>
        </p:txBody>
      </p:sp>
      <p:sp>
        <p:nvSpPr>
          <p:cNvPr id="281" name="Google Shape;281;p25"/>
          <p:cNvSpPr txBox="1">
            <a:spLocks noGrp="1"/>
          </p:cNvSpPr>
          <p:nvPr>
            <p:ph type="body" idx="1"/>
          </p:nvPr>
        </p:nvSpPr>
        <p:spPr>
          <a:xfrm>
            <a:off x="677334" y="1434905"/>
            <a:ext cx="8596668" cy="4606457"/>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440"/>
              <a:buChar char="►"/>
            </a:pPr>
            <a:r>
              <a:rPr lang="en-US"/>
              <a:t>How good a model is?</a:t>
            </a:r>
            <a:endParaRPr/>
          </a:p>
          <a:p>
            <a:pPr marL="342900" lvl="0" indent="-342900" algn="l" rtl="0">
              <a:spcBef>
                <a:spcPts val="1000"/>
              </a:spcBef>
              <a:spcAft>
                <a:spcPts val="0"/>
              </a:spcAft>
              <a:buSzPts val="1440"/>
              <a:buChar char="►"/>
            </a:pPr>
            <a:r>
              <a:rPr lang="en-US"/>
              <a:t>How do I choose a model?</a:t>
            </a:r>
            <a:endParaRPr/>
          </a:p>
          <a:p>
            <a:pPr marL="342900" lvl="0" indent="-342900" algn="l" rtl="0">
              <a:spcBef>
                <a:spcPts val="1000"/>
              </a:spcBef>
              <a:spcAft>
                <a:spcPts val="0"/>
              </a:spcAft>
              <a:buSzPts val="1440"/>
              <a:buChar char="►"/>
            </a:pPr>
            <a:r>
              <a:rPr lang="en-US"/>
              <a:t>Do I have enough data?</a:t>
            </a:r>
            <a:endParaRPr/>
          </a:p>
          <a:p>
            <a:pPr marL="342900" lvl="0" indent="-342900" algn="l" rtl="0">
              <a:spcBef>
                <a:spcPts val="1000"/>
              </a:spcBef>
              <a:spcAft>
                <a:spcPts val="0"/>
              </a:spcAft>
              <a:buSzPts val="1440"/>
              <a:buChar char="►"/>
            </a:pPr>
            <a:r>
              <a:rPr lang="en-US"/>
              <a:t>Is the data of sufficient quality?</a:t>
            </a:r>
            <a:endParaRPr/>
          </a:p>
          <a:p>
            <a:pPr marL="742950" lvl="1" indent="-285750" algn="l" rtl="0">
              <a:spcBef>
                <a:spcPts val="1000"/>
              </a:spcBef>
              <a:spcAft>
                <a:spcPts val="0"/>
              </a:spcAft>
              <a:buSzPts val="1280"/>
              <a:buChar char="►"/>
            </a:pPr>
            <a:r>
              <a:rPr lang="en-US"/>
              <a:t>Errors in data</a:t>
            </a:r>
            <a:endParaRPr/>
          </a:p>
          <a:p>
            <a:pPr marL="742950" lvl="1" indent="-285750" algn="l" rtl="0">
              <a:spcBef>
                <a:spcPts val="1000"/>
              </a:spcBef>
              <a:spcAft>
                <a:spcPts val="0"/>
              </a:spcAft>
              <a:buSzPts val="1280"/>
              <a:buChar char="►"/>
            </a:pPr>
            <a:r>
              <a:rPr lang="en-US"/>
              <a:t>Missing values</a:t>
            </a:r>
            <a:endParaRPr/>
          </a:p>
          <a:p>
            <a:pPr marL="342900" lvl="0" indent="-342900" algn="l" rtl="0">
              <a:spcBef>
                <a:spcPts val="1000"/>
              </a:spcBef>
              <a:spcAft>
                <a:spcPts val="0"/>
              </a:spcAft>
              <a:buSzPts val="1440"/>
              <a:buChar char="►"/>
            </a:pPr>
            <a:r>
              <a:rPr lang="en-US"/>
              <a:t>How confident can I be of the results?</a:t>
            </a:r>
            <a:endParaRPr/>
          </a:p>
          <a:p>
            <a:pPr marL="342900" lvl="0" indent="-342900" algn="l" rtl="0">
              <a:spcBef>
                <a:spcPts val="1000"/>
              </a:spcBef>
              <a:spcAft>
                <a:spcPts val="0"/>
              </a:spcAft>
              <a:buSzPts val="1440"/>
              <a:buChar char="►"/>
            </a:pPr>
            <a:r>
              <a:rPr lang="en-US"/>
              <a:t>Am I describing the data correctly?</a:t>
            </a:r>
            <a:endParaRPr/>
          </a:p>
          <a:p>
            <a:pPr marL="742950" lvl="1" indent="-285750" algn="l" rtl="0">
              <a:spcBef>
                <a:spcPts val="1000"/>
              </a:spcBef>
              <a:spcAft>
                <a:spcPts val="0"/>
              </a:spcAft>
              <a:buSzPts val="1280"/>
              <a:buChar char="►"/>
            </a:pPr>
            <a:r>
              <a:rPr lang="en-US"/>
              <a:t>Are age and income enough? Should I look at gender also?</a:t>
            </a:r>
            <a:endParaRPr/>
          </a:p>
          <a:p>
            <a:pPr marL="742950" lvl="1" indent="-285750" algn="l" rtl="0">
              <a:spcBef>
                <a:spcPts val="1000"/>
              </a:spcBef>
              <a:spcAft>
                <a:spcPts val="0"/>
              </a:spcAft>
              <a:buSzPts val="1280"/>
              <a:buChar char="►"/>
            </a:pPr>
            <a:r>
              <a:rPr lang="en-US"/>
              <a:t>How should I represent age? As a number, or as young, middle age, old etc.</a:t>
            </a:r>
            <a:endParaRPr/>
          </a:p>
          <a:p>
            <a:pPr marL="342900" lvl="0" indent="-342900" algn="l" rtl="0">
              <a:spcBef>
                <a:spcPts val="1000"/>
              </a:spcBef>
              <a:spcAft>
                <a:spcPts val="0"/>
              </a:spcAft>
              <a:buSzPts val="1440"/>
              <a:buChar char="►"/>
            </a:pPr>
            <a:r>
              <a:rPr lang="en-US"/>
              <a:t>How to ensure generalization</a:t>
            </a:r>
            <a:endParaRPr/>
          </a:p>
          <a:p>
            <a:pPr marL="742950" lvl="1" indent="-285750" algn="l" rtl="0">
              <a:spcBef>
                <a:spcPts val="1000"/>
              </a:spcBef>
              <a:spcAft>
                <a:spcPts val="0"/>
              </a:spcAft>
              <a:buSzPts val="1280"/>
              <a:buChar char="►"/>
            </a:pPr>
            <a:r>
              <a:rPr lang="en-US"/>
              <a:t>Ability of an ML algorithm to do well on future test data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Main Challenges of Machine learning</a:t>
            </a:r>
            <a:endParaRPr/>
          </a:p>
        </p:txBody>
      </p:sp>
      <p:sp>
        <p:nvSpPr>
          <p:cNvPr id="287" name="Google Shape;287;p26"/>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Examples of bad data</a:t>
            </a:r>
            <a:endParaRPr/>
          </a:p>
          <a:p>
            <a:pPr marL="742950" lvl="1" indent="-285750" algn="l" rtl="0">
              <a:spcBef>
                <a:spcPts val="1000"/>
              </a:spcBef>
              <a:spcAft>
                <a:spcPts val="0"/>
              </a:spcAft>
              <a:buSzPts val="1280"/>
              <a:buChar char="►"/>
            </a:pPr>
            <a:r>
              <a:rPr lang="en-US"/>
              <a:t>Insufficient quantity of training data</a:t>
            </a:r>
            <a:endParaRPr/>
          </a:p>
          <a:p>
            <a:pPr marL="742950" lvl="1" indent="-285750" algn="l" rtl="0">
              <a:spcBef>
                <a:spcPts val="1000"/>
              </a:spcBef>
              <a:spcAft>
                <a:spcPts val="0"/>
              </a:spcAft>
              <a:buSzPts val="1280"/>
              <a:buChar char="►"/>
            </a:pPr>
            <a:r>
              <a:rPr lang="en-US"/>
              <a:t>Nonrepresentative training data</a:t>
            </a:r>
            <a:endParaRPr/>
          </a:p>
          <a:p>
            <a:pPr marL="742950" lvl="1" indent="-285750" algn="l" rtl="0">
              <a:spcBef>
                <a:spcPts val="1000"/>
              </a:spcBef>
              <a:spcAft>
                <a:spcPts val="0"/>
              </a:spcAft>
              <a:buSzPts val="1280"/>
              <a:buChar char="►"/>
            </a:pPr>
            <a:r>
              <a:rPr lang="en-US"/>
              <a:t>Poor quality data</a:t>
            </a:r>
            <a:endParaRPr/>
          </a:p>
          <a:p>
            <a:pPr marL="742950" lvl="1" indent="-285750" algn="l" rtl="0">
              <a:spcBef>
                <a:spcPts val="1000"/>
              </a:spcBef>
              <a:spcAft>
                <a:spcPts val="0"/>
              </a:spcAft>
              <a:buSzPts val="1280"/>
              <a:buChar char="►"/>
            </a:pPr>
            <a:r>
              <a:rPr lang="en-US"/>
              <a:t>Irrelevant features</a:t>
            </a:r>
            <a:endParaRPr/>
          </a:p>
          <a:p>
            <a:pPr marL="342900" lvl="0" indent="-342900" algn="l" rtl="0">
              <a:spcBef>
                <a:spcPts val="1000"/>
              </a:spcBef>
              <a:spcAft>
                <a:spcPts val="0"/>
              </a:spcAft>
              <a:buSzPts val="1440"/>
              <a:buChar char="►"/>
            </a:pPr>
            <a:r>
              <a:rPr lang="en-US"/>
              <a:t>Examples of bad algorithms</a:t>
            </a:r>
            <a:endParaRPr/>
          </a:p>
          <a:p>
            <a:pPr marL="742950" lvl="1" indent="-285750" algn="l" rtl="0">
              <a:spcBef>
                <a:spcPts val="1000"/>
              </a:spcBef>
              <a:spcAft>
                <a:spcPts val="0"/>
              </a:spcAft>
              <a:buSzPts val="1280"/>
              <a:buChar char="►"/>
            </a:pPr>
            <a:r>
              <a:rPr lang="en-US"/>
              <a:t>Overfitting the training data</a:t>
            </a:r>
            <a:endParaRPr/>
          </a:p>
          <a:p>
            <a:pPr marL="742950" lvl="1" indent="-285750" algn="l" rtl="0">
              <a:spcBef>
                <a:spcPts val="1000"/>
              </a:spcBef>
              <a:spcAft>
                <a:spcPts val="0"/>
              </a:spcAft>
              <a:buSzPts val="1280"/>
              <a:buChar char="►"/>
            </a:pPr>
            <a:r>
              <a:rPr lang="en-US"/>
              <a:t>Underfitting the training data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ML Pipeline/workflow/cycle in the production process</a:t>
            </a:r>
            <a:endParaRPr/>
          </a:p>
        </p:txBody>
      </p:sp>
      <p:pic>
        <p:nvPicPr>
          <p:cNvPr id="293" name="Google Shape;293;p27" descr="315-F23-1-Introduction.pdf"/>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2b81a1fde9d_0_0"/>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Assumptions in ML</a:t>
            </a:r>
            <a:endParaRPr/>
          </a:p>
        </p:txBody>
      </p:sp>
      <p:sp>
        <p:nvSpPr>
          <p:cNvPr id="300" name="Google Shape;300;g2b81a1fde9d_0_0"/>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fontScale="92500" lnSpcReduction="10000"/>
          </a:bodyPr>
          <a:lstStyle/>
          <a:p>
            <a:pPr marL="457200" lvl="0" indent="-313182" algn="l" rtl="0">
              <a:lnSpc>
                <a:spcPct val="90000"/>
              </a:lnSpc>
              <a:spcBef>
                <a:spcPts val="1000"/>
              </a:spcBef>
              <a:spcAft>
                <a:spcPts val="0"/>
              </a:spcAft>
              <a:buClr>
                <a:schemeClr val="dk1"/>
              </a:buClr>
              <a:buSzPct val="51428"/>
              <a:buChar char="►"/>
            </a:pPr>
            <a:r>
              <a:rPr lang="en-US" sz="2800">
                <a:solidFill>
                  <a:schemeClr val="dk1"/>
                </a:solidFill>
                <a:latin typeface="Arial"/>
                <a:ea typeface="Arial"/>
                <a:cs typeface="Arial"/>
                <a:sym typeface="Arial"/>
              </a:rPr>
              <a:t>•</a:t>
            </a:r>
            <a:r>
              <a:rPr lang="en-US" sz="2800">
                <a:solidFill>
                  <a:schemeClr val="dk1"/>
                </a:solidFill>
                <a:latin typeface="Calibri"/>
                <a:ea typeface="Calibri"/>
                <a:cs typeface="Calibri"/>
                <a:sym typeface="Calibri"/>
              </a:rPr>
              <a:t>IID (Independent and Identically distribution of data) assumptions</a:t>
            </a:r>
            <a:endParaRPr sz="2800">
              <a:solidFill>
                <a:schemeClr val="dk1"/>
              </a:solidFill>
              <a:latin typeface="Calibri"/>
              <a:ea typeface="Calibri"/>
              <a:cs typeface="Calibri"/>
              <a:sym typeface="Calibri"/>
            </a:endParaRPr>
          </a:p>
          <a:p>
            <a:pPr marL="914400" lvl="1" indent="-313182" algn="l" rtl="0">
              <a:lnSpc>
                <a:spcPct val="90000"/>
              </a:lnSpc>
              <a:spcBef>
                <a:spcPts val="0"/>
              </a:spcBef>
              <a:spcAft>
                <a:spcPts val="0"/>
              </a:spcAft>
              <a:buClr>
                <a:schemeClr val="dk1"/>
              </a:buClr>
              <a:buSzPct val="59999"/>
              <a:buChar char="►"/>
            </a:pPr>
            <a:r>
              <a:rPr lang="en-US" sz="2400">
                <a:solidFill>
                  <a:schemeClr val="dk1"/>
                </a:solidFill>
                <a:latin typeface="Calibri"/>
                <a:ea typeface="Calibri"/>
                <a:cs typeface="Calibri"/>
                <a:sym typeface="Calibri"/>
              </a:rPr>
              <a:t>Independent</a:t>
            </a:r>
            <a:endParaRPr sz="2400">
              <a:solidFill>
                <a:schemeClr val="dk1"/>
              </a:solidFill>
              <a:latin typeface="Calibri"/>
              <a:ea typeface="Calibri"/>
              <a:cs typeface="Calibri"/>
              <a:sym typeface="Calibri"/>
            </a:endParaRPr>
          </a:p>
          <a:p>
            <a:pPr marL="1371600" lvl="2" indent="-313182" algn="l" rtl="0">
              <a:lnSpc>
                <a:spcPct val="90000"/>
              </a:lnSpc>
              <a:spcBef>
                <a:spcPts val="0"/>
              </a:spcBef>
              <a:spcAft>
                <a:spcPts val="0"/>
              </a:spcAft>
              <a:buClr>
                <a:schemeClr val="dk1"/>
              </a:buClr>
              <a:buSzPct val="72000"/>
              <a:buChar char="►"/>
            </a:pPr>
            <a:r>
              <a:rPr lang="en-US" sz="2000">
                <a:solidFill>
                  <a:schemeClr val="dk1"/>
                </a:solidFill>
                <a:latin typeface="Calibri"/>
                <a:ea typeface="Calibri"/>
                <a:cs typeface="Calibri"/>
                <a:sym typeface="Calibri"/>
              </a:rPr>
              <a:t>Each data sample is drawn independently of the others, meaning the outcome of one sample does not affect the outcome of another</a:t>
            </a:r>
            <a:endParaRPr sz="2000">
              <a:solidFill>
                <a:schemeClr val="dk1"/>
              </a:solidFill>
              <a:latin typeface="Calibri"/>
              <a:ea typeface="Calibri"/>
              <a:cs typeface="Calibri"/>
              <a:sym typeface="Calibri"/>
            </a:endParaRPr>
          </a:p>
          <a:p>
            <a:pPr marL="1371600" lvl="2" indent="-313182" algn="l" rtl="0">
              <a:lnSpc>
                <a:spcPct val="90000"/>
              </a:lnSpc>
              <a:spcBef>
                <a:spcPts val="0"/>
              </a:spcBef>
              <a:spcAft>
                <a:spcPts val="0"/>
              </a:spcAft>
              <a:buClr>
                <a:schemeClr val="dk1"/>
              </a:buClr>
              <a:buSzPct val="72000"/>
              <a:buChar char="►"/>
            </a:pPr>
            <a:r>
              <a:rPr lang="en-US" sz="2000">
                <a:solidFill>
                  <a:schemeClr val="dk1"/>
                </a:solidFill>
                <a:latin typeface="Calibri"/>
                <a:ea typeface="Calibri"/>
                <a:cs typeface="Calibri"/>
                <a:sym typeface="Calibri"/>
              </a:rPr>
              <a:t>This ensures there are no dependencies or correlations between the samples in the dataset</a:t>
            </a:r>
            <a:endParaRPr sz="2000">
              <a:solidFill>
                <a:schemeClr val="dk1"/>
              </a:solidFill>
              <a:latin typeface="Calibri"/>
              <a:ea typeface="Calibri"/>
              <a:cs typeface="Calibri"/>
              <a:sym typeface="Calibri"/>
            </a:endParaRPr>
          </a:p>
          <a:p>
            <a:pPr marL="914400" lvl="1" indent="-313182" algn="l" rtl="0">
              <a:lnSpc>
                <a:spcPct val="90000"/>
              </a:lnSpc>
              <a:spcBef>
                <a:spcPts val="0"/>
              </a:spcBef>
              <a:spcAft>
                <a:spcPts val="0"/>
              </a:spcAft>
              <a:buClr>
                <a:schemeClr val="dk1"/>
              </a:buClr>
              <a:buSzPct val="59999"/>
              <a:buChar char="►"/>
            </a:pPr>
            <a:r>
              <a:rPr lang="en-US" sz="2400">
                <a:solidFill>
                  <a:schemeClr val="dk1"/>
                </a:solidFill>
                <a:latin typeface="Calibri"/>
                <a:ea typeface="Calibri"/>
                <a:cs typeface="Calibri"/>
                <a:sym typeface="Calibri"/>
              </a:rPr>
              <a:t>Identically</a:t>
            </a:r>
            <a:endParaRPr sz="2400">
              <a:solidFill>
                <a:schemeClr val="dk1"/>
              </a:solidFill>
              <a:latin typeface="Calibri"/>
              <a:ea typeface="Calibri"/>
              <a:cs typeface="Calibri"/>
              <a:sym typeface="Calibri"/>
            </a:endParaRPr>
          </a:p>
          <a:p>
            <a:pPr marL="1371600" lvl="2" indent="-313182" algn="l" rtl="0">
              <a:lnSpc>
                <a:spcPct val="90000"/>
              </a:lnSpc>
              <a:spcBef>
                <a:spcPts val="0"/>
              </a:spcBef>
              <a:spcAft>
                <a:spcPts val="0"/>
              </a:spcAft>
              <a:buClr>
                <a:schemeClr val="dk1"/>
              </a:buClr>
              <a:buSzPct val="72000"/>
              <a:buChar char="►"/>
            </a:pPr>
            <a:r>
              <a:rPr lang="en-US" sz="2000">
                <a:solidFill>
                  <a:schemeClr val="dk1"/>
                </a:solidFill>
                <a:latin typeface="Calibri"/>
                <a:ea typeface="Calibri"/>
                <a:cs typeface="Calibri"/>
                <a:sym typeface="Calibri"/>
              </a:rPr>
              <a:t>All data points come from the same underlying distribution</a:t>
            </a:r>
            <a:endParaRPr sz="2000">
              <a:solidFill>
                <a:schemeClr val="dk1"/>
              </a:solidFill>
              <a:latin typeface="Calibri"/>
              <a:ea typeface="Calibri"/>
              <a:cs typeface="Calibri"/>
              <a:sym typeface="Calibri"/>
            </a:endParaRPr>
          </a:p>
          <a:p>
            <a:pPr marL="1828800" lvl="3" indent="-313182" algn="l" rtl="0">
              <a:lnSpc>
                <a:spcPct val="90000"/>
              </a:lnSpc>
              <a:spcBef>
                <a:spcPts val="0"/>
              </a:spcBef>
              <a:spcAft>
                <a:spcPts val="0"/>
              </a:spcAft>
              <a:buClr>
                <a:schemeClr val="dk1"/>
              </a:buClr>
              <a:buSzPct val="119999"/>
              <a:buChar char="►"/>
            </a:pPr>
            <a:r>
              <a:rPr lang="en-US">
                <a:solidFill>
                  <a:schemeClr val="dk1"/>
                </a:solidFill>
                <a:latin typeface="Calibri"/>
                <a:ea typeface="Calibri"/>
                <a:cs typeface="Calibri"/>
                <a:sym typeface="Calibri"/>
              </a:rPr>
              <a:t>if the data is drawn from a Gaussian distribution, all samples must follow the same Gaussian distribution</a:t>
            </a:r>
            <a:endParaRPr>
              <a:solidFill>
                <a:schemeClr val="dk1"/>
              </a:solidFill>
              <a:latin typeface="Calibri"/>
              <a:ea typeface="Calibri"/>
              <a:cs typeface="Calibri"/>
              <a:sym typeface="Calibri"/>
            </a:endParaRPr>
          </a:p>
          <a:p>
            <a:pPr marL="1371600" lvl="2" indent="-313182" algn="l" rtl="0">
              <a:lnSpc>
                <a:spcPct val="90000"/>
              </a:lnSpc>
              <a:spcBef>
                <a:spcPts val="0"/>
              </a:spcBef>
              <a:spcAft>
                <a:spcPts val="0"/>
              </a:spcAft>
              <a:buClr>
                <a:schemeClr val="dk1"/>
              </a:buClr>
              <a:buSzPct val="72000"/>
              <a:buChar char="►"/>
            </a:pPr>
            <a:r>
              <a:rPr lang="en-US" sz="2000">
                <a:solidFill>
                  <a:schemeClr val="dk1"/>
                </a:solidFill>
                <a:latin typeface="Calibri"/>
                <a:ea typeface="Calibri"/>
                <a:cs typeface="Calibri"/>
                <a:sym typeface="Calibri"/>
              </a:rPr>
              <a:t>This assumption ensures the learning algorithm can generalize from the training data to unseen data, as the test set is assumed to follow the same distribution</a:t>
            </a:r>
            <a:endParaRPr sz="2000">
              <a:solidFill>
                <a:schemeClr val="dk1"/>
              </a:solidFill>
              <a:latin typeface="Calibri"/>
              <a:ea typeface="Calibri"/>
              <a:cs typeface="Calibri"/>
              <a:sym typeface="Calibri"/>
            </a:endParaRPr>
          </a:p>
          <a:p>
            <a:pPr marL="1371600" lvl="2" indent="-313182" algn="l" rtl="0">
              <a:lnSpc>
                <a:spcPct val="90000"/>
              </a:lnSpc>
              <a:spcBef>
                <a:spcPts val="0"/>
              </a:spcBef>
              <a:spcAft>
                <a:spcPts val="0"/>
              </a:spcAft>
              <a:buClr>
                <a:schemeClr val="dk1"/>
              </a:buClr>
              <a:buSzPct val="72000"/>
              <a:buChar char="►"/>
            </a:pPr>
            <a:r>
              <a:rPr lang="en-US" sz="2000">
                <a:solidFill>
                  <a:schemeClr val="dk1"/>
                </a:solidFill>
                <a:latin typeface="Calibri"/>
                <a:ea typeface="Calibri"/>
                <a:cs typeface="Calibri"/>
                <a:sym typeface="Calibri"/>
              </a:rPr>
              <a:t>Test and training data are generated by a probability distribution</a:t>
            </a:r>
            <a:endParaRPr sz="2000">
              <a:solidFill>
                <a:schemeClr val="dk1"/>
              </a:solidFill>
              <a:latin typeface="Calibri"/>
              <a:ea typeface="Calibri"/>
              <a:cs typeface="Calibri"/>
              <a:sym typeface="Calibri"/>
            </a:endParaRPr>
          </a:p>
          <a:p>
            <a:pPr marL="457200" lvl="0" indent="-313182" algn="l" rtl="0">
              <a:spcBef>
                <a:spcPts val="0"/>
              </a:spcBef>
              <a:spcAft>
                <a:spcPts val="0"/>
              </a:spcAft>
              <a:buSzPct val="79999"/>
              <a:buChar char="►"/>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2b81a1fde9d_0_6"/>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performance of machine learning</a:t>
            </a:r>
            <a:endParaRPr/>
          </a:p>
        </p:txBody>
      </p:sp>
      <p:sp>
        <p:nvSpPr>
          <p:cNvPr id="307" name="Google Shape;307;g2b81a1fde9d_0_6"/>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457200" lvl="0" indent="-320040" algn="l" rtl="0">
              <a:spcBef>
                <a:spcPts val="1000"/>
              </a:spcBef>
              <a:spcAft>
                <a:spcPts val="0"/>
              </a:spcAft>
              <a:buSzPts val="1440"/>
              <a:buChar char="►"/>
            </a:pPr>
            <a:r>
              <a:rPr lang="en-US"/>
              <a:t>Make the training error small</a:t>
            </a:r>
            <a:endParaRPr/>
          </a:p>
          <a:p>
            <a:pPr marL="457200" lvl="0" indent="-320040" algn="l" rtl="0">
              <a:spcBef>
                <a:spcPts val="0"/>
              </a:spcBef>
              <a:spcAft>
                <a:spcPts val="0"/>
              </a:spcAft>
              <a:buSzPts val="1440"/>
              <a:buChar char="►"/>
            </a:pPr>
            <a:r>
              <a:rPr lang="en-US"/>
              <a:t>reduce the gap between training and test error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2b81a1fde9d_0_12"/>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Testing and validating</a:t>
            </a:r>
            <a:endParaRPr/>
          </a:p>
        </p:txBody>
      </p:sp>
      <p:sp>
        <p:nvSpPr>
          <p:cNvPr id="313" name="Google Shape;313;g2b81a1fde9d_0_12"/>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We split data into two sets: training set and test set</a:t>
            </a:r>
            <a:endParaRPr/>
          </a:p>
          <a:p>
            <a:pPr marL="342900" lvl="0" indent="-342900" algn="l" rtl="0">
              <a:spcBef>
                <a:spcPts val="1000"/>
              </a:spcBef>
              <a:spcAft>
                <a:spcPts val="0"/>
              </a:spcAft>
              <a:buSzPts val="1440"/>
              <a:buChar char="►"/>
            </a:pPr>
            <a:r>
              <a:rPr lang="en-US"/>
              <a:t>The error rate on new cases is called the generalization error (or out-of-sample error)</a:t>
            </a:r>
            <a:endParaRPr/>
          </a:p>
          <a:p>
            <a:pPr marL="342900" lvl="0" indent="-342900" algn="l" rtl="0">
              <a:spcBef>
                <a:spcPts val="1000"/>
              </a:spcBef>
              <a:spcAft>
                <a:spcPts val="0"/>
              </a:spcAft>
              <a:buSzPts val="1440"/>
              <a:buChar char="►"/>
            </a:pPr>
            <a:r>
              <a:rPr lang="en-US"/>
              <a:t>By evaluating the model on test set , we get an estimation of generalization error.</a:t>
            </a:r>
            <a:endParaRPr/>
          </a:p>
          <a:p>
            <a:pPr marL="342900" lvl="0" indent="-342900" algn="l" rtl="0">
              <a:spcBef>
                <a:spcPts val="1000"/>
              </a:spcBef>
              <a:spcAft>
                <a:spcPts val="0"/>
              </a:spcAft>
              <a:buSzPts val="1440"/>
              <a:buChar char="►"/>
            </a:pPr>
            <a:r>
              <a:rPr lang="en-US"/>
              <a:t>If the training error is low but the generalization error is high, it means the model is overfitting the training data.</a:t>
            </a:r>
            <a:endParaRPr/>
          </a:p>
          <a:p>
            <a:pPr marL="342900" lvl="0" indent="-251459" algn="l" rtl="0">
              <a:spcBef>
                <a:spcPts val="1000"/>
              </a:spcBef>
              <a:spcAft>
                <a:spcPts val="0"/>
              </a:spcAft>
              <a:buSzPts val="144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Underfitting the training data</a:t>
            </a:r>
            <a:br>
              <a:rPr lang="en-US"/>
            </a:br>
            <a:endParaRPr/>
          </a:p>
        </p:txBody>
      </p:sp>
      <p:sp>
        <p:nvSpPr>
          <p:cNvPr id="319" name="Google Shape;319;p2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fontScale="77500" lnSpcReduction="20000"/>
          </a:bodyPr>
          <a:lstStyle/>
          <a:p>
            <a:pPr marL="342900" lvl="0" indent="-315468" algn="l" rtl="0">
              <a:spcBef>
                <a:spcPts val="0"/>
              </a:spcBef>
              <a:spcAft>
                <a:spcPts val="0"/>
              </a:spcAft>
              <a:buSzPct val="79999"/>
              <a:buChar char="►"/>
            </a:pPr>
            <a:r>
              <a:rPr lang="en-US"/>
              <a:t>Opposite of overfitting</a:t>
            </a:r>
            <a:endParaRPr/>
          </a:p>
          <a:p>
            <a:pPr marL="342900" lvl="0" indent="-315468" algn="l" rtl="0">
              <a:spcBef>
                <a:spcPts val="1000"/>
              </a:spcBef>
              <a:spcAft>
                <a:spcPts val="0"/>
              </a:spcAft>
              <a:buSzPct val="79999"/>
              <a:buChar char="►"/>
            </a:pPr>
            <a:r>
              <a:rPr lang="en-US"/>
              <a:t>It occurs when model is too simple to learn the underlying structure of the data.</a:t>
            </a:r>
            <a:endParaRPr/>
          </a:p>
          <a:p>
            <a:pPr marL="342900" lvl="0" indent="-315468" algn="l" rtl="0">
              <a:spcBef>
                <a:spcPts val="1000"/>
              </a:spcBef>
              <a:spcAft>
                <a:spcPts val="0"/>
              </a:spcAft>
              <a:buSzPct val="79999"/>
              <a:buChar char="►"/>
            </a:pPr>
            <a:r>
              <a:rPr lang="en-US"/>
              <a:t>If your model is underfitting the training data, adding more training examples will not help. </a:t>
            </a:r>
            <a:endParaRPr/>
          </a:p>
          <a:p>
            <a:pPr marL="342900" lvl="0" indent="-315468" algn="l" rtl="0">
              <a:spcBef>
                <a:spcPts val="1000"/>
              </a:spcBef>
              <a:spcAft>
                <a:spcPts val="0"/>
              </a:spcAft>
              <a:buSzPct val="79999"/>
              <a:buChar char="►"/>
            </a:pPr>
            <a:r>
              <a:rPr lang="en-US"/>
              <a:t>The main options to fix this problem are:</a:t>
            </a:r>
            <a:endParaRPr/>
          </a:p>
          <a:p>
            <a:pPr marL="742950" lvl="1" indent="-261365" algn="l" rtl="0">
              <a:spcBef>
                <a:spcPts val="1000"/>
              </a:spcBef>
              <a:spcAft>
                <a:spcPts val="0"/>
              </a:spcAft>
              <a:buSzPct val="80000"/>
              <a:buChar char="►"/>
            </a:pPr>
            <a:r>
              <a:rPr lang="en-US"/>
              <a:t>Selecting a more powerful model, with more parameters</a:t>
            </a:r>
            <a:endParaRPr/>
          </a:p>
          <a:p>
            <a:pPr marL="742950" lvl="1" indent="-261365" algn="l" rtl="0">
              <a:spcBef>
                <a:spcPts val="1000"/>
              </a:spcBef>
              <a:spcAft>
                <a:spcPts val="0"/>
              </a:spcAft>
              <a:buSzPct val="80000"/>
              <a:buChar char="►"/>
            </a:pPr>
            <a:r>
              <a:rPr lang="en-US"/>
              <a:t>Feeding better features to the learning algorithm (feature engineering)</a:t>
            </a:r>
            <a:endParaRPr/>
          </a:p>
          <a:p>
            <a:pPr marL="742950" lvl="1" indent="-261365" algn="l" rtl="0">
              <a:spcBef>
                <a:spcPts val="1000"/>
              </a:spcBef>
              <a:spcAft>
                <a:spcPts val="0"/>
              </a:spcAft>
              <a:buSzPct val="80000"/>
              <a:buChar char="►"/>
            </a:pPr>
            <a:r>
              <a:rPr lang="en-US"/>
              <a:t>Reducing the constraints on the model</a:t>
            </a:r>
            <a:endParaRPr/>
          </a:p>
          <a:p>
            <a:pPr marL="342900" lvl="0" indent="-315468" algn="l" rtl="0">
              <a:spcBef>
                <a:spcPts val="0"/>
              </a:spcBef>
              <a:spcAft>
                <a:spcPts val="0"/>
              </a:spcAft>
              <a:buSzPct val="79999"/>
              <a:buChar char="►"/>
            </a:pPr>
            <a:r>
              <a:rPr lang="en-US"/>
              <a:t>In supervised learning, </a:t>
            </a:r>
            <a:r>
              <a:rPr lang="en-US" b="1"/>
              <a:t>underfitting</a:t>
            </a:r>
            <a:r>
              <a:rPr lang="en-US"/>
              <a:t> happens when a model is too simple to represent all the relevant class characteristics i.e. unable to capture the underlying pattern of the data. </a:t>
            </a:r>
            <a:endParaRPr/>
          </a:p>
          <a:p>
            <a:pPr marL="742950" lvl="1" indent="-251205" algn="l" rtl="0">
              <a:spcBef>
                <a:spcPts val="1000"/>
              </a:spcBef>
              <a:spcAft>
                <a:spcPts val="0"/>
              </a:spcAft>
              <a:buSzPct val="80000"/>
              <a:buChar char="►"/>
            </a:pPr>
            <a:r>
              <a:rPr lang="en-US"/>
              <a:t>These models usually have high bias and low variance. </a:t>
            </a:r>
            <a:endParaRPr/>
          </a:p>
          <a:p>
            <a:pPr marL="742950" lvl="1" indent="-251205" algn="l" rtl="0">
              <a:spcBef>
                <a:spcPts val="1000"/>
              </a:spcBef>
              <a:spcAft>
                <a:spcPts val="0"/>
              </a:spcAft>
              <a:buSzPct val="80000"/>
              <a:buChar char="►"/>
            </a:pPr>
            <a:r>
              <a:rPr lang="en-US"/>
              <a:t>High training error and high test error.</a:t>
            </a:r>
            <a:endParaRPr/>
          </a:p>
          <a:p>
            <a:pPr marL="342900" lvl="0" indent="-315468" algn="l" rtl="0">
              <a:spcBef>
                <a:spcPts val="1000"/>
              </a:spcBef>
              <a:spcAft>
                <a:spcPts val="0"/>
              </a:spcAft>
              <a:buSzPct val="79999"/>
              <a:buChar char="►"/>
            </a:pPr>
            <a:r>
              <a:rPr lang="en-US"/>
              <a:t>It happens when we have very less amount of data to build an accurate model or when we try to build a linear model with a nonlinear data. </a:t>
            </a:r>
            <a:endParaRPr/>
          </a:p>
          <a:p>
            <a:pPr marL="342900" lvl="0" indent="-315468" algn="l" rtl="0">
              <a:spcBef>
                <a:spcPts val="1000"/>
              </a:spcBef>
              <a:spcAft>
                <a:spcPts val="0"/>
              </a:spcAft>
              <a:buSzPct val="79999"/>
              <a:buChar char="►"/>
            </a:pPr>
            <a:r>
              <a:rPr lang="en-US"/>
              <a:t>Also, these kind of models are very simple to capture the complex patterns in data like Linear and logistic regression.</a:t>
            </a:r>
            <a:endParaRPr/>
          </a:p>
          <a:p>
            <a:pPr marL="742950" lvl="1" indent="-204469" algn="l" rtl="0">
              <a:spcBef>
                <a:spcPts val="1000"/>
              </a:spcBef>
              <a:spcAft>
                <a:spcPts val="0"/>
              </a:spcAft>
              <a:buSzPct val="800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2b81a1fde9d_0_38"/>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Overfitting the training data</a:t>
            </a:r>
            <a:br>
              <a:rPr lang="en-US"/>
            </a:br>
            <a:endParaRPr/>
          </a:p>
        </p:txBody>
      </p:sp>
      <p:sp>
        <p:nvSpPr>
          <p:cNvPr id="325" name="Google Shape;325;g2b81a1fde9d_0_38"/>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fontScale="77500" lnSpcReduction="20000"/>
          </a:bodyPr>
          <a:lstStyle/>
          <a:p>
            <a:pPr marL="342900" lvl="0" indent="-315468" algn="l" rtl="0">
              <a:spcBef>
                <a:spcPts val="0"/>
              </a:spcBef>
              <a:spcAft>
                <a:spcPts val="0"/>
              </a:spcAft>
              <a:buSzPct val="79999"/>
              <a:buChar char="►"/>
            </a:pPr>
            <a:r>
              <a:rPr lang="en-US"/>
              <a:t>The gap between training and test error is too large</a:t>
            </a:r>
            <a:endParaRPr/>
          </a:p>
          <a:p>
            <a:pPr marL="342900" lvl="0" indent="-315468" algn="l" rtl="0">
              <a:spcBef>
                <a:spcPts val="0"/>
              </a:spcBef>
              <a:spcAft>
                <a:spcPts val="0"/>
              </a:spcAft>
              <a:buSzPct val="79999"/>
              <a:buChar char="►"/>
            </a:pPr>
            <a:r>
              <a:rPr lang="en-US"/>
              <a:t>Model performs well on training data, but it does not generalize well.</a:t>
            </a:r>
            <a:endParaRPr/>
          </a:p>
          <a:p>
            <a:pPr marL="342900" lvl="0" indent="-315468" algn="l" rtl="0">
              <a:spcBef>
                <a:spcPts val="1000"/>
              </a:spcBef>
              <a:spcAft>
                <a:spcPts val="0"/>
              </a:spcAft>
              <a:buSzPct val="79999"/>
              <a:buChar char="►"/>
            </a:pPr>
            <a:r>
              <a:rPr lang="en-US"/>
              <a:t>Happens when model is too complex relative to the amount and noisiness of the training data. </a:t>
            </a:r>
            <a:endParaRPr/>
          </a:p>
          <a:p>
            <a:pPr marL="342900" lvl="0" indent="-315468" algn="l" rtl="0">
              <a:spcBef>
                <a:spcPts val="1000"/>
              </a:spcBef>
              <a:spcAft>
                <a:spcPts val="0"/>
              </a:spcAft>
              <a:buSzPct val="79999"/>
              <a:buChar char="►"/>
            </a:pPr>
            <a:r>
              <a:rPr lang="en-US"/>
              <a:t>Possible solutions are:</a:t>
            </a:r>
            <a:endParaRPr/>
          </a:p>
          <a:p>
            <a:pPr marL="742950" lvl="1" indent="-261365" algn="l" rtl="0">
              <a:spcBef>
                <a:spcPts val="1000"/>
              </a:spcBef>
              <a:spcAft>
                <a:spcPts val="0"/>
              </a:spcAft>
              <a:buSzPct val="80000"/>
              <a:buChar char="►"/>
            </a:pPr>
            <a:r>
              <a:rPr lang="en-US"/>
              <a:t>To simplify the model by selecting one with fewer parameters (e.g.. A linear model rather than a high-degree polynomial model), by reducing the number of attributes in the training data or by constraining the model</a:t>
            </a:r>
            <a:endParaRPr/>
          </a:p>
          <a:p>
            <a:pPr marL="742950" lvl="1" indent="-261365" algn="l" rtl="0">
              <a:spcBef>
                <a:spcPts val="1000"/>
              </a:spcBef>
              <a:spcAft>
                <a:spcPts val="0"/>
              </a:spcAft>
              <a:buSzPct val="80000"/>
              <a:buChar char="►"/>
            </a:pPr>
            <a:r>
              <a:rPr lang="en-US"/>
              <a:t>To gather more training data</a:t>
            </a:r>
            <a:endParaRPr/>
          </a:p>
          <a:p>
            <a:pPr marL="742950" lvl="1" indent="-261365" algn="l" rtl="0">
              <a:spcBef>
                <a:spcPts val="1000"/>
              </a:spcBef>
              <a:spcAft>
                <a:spcPts val="0"/>
              </a:spcAft>
              <a:buSzPct val="80000"/>
              <a:buChar char="►"/>
            </a:pPr>
            <a:r>
              <a:rPr lang="en-US"/>
              <a:t>To reduce the noise in the training data(e.g., fix data errors and remove outliers)</a:t>
            </a:r>
            <a:endParaRPr/>
          </a:p>
          <a:p>
            <a:pPr marL="342900" lvl="0" indent="-315468" algn="l" rtl="0">
              <a:spcBef>
                <a:spcPts val="1000"/>
              </a:spcBef>
              <a:spcAft>
                <a:spcPts val="0"/>
              </a:spcAft>
              <a:buSzPct val="79999"/>
              <a:buChar char="►"/>
            </a:pPr>
            <a:r>
              <a:rPr lang="en-US"/>
              <a:t>Constraining a model to make it simpler and reduce the risk of overfitting is called regularization.</a:t>
            </a:r>
            <a:endParaRPr/>
          </a:p>
          <a:p>
            <a:pPr marL="342900" lvl="0" indent="-315468" algn="l" rtl="0">
              <a:spcBef>
                <a:spcPts val="0"/>
              </a:spcBef>
              <a:spcAft>
                <a:spcPts val="0"/>
              </a:spcAft>
              <a:buSzPct val="79999"/>
              <a:buChar char="►"/>
            </a:pPr>
            <a:r>
              <a:rPr lang="en-US"/>
              <a:t>In supervised learning, </a:t>
            </a:r>
            <a:r>
              <a:rPr lang="en-US" b="1"/>
              <a:t>overfitting</a:t>
            </a:r>
            <a:r>
              <a:rPr lang="en-US"/>
              <a:t> happens when our model is too complex and fits irrelevant characteristics  (noise) along with the underlying pattern in data. </a:t>
            </a:r>
            <a:endParaRPr/>
          </a:p>
          <a:p>
            <a:pPr marL="342900" lvl="0" indent="-315468" algn="l" rtl="0">
              <a:spcBef>
                <a:spcPts val="1000"/>
              </a:spcBef>
              <a:spcAft>
                <a:spcPts val="0"/>
              </a:spcAft>
              <a:buSzPct val="79999"/>
              <a:buChar char="►"/>
            </a:pPr>
            <a:r>
              <a:rPr lang="en-US"/>
              <a:t>It happens when we train our model a lot over noisy dataset. </a:t>
            </a:r>
            <a:endParaRPr/>
          </a:p>
          <a:p>
            <a:pPr marL="342900" lvl="0" indent="-315468" algn="l" rtl="0">
              <a:spcBef>
                <a:spcPts val="1000"/>
              </a:spcBef>
              <a:spcAft>
                <a:spcPts val="0"/>
              </a:spcAft>
              <a:buSzPct val="79999"/>
              <a:buChar char="►"/>
            </a:pPr>
            <a:r>
              <a:rPr lang="en-US"/>
              <a:t>These models have low bias and high variance.</a:t>
            </a:r>
            <a:endParaRPr/>
          </a:p>
          <a:p>
            <a:pPr marL="342900" lvl="0" indent="-315468" algn="l" rtl="0">
              <a:spcBef>
                <a:spcPts val="1000"/>
              </a:spcBef>
              <a:spcAft>
                <a:spcPts val="0"/>
              </a:spcAft>
              <a:buSzPct val="79999"/>
              <a:buChar char="►"/>
            </a:pPr>
            <a:r>
              <a:rPr lang="en-US"/>
              <a:t>Low training error and high test error </a:t>
            </a:r>
            <a:endParaRPr/>
          </a:p>
          <a:p>
            <a:pPr marL="342900" lvl="0" indent="-315468" algn="l" rtl="0">
              <a:spcBef>
                <a:spcPts val="1000"/>
              </a:spcBef>
              <a:spcAft>
                <a:spcPts val="0"/>
              </a:spcAft>
              <a:buSzPct val="79999"/>
              <a:buChar char="►"/>
            </a:pPr>
            <a:r>
              <a:rPr lang="en-US"/>
              <a:t>These models are very complex like Decision trees which are prone to overfitting.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2b81a1fde9d_0_43"/>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b="1"/>
              <a:t>Understanding the Bias-Variance Tradeoff</a:t>
            </a:r>
            <a:br>
              <a:rPr lang="en-US" b="1"/>
            </a:br>
            <a:endParaRPr/>
          </a:p>
        </p:txBody>
      </p:sp>
      <p:sp>
        <p:nvSpPr>
          <p:cNvPr id="338" name="Google Shape;338;g2b81a1fde9d_0_43"/>
          <p:cNvSpPr txBox="1">
            <a:spLocks noGrp="1"/>
          </p:cNvSpPr>
          <p:nvPr>
            <p:ph type="body" idx="1"/>
          </p:nvPr>
        </p:nvSpPr>
        <p:spPr>
          <a:xfrm>
            <a:off x="677334" y="1386840"/>
            <a:ext cx="8596800" cy="4654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prediction errors</a:t>
            </a:r>
            <a:endParaRPr/>
          </a:p>
          <a:p>
            <a:pPr marL="742950" lvl="1" indent="-285750" algn="l" rtl="0">
              <a:spcBef>
                <a:spcPts val="1000"/>
              </a:spcBef>
              <a:spcAft>
                <a:spcPts val="0"/>
              </a:spcAft>
              <a:buSzPts val="1280"/>
              <a:buChar char="►"/>
            </a:pPr>
            <a:r>
              <a:rPr lang="en-US"/>
              <a:t>bias and variance</a:t>
            </a:r>
            <a:endParaRPr/>
          </a:p>
          <a:p>
            <a:pPr marL="342900" lvl="0" indent="-342900" algn="l" rtl="0">
              <a:spcBef>
                <a:spcPts val="1000"/>
              </a:spcBef>
              <a:spcAft>
                <a:spcPts val="0"/>
              </a:spcAft>
              <a:buSzPts val="1440"/>
              <a:buChar char="►"/>
            </a:pPr>
            <a:r>
              <a:rPr lang="en-US"/>
              <a:t>There is a tradeoff between a model’s ability to minimize bias and variance</a:t>
            </a:r>
            <a:endParaRPr/>
          </a:p>
          <a:p>
            <a:pPr marL="342900" lvl="0" indent="-342900" algn="l" rtl="0">
              <a:spcBef>
                <a:spcPts val="1000"/>
              </a:spcBef>
              <a:spcAft>
                <a:spcPts val="0"/>
              </a:spcAft>
              <a:buSzPts val="1440"/>
              <a:buChar char="►"/>
            </a:pPr>
            <a:r>
              <a:rPr lang="en-US"/>
              <a:t>Understanding of these errors avoids the mistake of overfitting and underfitting</a:t>
            </a:r>
            <a:endParaRPr/>
          </a:p>
          <a:p>
            <a:pPr marL="342900" lvl="0" indent="-342900" algn="l" rtl="0">
              <a:spcBef>
                <a:spcPts val="1000"/>
              </a:spcBef>
              <a:spcAft>
                <a:spcPts val="0"/>
              </a:spcAft>
              <a:buSzPts val="1440"/>
              <a:buChar char="►"/>
            </a:pPr>
            <a:r>
              <a:rPr lang="en-US"/>
              <a:t>If models are more flexible (less bias), it becomes more data sensitive (high variance)</a:t>
            </a:r>
            <a:endParaRPr/>
          </a:p>
          <a:p>
            <a:pPr marL="342900" lvl="0" indent="-342900" algn="l" rtl="0">
              <a:spcBef>
                <a:spcPts val="1000"/>
              </a:spcBef>
              <a:spcAft>
                <a:spcPts val="0"/>
              </a:spcAft>
              <a:buSzPts val="1440"/>
              <a:buChar char="►"/>
            </a:pPr>
            <a:r>
              <a:rPr lang="en-US"/>
              <a:t>If models are less data sensitive (less variance), it becomes less flexible (high bias)</a:t>
            </a:r>
            <a:endParaRPr/>
          </a:p>
          <a:p>
            <a:pPr marL="342900" lvl="0" indent="-251459" algn="l" rtl="0">
              <a:spcBef>
                <a:spcPts val="1000"/>
              </a:spcBef>
              <a:spcAft>
                <a:spcPts val="0"/>
              </a:spcAft>
              <a:buSzPts val="144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g2b81a1fde9d_0_48"/>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Bias</a:t>
            </a:r>
            <a:endParaRPr/>
          </a:p>
        </p:txBody>
      </p:sp>
      <p:sp>
        <p:nvSpPr>
          <p:cNvPr id="344" name="Google Shape;344;g2b81a1fde9d_0_48"/>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440"/>
              <a:buChar char="►"/>
            </a:pPr>
            <a:r>
              <a:rPr lang="en-US" b="0" i="0">
                <a:solidFill>
                  <a:srgbClr val="333333"/>
                </a:solidFill>
                <a:latin typeface="Lato"/>
                <a:ea typeface="Lato"/>
                <a:cs typeface="Lato"/>
                <a:sym typeface="Lato"/>
              </a:rPr>
              <a:t>Also called “</a:t>
            </a:r>
            <a:r>
              <a:rPr lang="en-US" b="0" i="0" u="none" strike="noStrike">
                <a:solidFill>
                  <a:schemeClr val="dk1"/>
                </a:solidFill>
                <a:latin typeface="Lato"/>
                <a:ea typeface="Lato"/>
                <a:cs typeface="Lato"/>
                <a:sym typeface="Lato"/>
              </a:rPr>
              <a:t>error due to squared bias</a:t>
            </a:r>
            <a:r>
              <a:rPr lang="en-US" u="none" strike="noStrike">
                <a:solidFill>
                  <a:srgbClr val="333333"/>
                </a:solidFill>
                <a:latin typeface="Lato"/>
                <a:ea typeface="Lato"/>
                <a:cs typeface="Lato"/>
                <a:sym typeface="Lato"/>
              </a:rPr>
              <a:t>”</a:t>
            </a:r>
            <a:endParaRPr b="0" i="0">
              <a:solidFill>
                <a:srgbClr val="333333"/>
              </a:solidFill>
              <a:latin typeface="Lato"/>
              <a:ea typeface="Lato"/>
              <a:cs typeface="Lato"/>
              <a:sym typeface="Lato"/>
            </a:endParaRPr>
          </a:p>
          <a:p>
            <a:pPr marL="342900" lvl="0" indent="-342900" algn="l" rtl="0">
              <a:spcBef>
                <a:spcPts val="1000"/>
              </a:spcBef>
              <a:spcAft>
                <a:spcPts val="0"/>
              </a:spcAft>
              <a:buSzPts val="1440"/>
              <a:buChar char="►"/>
            </a:pPr>
            <a:r>
              <a:rPr lang="en-US"/>
              <a:t>difference between the average prediction of our model and the correct value which we are trying to predict</a:t>
            </a:r>
            <a:endParaRPr/>
          </a:p>
          <a:p>
            <a:pPr marL="342900" lvl="0" indent="-342900" algn="l" rtl="0">
              <a:spcBef>
                <a:spcPts val="1000"/>
              </a:spcBef>
              <a:spcAft>
                <a:spcPts val="0"/>
              </a:spcAft>
              <a:buSzPts val="1440"/>
              <a:buChar char="►"/>
            </a:pPr>
            <a:r>
              <a:rPr lang="en-US"/>
              <a:t>Model with high bias pays very little attention to the training data and oversimplifies the model</a:t>
            </a:r>
            <a:endParaRPr/>
          </a:p>
          <a:p>
            <a:pPr marL="342900" lvl="0" indent="-342900" algn="l" rtl="0">
              <a:spcBef>
                <a:spcPts val="1000"/>
              </a:spcBef>
              <a:spcAft>
                <a:spcPts val="0"/>
              </a:spcAft>
              <a:buSzPts val="1440"/>
              <a:buChar char="►"/>
            </a:pPr>
            <a:r>
              <a:rPr lang="en-US"/>
              <a:t>It always leads to high error on training and test data</a:t>
            </a:r>
            <a:endParaRPr/>
          </a:p>
          <a:p>
            <a:pPr marL="342900" lvl="0" indent="-342900" algn="l" rtl="0">
              <a:spcBef>
                <a:spcPts val="1000"/>
              </a:spcBef>
              <a:spcAft>
                <a:spcPts val="0"/>
              </a:spcAft>
              <a:buSzPts val="1440"/>
              <a:buChar char="►"/>
            </a:pPr>
            <a:r>
              <a:rPr lang="en-US" b="0" i="0">
                <a:solidFill>
                  <a:srgbClr val="333333"/>
                </a:solidFill>
                <a:latin typeface="Lato"/>
                <a:ea typeface="Lato"/>
                <a:cs typeface="Lato"/>
                <a:sym typeface="Lato"/>
              </a:rPr>
              <a:t>A high level of bias can lead to underfitting</a:t>
            </a:r>
            <a:endParaRPr/>
          </a:p>
          <a:p>
            <a:pPr marL="742950" lvl="1" indent="-285750" algn="l" rtl="0">
              <a:spcBef>
                <a:spcPts val="1000"/>
              </a:spcBef>
              <a:spcAft>
                <a:spcPts val="0"/>
              </a:spcAft>
              <a:buSzPts val="1280"/>
              <a:buChar char="►"/>
            </a:pPr>
            <a:r>
              <a:rPr lang="en-US" b="0" i="0">
                <a:solidFill>
                  <a:srgbClr val="333333"/>
                </a:solidFill>
                <a:latin typeface="Lato"/>
                <a:ea typeface="Lato"/>
                <a:cs typeface="Lato"/>
                <a:sym typeface="Lato"/>
              </a:rPr>
              <a:t>which occurs when the algorithm is unable to capture relevant relations between features and target outputs</a:t>
            </a:r>
            <a:endParaRPr/>
          </a:p>
          <a:p>
            <a:pPr marL="342900" lvl="0" indent="-342900" algn="l" rtl="0">
              <a:spcBef>
                <a:spcPts val="1000"/>
              </a:spcBef>
              <a:spcAft>
                <a:spcPts val="0"/>
              </a:spcAft>
              <a:buSzPts val="1440"/>
              <a:buChar char="►"/>
            </a:pPr>
            <a:r>
              <a:rPr lang="en-US" b="0" i="0">
                <a:solidFill>
                  <a:srgbClr val="333333"/>
                </a:solidFill>
                <a:latin typeface="Lato"/>
                <a:ea typeface="Lato"/>
                <a:cs typeface="Lato"/>
                <a:sym typeface="Lato"/>
              </a:rPr>
              <a:t>A linear algorithm often has high bias, which makes them learn fast.</a:t>
            </a:r>
            <a:endParaRPr/>
          </a:p>
          <a:p>
            <a:pPr marL="342900" lvl="0" indent="-342900" algn="l" rtl="0">
              <a:spcBef>
                <a:spcPts val="1000"/>
              </a:spcBef>
              <a:spcAft>
                <a:spcPts val="0"/>
              </a:spcAft>
              <a:buSzPts val="1440"/>
              <a:buChar char="►"/>
            </a:pPr>
            <a:r>
              <a:rPr lang="en-US" b="0" i="0">
                <a:solidFill>
                  <a:srgbClr val="333333"/>
                </a:solidFill>
                <a:latin typeface="Lato"/>
                <a:ea typeface="Lato"/>
                <a:cs typeface="Lato"/>
                <a:sym typeface="Lato"/>
              </a:rPr>
              <a:t>In contrast, nonlinear algorithms often have low bias.</a:t>
            </a:r>
            <a:endParaRPr/>
          </a:p>
          <a:p>
            <a:pPr marL="342900" lvl="0" indent="-251459" algn="l" rtl="0">
              <a:spcBef>
                <a:spcPts val="1000"/>
              </a:spcBef>
              <a:spcAft>
                <a:spcPts val="0"/>
              </a:spcAft>
              <a:buSzPts val="144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b81a1fde9d_0_53"/>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variance</a:t>
            </a:r>
            <a:endParaRPr/>
          </a:p>
        </p:txBody>
      </p:sp>
      <p:sp>
        <p:nvSpPr>
          <p:cNvPr id="350" name="Google Shape;350;g2b81a1fde9d_0_53"/>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b="0" i="0">
                <a:solidFill>
                  <a:schemeClr val="dk1"/>
                </a:solidFill>
                <a:latin typeface="Lato"/>
                <a:ea typeface="Lato"/>
                <a:cs typeface="Lato"/>
                <a:sym typeface="Lato"/>
              </a:rPr>
              <a:t>Variance indicates how much the estimate of the target function will alter if different training data were used</a:t>
            </a:r>
            <a:r>
              <a:rPr lang="en-US" b="0" i="0">
                <a:solidFill>
                  <a:srgbClr val="333333"/>
                </a:solidFill>
                <a:latin typeface="Lato"/>
                <a:ea typeface="Lato"/>
                <a:cs typeface="Lato"/>
                <a:sym typeface="Lato"/>
              </a:rPr>
              <a:t>.</a:t>
            </a:r>
            <a:endParaRPr/>
          </a:p>
          <a:p>
            <a:pPr marL="342900" lvl="0" indent="-342900" algn="l" rtl="0">
              <a:spcBef>
                <a:spcPts val="1000"/>
              </a:spcBef>
              <a:spcAft>
                <a:spcPts val="0"/>
              </a:spcAft>
              <a:buSzPts val="1440"/>
              <a:buChar char="►"/>
            </a:pPr>
            <a:r>
              <a:rPr lang="en-US"/>
              <a:t>Variance is the variability of model prediction for a given data point or a value which tells us spread of our data. </a:t>
            </a:r>
            <a:endParaRPr/>
          </a:p>
          <a:p>
            <a:pPr marL="342900" lvl="0" indent="-342900" algn="l" rtl="0">
              <a:spcBef>
                <a:spcPts val="1000"/>
              </a:spcBef>
              <a:spcAft>
                <a:spcPts val="0"/>
              </a:spcAft>
              <a:buSzPts val="1440"/>
              <a:buChar char="►"/>
            </a:pPr>
            <a:r>
              <a:rPr lang="en-US"/>
              <a:t>Model with high variance pays a lot of attention to training data and does not generalize on the data which it hasn’t seen before. </a:t>
            </a:r>
            <a:endParaRPr/>
          </a:p>
          <a:p>
            <a:pPr marL="342900" lvl="0" indent="-342900" algn="l" rtl="0">
              <a:spcBef>
                <a:spcPts val="1000"/>
              </a:spcBef>
              <a:spcAft>
                <a:spcPts val="0"/>
              </a:spcAft>
              <a:buSzPts val="1440"/>
              <a:buChar char="►"/>
            </a:pPr>
            <a:r>
              <a:rPr lang="en-US"/>
              <a:t>As a result, such models perform very well on training data but has high error rates on test data.</a:t>
            </a:r>
            <a:endParaRPr/>
          </a:p>
          <a:p>
            <a:pPr marL="342900" lvl="0" indent="-342900" algn="l" rtl="0">
              <a:spcBef>
                <a:spcPts val="1000"/>
              </a:spcBef>
              <a:spcAft>
                <a:spcPts val="0"/>
              </a:spcAft>
              <a:buSzPts val="1440"/>
              <a:buChar char="►"/>
            </a:pPr>
            <a:r>
              <a:rPr lang="en-US" b="0" i="0">
                <a:solidFill>
                  <a:srgbClr val="333333"/>
                </a:solidFill>
                <a:latin typeface="Lato"/>
                <a:ea typeface="Lato"/>
                <a:cs typeface="Lato"/>
                <a:sym typeface="Lato"/>
              </a:rPr>
              <a:t>Variance can lead to overfitting, in which small fluctuations in the training set are magnified.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2f26141527c_0_1"/>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dirty="0" smtClean="0"/>
              <a:t>Bias-Variance Summary</a:t>
            </a:r>
            <a:endParaRPr/>
          </a:p>
        </p:txBody>
      </p:sp>
      <p:sp>
        <p:nvSpPr>
          <p:cNvPr id="357" name="Google Shape;357;g2f26141527c_0_1"/>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0" indent="0"/>
            <a:r>
              <a:rPr lang="en-US" dirty="0"/>
              <a:t>variance refers to the amount by which that would change if we estimated it using a different training data </a:t>
            </a:r>
            <a:r>
              <a:rPr lang="en-US" dirty="0" smtClean="0"/>
              <a:t>set</a:t>
            </a:r>
            <a:endParaRPr lang="en-US" dirty="0"/>
          </a:p>
          <a:p>
            <a:pPr marL="457200" lvl="1" indent="0"/>
            <a:r>
              <a:rPr lang="en-US" dirty="0" smtClean="0"/>
              <a:t>more </a:t>
            </a:r>
            <a:r>
              <a:rPr lang="en-US" dirty="0"/>
              <a:t>flexible models have higher variance</a:t>
            </a:r>
            <a:endParaRPr/>
          </a:p>
          <a:p>
            <a:pPr marL="0" indent="0"/>
            <a:r>
              <a:rPr lang="en-US" dirty="0"/>
              <a:t>bias refers to the error that is introduced by approximating a extremely complex problem by a much </a:t>
            </a:r>
            <a:r>
              <a:rPr lang="en-US"/>
              <a:t>simpler </a:t>
            </a:r>
            <a:r>
              <a:rPr lang="en-US" smtClean="0"/>
              <a:t>model</a:t>
            </a:r>
            <a:endParaRPr lang="en-US"/>
          </a:p>
          <a:p>
            <a:pPr marL="457200" lvl="1" indent="0"/>
            <a:r>
              <a:rPr lang="en-US" dirty="0" smtClean="0"/>
              <a:t>more </a:t>
            </a:r>
            <a:r>
              <a:rPr lang="en-US" dirty="0"/>
              <a:t>flexible models have low bias</a:t>
            </a:r>
            <a:endParaRPr/>
          </a:p>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1551</Words>
  <PresentationFormat>Custom</PresentationFormat>
  <Paragraphs>178</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Trebuchet MS</vt:lpstr>
      <vt:lpstr>Noto Sans Symbols</vt:lpstr>
      <vt:lpstr>Calibri</vt:lpstr>
      <vt:lpstr>Lato</vt:lpstr>
      <vt:lpstr>Facet</vt:lpstr>
      <vt:lpstr>Machine Learning</vt:lpstr>
      <vt:lpstr>Semi Supervised Learning</vt:lpstr>
      <vt:lpstr>Semi Supervised Learning</vt:lpstr>
      <vt:lpstr>Slide 4</vt:lpstr>
      <vt:lpstr>Sequential learning</vt:lpstr>
      <vt:lpstr>Sequential learning </vt:lpstr>
      <vt:lpstr>Sequential learning </vt:lpstr>
      <vt:lpstr>Reinforcement Learning</vt:lpstr>
      <vt:lpstr>Slide 9</vt:lpstr>
      <vt:lpstr>Types of Reinforcement Learning Problems</vt:lpstr>
      <vt:lpstr>Most Important Reinforcement Learning Algorithms</vt:lpstr>
      <vt:lpstr>Practical Applications</vt:lpstr>
      <vt:lpstr>Batch learning (offline learning)</vt:lpstr>
      <vt:lpstr>Online (Incremental) Learning</vt:lpstr>
      <vt:lpstr>Online (Incremental) Learning</vt:lpstr>
      <vt:lpstr>Machine Learning Tasks</vt:lpstr>
      <vt:lpstr>Inductive learning versus Deductive Learning</vt:lpstr>
      <vt:lpstr>Main Challenges of Machine learning</vt:lpstr>
      <vt:lpstr>Main Challenges of Machine learning</vt:lpstr>
      <vt:lpstr>ML Pipeline/workflow/cycle in the production process</vt:lpstr>
      <vt:lpstr>Assumptions in ML</vt:lpstr>
      <vt:lpstr>performance of machine learning</vt:lpstr>
      <vt:lpstr>Testing and validating</vt:lpstr>
      <vt:lpstr>Underfitting the training data </vt:lpstr>
      <vt:lpstr>Overfitting the training data </vt:lpstr>
      <vt:lpstr>Understanding the Bias-Variance Tradeoff </vt:lpstr>
      <vt:lpstr>Bias</vt:lpstr>
      <vt:lpstr>variance</vt:lpstr>
      <vt:lpstr>Bias-Variance 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hpp</dc:creator>
  <cp:lastModifiedBy>Student</cp:lastModifiedBy>
  <cp:revision>5</cp:revision>
  <dcterms:created xsi:type="dcterms:W3CDTF">2021-02-23T02:12:11Z</dcterms:created>
  <dcterms:modified xsi:type="dcterms:W3CDTF">2025-08-25T06:25:59Z</dcterms:modified>
</cp:coreProperties>
</file>