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0372-12AC-4475-8051-A1B0E1C72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18F4A-4456-4BB3-98F0-D2FAE9A32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C463F-7A32-4FCB-A6C4-47B69474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CD473-2CE8-49A1-8CD4-55086568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EEB51-5A8C-4E0B-B2B6-17154B09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8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1950-7C3F-48AB-84AB-1642D8B7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8CF6-C3E4-4B3F-8FC4-0A5A0D1D9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6D4D-2D0F-4178-8463-FA6A6BA0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3AE5B-CFEC-4AA6-B15B-83BC9979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613A3-A8B2-4637-B1E3-15E9182B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6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809E-443C-43F7-9DBC-4641782F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423D8-75A3-4F60-AA76-BE582826F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5996-47A8-43D5-B5C5-38E344D1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C090C-21F1-4A27-96AE-617A0762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3C1D0-4FB5-4E64-9400-DE5106F1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15BF-A031-4DB9-9FD1-AF1731D9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0AB0F-8EC3-4A61-B760-2D111EA9A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91384-7700-4630-B97A-E0BE9857B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4203E-1515-4779-96BB-76208718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0910-1B40-4FFA-8294-A5F398BE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161FB-B667-4A47-A4A7-446E5B56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2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3BA4-CD59-4F62-A746-38A46E7D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45626-66E0-46CD-901A-C1A1B4A92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09778-E3C2-497F-A32F-1736F0B76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5D6F9-7A9D-477F-BB5E-91C52E46C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FE61E-EBA8-44A7-BA61-DC8EF6994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F7A4E-8DFD-421A-AA84-3BADBA36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9F0F7-095A-45D7-8346-4A2EB465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38735-2FF3-4773-8820-E9C124BB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6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CC8C-462A-4281-B2CA-BBAF3544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CA8D1-DED3-4739-8BAA-07B7DF66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B1D87-4B77-42C5-9463-0997AEBA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8A0E7-CE1D-43C2-B794-9898EFA0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9D0B8-FB1C-4AA1-966D-BB19A9C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2F7CB-B68C-402B-921A-8B948403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9432-63A4-4D95-90F1-3A940EE5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6730-CDC6-4E9E-B892-FDB390F8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F1DAC-80F1-47C8-A871-0BF978E9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3B50B-1841-4437-8F02-E161AB883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11010-0F05-447A-AF47-1AF5D9AB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C17C8-545A-4C10-B5A2-BAB9A607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A895-0B33-4003-8F04-56983741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5810-BE57-4606-B816-65F9C9619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668DD-C88C-495E-9D3D-E2127A417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EB36C-1F8D-4B66-A98C-4A0CCCF4F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D1AE8-C6F9-4F2C-8A91-2B6858CD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DC190-9CFA-4A28-9604-8BAF8F02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08642-ABA1-48CA-9857-97DA23D7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3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55C9-0CF3-471D-B7A7-2EC8F1FE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19B88-EFBB-4538-9581-8EF8D93DE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03710-E519-4896-B2E4-087DC317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54BB-A143-453D-8120-24C21A7F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8A2D-F11E-4027-A8AC-5084AAFC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0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F83EC-DF9D-4C6C-AB88-04135020C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3532C-4F41-4726-B54B-48A86F962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5AF0B-B3B5-4498-9F54-2AFB2F41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FE1CD-AC34-4A91-B7D4-91316A88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67796-B070-464B-B802-88722D9D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5FD28-793A-4465-AEED-E8B9FD938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3E63B-C7C0-4D20-8CA1-7BED4430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8D237-D1DE-43EA-8B98-111FAE813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A1185-10F7-4EE2-A7F2-DF420A882F02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91F19-58ED-458B-BB4A-0F96D5043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387BC-5E2C-457B-9A06-A438D3477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80129-601B-4101-98EB-149F227A2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4BBC-9003-4CDE-91E1-8884942CD6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regression model performance &amp; their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340C0-BDC2-4572-BB54-1E59F5972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85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7DC8-D635-47C4-BA02-E02774E9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 square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3ADB8-54FD-46B6-B551-6E22D056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286"/>
            <a:ext cx="10515600" cy="4429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 linear regression</a:t>
            </a:r>
          </a:p>
          <a:p>
            <a:pPr lvl="1"/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dirty="0"/>
              <a:t>=Sum (y-y’)</a:t>
            </a:r>
            <a:r>
              <a:rPr lang="en-US" baseline="30000" dirty="0"/>
              <a:t>2</a:t>
            </a:r>
            <a:r>
              <a:rPr lang="en-US" dirty="0">
                <a:sym typeface="Wingdings" panose="05000000000000000000" pitchFamily="2" charset="2"/>
              </a:rPr>
              <a:t> min</a:t>
            </a:r>
          </a:p>
          <a:p>
            <a:r>
              <a:rPr lang="en-US" dirty="0"/>
              <a:t>Lets draw the average line instead of regression line</a:t>
            </a:r>
          </a:p>
          <a:p>
            <a:pPr lvl="1"/>
            <a:r>
              <a:rPr lang="en-US" dirty="0" err="1"/>
              <a:t>SS</a:t>
            </a:r>
            <a:r>
              <a:rPr lang="en-US" baseline="-25000" dirty="0" err="1"/>
              <a:t>tot</a:t>
            </a:r>
            <a:r>
              <a:rPr lang="en-US" dirty="0"/>
              <a:t> = Sum(y-</a:t>
            </a:r>
            <a:r>
              <a:rPr lang="en-US" dirty="0" err="1"/>
              <a:t>y</a:t>
            </a:r>
            <a:r>
              <a:rPr lang="en-US" baseline="-25000" dirty="0" err="1"/>
              <a:t>avg</a:t>
            </a:r>
            <a:r>
              <a:rPr lang="en-US" dirty="0"/>
              <a:t>)2</a:t>
            </a:r>
            <a:r>
              <a:rPr lang="en-US" dirty="0">
                <a:sym typeface="Wingdings" panose="05000000000000000000" pitchFamily="2" charset="2"/>
              </a:rPr>
              <a:t>min</a:t>
            </a:r>
          </a:p>
          <a:p>
            <a:endParaRPr lang="en-US" dirty="0"/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= 1- </a:t>
            </a:r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dirty="0"/>
              <a:t>/</a:t>
            </a:r>
            <a:r>
              <a:rPr lang="en-US" dirty="0" err="1"/>
              <a:t>SS</a:t>
            </a:r>
            <a:r>
              <a:rPr lang="en-US" baseline="-25000" dirty="0" err="1"/>
              <a:t>tot</a:t>
            </a:r>
            <a:endParaRPr lang="en-US" baseline="-25000" dirty="0"/>
          </a:p>
          <a:p>
            <a:r>
              <a:rPr lang="en-US" dirty="0"/>
              <a:t>R</a:t>
            </a:r>
            <a:r>
              <a:rPr lang="en-US" baseline="30000" dirty="0"/>
              <a:t>2 </a:t>
            </a:r>
            <a:r>
              <a:rPr lang="en-US" dirty="0"/>
              <a:t>is normally between 0 and 1, however R</a:t>
            </a:r>
            <a:r>
              <a:rPr lang="en-US" baseline="30000" dirty="0"/>
              <a:t>2</a:t>
            </a:r>
            <a:r>
              <a:rPr lang="en-US" dirty="0"/>
              <a:t> can be negative also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gives how well your model is fitted to the data</a:t>
            </a:r>
          </a:p>
          <a:p>
            <a:pPr lvl="1"/>
            <a:r>
              <a:rPr lang="en-US" dirty="0"/>
              <a:t>In fact how much model is fitted than the average line that can be fitted to the data easily.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CD9C89-067E-4913-B478-D407B7A8F606}"/>
              </a:ext>
            </a:extLst>
          </p:cNvPr>
          <p:cNvCxnSpPr/>
          <p:nvPr/>
        </p:nvCxnSpPr>
        <p:spPr>
          <a:xfrm>
            <a:off x="5364480" y="2484120"/>
            <a:ext cx="1783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851318-3F34-4836-9A28-9096A259B101}"/>
              </a:ext>
            </a:extLst>
          </p:cNvPr>
          <p:cNvCxnSpPr/>
          <p:nvPr/>
        </p:nvCxnSpPr>
        <p:spPr>
          <a:xfrm flipV="1">
            <a:off x="5349240" y="1690688"/>
            <a:ext cx="0" cy="8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199A2A-DA78-41AF-A2FC-0ECC30DEDEB6}"/>
              </a:ext>
            </a:extLst>
          </p:cNvPr>
          <p:cNvCxnSpPr/>
          <p:nvPr/>
        </p:nvCxnSpPr>
        <p:spPr>
          <a:xfrm flipV="1">
            <a:off x="5242560" y="1690688"/>
            <a:ext cx="1905000" cy="549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834A8818-DF46-4154-9361-D04702EC2853}"/>
              </a:ext>
            </a:extLst>
          </p:cNvPr>
          <p:cNvSpPr/>
          <p:nvPr/>
        </p:nvSpPr>
        <p:spPr>
          <a:xfrm>
            <a:off x="5570222" y="186706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C13C8B92-8939-4B11-BF9F-99DDC42E6EBA}"/>
              </a:ext>
            </a:extLst>
          </p:cNvPr>
          <p:cNvSpPr/>
          <p:nvPr/>
        </p:nvSpPr>
        <p:spPr>
          <a:xfrm>
            <a:off x="5897880" y="160528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94319CD7-0F46-4DE7-BC2B-2FE7F490143D}"/>
              </a:ext>
            </a:extLst>
          </p:cNvPr>
          <p:cNvSpPr/>
          <p:nvPr/>
        </p:nvSpPr>
        <p:spPr>
          <a:xfrm>
            <a:off x="6217917" y="1584008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F148DDBC-DF10-4AEC-B8FC-0497A5E6D5E8}"/>
              </a:ext>
            </a:extLst>
          </p:cNvPr>
          <p:cNvSpPr/>
          <p:nvPr/>
        </p:nvSpPr>
        <p:spPr>
          <a:xfrm>
            <a:off x="6568440" y="1311912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2EB194A2-9840-4E2F-BB1E-0ECB9CABEC0B}"/>
              </a:ext>
            </a:extLst>
          </p:cNvPr>
          <p:cNvSpPr/>
          <p:nvPr/>
        </p:nvSpPr>
        <p:spPr>
          <a:xfrm>
            <a:off x="6873240" y="149574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A7AE9AA0-0926-462E-A364-E6727023CB24}"/>
              </a:ext>
            </a:extLst>
          </p:cNvPr>
          <p:cNvSpPr/>
          <p:nvPr/>
        </p:nvSpPr>
        <p:spPr>
          <a:xfrm>
            <a:off x="5676899" y="225330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71863C8E-B8BA-4478-9AB8-CDB630193858}"/>
              </a:ext>
            </a:extLst>
          </p:cNvPr>
          <p:cNvSpPr/>
          <p:nvPr/>
        </p:nvSpPr>
        <p:spPr>
          <a:xfrm>
            <a:off x="6134099" y="2074866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AEDCA7C-A08A-45EA-AEE3-6A9A2649F961}"/>
              </a:ext>
            </a:extLst>
          </p:cNvPr>
          <p:cNvSpPr/>
          <p:nvPr/>
        </p:nvSpPr>
        <p:spPr>
          <a:xfrm>
            <a:off x="6534152" y="214884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16F2B56A-7C11-40C9-AEEE-B011CF87FF14}"/>
              </a:ext>
            </a:extLst>
          </p:cNvPr>
          <p:cNvSpPr/>
          <p:nvPr/>
        </p:nvSpPr>
        <p:spPr>
          <a:xfrm>
            <a:off x="6758942" y="196548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30213A-6A7D-4F0D-844E-AF50DE60514B}"/>
              </a:ext>
            </a:extLst>
          </p:cNvPr>
          <p:cNvCxnSpPr>
            <a:cxnSpLocks/>
          </p:cNvCxnSpPr>
          <p:nvPr/>
        </p:nvCxnSpPr>
        <p:spPr>
          <a:xfrm>
            <a:off x="6624263" y="1446848"/>
            <a:ext cx="0" cy="412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908EB2-D1EB-47F8-8FFB-67952865BD25}"/>
              </a:ext>
            </a:extLst>
          </p:cNvPr>
          <p:cNvCxnSpPr>
            <a:cxnSpLocks/>
          </p:cNvCxnSpPr>
          <p:nvPr/>
        </p:nvCxnSpPr>
        <p:spPr>
          <a:xfrm>
            <a:off x="6284011" y="1718944"/>
            <a:ext cx="12594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2DFB9C-2217-42B4-BE97-DAB2AB964F7C}"/>
              </a:ext>
            </a:extLst>
          </p:cNvPr>
          <p:cNvCxnSpPr>
            <a:cxnSpLocks/>
          </p:cNvCxnSpPr>
          <p:nvPr/>
        </p:nvCxnSpPr>
        <p:spPr>
          <a:xfrm>
            <a:off x="5968943" y="1740216"/>
            <a:ext cx="27995" cy="33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95DA1B-001D-47FE-B0DA-F00DB6A1EE00}"/>
              </a:ext>
            </a:extLst>
          </p:cNvPr>
          <p:cNvCxnSpPr/>
          <p:nvPr/>
        </p:nvCxnSpPr>
        <p:spPr>
          <a:xfrm flipV="1">
            <a:off x="5623560" y="2032952"/>
            <a:ext cx="0" cy="115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492C9C-5226-436C-84BE-932BFD694CAE}"/>
              </a:ext>
            </a:extLst>
          </p:cNvPr>
          <p:cNvCxnSpPr>
            <a:cxnSpLocks/>
          </p:cNvCxnSpPr>
          <p:nvPr/>
        </p:nvCxnSpPr>
        <p:spPr>
          <a:xfrm flipV="1">
            <a:off x="5730237" y="2100420"/>
            <a:ext cx="0" cy="109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7E381F-71C5-4C88-B1E8-03DEA3BB5F5A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6187437" y="1991040"/>
            <a:ext cx="1" cy="83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CBD3D99-8E22-4A9F-93C4-0A6AC492A08B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83678" y="1840864"/>
            <a:ext cx="3813" cy="30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F67461-05C1-44B2-B674-81B0062AC21B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812280" y="1840864"/>
            <a:ext cx="1" cy="124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C7B2B5A-0DC5-48BB-AA44-8ADB7F9D17DC}"/>
              </a:ext>
            </a:extLst>
          </p:cNvPr>
          <p:cNvCxnSpPr>
            <a:stCxn id="15" idx="2"/>
            <a:endCxn id="15" idx="3"/>
          </p:cNvCxnSpPr>
          <p:nvPr/>
        </p:nvCxnSpPr>
        <p:spPr>
          <a:xfrm>
            <a:off x="6893614" y="1630680"/>
            <a:ext cx="659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21E6470-2AEB-4902-9F26-C1BF81C7654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893614" y="1630680"/>
            <a:ext cx="32965" cy="166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B3759F-19C4-43BE-8B4E-6E9091A4FA67}"/>
              </a:ext>
            </a:extLst>
          </p:cNvPr>
          <p:cNvCxnSpPr/>
          <p:nvPr/>
        </p:nvCxnSpPr>
        <p:spPr>
          <a:xfrm>
            <a:off x="5516880" y="4145280"/>
            <a:ext cx="1783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63D6140-50E9-47A5-9B3C-D79D39EFDF6B}"/>
              </a:ext>
            </a:extLst>
          </p:cNvPr>
          <p:cNvCxnSpPr/>
          <p:nvPr/>
        </p:nvCxnSpPr>
        <p:spPr>
          <a:xfrm flipV="1">
            <a:off x="5501640" y="3351848"/>
            <a:ext cx="0" cy="8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C5406E89-5D92-41D5-A4A9-372F97C46BFF}"/>
              </a:ext>
            </a:extLst>
          </p:cNvPr>
          <p:cNvSpPr/>
          <p:nvPr/>
        </p:nvSpPr>
        <p:spPr>
          <a:xfrm>
            <a:off x="5722622" y="352822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A2D6B71E-7200-4EED-BB92-AFEB8DB11701}"/>
              </a:ext>
            </a:extLst>
          </p:cNvPr>
          <p:cNvSpPr/>
          <p:nvPr/>
        </p:nvSpPr>
        <p:spPr>
          <a:xfrm>
            <a:off x="6050280" y="326644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6C48A3FE-1031-41F4-9FF9-CF616BFAD4E9}"/>
              </a:ext>
            </a:extLst>
          </p:cNvPr>
          <p:cNvSpPr/>
          <p:nvPr/>
        </p:nvSpPr>
        <p:spPr>
          <a:xfrm>
            <a:off x="6370317" y="3245168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A3EFC82E-C593-4A56-AE33-D0A7DABC6814}"/>
              </a:ext>
            </a:extLst>
          </p:cNvPr>
          <p:cNvSpPr/>
          <p:nvPr/>
        </p:nvSpPr>
        <p:spPr>
          <a:xfrm>
            <a:off x="6720840" y="2973072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13D0ACA4-0B29-4DC7-BA46-00331DC7C3CB}"/>
              </a:ext>
            </a:extLst>
          </p:cNvPr>
          <p:cNvSpPr/>
          <p:nvPr/>
        </p:nvSpPr>
        <p:spPr>
          <a:xfrm>
            <a:off x="7025640" y="315690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42ACF27C-3A84-4F20-A7D9-FF31059EB24D}"/>
              </a:ext>
            </a:extLst>
          </p:cNvPr>
          <p:cNvSpPr/>
          <p:nvPr/>
        </p:nvSpPr>
        <p:spPr>
          <a:xfrm>
            <a:off x="5829299" y="3868740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C46E96F2-E312-4DEC-8EC8-474FC5B181EA}"/>
              </a:ext>
            </a:extLst>
          </p:cNvPr>
          <p:cNvSpPr/>
          <p:nvPr/>
        </p:nvSpPr>
        <p:spPr>
          <a:xfrm>
            <a:off x="6286499" y="3736026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04068368-0DC0-4F58-9D9D-62B20F1C66EE}"/>
              </a:ext>
            </a:extLst>
          </p:cNvPr>
          <p:cNvSpPr/>
          <p:nvPr/>
        </p:nvSpPr>
        <p:spPr>
          <a:xfrm>
            <a:off x="6686552" y="381000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24E6EE24-EA4C-4F0A-8569-C44F8AD2736A}"/>
              </a:ext>
            </a:extLst>
          </p:cNvPr>
          <p:cNvSpPr/>
          <p:nvPr/>
        </p:nvSpPr>
        <p:spPr>
          <a:xfrm>
            <a:off x="6911342" y="3626644"/>
            <a:ext cx="106677" cy="134936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87C5613-2822-4812-A3D4-9180E7399D60}"/>
              </a:ext>
            </a:extLst>
          </p:cNvPr>
          <p:cNvCxnSpPr/>
          <p:nvPr/>
        </p:nvCxnSpPr>
        <p:spPr>
          <a:xfrm flipV="1">
            <a:off x="5516880" y="3687128"/>
            <a:ext cx="1783080" cy="30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4AA1D2E-7473-416B-8A9A-A6BA04FF1D77}"/>
              </a:ext>
            </a:extLst>
          </p:cNvPr>
          <p:cNvSpPr txBox="1"/>
          <p:nvPr/>
        </p:nvSpPr>
        <p:spPr>
          <a:xfrm>
            <a:off x="7178040" y="2329934"/>
            <a:ext cx="44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5E0F59-3BD1-41FE-89F7-FFF1B55C324F}"/>
              </a:ext>
            </a:extLst>
          </p:cNvPr>
          <p:cNvSpPr txBox="1"/>
          <p:nvPr/>
        </p:nvSpPr>
        <p:spPr>
          <a:xfrm>
            <a:off x="4980999" y="1566982"/>
            <a:ext cx="30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B7AEEB-7930-4914-A521-41911BED316D}"/>
              </a:ext>
            </a:extLst>
          </p:cNvPr>
          <p:cNvSpPr txBox="1"/>
          <p:nvPr/>
        </p:nvSpPr>
        <p:spPr>
          <a:xfrm>
            <a:off x="7330440" y="3960614"/>
            <a:ext cx="44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C9DBC8-223E-4944-9B9C-F57A4BBDC14E}"/>
              </a:ext>
            </a:extLst>
          </p:cNvPr>
          <p:cNvSpPr txBox="1"/>
          <p:nvPr/>
        </p:nvSpPr>
        <p:spPr>
          <a:xfrm>
            <a:off x="5133399" y="3197662"/>
            <a:ext cx="30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B36A0E-6E3D-4EA7-9FB1-0BD5ACC3F9D7}"/>
              </a:ext>
            </a:extLst>
          </p:cNvPr>
          <p:cNvSpPr txBox="1"/>
          <p:nvPr/>
        </p:nvSpPr>
        <p:spPr>
          <a:xfrm>
            <a:off x="4914899" y="3441503"/>
            <a:ext cx="57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avg</a:t>
            </a:r>
            <a:endParaRPr lang="en-US" baseline="-250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12BC9BC-A9CA-46BD-9FE4-F7077A85997E}"/>
              </a:ext>
            </a:extLst>
          </p:cNvPr>
          <p:cNvCxnSpPr>
            <a:cxnSpLocks/>
          </p:cNvCxnSpPr>
          <p:nvPr/>
        </p:nvCxnSpPr>
        <p:spPr>
          <a:xfrm>
            <a:off x="6776663" y="3047048"/>
            <a:ext cx="0" cy="412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AE369B-CF88-4317-A663-7F3FA5A51BC0}"/>
              </a:ext>
            </a:extLst>
          </p:cNvPr>
          <p:cNvCxnSpPr>
            <a:cxnSpLocks/>
          </p:cNvCxnSpPr>
          <p:nvPr/>
        </p:nvCxnSpPr>
        <p:spPr>
          <a:xfrm>
            <a:off x="6436411" y="3319144"/>
            <a:ext cx="12594" cy="243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A9A83F7-5EB8-4E5D-89A1-CE9F2EC98A5A}"/>
              </a:ext>
            </a:extLst>
          </p:cNvPr>
          <p:cNvCxnSpPr>
            <a:cxnSpLocks/>
          </p:cNvCxnSpPr>
          <p:nvPr/>
        </p:nvCxnSpPr>
        <p:spPr>
          <a:xfrm>
            <a:off x="6121343" y="3340416"/>
            <a:ext cx="27995" cy="33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3221800-2885-4A41-98B4-6EADAC207027}"/>
              </a:ext>
            </a:extLst>
          </p:cNvPr>
          <p:cNvCxnSpPr/>
          <p:nvPr/>
        </p:nvCxnSpPr>
        <p:spPr>
          <a:xfrm flipV="1">
            <a:off x="5775960" y="3633152"/>
            <a:ext cx="0" cy="115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FF3BC2-3A4C-4162-88DA-B6AC1F576F16}"/>
              </a:ext>
            </a:extLst>
          </p:cNvPr>
          <p:cNvCxnSpPr>
            <a:cxnSpLocks/>
          </p:cNvCxnSpPr>
          <p:nvPr/>
        </p:nvCxnSpPr>
        <p:spPr>
          <a:xfrm flipV="1">
            <a:off x="5882637" y="3700620"/>
            <a:ext cx="0" cy="109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BFA047-C36F-482E-A796-86B2C6C6D61A}"/>
              </a:ext>
            </a:extLst>
          </p:cNvPr>
          <p:cNvCxnSpPr/>
          <p:nvPr/>
        </p:nvCxnSpPr>
        <p:spPr>
          <a:xfrm flipH="1" flipV="1">
            <a:off x="6339837" y="3591240"/>
            <a:ext cx="1" cy="83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76F22D-755C-481C-B59F-93FEDC049B81}"/>
              </a:ext>
            </a:extLst>
          </p:cNvPr>
          <p:cNvCxnSpPr>
            <a:cxnSpLocks/>
          </p:cNvCxnSpPr>
          <p:nvPr/>
        </p:nvCxnSpPr>
        <p:spPr>
          <a:xfrm flipH="1" flipV="1">
            <a:off x="6736078" y="3441064"/>
            <a:ext cx="3813" cy="307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7FFC7E-F55B-4652-9F8D-212616F67053}"/>
              </a:ext>
            </a:extLst>
          </p:cNvPr>
          <p:cNvCxnSpPr>
            <a:cxnSpLocks/>
          </p:cNvCxnSpPr>
          <p:nvPr/>
        </p:nvCxnSpPr>
        <p:spPr>
          <a:xfrm>
            <a:off x="6964680" y="3441064"/>
            <a:ext cx="1" cy="124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7DE8945-0D34-4C60-9043-89AA5C6EA050}"/>
              </a:ext>
            </a:extLst>
          </p:cNvPr>
          <p:cNvCxnSpPr>
            <a:cxnSpLocks/>
          </p:cNvCxnSpPr>
          <p:nvPr/>
        </p:nvCxnSpPr>
        <p:spPr>
          <a:xfrm>
            <a:off x="7046014" y="3230880"/>
            <a:ext cx="32965" cy="166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89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BB87-7819-4F7B-BB1F-B049ADE0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square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24B0-620C-4BFD-9F86-81991646D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baseline="30000" dirty="0"/>
              <a:t>2 </a:t>
            </a:r>
            <a:r>
              <a:rPr lang="en-US" dirty="0"/>
              <a:t>= 0 (fitted model is equally good as average line)</a:t>
            </a:r>
          </a:p>
          <a:p>
            <a:r>
              <a:rPr lang="en-US" dirty="0"/>
              <a:t>R</a:t>
            </a:r>
            <a:r>
              <a:rPr lang="en-US" baseline="30000" dirty="0"/>
              <a:t>2 </a:t>
            </a:r>
            <a:r>
              <a:rPr lang="en-US" dirty="0"/>
              <a:t>= 1   (</a:t>
            </a:r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baseline="-25000" dirty="0"/>
              <a:t> </a:t>
            </a:r>
            <a:r>
              <a:rPr lang="en-US" dirty="0"/>
              <a:t>=0 -&gt; ideal scenario)</a:t>
            </a:r>
          </a:p>
          <a:p>
            <a:r>
              <a:rPr lang="en-US" dirty="0"/>
              <a:t>R</a:t>
            </a:r>
            <a:r>
              <a:rPr lang="en-US" baseline="30000" dirty="0"/>
              <a:t>2 </a:t>
            </a:r>
            <a:r>
              <a:rPr lang="en-US" dirty="0"/>
              <a:t>&lt;0   (if your simple linear model fits the data worse than the average line)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--&gt; goodness of fit (greater is better)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5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D195-AB64-4C67-B525-AA87A926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R</a:t>
            </a:r>
            <a:r>
              <a:rPr lang="en-US" baseline="30000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4876-8EE5-444A-8F18-E9F806B82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same concept apply to multiple linear regression</a:t>
            </a:r>
          </a:p>
          <a:p>
            <a:pPr lvl="1"/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baseline="-25000" dirty="0"/>
              <a:t> </a:t>
            </a:r>
            <a:r>
              <a:rPr lang="en-US" dirty="0"/>
              <a:t>-&gt; min</a:t>
            </a:r>
          </a:p>
          <a:p>
            <a:r>
              <a:rPr lang="en-US" dirty="0"/>
              <a:t>Problem</a:t>
            </a:r>
          </a:p>
          <a:p>
            <a:pPr lvl="1"/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*x</a:t>
            </a:r>
            <a:r>
              <a:rPr lang="en-US" baseline="-25000" dirty="0"/>
              <a:t>1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*x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You want to check the impact of a new independent var x3 on the model ( model gets better or not (accuracy improves or not))</a:t>
            </a:r>
          </a:p>
          <a:p>
            <a:pPr lvl="1"/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*x</a:t>
            </a:r>
            <a:r>
              <a:rPr lang="en-US" baseline="-25000" dirty="0"/>
              <a:t>1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*x</a:t>
            </a:r>
            <a:r>
              <a:rPr lang="en-US" baseline="-25000" dirty="0"/>
              <a:t>2 </a:t>
            </a:r>
            <a:r>
              <a:rPr lang="en-US" dirty="0"/>
              <a:t>+ b</a:t>
            </a:r>
            <a:r>
              <a:rPr lang="en-US" baseline="-25000" dirty="0"/>
              <a:t>3</a:t>
            </a:r>
            <a:r>
              <a:rPr lang="en-US" dirty="0"/>
              <a:t>*x</a:t>
            </a:r>
            <a:r>
              <a:rPr lang="en-US" baseline="-25000" dirty="0"/>
              <a:t>3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will never decrease</a:t>
            </a:r>
          </a:p>
          <a:p>
            <a:pPr lvl="1"/>
            <a:r>
              <a:rPr lang="en-US" dirty="0"/>
              <a:t>If x</a:t>
            </a:r>
            <a:r>
              <a:rPr lang="en-US" baseline="-25000" dirty="0"/>
              <a:t>3</a:t>
            </a:r>
            <a:r>
              <a:rPr lang="en-US" dirty="0"/>
              <a:t> will help in minimizing </a:t>
            </a:r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dirty="0"/>
              <a:t>-&gt; regression process will find a way to give a coefficient b</a:t>
            </a:r>
            <a:r>
              <a:rPr lang="en-US" baseline="-25000" dirty="0"/>
              <a:t>3</a:t>
            </a:r>
            <a:r>
              <a:rPr lang="en-US" dirty="0"/>
              <a:t> that will help to minimize </a:t>
            </a:r>
            <a:r>
              <a:rPr lang="en-US" dirty="0" err="1"/>
              <a:t>SS</a:t>
            </a:r>
            <a:r>
              <a:rPr lang="en-US" baseline="-25000" dirty="0" err="1"/>
              <a:t>res</a:t>
            </a:r>
            <a:r>
              <a:rPr lang="en-US" baseline="-25000" dirty="0"/>
              <a:t> </a:t>
            </a:r>
            <a:r>
              <a:rPr lang="en-US" dirty="0"/>
              <a:t>then R</a:t>
            </a:r>
            <a:r>
              <a:rPr lang="en-US" baseline="30000" dirty="0"/>
              <a:t>2</a:t>
            </a:r>
            <a:r>
              <a:rPr lang="en-US" dirty="0"/>
              <a:t> will increase</a:t>
            </a:r>
          </a:p>
          <a:p>
            <a:pPr lvl="1"/>
            <a:r>
              <a:rPr lang="en-US" dirty="0"/>
              <a:t>If x</a:t>
            </a:r>
            <a:r>
              <a:rPr lang="en-US" baseline="-25000" dirty="0"/>
              <a:t>3</a:t>
            </a:r>
            <a:r>
              <a:rPr lang="en-US" dirty="0"/>
              <a:t> has not correlation with dependent var, regression process will make its coefficient 0, then R</a:t>
            </a:r>
            <a:r>
              <a:rPr lang="en-US" baseline="30000" dirty="0"/>
              <a:t>2</a:t>
            </a:r>
            <a:r>
              <a:rPr lang="en-US" dirty="0"/>
              <a:t> will not change </a:t>
            </a:r>
          </a:p>
          <a:p>
            <a:pPr lvl="2"/>
            <a:r>
              <a:rPr lang="en-US" dirty="0"/>
              <a:t>(rarely happens - There can always be at least a slight random correlation between independent var and dependent var thus R2 will insignificantly increase in this case also).</a:t>
            </a:r>
          </a:p>
        </p:txBody>
      </p:sp>
    </p:spTree>
    <p:extLst>
      <p:ext uri="{BB962C8B-B14F-4D97-AF65-F5344CB8AC3E}">
        <p14:creationId xmlns:p14="http://schemas.microsoft.com/office/powerpoint/2010/main" val="260788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8193-5C47-4186-879E-E6A1E9C0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R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C270D-2689-43DB-A9A7-16EC95834D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1372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So after adding vars we don’t know if those vars are helping your model or not as R</a:t>
                </a:r>
                <a:r>
                  <a:rPr lang="en-US" baseline="30000" dirty="0"/>
                  <a:t>2</a:t>
                </a:r>
                <a:r>
                  <a:rPr lang="en-US" dirty="0"/>
                  <a:t> will always increase regardless of improvement or not</a:t>
                </a:r>
              </a:p>
              <a:p>
                <a:r>
                  <a:rPr lang="en-US" dirty="0"/>
                  <a:t>Thus we have a different parameter to measure how well the model is fitted </a:t>
                </a:r>
              </a:p>
              <a:p>
                <a:pPr lvl="1"/>
                <a:r>
                  <a:rPr lang="en-US" dirty="0"/>
                  <a:t>Adj R</a:t>
                </a:r>
                <a:r>
                  <a:rPr lang="en-US" baseline="30000" dirty="0"/>
                  <a:t>2</a:t>
                </a:r>
                <a:r>
                  <a:rPr lang="en-US" dirty="0"/>
                  <a:t>=1-(1-R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baseline="30000" dirty="0"/>
                  <a:t> </a:t>
                </a:r>
                <a:r>
                  <a:rPr lang="en-US" dirty="0"/>
                  <a:t>where p-&gt; number of regressors</a:t>
                </a:r>
              </a:p>
              <a:p>
                <a:pPr lvl="1"/>
                <a:r>
                  <a:rPr lang="en-US" dirty="0"/>
                  <a:t>If p increases-&gt; denominator decreases, ratio increases, Adj R2 will be decreases </a:t>
                </a:r>
              </a:p>
              <a:p>
                <a:pPr lvl="1"/>
                <a:r>
                  <a:rPr lang="en-US" dirty="0"/>
                  <a:t>When R2 increases-&gt; (1-R2) decreases, Adj R2 will increases</a:t>
                </a:r>
              </a:p>
              <a:p>
                <a:r>
                  <a:rPr lang="en-US" dirty="0"/>
                  <a:t>If the var is not helping the model, R2 will insignificantly increase and penalization factor will actually drive Adj R2 down</a:t>
                </a:r>
              </a:p>
              <a:p>
                <a:r>
                  <a:rPr lang="en-US" dirty="0"/>
                  <a:t>If var is helping  the model a lot, increase in R2 will be substantial and it will overwhelm this penalization factor-&gt; Adj R2 will increase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C270D-2689-43DB-A9A7-16EC95834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13720" cy="4351338"/>
              </a:xfrm>
              <a:blipFill>
                <a:blip r:embed="rId2"/>
                <a:stretch>
                  <a:fillRect l="-911" t="-2101" r="-512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84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D984-D959-4BB5-AE6C-286F965A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998A-E7D9-49D9-BCB0-17029827F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 </a:t>
            </a:r>
            <a:r>
              <a:rPr lang="en-US" dirty="0" err="1"/>
              <a:t>sklearn.metrics</a:t>
            </a:r>
            <a:r>
              <a:rPr lang="en-US" dirty="0"/>
              <a:t> import r2_score</a:t>
            </a:r>
          </a:p>
          <a:p>
            <a:r>
              <a:rPr lang="en-US" dirty="0"/>
              <a:t>r2_score(</a:t>
            </a:r>
            <a:r>
              <a:rPr lang="en-US" dirty="0" err="1"/>
              <a:t>y_test</a:t>
            </a:r>
            <a:r>
              <a:rPr lang="en-US" dirty="0"/>
              <a:t>, </a:t>
            </a:r>
            <a:r>
              <a:rPr lang="en-US" dirty="0" err="1"/>
              <a:t>y_pred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565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BDE9-A3D4-4B64-B227-AE5FF99C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793115"/>
          </a:xfrm>
        </p:spPr>
        <p:txBody>
          <a:bodyPr/>
          <a:lstStyle/>
          <a:p>
            <a:r>
              <a:rPr lang="en-US" dirty="0"/>
              <a:t>Pros and Cons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A01325-C400-4AAE-9F2F-5EA185F3E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166049"/>
              </p:ext>
            </p:extLst>
          </p:nvPr>
        </p:nvGraphicFramePr>
        <p:xfrm>
          <a:off x="441960" y="1036320"/>
          <a:ext cx="11353800" cy="57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600">
                  <a:extLst>
                    <a:ext uri="{9D8B030D-6E8A-4147-A177-3AD203B41FA5}">
                      <a16:colId xmlns:a16="http://schemas.microsoft.com/office/drawing/2014/main" val="3961989221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121951710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3744371635"/>
                    </a:ext>
                  </a:extLst>
                </a:gridCol>
              </a:tblGrid>
              <a:tr h="430058">
                <a:tc>
                  <a:txBody>
                    <a:bodyPr/>
                    <a:lstStyle/>
                    <a:p>
                      <a:r>
                        <a:rPr lang="en-US" dirty="0"/>
                        <a:t>Regression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088788"/>
                  </a:ext>
                </a:extLst>
              </a:tr>
              <a:tr h="1060418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on any size of dataset, gives information about relevance of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Linear Regression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094968"/>
                  </a:ext>
                </a:extLst>
              </a:tr>
              <a:tr h="1060418">
                <a:tc>
                  <a:txBody>
                    <a:bodyPr/>
                    <a:lstStyle/>
                    <a:p>
                      <a:r>
                        <a:rPr lang="en-US" dirty="0"/>
                        <a:t>Polynomial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on any size of dataset, works very well on non linear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to choose the right polynomial degree for a good bias/variance tradeoff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995823"/>
                  </a:ext>
                </a:extLst>
              </a:tr>
              <a:tr h="1060418">
                <a:tc>
                  <a:txBody>
                    <a:bodyPr/>
                    <a:lstStyle/>
                    <a:p>
                      <a:r>
                        <a:rPr lang="en-US" dirty="0"/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Easily adaptable, works very well on non linear problems, not biased by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Compulsory to apply feature scaling, not well known, more difficult to understand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58969"/>
                  </a:ext>
                </a:extLst>
              </a:tr>
              <a:tr h="1060418">
                <a:tc>
                  <a:txBody>
                    <a:bodyPr/>
                    <a:lstStyle/>
                    <a:p>
                      <a:r>
                        <a:rPr lang="en-US" dirty="0"/>
                        <a:t>Decision Tree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Interpretability, no need for feature scaling, works on both linear / nonlinear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results on too small datasets, overfitting can easily occur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872750"/>
                  </a:ext>
                </a:extLst>
              </a:tr>
              <a:tr h="1060418">
                <a:tc>
                  <a:txBody>
                    <a:bodyPr/>
                    <a:lstStyle/>
                    <a:p>
                      <a:r>
                        <a:rPr lang="en-US" dirty="0"/>
                        <a:t>Random Forest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Powerful and accurate, good performance on many problems, including non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interpretability, overfitting can easily occur, need to choose the number of 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56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10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605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Evaluating regression model performance &amp; their selection</vt:lpstr>
      <vt:lpstr>R square intuition</vt:lpstr>
      <vt:lpstr>R square intuition</vt:lpstr>
      <vt:lpstr>Problem in R2</vt:lpstr>
      <vt:lpstr>Adjusted R2 </vt:lpstr>
      <vt:lpstr>Evaluating the Model Performance</vt:lpstr>
      <vt:lpstr>Pros and 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regression model performance &amp; their selection</dc:title>
  <dc:creator>Lenovo</dc:creator>
  <cp:lastModifiedBy>Manjari Gupta</cp:lastModifiedBy>
  <cp:revision>62</cp:revision>
  <dcterms:created xsi:type="dcterms:W3CDTF">2021-03-28T10:14:10Z</dcterms:created>
  <dcterms:modified xsi:type="dcterms:W3CDTF">2022-02-28T07:12:15Z</dcterms:modified>
</cp:coreProperties>
</file>