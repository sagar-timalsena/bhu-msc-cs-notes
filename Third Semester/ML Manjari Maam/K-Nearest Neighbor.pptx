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9" roundtripDataSignature="AMtx7mgQd0R8zC8oEXTRpGDIp/hAFzsjK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customschemas.google.com/relationships/presentationmetadata" Target="metadata"/><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8" name="Google Shape;52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5183188" y="987425"/>
            <a:ext cx="6172200" cy="4873625"/>
          </a:xfrm>
          <a:prstGeom prst="rect">
            <a:avLst/>
          </a:prstGeom>
          <a:noFill/>
          <a:ln>
            <a:noFill/>
          </a:ln>
        </p:spPr>
      </p:sp>
      <p:sp>
        <p:nvSpPr>
          <p:cNvPr id="64" name="Google Shape;64;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K-Nearest Neighbor</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K-Nearest neighbor</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20000"/>
          </a:bodyPr>
          <a:lstStyle/>
          <a:p>
            <a:pPr indent="-241934" lvl="0" marL="228600" rtl="0" algn="l">
              <a:lnSpc>
                <a:spcPct val="90000"/>
              </a:lnSpc>
              <a:spcBef>
                <a:spcPts val="0"/>
              </a:spcBef>
              <a:spcAft>
                <a:spcPts val="0"/>
              </a:spcAft>
              <a:buClr>
                <a:schemeClr val="dk1"/>
              </a:buClr>
              <a:buSzPts val="2800"/>
              <a:buChar char="•"/>
            </a:pPr>
            <a:r>
              <a:rPr lang="en-US"/>
              <a:t>Instance based learning- also called lazy algorithm</a:t>
            </a:r>
            <a:endParaRPr/>
          </a:p>
          <a:p>
            <a:pPr indent="-240030" lvl="1" marL="685800" rtl="0" algn="l">
              <a:lnSpc>
                <a:spcPct val="90000"/>
              </a:lnSpc>
              <a:spcBef>
                <a:spcPts val="500"/>
              </a:spcBef>
              <a:spcAft>
                <a:spcPts val="0"/>
              </a:spcAft>
              <a:buClr>
                <a:schemeClr val="dk1"/>
              </a:buClr>
              <a:buSzPts val="2400"/>
              <a:buChar char="•"/>
            </a:pPr>
            <a:r>
              <a:rPr lang="en-US"/>
              <a:t>When we get the training examples we do not process them and learn the model instead we just store the examples</a:t>
            </a:r>
            <a:endParaRPr/>
          </a:p>
          <a:p>
            <a:pPr indent="-240030" lvl="1" marL="685800" rtl="0" algn="l">
              <a:lnSpc>
                <a:spcPct val="90000"/>
              </a:lnSpc>
              <a:spcBef>
                <a:spcPts val="500"/>
              </a:spcBef>
              <a:spcAft>
                <a:spcPts val="0"/>
              </a:spcAft>
              <a:buClr>
                <a:schemeClr val="dk1"/>
              </a:buClr>
              <a:buSzPts val="2400"/>
              <a:buChar char="•"/>
            </a:pPr>
            <a:r>
              <a:rPr lang="en-US"/>
              <a:t>And when we need to classify an instant that time we process</a:t>
            </a:r>
            <a:endParaRPr/>
          </a:p>
          <a:p>
            <a:pPr indent="-240030" lvl="1" marL="685800" rtl="0" algn="l">
              <a:lnSpc>
                <a:spcPct val="90000"/>
              </a:lnSpc>
              <a:spcBef>
                <a:spcPts val="500"/>
              </a:spcBef>
              <a:spcAft>
                <a:spcPts val="0"/>
              </a:spcAft>
              <a:buClr>
                <a:schemeClr val="dk1"/>
              </a:buClr>
              <a:buSzPts val="2400"/>
              <a:buChar char="•"/>
            </a:pPr>
            <a:r>
              <a:rPr lang="en-US"/>
              <a:t>Algorithm does not come up with the model apriori rather when it gets the test instance it uses the stored instances in memory in order to find the possible model </a:t>
            </a:r>
            <a:endParaRPr/>
          </a:p>
          <a:p>
            <a:pPr indent="-241934" lvl="0" marL="228600" rtl="0" algn="l">
              <a:lnSpc>
                <a:spcPct val="90000"/>
              </a:lnSpc>
              <a:spcBef>
                <a:spcPts val="1000"/>
              </a:spcBef>
              <a:spcAft>
                <a:spcPts val="0"/>
              </a:spcAft>
              <a:buClr>
                <a:schemeClr val="dk1"/>
              </a:buClr>
              <a:buSzPts val="2800"/>
              <a:buChar char="•"/>
            </a:pPr>
            <a:r>
              <a:rPr lang="en-US"/>
              <a:t>Non-linear model</a:t>
            </a:r>
            <a:endParaRPr/>
          </a:p>
          <a:p>
            <a:pPr indent="-241934" lvl="0" marL="228600" rtl="0" algn="l">
              <a:lnSpc>
                <a:spcPct val="90000"/>
              </a:lnSpc>
              <a:spcBef>
                <a:spcPts val="1000"/>
              </a:spcBef>
              <a:spcAft>
                <a:spcPts val="0"/>
              </a:spcAft>
              <a:buClr>
                <a:schemeClr val="dk1"/>
              </a:buClr>
              <a:buSzPts val="2800"/>
              <a:buChar char="•"/>
            </a:pPr>
            <a:r>
              <a:rPr lang="en-US"/>
              <a:t>Very compute intensive</a:t>
            </a:r>
            <a:endParaRPr/>
          </a:p>
          <a:p>
            <a:pPr indent="-241934" lvl="0" marL="228600" rtl="0" algn="l">
              <a:lnSpc>
                <a:spcPct val="90000"/>
              </a:lnSpc>
              <a:spcBef>
                <a:spcPts val="1000"/>
              </a:spcBef>
              <a:spcAft>
                <a:spcPts val="0"/>
              </a:spcAft>
              <a:buClr>
                <a:schemeClr val="dk1"/>
              </a:buClr>
              <a:buSzPts val="2800"/>
              <a:buChar char="•"/>
            </a:pPr>
            <a:r>
              <a:rPr lang="en-US"/>
              <a:t>Decision boundary is a curve</a:t>
            </a:r>
            <a:endParaRPr/>
          </a:p>
          <a:p>
            <a:pPr indent="-241934" lvl="0" marL="228600" rtl="0" algn="l">
              <a:lnSpc>
                <a:spcPct val="90000"/>
              </a:lnSpc>
              <a:spcBef>
                <a:spcPts val="1000"/>
              </a:spcBef>
              <a:spcAft>
                <a:spcPts val="0"/>
              </a:spcAft>
              <a:buClr>
                <a:schemeClr val="dk1"/>
              </a:buClr>
              <a:buSzPts val="2800"/>
              <a:buChar char="•"/>
            </a:pPr>
            <a:r>
              <a:rPr lang="en-US"/>
              <a:t>default parameter for the number of neighbors k</a:t>
            </a:r>
            <a:endParaRPr/>
          </a:p>
          <a:p>
            <a:pPr indent="-240030" lvl="1" marL="685800" rtl="0" algn="l">
              <a:lnSpc>
                <a:spcPct val="90000"/>
              </a:lnSpc>
              <a:spcBef>
                <a:spcPts val="500"/>
              </a:spcBef>
              <a:spcAft>
                <a:spcPts val="0"/>
              </a:spcAft>
              <a:buClr>
                <a:schemeClr val="dk1"/>
              </a:buClr>
              <a:buSzPts val="2400"/>
              <a:buChar char="•"/>
            </a:pPr>
            <a:r>
              <a:rPr lang="en-US"/>
              <a:t>5</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does it do it?</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a given new instance </a:t>
            </a:r>
            <a:endParaRPr/>
          </a:p>
          <a:p>
            <a:pPr indent="-292100" lvl="1" marL="685800" rtl="0" algn="l">
              <a:lnSpc>
                <a:spcPct val="90000"/>
              </a:lnSpc>
              <a:spcBef>
                <a:spcPts val="0"/>
              </a:spcBef>
              <a:spcAft>
                <a:spcPts val="0"/>
              </a:spcAft>
              <a:buClr>
                <a:schemeClr val="dk1"/>
              </a:buClr>
              <a:buSzPts val="2800"/>
              <a:buChar char="•"/>
            </a:pPr>
            <a:r>
              <a:rPr lang="en-US"/>
              <a:t>find what is the closest instance </a:t>
            </a:r>
            <a:endParaRPr/>
          </a:p>
          <a:p>
            <a:pPr indent="-292100" lvl="1" marL="685800" rtl="0" algn="l">
              <a:lnSpc>
                <a:spcPct val="90000"/>
              </a:lnSpc>
              <a:spcBef>
                <a:spcPts val="0"/>
              </a:spcBef>
              <a:spcAft>
                <a:spcPts val="0"/>
              </a:spcAft>
              <a:buClr>
                <a:schemeClr val="dk1"/>
              </a:buClr>
              <a:buSzPts val="2800"/>
              <a:buChar char="•"/>
            </a:pPr>
            <a:r>
              <a:rPr lang="en-US"/>
              <a:t>find the y value of that closest instance </a:t>
            </a:r>
            <a:endParaRPr/>
          </a:p>
          <a:p>
            <a:pPr indent="-292100" lvl="1" marL="685800" rtl="0" algn="l">
              <a:lnSpc>
                <a:spcPct val="90000"/>
              </a:lnSpc>
              <a:spcBef>
                <a:spcPts val="0"/>
              </a:spcBef>
              <a:spcAft>
                <a:spcPts val="0"/>
              </a:spcAft>
              <a:buClr>
                <a:schemeClr val="dk1"/>
              </a:buClr>
              <a:buSzPts val="2800"/>
              <a:buChar char="•"/>
            </a:pPr>
            <a:r>
              <a:rPr lang="en-US"/>
              <a:t>guess this y values as the y- value of the test instance.</a:t>
            </a:r>
            <a:endParaRPr/>
          </a:p>
          <a:p>
            <a:pPr indent="-228600" lvl="0" marL="228600" rtl="0" algn="l">
              <a:lnSpc>
                <a:spcPct val="90000"/>
              </a:lnSpc>
              <a:spcBef>
                <a:spcPts val="1000"/>
              </a:spcBef>
              <a:spcAft>
                <a:spcPts val="0"/>
              </a:spcAft>
              <a:buClr>
                <a:schemeClr val="dk1"/>
              </a:buClr>
              <a:buSzPts val="2800"/>
              <a:buChar char="•"/>
            </a:pPr>
            <a:r>
              <a:rPr lang="en-US"/>
              <a:t>How to find most similar instance/some neighbouring (most nearest) instances</a:t>
            </a:r>
            <a:endParaRPr/>
          </a:p>
          <a:p>
            <a:pPr indent="-228600" lvl="1" marL="685800" rtl="0" algn="l">
              <a:lnSpc>
                <a:spcPct val="90000"/>
              </a:lnSpc>
              <a:spcBef>
                <a:spcPts val="500"/>
              </a:spcBef>
              <a:spcAft>
                <a:spcPts val="0"/>
              </a:spcAft>
              <a:buClr>
                <a:schemeClr val="dk1"/>
              </a:buClr>
              <a:buSzPts val="2400"/>
              <a:buChar char="•"/>
            </a:pPr>
            <a:r>
              <a:rPr lang="en-US"/>
              <a:t>We can use similarity metrics (or distance functions) depending on the type of data that we have</a:t>
            </a:r>
            <a:endParaRPr/>
          </a:p>
          <a:p>
            <a:pPr indent="-228600" lvl="2" marL="1143000" rtl="0" algn="l">
              <a:lnSpc>
                <a:spcPct val="90000"/>
              </a:lnSpc>
              <a:spcBef>
                <a:spcPts val="500"/>
              </a:spcBef>
              <a:spcAft>
                <a:spcPts val="0"/>
              </a:spcAft>
              <a:buClr>
                <a:schemeClr val="dk1"/>
              </a:buClr>
              <a:buSzPts val="2000"/>
              <a:buChar char="•"/>
            </a:pPr>
            <a:r>
              <a:rPr lang="en-US"/>
              <a:t>Euclidean distance, Cosine and other</a:t>
            </a:r>
            <a:endParaRPr/>
          </a:p>
          <a:p>
            <a:pPr indent="-101600" lvl="2" marL="1143000" rtl="0" algn="l">
              <a:lnSpc>
                <a:spcPct val="90000"/>
              </a:lnSpc>
              <a:spcBef>
                <a:spcPts val="500"/>
              </a:spcBef>
              <a:spcAft>
                <a:spcPts val="0"/>
              </a:spcAft>
              <a:buClr>
                <a:schemeClr val="dk1"/>
              </a:buClr>
              <a:buSzPts val="20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1-nearest neighbour</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Training phase</a:t>
            </a:r>
            <a:endParaRPr/>
          </a:p>
          <a:p>
            <a:pPr indent="-292100" lvl="1" marL="685800" rtl="0" algn="l">
              <a:lnSpc>
                <a:spcPct val="90000"/>
              </a:lnSpc>
              <a:spcBef>
                <a:spcPts val="0"/>
              </a:spcBef>
              <a:spcAft>
                <a:spcPts val="0"/>
              </a:spcAft>
              <a:buClr>
                <a:schemeClr val="dk1"/>
              </a:buClr>
              <a:buSzPts val="2800"/>
              <a:buChar char="•"/>
            </a:pPr>
            <a:r>
              <a:rPr lang="en-US"/>
              <a:t>save the examples</a:t>
            </a:r>
            <a:endParaRPr/>
          </a:p>
          <a:p>
            <a:pPr indent="-228600" lvl="0" marL="228600" rtl="0" algn="l">
              <a:lnSpc>
                <a:spcPct val="90000"/>
              </a:lnSpc>
              <a:spcBef>
                <a:spcPts val="1000"/>
              </a:spcBef>
              <a:spcAft>
                <a:spcPts val="0"/>
              </a:spcAft>
              <a:buClr>
                <a:schemeClr val="dk1"/>
              </a:buClr>
              <a:buSzPts val="2800"/>
              <a:buChar char="•"/>
            </a:pPr>
            <a:r>
              <a:rPr lang="en-US"/>
              <a:t>Prediction time </a:t>
            </a:r>
            <a:endParaRPr/>
          </a:p>
          <a:p>
            <a:pPr indent="-292100" lvl="1" marL="685800" rtl="0" algn="l">
              <a:lnSpc>
                <a:spcPct val="90000"/>
              </a:lnSpc>
              <a:spcBef>
                <a:spcPts val="1000"/>
              </a:spcBef>
              <a:spcAft>
                <a:spcPts val="0"/>
              </a:spcAft>
              <a:buClr>
                <a:schemeClr val="dk1"/>
              </a:buClr>
              <a:buSzPts val="2800"/>
              <a:buChar char="•"/>
            </a:pPr>
            <a:r>
              <a:rPr lang="en-US"/>
              <a:t>get the test instance (xt) </a:t>
            </a:r>
            <a:endParaRPr/>
          </a:p>
          <a:p>
            <a:pPr indent="-292100" lvl="1" marL="685800" rtl="0" algn="l">
              <a:lnSpc>
                <a:spcPct val="90000"/>
              </a:lnSpc>
              <a:spcBef>
                <a:spcPts val="1000"/>
              </a:spcBef>
              <a:spcAft>
                <a:spcPts val="0"/>
              </a:spcAft>
              <a:buClr>
                <a:schemeClr val="dk1"/>
              </a:buClr>
              <a:buSzPts val="2800"/>
              <a:buChar char="•"/>
            </a:pPr>
            <a:r>
              <a:rPr lang="en-US"/>
              <a:t>find the training example (xi,yi) that is closest to test instance (xt) </a:t>
            </a:r>
            <a:endParaRPr/>
          </a:p>
          <a:p>
            <a:pPr indent="-292100" lvl="1" marL="685800" rtl="0" algn="l">
              <a:lnSpc>
                <a:spcPct val="90000"/>
              </a:lnSpc>
              <a:spcBef>
                <a:spcPts val="1000"/>
              </a:spcBef>
              <a:spcAft>
                <a:spcPts val="0"/>
              </a:spcAft>
              <a:buClr>
                <a:schemeClr val="dk1"/>
              </a:buClr>
              <a:buSzPts val="2800"/>
              <a:buChar char="•"/>
            </a:pPr>
            <a:r>
              <a:rPr lang="en-US"/>
              <a:t>predict the yi as the output yt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K-nearest neighbour</a:t>
            </a:r>
            <a:endParaRPr/>
          </a:p>
        </p:txBody>
      </p:sp>
      <p:sp>
        <p:nvSpPr>
          <p:cNvPr id="109" name="Google Shape;109;p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Training phase- save the examples</a:t>
            </a:r>
            <a:endParaRPr/>
          </a:p>
          <a:p>
            <a:pPr indent="-228600" lvl="0" marL="228600" rtl="0" algn="l">
              <a:lnSpc>
                <a:spcPct val="90000"/>
              </a:lnSpc>
              <a:spcBef>
                <a:spcPts val="1000"/>
              </a:spcBef>
              <a:spcAft>
                <a:spcPts val="0"/>
              </a:spcAft>
              <a:buClr>
                <a:schemeClr val="dk1"/>
              </a:buClr>
              <a:buSzPts val="2800"/>
              <a:buChar char="•"/>
            </a:pPr>
            <a:r>
              <a:rPr lang="en-US"/>
              <a:t>Prediction time- get the test instance (x</a:t>
            </a:r>
            <a:r>
              <a:rPr baseline="-25000" lang="en-US"/>
              <a:t>t</a:t>
            </a:r>
            <a:r>
              <a:rPr lang="en-US"/>
              <a:t>) and find k training example (x</a:t>
            </a:r>
            <a:r>
              <a:rPr baseline="-25000" lang="en-US"/>
              <a:t>1</a:t>
            </a:r>
            <a:r>
              <a:rPr lang="en-US"/>
              <a:t>,y</a:t>
            </a:r>
            <a:r>
              <a:rPr baseline="-25000" lang="en-US"/>
              <a:t>1</a:t>
            </a:r>
            <a:r>
              <a:rPr lang="en-US"/>
              <a:t>), (x</a:t>
            </a:r>
            <a:r>
              <a:rPr baseline="-25000" lang="en-US"/>
              <a:t>2</a:t>
            </a:r>
            <a:r>
              <a:rPr lang="en-US"/>
              <a:t>,y</a:t>
            </a:r>
            <a:r>
              <a:rPr baseline="-25000" lang="en-US"/>
              <a:t>2</a:t>
            </a:r>
            <a:r>
              <a:rPr lang="en-US"/>
              <a:t>)…(x</a:t>
            </a:r>
            <a:r>
              <a:rPr baseline="-25000" lang="en-US"/>
              <a:t>3</a:t>
            </a:r>
            <a:r>
              <a:rPr lang="en-US"/>
              <a:t>,y</a:t>
            </a:r>
            <a:r>
              <a:rPr baseline="-25000" lang="en-US"/>
              <a:t>3</a:t>
            </a:r>
            <a:r>
              <a:rPr lang="en-US"/>
              <a:t>) that are closest to test instance (x</a:t>
            </a:r>
            <a:r>
              <a:rPr baseline="-25000" lang="en-US"/>
              <a:t>t</a:t>
            </a:r>
            <a:r>
              <a:rPr lang="en-US"/>
              <a:t>) and we predict</a:t>
            </a:r>
            <a:endParaRPr/>
          </a:p>
          <a:p>
            <a:pPr indent="-228600" lvl="2" marL="1143000" rtl="0" algn="l">
              <a:lnSpc>
                <a:spcPct val="90000"/>
              </a:lnSpc>
              <a:spcBef>
                <a:spcPts val="500"/>
              </a:spcBef>
              <a:spcAft>
                <a:spcPts val="0"/>
              </a:spcAft>
              <a:buClr>
                <a:schemeClr val="dk1"/>
              </a:buClr>
              <a:buSzPts val="2000"/>
              <a:buChar char="•"/>
            </a:pPr>
            <a:r>
              <a:rPr lang="en-US"/>
              <a:t>the majority class (most frequent) from y</a:t>
            </a:r>
            <a:r>
              <a:rPr baseline="-25000" lang="en-US"/>
              <a:t>1</a:t>
            </a:r>
            <a:r>
              <a:rPr lang="en-US"/>
              <a:t>, y</a:t>
            </a:r>
            <a:r>
              <a:rPr baseline="-25000" lang="en-US"/>
              <a:t>2</a:t>
            </a:r>
            <a:r>
              <a:rPr lang="en-US"/>
              <a:t>, …..y</a:t>
            </a:r>
            <a:r>
              <a:rPr baseline="-25000" lang="en-US"/>
              <a:t>k</a:t>
            </a:r>
            <a:r>
              <a:rPr lang="en-US"/>
              <a:t> as the output y’</a:t>
            </a:r>
            <a:endParaRPr/>
          </a:p>
          <a:p>
            <a:pPr indent="-101600" lvl="2" marL="1143000" rtl="0" algn="l">
              <a:lnSpc>
                <a:spcPct val="90000"/>
              </a:lnSpc>
              <a:spcBef>
                <a:spcPts val="500"/>
              </a:spcBef>
              <a:spcAft>
                <a:spcPts val="0"/>
              </a:spcAft>
              <a:buClr>
                <a:schemeClr val="dk1"/>
              </a:buClr>
              <a:buSzPts val="2000"/>
              <a:buNone/>
            </a:pPr>
            <a:r>
              <a:t/>
            </a:r>
            <a:endParaRPr/>
          </a:p>
          <a:p>
            <a:pPr indent="-101600" lvl="2" marL="1143000" rtl="0" algn="l">
              <a:lnSpc>
                <a:spcPct val="90000"/>
              </a:lnSpc>
              <a:spcBef>
                <a:spcPts val="500"/>
              </a:spcBef>
              <a:spcAft>
                <a:spcPts val="0"/>
              </a:spcAft>
              <a:buClr>
                <a:schemeClr val="dk1"/>
              </a:buClr>
              <a:buSzPts val="2000"/>
              <a:buNone/>
            </a:pPr>
            <a:r>
              <a:t/>
            </a:r>
            <a:endParaRPr/>
          </a:p>
          <a:p>
            <a:pPr indent="-101600" lvl="2" marL="1143000" rtl="0" algn="l">
              <a:lnSpc>
                <a:spcPct val="90000"/>
              </a:lnSpc>
              <a:spcBef>
                <a:spcPts val="500"/>
              </a:spcBef>
              <a:spcAft>
                <a:spcPts val="0"/>
              </a:spcAft>
              <a:buClr>
                <a:schemeClr val="dk1"/>
              </a:buClr>
              <a:buSzPts val="2000"/>
              <a:buNone/>
            </a:pPr>
            <a:r>
              <a:t/>
            </a:r>
            <a:endParaRPr/>
          </a:p>
          <a:p>
            <a:pPr indent="-228600" lvl="2" marL="1143000" rtl="0" algn="l">
              <a:lnSpc>
                <a:spcPct val="90000"/>
              </a:lnSpc>
              <a:spcBef>
                <a:spcPts val="500"/>
              </a:spcBef>
              <a:spcAft>
                <a:spcPts val="0"/>
              </a:spcAft>
              <a:buClr>
                <a:schemeClr val="dk1"/>
              </a:buClr>
              <a:buSzPts val="2000"/>
              <a:buChar char="•"/>
            </a:pPr>
            <a:r>
              <a:rPr lang="en-US"/>
              <a:t>Where v is the class label, y</a:t>
            </a:r>
            <a:r>
              <a:rPr baseline="-25000" lang="en-US"/>
              <a:t>i</a:t>
            </a:r>
            <a:r>
              <a:rPr lang="en-US"/>
              <a:t> is the class label for one of the nearest neighbours and I(.) is an indicator function that returns the value 1 if its argument is true and 0 otherwise.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0" name="Google Shape;110;p5"/>
          <p:cNvPicPr preferRelativeResize="0"/>
          <p:nvPr/>
        </p:nvPicPr>
        <p:blipFill rotWithShape="1">
          <a:blip r:embed="rId3">
            <a:alphaModFix/>
          </a:blip>
          <a:srcRect b="0" l="0" r="0" t="0"/>
          <a:stretch/>
        </p:blipFill>
        <p:spPr>
          <a:xfrm>
            <a:off x="2943225" y="4123975"/>
            <a:ext cx="4657725" cy="61705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Distance-weighted voting scheme</a:t>
            </a:r>
            <a:endParaRPr/>
          </a:p>
        </p:txBody>
      </p:sp>
      <p:sp>
        <p:nvSpPr>
          <p:cNvPr id="116" name="Google Shape;11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lang="en-US" sz="2400"/>
              <a:t>In the majority voting approach, every neighbor has the same impact on the classification. </a:t>
            </a:r>
            <a:endParaRPr/>
          </a:p>
          <a:p>
            <a:pPr indent="-228600" lvl="0" marL="228600" rtl="0" algn="l">
              <a:lnSpc>
                <a:spcPct val="90000"/>
              </a:lnSpc>
              <a:spcBef>
                <a:spcPts val="1000"/>
              </a:spcBef>
              <a:spcAft>
                <a:spcPts val="0"/>
              </a:spcAft>
              <a:buClr>
                <a:schemeClr val="dk1"/>
              </a:buClr>
              <a:buSzPts val="2400"/>
              <a:buChar char="•"/>
            </a:pPr>
            <a:r>
              <a:rPr lang="en-US" sz="2400"/>
              <a:t>This makes the algorithm sensitive to the choice of k</a:t>
            </a:r>
            <a:endParaRPr/>
          </a:p>
          <a:p>
            <a:pPr indent="-228600" lvl="0" marL="228600" rtl="0" algn="l">
              <a:lnSpc>
                <a:spcPct val="90000"/>
              </a:lnSpc>
              <a:spcBef>
                <a:spcPts val="1000"/>
              </a:spcBef>
              <a:spcAft>
                <a:spcPts val="0"/>
              </a:spcAft>
              <a:buClr>
                <a:schemeClr val="dk1"/>
              </a:buClr>
              <a:buSzPts val="2400"/>
              <a:buChar char="•"/>
            </a:pPr>
            <a:r>
              <a:rPr lang="en-US" sz="2400"/>
              <a:t>One way to reduce the impact of k is to weight the influence of each nearest neighbor xi according to its distance: w</a:t>
            </a:r>
            <a:r>
              <a:rPr baseline="-25000" lang="en-US" sz="2400"/>
              <a:t>i</a:t>
            </a:r>
            <a:r>
              <a:rPr lang="en-US" sz="2400"/>
              <a:t>= 1/d (x’, xi)</a:t>
            </a:r>
            <a:r>
              <a:rPr baseline="30000" lang="en-US" sz="2400"/>
              <a:t>2</a:t>
            </a:r>
            <a:endParaRPr/>
          </a:p>
          <a:p>
            <a:pPr indent="-228600" lvl="0" marL="228600" rtl="0" algn="l">
              <a:lnSpc>
                <a:spcPct val="90000"/>
              </a:lnSpc>
              <a:spcBef>
                <a:spcPts val="1000"/>
              </a:spcBef>
              <a:spcAft>
                <a:spcPts val="0"/>
              </a:spcAft>
              <a:buClr>
                <a:schemeClr val="dk1"/>
              </a:buClr>
              <a:buSzPts val="2400"/>
              <a:buChar char="•"/>
            </a:pPr>
            <a:r>
              <a:rPr lang="en-US" sz="2400"/>
              <a:t>As a result, training examples that are located far away from z have a weaker impact on the classification compared to those that are located close to z.</a:t>
            </a:r>
            <a:endParaRPr baseline="30000" sz="2400"/>
          </a:p>
          <a:p>
            <a:pPr indent="-228600" lvl="0" marL="228600" rtl="0" algn="l">
              <a:lnSpc>
                <a:spcPct val="90000"/>
              </a:lnSpc>
              <a:spcBef>
                <a:spcPts val="1000"/>
              </a:spcBef>
              <a:spcAft>
                <a:spcPts val="0"/>
              </a:spcAft>
              <a:buClr>
                <a:schemeClr val="dk1"/>
              </a:buClr>
              <a:buSzPts val="2400"/>
              <a:buChar char="•"/>
            </a:pPr>
            <a:r>
              <a:rPr lang="en-US" sz="2400"/>
              <a:t>Using the distance-weighted voting scheme, the class label can be determined as follows: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7" name="Google Shape;117;p6"/>
          <p:cNvPicPr preferRelativeResize="0"/>
          <p:nvPr/>
        </p:nvPicPr>
        <p:blipFill rotWithShape="1">
          <a:blip r:embed="rId3">
            <a:alphaModFix/>
          </a:blip>
          <a:srcRect b="0" l="0" r="0" t="0"/>
          <a:stretch/>
        </p:blipFill>
        <p:spPr>
          <a:xfrm>
            <a:off x="2571750" y="5272088"/>
            <a:ext cx="5972175" cy="1220787"/>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improvements/issues of concern</a:t>
            </a:r>
            <a:endParaRPr/>
          </a:p>
        </p:txBody>
      </p:sp>
      <p:sp>
        <p:nvSpPr>
          <p:cNvPr id="123" name="Google Shape;123;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Weighting examples from the neighbourhood in case of k&gt;1</a:t>
            </a:r>
            <a:endParaRPr/>
          </a:p>
          <a:p>
            <a:pPr indent="-228600" lvl="0" marL="228600" rtl="0" algn="l">
              <a:lnSpc>
                <a:spcPct val="90000"/>
              </a:lnSpc>
              <a:spcBef>
                <a:spcPts val="1000"/>
              </a:spcBef>
              <a:spcAft>
                <a:spcPts val="0"/>
              </a:spcAft>
              <a:buClr>
                <a:schemeClr val="dk1"/>
              </a:buClr>
              <a:buSzPts val="2800"/>
              <a:buChar char="•"/>
            </a:pPr>
            <a:r>
              <a:rPr lang="en-US"/>
              <a:t>How to measure closeness</a:t>
            </a:r>
            <a:endParaRPr/>
          </a:p>
          <a:p>
            <a:pPr indent="-228600" lvl="1" marL="685800" rtl="0" algn="l">
              <a:lnSpc>
                <a:spcPct val="90000"/>
              </a:lnSpc>
              <a:spcBef>
                <a:spcPts val="500"/>
              </a:spcBef>
              <a:spcAft>
                <a:spcPts val="0"/>
              </a:spcAft>
              <a:buClr>
                <a:schemeClr val="dk1"/>
              </a:buClr>
              <a:buSzPts val="2400"/>
              <a:buChar char="•"/>
            </a:pPr>
            <a:r>
              <a:rPr lang="en-US"/>
              <a:t>Many distance functions</a:t>
            </a:r>
            <a:endParaRPr/>
          </a:p>
          <a:p>
            <a:pPr indent="-228600" lvl="0" marL="228600" rtl="0" algn="l">
              <a:lnSpc>
                <a:spcPct val="90000"/>
              </a:lnSpc>
              <a:spcBef>
                <a:spcPts val="1000"/>
              </a:spcBef>
              <a:spcAft>
                <a:spcPts val="0"/>
              </a:spcAft>
              <a:buClr>
                <a:schemeClr val="dk1"/>
              </a:buClr>
              <a:buSzPts val="2800"/>
              <a:buChar char="•"/>
            </a:pPr>
            <a:r>
              <a:rPr lang="en-US"/>
              <a:t>How to find the closest points quickly </a:t>
            </a:r>
            <a:endParaRPr/>
          </a:p>
          <a:p>
            <a:pPr indent="-228600" lvl="1" marL="685800" rtl="0" algn="l">
              <a:lnSpc>
                <a:spcPct val="90000"/>
              </a:lnSpc>
              <a:spcBef>
                <a:spcPts val="500"/>
              </a:spcBef>
              <a:spcAft>
                <a:spcPts val="0"/>
              </a:spcAft>
              <a:buClr>
                <a:schemeClr val="dk1"/>
              </a:buClr>
              <a:buSzPts val="2400"/>
              <a:buChar char="•"/>
            </a:pPr>
            <a:r>
              <a:rPr lang="en-US"/>
              <a:t>We must use some good data structure or method to store training examples so that we don’t need to go through all the training examples, find the distance and come up with the nearest data point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Dataset</a:t>
            </a:r>
            <a:endParaRPr/>
          </a:p>
        </p:txBody>
      </p:sp>
      <p:cxnSp>
        <p:nvCxnSpPr>
          <p:cNvPr id="129" name="Google Shape;129;p9"/>
          <p:cNvCxnSpPr/>
          <p:nvPr/>
        </p:nvCxnSpPr>
        <p:spPr>
          <a:xfrm>
            <a:off x="240792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30" name="Google Shape;130;p9"/>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131" name="Google Shape;131;p9"/>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2" name="Google Shape;132;p9"/>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i="0" sz="1800" u="none" cap="none" strike="noStrike">
              <a:solidFill>
                <a:schemeClr val="lt1"/>
              </a:solidFill>
              <a:latin typeface="Calibri"/>
              <a:ea typeface="Calibri"/>
              <a:cs typeface="Calibri"/>
              <a:sym typeface="Calibri"/>
            </a:endParaRPr>
          </a:p>
        </p:txBody>
      </p:sp>
      <p:sp>
        <p:nvSpPr>
          <p:cNvPr id="133" name="Google Shape;133;p9"/>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p9"/>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9"/>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p9"/>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7" name="Google Shape;137;p9"/>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9"/>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9"/>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9"/>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1" name="Google Shape;141;p9"/>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2" name="Google Shape;142;p9"/>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3" name="Google Shape;143;p9"/>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4" name="Google Shape;144;p9"/>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5" name="Google Shape;145;p9"/>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6" name="Google Shape;146;p9"/>
          <p:cNvSpPr txBox="1"/>
          <p:nvPr/>
        </p:nvSpPr>
        <p:spPr>
          <a:xfrm>
            <a:off x="5775960" y="5623560"/>
            <a:ext cx="3200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x</a:t>
            </a:r>
            <a:endParaRPr/>
          </a:p>
        </p:txBody>
      </p:sp>
      <p:sp>
        <p:nvSpPr>
          <p:cNvPr id="147" name="Google Shape;147;p9"/>
          <p:cNvSpPr txBox="1"/>
          <p:nvPr/>
        </p:nvSpPr>
        <p:spPr>
          <a:xfrm>
            <a:off x="1783075" y="2771414"/>
            <a:ext cx="32004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y</a:t>
            </a:r>
            <a:endParaRPr/>
          </a:p>
        </p:txBody>
      </p:sp>
      <p:sp>
        <p:nvSpPr>
          <p:cNvPr id="148" name="Google Shape;148;p9"/>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149" name="Google Shape;149;p9"/>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150" name="Google Shape;150;p9"/>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151" name="Google Shape;151;p9"/>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cxnSp>
        <p:nvCxnSpPr>
          <p:cNvPr id="157" name="Google Shape;157;p10"/>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58" name="Google Shape;158;p10"/>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159" name="Google Shape;159;p10"/>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0" name="Google Shape;160;p10"/>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161" name="Google Shape;161;p10"/>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10"/>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10"/>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4" name="Google Shape;164;p10"/>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5" name="Google Shape;165;p10"/>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6" name="Google Shape;166;p10"/>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7" name="Google Shape;167;p10"/>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10"/>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9" name="Google Shape;169;p10"/>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0" name="Google Shape;170;p10"/>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1" name="Google Shape;171;p10"/>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2" name="Google Shape;172;p10"/>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3" name="Google Shape;173;p10"/>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74" name="Google Shape;174;p10"/>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175" name="Google Shape;175;p10"/>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176" name="Google Shape;176;p10"/>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177" name="Google Shape;177;p10"/>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178" name="Google Shape;178;p10"/>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179" name="Google Shape;179;p10"/>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180" name="Google Shape;180;p10"/>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Result of K-NN</a:t>
            </a:r>
            <a:endParaRPr/>
          </a:p>
        </p:txBody>
      </p:sp>
      <p:cxnSp>
        <p:nvCxnSpPr>
          <p:cNvPr id="186" name="Google Shape;186;p11"/>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87" name="Google Shape;187;p11"/>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188" name="Google Shape;188;p11"/>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89" name="Google Shape;189;p11"/>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190" name="Google Shape;190;p11"/>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1" name="Google Shape;191;p11"/>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2" name="Google Shape;192;p11"/>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3" name="Google Shape;193;p11"/>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4" name="Google Shape;194;p11"/>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5" name="Google Shape;195;p11"/>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6" name="Google Shape;196;p11"/>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7" name="Google Shape;197;p11"/>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8" name="Google Shape;198;p11"/>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99" name="Google Shape;199;p11"/>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0" name="Google Shape;200;p11"/>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1" name="Google Shape;201;p11"/>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2" name="Google Shape;202;p11"/>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03" name="Google Shape;203;p11"/>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204" name="Google Shape;204;p11"/>
          <p:cNvSpPr txBox="1"/>
          <p:nvPr/>
        </p:nvSpPr>
        <p:spPr>
          <a:xfrm>
            <a:off x="5044443" y="3185159"/>
            <a:ext cx="390144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 assigned to category 2</a:t>
            </a:r>
            <a:endParaRPr/>
          </a:p>
        </p:txBody>
      </p:sp>
      <p:sp>
        <p:nvSpPr>
          <p:cNvPr id="205" name="Google Shape;205;p11"/>
          <p:cNvSpPr/>
          <p:nvPr/>
        </p:nvSpPr>
        <p:spPr>
          <a:xfrm>
            <a:off x="4069078" y="4019424"/>
            <a:ext cx="243836" cy="202039"/>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06" name="Google Shape;206;p11"/>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207" name="Google Shape;207;p11"/>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208" name="Google Shape;208;p11"/>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209" name="Google Shape;209;p11"/>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prepare model</a:t>
            </a:r>
            <a:endParaRPr/>
          </a:p>
        </p:txBody>
      </p:sp>
      <p:sp>
        <p:nvSpPr>
          <p:cNvPr id="215" name="Google Shape;215;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1. Choose the number K of neighbors</a:t>
            </a:r>
            <a:endParaRPr/>
          </a:p>
          <a:p>
            <a:pPr indent="-228600" lvl="0" marL="228600" rtl="0" algn="l">
              <a:lnSpc>
                <a:spcPct val="90000"/>
              </a:lnSpc>
              <a:spcBef>
                <a:spcPts val="1000"/>
              </a:spcBef>
              <a:spcAft>
                <a:spcPts val="0"/>
              </a:spcAft>
              <a:buClr>
                <a:schemeClr val="dk1"/>
              </a:buClr>
              <a:buSzPts val="2800"/>
              <a:buChar char="•"/>
            </a:pPr>
            <a:r>
              <a:rPr lang="en-US"/>
              <a:t>2. Take the K-nearest neighbors of the new data point, according to the Euclidean distance</a:t>
            </a:r>
            <a:endParaRPr/>
          </a:p>
          <a:p>
            <a:pPr indent="-228600" lvl="0" marL="228600" rtl="0" algn="l">
              <a:lnSpc>
                <a:spcPct val="90000"/>
              </a:lnSpc>
              <a:spcBef>
                <a:spcPts val="1000"/>
              </a:spcBef>
              <a:spcAft>
                <a:spcPts val="0"/>
              </a:spcAft>
              <a:buClr>
                <a:schemeClr val="dk1"/>
              </a:buClr>
              <a:buSzPts val="2800"/>
              <a:buChar char="•"/>
            </a:pPr>
            <a:r>
              <a:rPr lang="en-US"/>
              <a:t>3. Among these K neighbors, count the number of data points in each category</a:t>
            </a:r>
            <a:endParaRPr/>
          </a:p>
          <a:p>
            <a:pPr indent="-228600" lvl="0" marL="228600" rtl="0" algn="l">
              <a:lnSpc>
                <a:spcPct val="90000"/>
              </a:lnSpc>
              <a:spcBef>
                <a:spcPts val="1000"/>
              </a:spcBef>
              <a:spcAft>
                <a:spcPts val="0"/>
              </a:spcAft>
              <a:buClr>
                <a:schemeClr val="dk1"/>
              </a:buClr>
              <a:buSzPts val="2800"/>
              <a:buChar char="•"/>
            </a:pPr>
            <a:r>
              <a:rPr lang="en-US"/>
              <a:t>4. Assign the new data point to the category where you counted the most neighbors</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cxnSp>
        <p:nvCxnSpPr>
          <p:cNvPr id="221" name="Google Shape;221;p13"/>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222" name="Google Shape;222;p13"/>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223" name="Google Shape;223;p13"/>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4" name="Google Shape;224;p13"/>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225" name="Google Shape;225;p13"/>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6" name="Google Shape;226;p13"/>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7" name="Google Shape;227;p13"/>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8" name="Google Shape;228;p13"/>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29" name="Google Shape;229;p13"/>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0" name="Google Shape;230;p13"/>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1" name="Google Shape;231;p13"/>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2" name="Google Shape;232;p13"/>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3" name="Google Shape;233;p13"/>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3"/>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3"/>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3"/>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3"/>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3"/>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39" name="Google Shape;239;p13"/>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240" name="Google Shape;240;p13"/>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241" name="Google Shape;241;p13"/>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242" name="Google Shape;242;p13"/>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243" name="Google Shape;243;p13"/>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244" name="Google Shape;244;p13"/>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5-NN </a:t>
            </a:r>
            <a:endParaRPr/>
          </a:p>
        </p:txBody>
      </p:sp>
      <p:cxnSp>
        <p:nvCxnSpPr>
          <p:cNvPr id="250" name="Google Shape;250;p14"/>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251" name="Google Shape;251;p14"/>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252" name="Google Shape;252;p14"/>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3" name="Google Shape;253;p14"/>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254" name="Google Shape;254;p14"/>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5" name="Google Shape;255;p14"/>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6" name="Google Shape;256;p14"/>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7" name="Google Shape;257;p14"/>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8" name="Google Shape;258;p14"/>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59" name="Google Shape;259;p14"/>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0" name="Google Shape;260;p14"/>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1" name="Google Shape;261;p14"/>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4"/>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3" name="Google Shape;263;p14"/>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4" name="Google Shape;264;p14"/>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5" name="Google Shape;265;p14"/>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6" name="Google Shape;266;p14"/>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7" name="Google Shape;267;p14"/>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68" name="Google Shape;268;p14"/>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269" name="Google Shape;269;p14"/>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270" name="Google Shape;270;p14"/>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271" name="Google Shape;271;p14"/>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272" name="Google Shape;272;p14"/>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273" name="Google Shape;273;p14"/>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
        <p:nvSpPr>
          <p:cNvPr id="274" name="Google Shape;274;p14"/>
          <p:cNvSpPr/>
          <p:nvPr/>
        </p:nvSpPr>
        <p:spPr>
          <a:xfrm>
            <a:off x="3916679" y="362603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5-NN </a:t>
            </a:r>
            <a:endParaRPr/>
          </a:p>
        </p:txBody>
      </p:sp>
      <p:cxnSp>
        <p:nvCxnSpPr>
          <p:cNvPr id="280" name="Google Shape;280;p15"/>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281" name="Google Shape;281;p15"/>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282" name="Google Shape;282;p15"/>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3" name="Google Shape;283;p15"/>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284" name="Google Shape;284;p15"/>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5" name="Google Shape;285;p15"/>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6" name="Google Shape;286;p15"/>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7" name="Google Shape;287;p15"/>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8" name="Google Shape;288;p15"/>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89" name="Google Shape;289;p15"/>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15"/>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15"/>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5"/>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15"/>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4" name="Google Shape;294;p15"/>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5" name="Google Shape;295;p15"/>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6" name="Google Shape;296;p15"/>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7" name="Google Shape;297;p15"/>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298" name="Google Shape;298;p15"/>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299" name="Google Shape;299;p15"/>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300" name="Google Shape;300;p15"/>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301" name="Google Shape;301;p15"/>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302" name="Google Shape;302;p15"/>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303" name="Google Shape;303;p15"/>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
        <p:nvSpPr>
          <p:cNvPr id="304" name="Google Shape;304;p15"/>
          <p:cNvSpPr/>
          <p:nvPr/>
        </p:nvSpPr>
        <p:spPr>
          <a:xfrm>
            <a:off x="3916679" y="362603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05" name="Google Shape;305;p15"/>
          <p:cNvSpPr/>
          <p:nvPr/>
        </p:nvSpPr>
        <p:spPr>
          <a:xfrm>
            <a:off x="4251959" y="420515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5-NN </a:t>
            </a:r>
            <a:endParaRPr/>
          </a:p>
        </p:txBody>
      </p:sp>
      <p:cxnSp>
        <p:nvCxnSpPr>
          <p:cNvPr id="311" name="Google Shape;311;p16"/>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12" name="Google Shape;312;p16"/>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313" name="Google Shape;313;p16"/>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16"/>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315" name="Google Shape;315;p16"/>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6" name="Google Shape;316;p16"/>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7" name="Google Shape;317;p16"/>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16"/>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9" name="Google Shape;319;p16"/>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0" name="Google Shape;320;p16"/>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1" name="Google Shape;321;p16"/>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2" name="Google Shape;322;p16"/>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3" name="Google Shape;323;p16"/>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4" name="Google Shape;324;p16"/>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5" name="Google Shape;325;p16"/>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6" name="Google Shape;326;p16"/>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7" name="Google Shape;327;p16"/>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28" name="Google Shape;328;p16"/>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29" name="Google Shape;329;p16"/>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330" name="Google Shape;330;p16"/>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331" name="Google Shape;331;p16"/>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332" name="Google Shape;332;p16"/>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333" name="Google Shape;333;p16"/>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334" name="Google Shape;334;p16"/>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
        <p:nvSpPr>
          <p:cNvPr id="335" name="Google Shape;335;p16"/>
          <p:cNvSpPr/>
          <p:nvPr/>
        </p:nvSpPr>
        <p:spPr>
          <a:xfrm>
            <a:off x="3916679" y="362603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6" name="Google Shape;336;p16"/>
          <p:cNvSpPr/>
          <p:nvPr/>
        </p:nvSpPr>
        <p:spPr>
          <a:xfrm>
            <a:off x="4251959" y="420515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37" name="Google Shape;337;p16"/>
          <p:cNvSpPr/>
          <p:nvPr/>
        </p:nvSpPr>
        <p:spPr>
          <a:xfrm>
            <a:off x="3886198" y="452470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5-NN </a:t>
            </a:r>
            <a:endParaRPr/>
          </a:p>
        </p:txBody>
      </p:sp>
      <p:cxnSp>
        <p:nvCxnSpPr>
          <p:cNvPr id="343" name="Google Shape;343;p17"/>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44" name="Google Shape;344;p17"/>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345" name="Google Shape;345;p17"/>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6" name="Google Shape;346;p17"/>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347" name="Google Shape;347;p17"/>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8" name="Google Shape;348;p17"/>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49" name="Google Shape;349;p17"/>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0" name="Google Shape;350;p17"/>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1" name="Google Shape;351;p17"/>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2" name="Google Shape;352;p17"/>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3" name="Google Shape;353;p17"/>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4" name="Google Shape;354;p17"/>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5" name="Google Shape;355;p17"/>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6" name="Google Shape;356;p17"/>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7" name="Google Shape;357;p17"/>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8" name="Google Shape;358;p17"/>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59" name="Google Shape;359;p17"/>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0" name="Google Shape;360;p17"/>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61" name="Google Shape;361;p17"/>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362" name="Google Shape;362;p17"/>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363" name="Google Shape;363;p17"/>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364" name="Google Shape;364;p17"/>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365" name="Google Shape;365;p17"/>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366" name="Google Shape;366;p17"/>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
        <p:nvSpPr>
          <p:cNvPr id="367" name="Google Shape;367;p17"/>
          <p:cNvSpPr/>
          <p:nvPr/>
        </p:nvSpPr>
        <p:spPr>
          <a:xfrm>
            <a:off x="3916679" y="362603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8" name="Google Shape;368;p17"/>
          <p:cNvSpPr/>
          <p:nvPr/>
        </p:nvSpPr>
        <p:spPr>
          <a:xfrm>
            <a:off x="4251959" y="420515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69" name="Google Shape;369;p17"/>
          <p:cNvSpPr/>
          <p:nvPr/>
        </p:nvSpPr>
        <p:spPr>
          <a:xfrm>
            <a:off x="3886198" y="452470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0" name="Google Shape;370;p17"/>
          <p:cNvSpPr/>
          <p:nvPr/>
        </p:nvSpPr>
        <p:spPr>
          <a:xfrm>
            <a:off x="4495798" y="4537589"/>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5-NN </a:t>
            </a:r>
            <a:endParaRPr/>
          </a:p>
        </p:txBody>
      </p:sp>
      <p:cxnSp>
        <p:nvCxnSpPr>
          <p:cNvPr id="376" name="Google Shape;376;p18"/>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377" name="Google Shape;377;p18"/>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378" name="Google Shape;378;p18"/>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79" name="Google Shape;379;p18"/>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380" name="Google Shape;380;p18"/>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1" name="Google Shape;381;p18"/>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2" name="Google Shape;382;p18"/>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3" name="Google Shape;383;p18"/>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4" name="Google Shape;384;p18"/>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5" name="Google Shape;385;p18"/>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6" name="Google Shape;386;p18"/>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7" name="Google Shape;387;p18"/>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8" name="Google Shape;388;p18"/>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89" name="Google Shape;389;p18"/>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0" name="Google Shape;390;p18"/>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1" name="Google Shape;391;p18"/>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2" name="Google Shape;392;p18"/>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3" name="Google Shape;393;p18"/>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394" name="Google Shape;394;p18"/>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395" name="Google Shape;395;p18"/>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396" name="Google Shape;396;p18"/>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397" name="Google Shape;397;p18"/>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398" name="Google Shape;398;p18"/>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399" name="Google Shape;399;p18"/>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
        <p:nvSpPr>
          <p:cNvPr id="400" name="Google Shape;400;p18"/>
          <p:cNvSpPr/>
          <p:nvPr/>
        </p:nvSpPr>
        <p:spPr>
          <a:xfrm>
            <a:off x="3916679" y="362603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1" name="Google Shape;401;p18"/>
          <p:cNvSpPr/>
          <p:nvPr/>
        </p:nvSpPr>
        <p:spPr>
          <a:xfrm>
            <a:off x="4251959" y="420515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2" name="Google Shape;402;p18"/>
          <p:cNvSpPr/>
          <p:nvPr/>
        </p:nvSpPr>
        <p:spPr>
          <a:xfrm>
            <a:off x="3886198" y="452470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3" name="Google Shape;403;p18"/>
          <p:cNvSpPr/>
          <p:nvPr/>
        </p:nvSpPr>
        <p:spPr>
          <a:xfrm>
            <a:off x="4495798" y="4537589"/>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04" name="Google Shape;404;p18"/>
          <p:cNvSpPr/>
          <p:nvPr/>
        </p:nvSpPr>
        <p:spPr>
          <a:xfrm>
            <a:off x="3383273" y="3496735"/>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5-NN </a:t>
            </a:r>
            <a:endParaRPr/>
          </a:p>
        </p:txBody>
      </p:sp>
      <p:cxnSp>
        <p:nvCxnSpPr>
          <p:cNvPr id="410" name="Google Shape;410;p19"/>
          <p:cNvCxnSpPr/>
          <p:nvPr/>
        </p:nvCxnSpPr>
        <p:spPr>
          <a:xfrm>
            <a:off x="2438400" y="54711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411" name="Google Shape;411;p19"/>
          <p:cNvCxnSpPr/>
          <p:nvPr/>
        </p:nvCxnSpPr>
        <p:spPr>
          <a:xfrm rot="10800000">
            <a:off x="2377440" y="28346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412" name="Google Shape;412;p19"/>
          <p:cNvSpPr/>
          <p:nvPr/>
        </p:nvSpPr>
        <p:spPr>
          <a:xfrm>
            <a:off x="4846321" y="48006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3" name="Google Shape;413;p19"/>
          <p:cNvSpPr/>
          <p:nvPr/>
        </p:nvSpPr>
        <p:spPr>
          <a:xfrm>
            <a:off x="5044443" y="41148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414" name="Google Shape;414;p19"/>
          <p:cNvSpPr/>
          <p:nvPr/>
        </p:nvSpPr>
        <p:spPr>
          <a:xfrm>
            <a:off x="4846321" y="44043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5" name="Google Shape;415;p19"/>
          <p:cNvSpPr/>
          <p:nvPr/>
        </p:nvSpPr>
        <p:spPr>
          <a:xfrm>
            <a:off x="4282440" y="42824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6" name="Google Shape;416;p19"/>
          <p:cNvSpPr/>
          <p:nvPr/>
        </p:nvSpPr>
        <p:spPr>
          <a:xfrm>
            <a:off x="3916680" y="46024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7" name="Google Shape;417;p19"/>
          <p:cNvSpPr/>
          <p:nvPr/>
        </p:nvSpPr>
        <p:spPr>
          <a:xfrm>
            <a:off x="4526281" y="46177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8" name="Google Shape;418;p19"/>
          <p:cNvSpPr/>
          <p:nvPr/>
        </p:nvSpPr>
        <p:spPr>
          <a:xfrm>
            <a:off x="4221481" y="49529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19" name="Google Shape;419;p19"/>
          <p:cNvSpPr/>
          <p:nvPr/>
        </p:nvSpPr>
        <p:spPr>
          <a:xfrm>
            <a:off x="5166362" y="44805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0" name="Google Shape;420;p19"/>
          <p:cNvSpPr/>
          <p:nvPr/>
        </p:nvSpPr>
        <p:spPr>
          <a:xfrm>
            <a:off x="2773684" y="2894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1" name="Google Shape;421;p19"/>
          <p:cNvSpPr/>
          <p:nvPr/>
        </p:nvSpPr>
        <p:spPr>
          <a:xfrm>
            <a:off x="2956564" y="32891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2" name="Google Shape;422;p19"/>
          <p:cNvSpPr/>
          <p:nvPr/>
        </p:nvSpPr>
        <p:spPr>
          <a:xfrm>
            <a:off x="3238513" y="29076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3" name="Google Shape;423;p19"/>
          <p:cNvSpPr/>
          <p:nvPr/>
        </p:nvSpPr>
        <p:spPr>
          <a:xfrm rot="2239943">
            <a:off x="3002284" y="36855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4" name="Google Shape;424;p19"/>
          <p:cNvSpPr/>
          <p:nvPr/>
        </p:nvSpPr>
        <p:spPr>
          <a:xfrm>
            <a:off x="3383284" y="35036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5" name="Google Shape;425;p19"/>
          <p:cNvSpPr/>
          <p:nvPr/>
        </p:nvSpPr>
        <p:spPr>
          <a:xfrm>
            <a:off x="3794766" y="30837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6" name="Google Shape;426;p19"/>
          <p:cNvSpPr/>
          <p:nvPr/>
        </p:nvSpPr>
        <p:spPr>
          <a:xfrm>
            <a:off x="3916679" y="36407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27" name="Google Shape;427;p19"/>
          <p:cNvSpPr/>
          <p:nvPr/>
        </p:nvSpPr>
        <p:spPr>
          <a:xfrm>
            <a:off x="4084318" y="4069080"/>
            <a:ext cx="198119" cy="182878"/>
          </a:xfrm>
          <a:prstGeom prst="ellipse">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cxnSp>
        <p:nvCxnSpPr>
          <p:cNvPr id="428" name="Google Shape;428;p19"/>
          <p:cNvCxnSpPr/>
          <p:nvPr/>
        </p:nvCxnSpPr>
        <p:spPr>
          <a:xfrm flipH="1">
            <a:off x="4465319" y="3794759"/>
            <a:ext cx="381002" cy="239905"/>
          </a:xfrm>
          <a:prstGeom prst="straightConnector1">
            <a:avLst/>
          </a:prstGeom>
          <a:noFill/>
          <a:ln cap="flat" cmpd="sng" w="9525">
            <a:solidFill>
              <a:schemeClr val="accent1"/>
            </a:solidFill>
            <a:prstDash val="solid"/>
            <a:miter lim="800000"/>
            <a:headEnd len="sm" w="sm" type="none"/>
            <a:tailEnd len="med" w="med" type="triangle"/>
          </a:ln>
        </p:spPr>
      </p:cxnSp>
      <p:sp>
        <p:nvSpPr>
          <p:cNvPr id="429" name="Google Shape;429;p19"/>
          <p:cNvSpPr txBox="1"/>
          <p:nvPr/>
        </p:nvSpPr>
        <p:spPr>
          <a:xfrm>
            <a:off x="5044443" y="3185159"/>
            <a:ext cx="1920237"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New data point</a:t>
            </a:r>
            <a:endParaRPr/>
          </a:p>
        </p:txBody>
      </p:sp>
      <p:sp>
        <p:nvSpPr>
          <p:cNvPr id="430" name="Google Shape;430;p19"/>
          <p:cNvSpPr txBox="1"/>
          <p:nvPr/>
        </p:nvSpPr>
        <p:spPr>
          <a:xfrm>
            <a:off x="4221481" y="2026920"/>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a:t>
            </a:r>
            <a:endParaRPr/>
          </a:p>
        </p:txBody>
      </p:sp>
      <p:sp>
        <p:nvSpPr>
          <p:cNvPr id="431" name="Google Shape;431;p19"/>
          <p:cNvSpPr txBox="1"/>
          <p:nvPr/>
        </p:nvSpPr>
        <p:spPr>
          <a:xfrm>
            <a:off x="6675121" y="4033717"/>
            <a:ext cx="155447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a:t>
            </a:r>
            <a:endParaRPr/>
          </a:p>
        </p:txBody>
      </p:sp>
      <p:cxnSp>
        <p:nvCxnSpPr>
          <p:cNvPr id="432" name="Google Shape;432;p19"/>
          <p:cNvCxnSpPr/>
          <p:nvPr/>
        </p:nvCxnSpPr>
        <p:spPr>
          <a:xfrm flipH="1">
            <a:off x="3962397" y="2481063"/>
            <a:ext cx="441962" cy="412952"/>
          </a:xfrm>
          <a:prstGeom prst="straightConnector1">
            <a:avLst/>
          </a:prstGeom>
          <a:noFill/>
          <a:ln cap="flat" cmpd="sng" w="9525">
            <a:solidFill>
              <a:schemeClr val="accent1"/>
            </a:solidFill>
            <a:prstDash val="solid"/>
            <a:miter lim="800000"/>
            <a:headEnd len="sm" w="sm" type="none"/>
            <a:tailEnd len="med" w="med" type="triangle"/>
          </a:ln>
        </p:spPr>
      </p:cxnSp>
      <p:cxnSp>
        <p:nvCxnSpPr>
          <p:cNvPr id="433" name="Google Shape;433;p19"/>
          <p:cNvCxnSpPr/>
          <p:nvPr/>
        </p:nvCxnSpPr>
        <p:spPr>
          <a:xfrm flipH="1">
            <a:off x="5547360" y="4282440"/>
            <a:ext cx="883920" cy="152395"/>
          </a:xfrm>
          <a:prstGeom prst="straightConnector1">
            <a:avLst/>
          </a:prstGeom>
          <a:noFill/>
          <a:ln cap="flat" cmpd="sng" w="9525">
            <a:solidFill>
              <a:schemeClr val="accent1"/>
            </a:solidFill>
            <a:prstDash val="solid"/>
            <a:miter lim="800000"/>
            <a:headEnd len="sm" w="sm" type="none"/>
            <a:tailEnd len="med" w="med" type="triangle"/>
          </a:ln>
        </p:spPr>
      </p:cxnSp>
      <p:sp>
        <p:nvSpPr>
          <p:cNvPr id="434" name="Google Shape;434;p19"/>
          <p:cNvSpPr/>
          <p:nvPr/>
        </p:nvSpPr>
        <p:spPr>
          <a:xfrm>
            <a:off x="3916679" y="362603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5" name="Google Shape;435;p19"/>
          <p:cNvSpPr/>
          <p:nvPr/>
        </p:nvSpPr>
        <p:spPr>
          <a:xfrm>
            <a:off x="4251959" y="420515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6" name="Google Shape;436;p19"/>
          <p:cNvSpPr/>
          <p:nvPr/>
        </p:nvSpPr>
        <p:spPr>
          <a:xfrm>
            <a:off x="3886198" y="4524700"/>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7" name="Google Shape;437;p19"/>
          <p:cNvSpPr/>
          <p:nvPr/>
        </p:nvSpPr>
        <p:spPr>
          <a:xfrm>
            <a:off x="4495798" y="4537589"/>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8" name="Google Shape;438;p19"/>
          <p:cNvSpPr/>
          <p:nvPr/>
        </p:nvSpPr>
        <p:spPr>
          <a:xfrm>
            <a:off x="3383273" y="3496735"/>
            <a:ext cx="304802" cy="350030"/>
          </a:xfrm>
          <a:prstGeom prst="ellipse">
            <a:avLst/>
          </a:prstGeom>
          <a:no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39" name="Google Shape;439;p19"/>
          <p:cNvSpPr txBox="1"/>
          <p:nvPr/>
        </p:nvSpPr>
        <p:spPr>
          <a:xfrm>
            <a:off x="8618237" y="1850959"/>
            <a:ext cx="2880363"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1- 2 neighbors</a:t>
            </a:r>
            <a:endParaRPr/>
          </a:p>
          <a:p>
            <a:pPr indent="0" lvl="0" marL="0" marR="0" rtl="0" algn="l">
              <a:spcBef>
                <a:spcPts val="0"/>
              </a:spcBef>
              <a:spcAft>
                <a:spcPts val="0"/>
              </a:spcAft>
              <a:buNone/>
            </a:pPr>
            <a:r>
              <a:rPr lang="en-US" sz="1800">
                <a:solidFill>
                  <a:schemeClr val="dk1"/>
                </a:solidFill>
                <a:latin typeface="Calibri"/>
                <a:ea typeface="Calibri"/>
                <a:cs typeface="Calibri"/>
                <a:sym typeface="Calibri"/>
              </a:rPr>
              <a:t>Category 2- 3 neighbors</a:t>
            </a:r>
            <a:endParaRPr/>
          </a:p>
        </p:txBody>
      </p:sp>
      <p:cxnSp>
        <p:nvCxnSpPr>
          <p:cNvPr id="440" name="Google Shape;440;p19"/>
          <p:cNvCxnSpPr/>
          <p:nvPr/>
        </p:nvCxnSpPr>
        <p:spPr>
          <a:xfrm>
            <a:off x="8275320" y="5623560"/>
            <a:ext cx="3810000"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441" name="Google Shape;441;p19"/>
          <p:cNvCxnSpPr/>
          <p:nvPr/>
        </p:nvCxnSpPr>
        <p:spPr>
          <a:xfrm rot="10800000">
            <a:off x="8214360" y="2987040"/>
            <a:ext cx="0" cy="2621280"/>
          </a:xfrm>
          <a:prstGeom prst="straightConnector1">
            <a:avLst/>
          </a:prstGeom>
          <a:noFill/>
          <a:ln cap="flat" cmpd="sng" w="9525">
            <a:solidFill>
              <a:schemeClr val="accent1"/>
            </a:solidFill>
            <a:prstDash val="solid"/>
            <a:miter lim="800000"/>
            <a:headEnd len="sm" w="sm" type="none"/>
            <a:tailEnd len="med" w="med" type="triangle"/>
          </a:ln>
        </p:spPr>
      </p:cxnSp>
      <p:sp>
        <p:nvSpPr>
          <p:cNvPr id="442" name="Google Shape;442;p19"/>
          <p:cNvSpPr/>
          <p:nvPr/>
        </p:nvSpPr>
        <p:spPr>
          <a:xfrm>
            <a:off x="10683241" y="49530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3" name="Google Shape;443;p19"/>
          <p:cNvSpPr/>
          <p:nvPr/>
        </p:nvSpPr>
        <p:spPr>
          <a:xfrm>
            <a:off x="10881363" y="42672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
        <p:nvSpPr>
          <p:cNvPr id="444" name="Google Shape;444;p19"/>
          <p:cNvSpPr/>
          <p:nvPr/>
        </p:nvSpPr>
        <p:spPr>
          <a:xfrm>
            <a:off x="10683241" y="4556762"/>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5" name="Google Shape;445;p19"/>
          <p:cNvSpPr/>
          <p:nvPr/>
        </p:nvSpPr>
        <p:spPr>
          <a:xfrm>
            <a:off x="10119360" y="443484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6" name="Google Shape;446;p19"/>
          <p:cNvSpPr/>
          <p:nvPr/>
        </p:nvSpPr>
        <p:spPr>
          <a:xfrm>
            <a:off x="9753600" y="475488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7" name="Google Shape;447;p19"/>
          <p:cNvSpPr/>
          <p:nvPr/>
        </p:nvSpPr>
        <p:spPr>
          <a:xfrm>
            <a:off x="10363201" y="477012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8" name="Google Shape;448;p19"/>
          <p:cNvSpPr/>
          <p:nvPr/>
        </p:nvSpPr>
        <p:spPr>
          <a:xfrm>
            <a:off x="10058401" y="5105395"/>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49" name="Google Shape;449;p19"/>
          <p:cNvSpPr/>
          <p:nvPr/>
        </p:nvSpPr>
        <p:spPr>
          <a:xfrm>
            <a:off x="11003282" y="463296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0" name="Google Shape;450;p19"/>
          <p:cNvSpPr/>
          <p:nvPr/>
        </p:nvSpPr>
        <p:spPr>
          <a:xfrm>
            <a:off x="8610604" y="30464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1" name="Google Shape;451;p19"/>
          <p:cNvSpPr/>
          <p:nvPr/>
        </p:nvSpPr>
        <p:spPr>
          <a:xfrm>
            <a:off x="8793484" y="3441566"/>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2" name="Google Shape;452;p19"/>
          <p:cNvSpPr/>
          <p:nvPr/>
        </p:nvSpPr>
        <p:spPr>
          <a:xfrm>
            <a:off x="9075433" y="30600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3" name="Google Shape;453;p19"/>
          <p:cNvSpPr/>
          <p:nvPr/>
        </p:nvSpPr>
        <p:spPr>
          <a:xfrm rot="2239943">
            <a:off x="8839204" y="383794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4" name="Google Shape;454;p19"/>
          <p:cNvSpPr/>
          <p:nvPr/>
        </p:nvSpPr>
        <p:spPr>
          <a:xfrm>
            <a:off x="9220204" y="3656015"/>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5" name="Google Shape;455;p19"/>
          <p:cNvSpPr/>
          <p:nvPr/>
        </p:nvSpPr>
        <p:spPr>
          <a:xfrm>
            <a:off x="9631686" y="3236189"/>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6" name="Google Shape;456;p19"/>
          <p:cNvSpPr/>
          <p:nvPr/>
        </p:nvSpPr>
        <p:spPr>
          <a:xfrm>
            <a:off x="9753599" y="3793171"/>
            <a:ext cx="289552" cy="291144"/>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457" name="Google Shape;457;p19"/>
          <p:cNvSpPr/>
          <p:nvPr/>
        </p:nvSpPr>
        <p:spPr>
          <a:xfrm>
            <a:off x="9906003" y="4191000"/>
            <a:ext cx="243838" cy="152395"/>
          </a:xfrm>
          <a:prstGeom prst="triangle">
            <a:avLst>
              <a:gd fmla="val 50000" name="adj"/>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800">
              <a:solidFill>
                <a:schemeClr val="lt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sp>
        <p:nvSpPr>
          <p:cNvPr id="462" name="Google Shape;46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For more than two classes</a:t>
            </a:r>
            <a:endParaRPr/>
          </a:p>
        </p:txBody>
      </p:sp>
      <p:sp>
        <p:nvSpPr>
          <p:cNvPr id="463" name="Google Shape;46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For more classes, we count how many neighbors belong to each class and again predict the most common class.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Algorithm</a:t>
            </a:r>
            <a:endParaRPr/>
          </a:p>
        </p:txBody>
      </p:sp>
      <p:sp>
        <p:nvSpPr>
          <p:cNvPr id="469" name="Google Shape;469;p2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90000"/>
              </a:lnSpc>
              <a:spcBef>
                <a:spcPts val="0"/>
              </a:spcBef>
              <a:spcAft>
                <a:spcPts val="0"/>
              </a:spcAft>
              <a:buClr>
                <a:srgbClr val="292929"/>
              </a:buClr>
              <a:buSzPct val="100000"/>
              <a:buFont typeface="Calibri"/>
              <a:buAutoNum type="arabicPeriod"/>
            </a:pPr>
            <a:r>
              <a:rPr b="0" i="0" lang="en-US">
                <a:solidFill>
                  <a:srgbClr val="292929"/>
                </a:solidFill>
                <a:latin typeface="Arial"/>
                <a:ea typeface="Arial"/>
                <a:cs typeface="Arial"/>
                <a:sym typeface="Arial"/>
              </a:rPr>
              <a:t>Load the data</a:t>
            </a:r>
            <a:endParaRPr/>
          </a:p>
          <a:p>
            <a:pPr indent="-228600" lvl="0" marL="228600" rtl="0" algn="l">
              <a:lnSpc>
                <a:spcPct val="90000"/>
              </a:lnSpc>
              <a:spcBef>
                <a:spcPts val="1000"/>
              </a:spcBef>
              <a:spcAft>
                <a:spcPts val="0"/>
              </a:spcAft>
              <a:buClr>
                <a:srgbClr val="292929"/>
              </a:buClr>
              <a:buSzPct val="100000"/>
              <a:buFont typeface="Calibri"/>
              <a:buAutoNum type="arabicPeriod"/>
            </a:pPr>
            <a:r>
              <a:rPr b="0" i="0" lang="en-US">
                <a:solidFill>
                  <a:srgbClr val="292929"/>
                </a:solidFill>
                <a:latin typeface="Arial"/>
                <a:ea typeface="Arial"/>
                <a:cs typeface="Arial"/>
                <a:sym typeface="Arial"/>
              </a:rPr>
              <a:t>Initialize K to your chosen number of neighbors</a:t>
            </a:r>
            <a:endParaRPr/>
          </a:p>
          <a:p>
            <a:pPr indent="0" lvl="0" marL="0" rtl="0" algn="l">
              <a:lnSpc>
                <a:spcPct val="90000"/>
              </a:lnSpc>
              <a:spcBef>
                <a:spcPts val="1000"/>
              </a:spcBef>
              <a:spcAft>
                <a:spcPts val="0"/>
              </a:spcAft>
              <a:buClr>
                <a:srgbClr val="292929"/>
              </a:buClr>
              <a:buSzPct val="100000"/>
              <a:buNone/>
            </a:pPr>
            <a:r>
              <a:rPr b="0" i="0" lang="en-US">
                <a:solidFill>
                  <a:srgbClr val="292929"/>
                </a:solidFill>
                <a:latin typeface="Arial"/>
                <a:ea typeface="Arial"/>
                <a:cs typeface="Arial"/>
                <a:sym typeface="Arial"/>
              </a:rPr>
              <a:t>3. For each example in the data</a:t>
            </a:r>
            <a:endParaRPr/>
          </a:p>
          <a:p>
            <a:pPr indent="-228600" lvl="1" marL="685800" rtl="0" algn="l">
              <a:lnSpc>
                <a:spcPct val="90000"/>
              </a:lnSpc>
              <a:spcBef>
                <a:spcPts val="500"/>
              </a:spcBef>
              <a:spcAft>
                <a:spcPts val="0"/>
              </a:spcAft>
              <a:buClr>
                <a:srgbClr val="292929"/>
              </a:buClr>
              <a:buSzPct val="100000"/>
              <a:buChar char="•"/>
            </a:pPr>
            <a:r>
              <a:rPr b="0" i="0" lang="en-US">
                <a:solidFill>
                  <a:srgbClr val="292929"/>
                </a:solidFill>
                <a:latin typeface="Arial"/>
                <a:ea typeface="Arial"/>
                <a:cs typeface="Arial"/>
                <a:sym typeface="Arial"/>
              </a:rPr>
              <a:t>3.1 Calculate the distance between the query example and the current example from the data.</a:t>
            </a:r>
            <a:endParaRPr/>
          </a:p>
          <a:p>
            <a:pPr indent="-228600" lvl="1" marL="685800" rtl="0" algn="l">
              <a:lnSpc>
                <a:spcPct val="90000"/>
              </a:lnSpc>
              <a:spcBef>
                <a:spcPts val="500"/>
              </a:spcBef>
              <a:spcAft>
                <a:spcPts val="0"/>
              </a:spcAft>
              <a:buClr>
                <a:srgbClr val="292929"/>
              </a:buClr>
              <a:buSzPct val="100000"/>
              <a:buChar char="•"/>
            </a:pPr>
            <a:r>
              <a:rPr b="0" i="0" lang="en-US">
                <a:solidFill>
                  <a:srgbClr val="292929"/>
                </a:solidFill>
                <a:latin typeface="Arial"/>
                <a:ea typeface="Arial"/>
                <a:cs typeface="Arial"/>
                <a:sym typeface="Arial"/>
              </a:rPr>
              <a:t>3.2 Add the distance and the index of the example to an ordered collection</a:t>
            </a:r>
            <a:endParaRPr/>
          </a:p>
          <a:p>
            <a:pPr indent="0" lvl="0" marL="0" rtl="0" algn="l">
              <a:lnSpc>
                <a:spcPct val="90000"/>
              </a:lnSpc>
              <a:spcBef>
                <a:spcPts val="1000"/>
              </a:spcBef>
              <a:spcAft>
                <a:spcPts val="0"/>
              </a:spcAft>
              <a:buClr>
                <a:srgbClr val="292929"/>
              </a:buClr>
              <a:buSzPct val="100000"/>
              <a:buNone/>
            </a:pPr>
            <a:r>
              <a:rPr b="0" i="0" lang="en-US">
                <a:solidFill>
                  <a:srgbClr val="292929"/>
                </a:solidFill>
                <a:latin typeface="Arial"/>
                <a:ea typeface="Arial"/>
                <a:cs typeface="Arial"/>
                <a:sym typeface="Arial"/>
              </a:rPr>
              <a:t>4. Sort the ordered collection of distances and indices from smallest to largest (in ascending order) by the distances</a:t>
            </a:r>
            <a:endParaRPr/>
          </a:p>
          <a:p>
            <a:pPr indent="0" lvl="0" marL="0" rtl="0" algn="l">
              <a:lnSpc>
                <a:spcPct val="90000"/>
              </a:lnSpc>
              <a:spcBef>
                <a:spcPts val="1000"/>
              </a:spcBef>
              <a:spcAft>
                <a:spcPts val="0"/>
              </a:spcAft>
              <a:buClr>
                <a:srgbClr val="292929"/>
              </a:buClr>
              <a:buSzPct val="100000"/>
              <a:buNone/>
            </a:pPr>
            <a:r>
              <a:rPr b="0" i="0" lang="en-US">
                <a:solidFill>
                  <a:srgbClr val="292929"/>
                </a:solidFill>
                <a:latin typeface="Arial"/>
                <a:ea typeface="Arial"/>
                <a:cs typeface="Arial"/>
                <a:sym typeface="Arial"/>
              </a:rPr>
              <a:t>5. Pick the first K entries from the sorted collection</a:t>
            </a:r>
            <a:endParaRPr/>
          </a:p>
          <a:p>
            <a:pPr indent="0" lvl="0" marL="0" rtl="0" algn="l">
              <a:lnSpc>
                <a:spcPct val="90000"/>
              </a:lnSpc>
              <a:spcBef>
                <a:spcPts val="1000"/>
              </a:spcBef>
              <a:spcAft>
                <a:spcPts val="0"/>
              </a:spcAft>
              <a:buClr>
                <a:srgbClr val="292929"/>
              </a:buClr>
              <a:buSzPct val="100000"/>
              <a:buNone/>
            </a:pPr>
            <a:r>
              <a:rPr b="0" i="0" lang="en-US">
                <a:solidFill>
                  <a:srgbClr val="292929"/>
                </a:solidFill>
                <a:latin typeface="Arial"/>
                <a:ea typeface="Arial"/>
                <a:cs typeface="Arial"/>
                <a:sym typeface="Arial"/>
              </a:rPr>
              <a:t>6. Get the labels of the selected K entries</a:t>
            </a:r>
            <a:endParaRPr/>
          </a:p>
          <a:p>
            <a:pPr indent="0" lvl="0" marL="0" rtl="0" algn="l">
              <a:lnSpc>
                <a:spcPct val="90000"/>
              </a:lnSpc>
              <a:spcBef>
                <a:spcPts val="1000"/>
              </a:spcBef>
              <a:spcAft>
                <a:spcPts val="0"/>
              </a:spcAft>
              <a:buClr>
                <a:srgbClr val="292929"/>
              </a:buClr>
              <a:buSzPct val="100000"/>
              <a:buNone/>
            </a:pPr>
            <a:r>
              <a:rPr b="0" i="0" lang="en-US">
                <a:solidFill>
                  <a:srgbClr val="292929"/>
                </a:solidFill>
                <a:latin typeface="Arial"/>
                <a:ea typeface="Arial"/>
                <a:cs typeface="Arial"/>
                <a:sym typeface="Arial"/>
              </a:rPr>
              <a:t>7. If regression, return the mean of the K labels</a:t>
            </a:r>
            <a:endParaRPr/>
          </a:p>
          <a:p>
            <a:pPr indent="0" lvl="0" marL="0" rtl="0" algn="l">
              <a:lnSpc>
                <a:spcPct val="90000"/>
              </a:lnSpc>
              <a:spcBef>
                <a:spcPts val="1000"/>
              </a:spcBef>
              <a:spcAft>
                <a:spcPts val="0"/>
              </a:spcAft>
              <a:buClr>
                <a:srgbClr val="292929"/>
              </a:buClr>
              <a:buSzPct val="100000"/>
              <a:buNone/>
            </a:pPr>
            <a:r>
              <a:rPr b="0" i="0" lang="en-US">
                <a:solidFill>
                  <a:srgbClr val="292929"/>
                </a:solidFill>
                <a:latin typeface="Arial"/>
                <a:ea typeface="Arial"/>
                <a:cs typeface="Arial"/>
                <a:sym typeface="Arial"/>
              </a:rPr>
              <a:t>8. If classification, return the mode of the K labels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475" name="Google Shape;475;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b="0" i="0" lang="en-US">
                <a:solidFill>
                  <a:srgbClr val="292929"/>
                </a:solidFill>
                <a:latin typeface="Arial"/>
                <a:ea typeface="Arial"/>
                <a:cs typeface="Arial"/>
                <a:sym typeface="Arial"/>
              </a:rPr>
              <a:t>In cases where we are taking a majority vote (e.g. picking the mode in a classification problem) among labels, we usually make K an odd number to have a tiebreaker.</a:t>
            </a:r>
            <a:endParaRPr b="0" i="0">
              <a:solidFill>
                <a:srgbClr val="292929"/>
              </a:solidFill>
              <a:latin typeface="Arial"/>
              <a:ea typeface="Arial"/>
              <a:cs typeface="Arial"/>
              <a:sym typeface="Arial"/>
            </a:endParaRPr>
          </a:p>
          <a:p>
            <a:pPr indent="-165100" lvl="0" marL="228600" rtl="0" algn="l">
              <a:lnSpc>
                <a:spcPct val="90000"/>
              </a:lnSpc>
              <a:spcBef>
                <a:spcPts val="0"/>
              </a:spcBef>
              <a:spcAft>
                <a:spcPts val="0"/>
              </a:spcAft>
              <a:buClr>
                <a:srgbClr val="292929"/>
              </a:buClr>
              <a:buSzPts val="1800"/>
              <a:buFont typeface="Arial"/>
              <a:buChar char="•"/>
            </a:pPr>
            <a:r>
              <a:rPr lang="en-US">
                <a:solidFill>
                  <a:srgbClr val="292929"/>
                </a:solidFill>
                <a:latin typeface="Arial"/>
                <a:ea typeface="Arial"/>
                <a:cs typeface="Arial"/>
                <a:sym typeface="Arial"/>
              </a:rPr>
              <a:t>for non-binary classification k can have any even or odd value</a:t>
            </a:r>
            <a:endParaRPr>
              <a:solidFill>
                <a:srgbClr val="292929"/>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Importing the libraries</a:t>
            </a:r>
            <a:br>
              <a:rPr lang="en-US"/>
            </a:br>
            <a:endParaRPr/>
          </a:p>
        </p:txBody>
      </p:sp>
      <p:sp>
        <p:nvSpPr>
          <p:cNvPr id="481" name="Google Shape;481;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import numpy as np</a:t>
            </a:r>
            <a:endParaRPr/>
          </a:p>
          <a:p>
            <a:pPr indent="0" lvl="0" marL="0" rtl="0" algn="l">
              <a:lnSpc>
                <a:spcPct val="90000"/>
              </a:lnSpc>
              <a:spcBef>
                <a:spcPts val="1000"/>
              </a:spcBef>
              <a:spcAft>
                <a:spcPts val="0"/>
              </a:spcAft>
              <a:buClr>
                <a:schemeClr val="dk1"/>
              </a:buClr>
              <a:buSzPts val="2800"/>
              <a:buNone/>
            </a:pPr>
            <a:r>
              <a:rPr lang="en-US"/>
              <a:t>import matplotlib.pyplot as plt</a:t>
            </a:r>
            <a:endParaRPr/>
          </a:p>
          <a:p>
            <a:pPr indent="0" lvl="0" marL="0" rtl="0" algn="l">
              <a:lnSpc>
                <a:spcPct val="90000"/>
              </a:lnSpc>
              <a:spcBef>
                <a:spcPts val="1000"/>
              </a:spcBef>
              <a:spcAft>
                <a:spcPts val="0"/>
              </a:spcAft>
              <a:buClr>
                <a:schemeClr val="dk1"/>
              </a:buClr>
              <a:buSzPts val="2800"/>
              <a:buNone/>
            </a:pPr>
            <a:r>
              <a:rPr lang="en-US"/>
              <a:t>import pandas as pd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5" name="Shape 485"/>
        <p:cNvGrpSpPr/>
        <p:nvPr/>
      </p:nvGrpSpPr>
      <p:grpSpPr>
        <a:xfrm>
          <a:off x="0" y="0"/>
          <a:ext cx="0" cy="0"/>
          <a:chOff x="0" y="0"/>
          <a:chExt cx="0" cy="0"/>
        </a:xfrm>
      </p:grpSpPr>
      <p:sp>
        <p:nvSpPr>
          <p:cNvPr id="486" name="Google Shape;48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Importing the dataset</a:t>
            </a:r>
            <a:br>
              <a:rPr lang="en-US"/>
            </a:br>
            <a:endParaRPr/>
          </a:p>
        </p:txBody>
      </p:sp>
      <p:sp>
        <p:nvSpPr>
          <p:cNvPr id="487" name="Google Shape;48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dataset = pd.read_csv('Social_Network_Ads.csv’)</a:t>
            </a:r>
            <a:endParaRPr/>
          </a:p>
          <a:p>
            <a:pPr indent="0" lvl="0" marL="0" rtl="0" algn="l">
              <a:lnSpc>
                <a:spcPct val="90000"/>
              </a:lnSpc>
              <a:spcBef>
                <a:spcPts val="1000"/>
              </a:spcBef>
              <a:spcAft>
                <a:spcPts val="0"/>
              </a:spcAft>
              <a:buClr>
                <a:schemeClr val="dk1"/>
              </a:buClr>
              <a:buSzPts val="2800"/>
              <a:buNone/>
            </a:pPr>
            <a:r>
              <a:rPr lang="en-US"/>
              <a:t>x = dataset.iloc[:, :-1].values</a:t>
            </a:r>
            <a:endParaRPr/>
          </a:p>
          <a:p>
            <a:pPr indent="0" lvl="0" marL="0" rtl="0" algn="l">
              <a:lnSpc>
                <a:spcPct val="90000"/>
              </a:lnSpc>
              <a:spcBef>
                <a:spcPts val="1000"/>
              </a:spcBef>
              <a:spcAft>
                <a:spcPts val="0"/>
              </a:spcAft>
              <a:buClr>
                <a:schemeClr val="dk1"/>
              </a:buClr>
              <a:buSzPts val="2800"/>
              <a:buNone/>
            </a:pPr>
            <a:r>
              <a:rPr lang="en-US"/>
              <a:t>y = dataset.iloc[:, -1].values</a:t>
            </a:r>
            <a:endParaRPr/>
          </a:p>
          <a:p>
            <a:pPr indent="0" lvl="0" marL="0" rtl="0" algn="l">
              <a:lnSpc>
                <a:spcPct val="90000"/>
              </a:lnSpc>
              <a:spcBef>
                <a:spcPts val="1000"/>
              </a:spcBef>
              <a:spcAft>
                <a:spcPts val="0"/>
              </a:spcAft>
              <a:buClr>
                <a:schemeClr val="dk1"/>
              </a:buClr>
              <a:buSzPts val="2800"/>
              <a:buNone/>
            </a:pPr>
            <a:r>
              <a:t/>
            </a:r>
            <a:endParaRPr/>
          </a:p>
        </p:txBody>
      </p:sp>
      <p:sp>
        <p:nvSpPr>
          <p:cNvPr id="488" name="Google Shape;488;p24"/>
          <p:cNvSpPr/>
          <p:nvPr/>
        </p:nvSpPr>
        <p:spPr>
          <a:xfrm>
            <a:off x="5745480" y="2391311"/>
            <a:ext cx="6141720" cy="378565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000000"/>
                </a:solidFill>
                <a:latin typeface="Calibri"/>
                <a:ea typeface="Calibri"/>
                <a:cs typeface="Calibri"/>
                <a:sym typeface="Calibri"/>
              </a:rPr>
              <a:t>Age	EstimatedSalary	Purchased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19		19000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35		20000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26		43000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27		57000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19		76000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27		58000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27		84000			0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32		150000		1	</a:t>
            </a:r>
            <a:endParaRPr/>
          </a:p>
          <a:p>
            <a:pPr indent="0" lvl="0" marL="0" marR="0" rtl="0" algn="l">
              <a:spcBef>
                <a:spcPts val="0"/>
              </a:spcBef>
              <a:spcAft>
                <a:spcPts val="0"/>
              </a:spcAft>
              <a:buNone/>
            </a:pPr>
            <a:r>
              <a:rPr lang="en-US" sz="2400">
                <a:solidFill>
                  <a:srgbClr val="000000"/>
                </a:solidFill>
                <a:latin typeface="Calibri"/>
                <a:ea typeface="Calibri"/>
                <a:cs typeface="Calibri"/>
                <a:sym typeface="Calibri"/>
              </a:rPr>
              <a:t>25		33000			0	</a:t>
            </a:r>
            <a:endParaRPr/>
          </a:p>
        </p:txBody>
      </p:sp>
      <p:sp>
        <p:nvSpPr>
          <p:cNvPr id="489" name="Google Shape;489;p24"/>
          <p:cNvSpPr txBox="1"/>
          <p:nvPr/>
        </p:nvSpPr>
        <p:spPr>
          <a:xfrm>
            <a:off x="6598920" y="6176963"/>
            <a:ext cx="338328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Total- 1000 entries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Splitting the dataset into the Training set and Test set</a:t>
            </a:r>
            <a:br>
              <a:rPr lang="en-US"/>
            </a:br>
            <a:endParaRPr/>
          </a:p>
        </p:txBody>
      </p:sp>
      <p:sp>
        <p:nvSpPr>
          <p:cNvPr id="495" name="Google Shape;49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from sklearn.model_selection import train_test_split</a:t>
            </a:r>
            <a:endParaRPr/>
          </a:p>
          <a:p>
            <a:pPr indent="0" lvl="0" marL="0" rtl="0" algn="l">
              <a:lnSpc>
                <a:spcPct val="90000"/>
              </a:lnSpc>
              <a:spcBef>
                <a:spcPts val="1000"/>
              </a:spcBef>
              <a:spcAft>
                <a:spcPts val="0"/>
              </a:spcAft>
              <a:buClr>
                <a:schemeClr val="dk1"/>
              </a:buClr>
              <a:buSzPts val="2800"/>
              <a:buNone/>
            </a:pPr>
            <a:r>
              <a:rPr lang="en-US"/>
              <a:t>x_train, x_test, y_train, y_test = train_test_split(x, y, test_size = 0.25, random_state = 0)</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9" name="Shape 499"/>
        <p:cNvGrpSpPr/>
        <p:nvPr/>
      </p:nvGrpSpPr>
      <p:grpSpPr>
        <a:xfrm>
          <a:off x="0" y="0"/>
          <a:ext cx="0" cy="0"/>
          <a:chOff x="0" y="0"/>
          <a:chExt cx="0" cy="0"/>
        </a:xfrm>
      </p:grpSpPr>
      <p:sp>
        <p:nvSpPr>
          <p:cNvPr id="500" name="Google Shape;50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Feature Scaling</a:t>
            </a:r>
            <a:br>
              <a:rPr lang="en-US"/>
            </a:br>
            <a:endParaRPr/>
          </a:p>
        </p:txBody>
      </p:sp>
      <p:sp>
        <p:nvSpPr>
          <p:cNvPr id="501" name="Google Shape;50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from sklearn.preprocessing import StandardScaler</a:t>
            </a:r>
            <a:endParaRPr/>
          </a:p>
          <a:p>
            <a:pPr indent="0" lvl="0" marL="0" rtl="0" algn="l">
              <a:lnSpc>
                <a:spcPct val="90000"/>
              </a:lnSpc>
              <a:spcBef>
                <a:spcPts val="1000"/>
              </a:spcBef>
              <a:spcAft>
                <a:spcPts val="0"/>
              </a:spcAft>
              <a:buClr>
                <a:schemeClr val="dk1"/>
              </a:buClr>
              <a:buSzPts val="2800"/>
              <a:buNone/>
            </a:pPr>
            <a:r>
              <a:rPr lang="en-US"/>
              <a:t>sc = StandardScaler()</a:t>
            </a:r>
            <a:endParaRPr/>
          </a:p>
          <a:p>
            <a:pPr indent="0" lvl="0" marL="0" rtl="0" algn="l">
              <a:lnSpc>
                <a:spcPct val="90000"/>
              </a:lnSpc>
              <a:spcBef>
                <a:spcPts val="1000"/>
              </a:spcBef>
              <a:spcAft>
                <a:spcPts val="0"/>
              </a:spcAft>
              <a:buClr>
                <a:schemeClr val="dk1"/>
              </a:buClr>
              <a:buSzPts val="2800"/>
              <a:buNone/>
            </a:pPr>
            <a:r>
              <a:rPr lang="en-US"/>
              <a:t>x_train = sc.fit_transform(x_train)</a:t>
            </a:r>
            <a:endParaRPr/>
          </a:p>
          <a:p>
            <a:pPr indent="0" lvl="0" marL="0" rtl="0" algn="l">
              <a:lnSpc>
                <a:spcPct val="90000"/>
              </a:lnSpc>
              <a:spcBef>
                <a:spcPts val="1000"/>
              </a:spcBef>
              <a:spcAft>
                <a:spcPts val="0"/>
              </a:spcAft>
              <a:buClr>
                <a:schemeClr val="dk1"/>
              </a:buClr>
              <a:buSzPts val="2800"/>
              <a:buNone/>
            </a:pPr>
            <a:r>
              <a:rPr lang="en-US"/>
              <a:t>x_test = sc.transform(x_test)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Training the K-NN model on the Training set</a:t>
            </a:r>
            <a:br>
              <a:rPr lang="en-US"/>
            </a:br>
            <a:endParaRPr/>
          </a:p>
        </p:txBody>
      </p:sp>
      <p:sp>
        <p:nvSpPr>
          <p:cNvPr id="507" name="Google Shape;50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from sklearn.neighbors import KNeighborsClassifier</a:t>
            </a:r>
            <a:endParaRPr/>
          </a:p>
          <a:p>
            <a:pPr indent="0" lvl="0" marL="0" rtl="0" algn="l">
              <a:lnSpc>
                <a:spcPct val="90000"/>
              </a:lnSpc>
              <a:spcBef>
                <a:spcPts val="1000"/>
              </a:spcBef>
              <a:spcAft>
                <a:spcPts val="0"/>
              </a:spcAft>
              <a:buClr>
                <a:schemeClr val="dk1"/>
              </a:buClr>
              <a:buSzPts val="2800"/>
              <a:buNone/>
            </a:pPr>
            <a:r>
              <a:rPr lang="en-US"/>
              <a:t>classifier =  KNeighborsClassifier(n_neighbors = 5, metric = minkowski, p =2)</a:t>
            </a:r>
            <a:endParaRPr/>
          </a:p>
          <a:p>
            <a:pPr indent="0" lvl="0" marL="0" rtl="0" algn="l">
              <a:lnSpc>
                <a:spcPct val="90000"/>
              </a:lnSpc>
              <a:spcBef>
                <a:spcPts val="1000"/>
              </a:spcBef>
              <a:spcAft>
                <a:spcPts val="0"/>
              </a:spcAft>
              <a:buClr>
                <a:schemeClr val="dk1"/>
              </a:buClr>
              <a:buSzPts val="2800"/>
              <a:buNone/>
            </a:pPr>
            <a:r>
              <a:rPr lang="en-US"/>
              <a:t>classifier.fit(X_train, y_train)</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Predicting a new result</a:t>
            </a:r>
            <a:br>
              <a:rPr lang="en-US"/>
            </a:br>
            <a:endParaRPr/>
          </a:p>
        </p:txBody>
      </p:sp>
      <p:sp>
        <p:nvSpPr>
          <p:cNvPr id="513" name="Google Shape;51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print(classifier.predict(sc.transform([[30,87000]])))</a:t>
            </a:r>
            <a:endParaRPr/>
          </a:p>
          <a:p>
            <a:pPr indent="-228600" lvl="0" marL="228600" rtl="0" algn="l">
              <a:lnSpc>
                <a:spcPct val="90000"/>
              </a:lnSpc>
              <a:spcBef>
                <a:spcPts val="1000"/>
              </a:spcBef>
              <a:spcAft>
                <a:spcPts val="0"/>
              </a:spcAft>
              <a:buClr>
                <a:schemeClr val="dk1"/>
              </a:buClr>
              <a:buSzPts val="2800"/>
              <a:buChar char="•"/>
            </a:pPr>
            <a:r>
              <a:rPr lang="en-US"/>
              <a:t>Output</a:t>
            </a:r>
            <a:endParaRPr/>
          </a:p>
          <a:p>
            <a:pPr indent="-228600" lvl="1" marL="685800" rtl="0" algn="l">
              <a:lnSpc>
                <a:spcPct val="90000"/>
              </a:lnSpc>
              <a:spcBef>
                <a:spcPts val="500"/>
              </a:spcBef>
              <a:spcAft>
                <a:spcPts val="0"/>
              </a:spcAft>
              <a:buClr>
                <a:schemeClr val="dk1"/>
              </a:buClr>
              <a:buSzPts val="2400"/>
              <a:buChar char="•"/>
            </a:pPr>
            <a:r>
              <a:rPr lang="en-US"/>
              <a:t>[0]</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7" name="Shape 517"/>
        <p:cNvGrpSpPr/>
        <p:nvPr/>
      </p:nvGrpSpPr>
      <p:grpSpPr>
        <a:xfrm>
          <a:off x="0" y="0"/>
          <a:ext cx="0" cy="0"/>
          <a:chOff x="0" y="0"/>
          <a:chExt cx="0" cy="0"/>
        </a:xfrm>
      </p:grpSpPr>
      <p:sp>
        <p:nvSpPr>
          <p:cNvPr id="518" name="Google Shape;51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Predicting the Test set results</a:t>
            </a:r>
            <a:br>
              <a:rPr lang="en-US"/>
            </a:br>
            <a:endParaRPr/>
          </a:p>
        </p:txBody>
      </p:sp>
      <p:sp>
        <p:nvSpPr>
          <p:cNvPr id="519" name="Google Shape;51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y_pred = classifier.predict(X_test)</a:t>
            </a:r>
            <a:endParaRPr/>
          </a:p>
          <a:p>
            <a:pPr indent="0" lvl="0" marL="0" rtl="0" algn="l">
              <a:lnSpc>
                <a:spcPct val="90000"/>
              </a:lnSpc>
              <a:spcBef>
                <a:spcPts val="1000"/>
              </a:spcBef>
              <a:spcAft>
                <a:spcPts val="0"/>
              </a:spcAft>
              <a:buClr>
                <a:schemeClr val="dk1"/>
              </a:buClr>
              <a:buSzPts val="2800"/>
              <a:buNone/>
            </a:pPr>
            <a:r>
              <a:rPr lang="en-US"/>
              <a:t>print(np.concatenate((y_pred.reshape(len(y_pred),1), y_test.reshape(len(y_test),1)),1))</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Making the Confusion Matrix</a:t>
            </a:r>
            <a:br>
              <a:rPr lang="en-US"/>
            </a:br>
            <a:endParaRPr/>
          </a:p>
        </p:txBody>
      </p:sp>
      <p:sp>
        <p:nvSpPr>
          <p:cNvPr id="525" name="Google Shape;525;p30"/>
          <p:cNvSpPr txBox="1"/>
          <p:nvPr>
            <p:ph idx="1" type="body"/>
          </p:nvPr>
        </p:nvSpPr>
        <p:spPr>
          <a:xfrm>
            <a:off x="838200" y="1825625"/>
            <a:ext cx="10515600" cy="4351338"/>
          </a:xfrm>
          <a:prstGeom prst="rect">
            <a:avLst/>
          </a:prstGeom>
          <a:noFill/>
          <a:ln cap="flat" cmpd="sng" w="9525">
            <a:solidFill>
              <a:srgbClr val="002060"/>
            </a:solidFill>
            <a:prstDash val="solid"/>
            <a:round/>
            <a:headEnd len="sm" w="sm" type="none"/>
            <a:tailEnd len="sm" w="sm" type="none"/>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from sklearn.metrics import confusion_matrix, accuracy_score</a:t>
            </a:r>
            <a:endParaRPr/>
          </a:p>
          <a:p>
            <a:pPr indent="0" lvl="0" marL="0" rtl="0" algn="l">
              <a:lnSpc>
                <a:spcPct val="90000"/>
              </a:lnSpc>
              <a:spcBef>
                <a:spcPts val="1000"/>
              </a:spcBef>
              <a:spcAft>
                <a:spcPts val="0"/>
              </a:spcAft>
              <a:buClr>
                <a:schemeClr val="dk1"/>
              </a:buClr>
              <a:buSzPts val="2800"/>
              <a:buNone/>
            </a:pPr>
            <a:r>
              <a:rPr lang="en-US"/>
              <a:t>cm = confusion_matrix(y_test, y_pred)</a:t>
            </a:r>
            <a:endParaRPr/>
          </a:p>
          <a:p>
            <a:pPr indent="0" lvl="0" marL="0" rtl="0" algn="l">
              <a:lnSpc>
                <a:spcPct val="90000"/>
              </a:lnSpc>
              <a:spcBef>
                <a:spcPts val="1000"/>
              </a:spcBef>
              <a:spcAft>
                <a:spcPts val="0"/>
              </a:spcAft>
              <a:buClr>
                <a:schemeClr val="dk1"/>
              </a:buClr>
              <a:buSzPts val="2800"/>
              <a:buNone/>
            </a:pPr>
            <a:r>
              <a:rPr lang="en-US"/>
              <a:t>print(cm)</a:t>
            </a:r>
            <a:endParaRPr/>
          </a:p>
          <a:p>
            <a:pPr indent="0" lvl="0" marL="0" rtl="0" algn="l">
              <a:lnSpc>
                <a:spcPct val="90000"/>
              </a:lnSpc>
              <a:spcBef>
                <a:spcPts val="1000"/>
              </a:spcBef>
              <a:spcAft>
                <a:spcPts val="0"/>
              </a:spcAft>
              <a:buClr>
                <a:schemeClr val="dk1"/>
              </a:buClr>
              <a:buSzPts val="2800"/>
              <a:buNone/>
            </a:pPr>
            <a:r>
              <a:rPr lang="en-US"/>
              <a:t>accuracy_score(y_test, y_pred)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pic>
        <p:nvPicPr>
          <p:cNvPr descr="Measuring Performance: The Confusion Matrix – Glass Box" id="530" name="Google Shape;530;p31"/>
          <p:cNvPicPr preferRelativeResize="0"/>
          <p:nvPr/>
        </p:nvPicPr>
        <p:blipFill rotWithShape="1">
          <a:blip r:embed="rId3">
            <a:alphaModFix/>
          </a:blip>
          <a:srcRect b="0" l="0" r="0" t="0"/>
          <a:stretch/>
        </p:blipFill>
        <p:spPr>
          <a:xfrm>
            <a:off x="2209800" y="1243013"/>
            <a:ext cx="7772400" cy="43719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4" name="Shape 534"/>
        <p:cNvGrpSpPr/>
        <p:nvPr/>
      </p:nvGrpSpPr>
      <p:grpSpPr>
        <a:xfrm>
          <a:off x="0" y="0"/>
          <a:ext cx="0" cy="0"/>
          <a:chOff x="0" y="0"/>
          <a:chExt cx="0" cy="0"/>
        </a:xfrm>
      </p:grpSpPr>
      <p:sp>
        <p:nvSpPr>
          <p:cNvPr id="535" name="Google Shape;53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Visualising the Training set results</a:t>
            </a:r>
            <a:br>
              <a:rPr lang="en-US"/>
            </a:br>
            <a:endParaRPr/>
          </a:p>
        </p:txBody>
      </p:sp>
      <p:sp>
        <p:nvSpPr>
          <p:cNvPr id="536" name="Google Shape;536;p32"/>
          <p:cNvSpPr txBox="1"/>
          <p:nvPr>
            <p:ph idx="1" type="body"/>
          </p:nvPr>
        </p:nvSpPr>
        <p:spPr>
          <a:xfrm>
            <a:off x="289560" y="1203960"/>
            <a:ext cx="11064240" cy="5547360"/>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lang="en-US"/>
              <a:t>from matplotlib.colors import ListedColormap</a:t>
            </a:r>
            <a:endParaRPr/>
          </a:p>
          <a:p>
            <a:pPr indent="-228600" lvl="0" marL="228600" rtl="0" algn="l">
              <a:lnSpc>
                <a:spcPct val="90000"/>
              </a:lnSpc>
              <a:spcBef>
                <a:spcPts val="1000"/>
              </a:spcBef>
              <a:spcAft>
                <a:spcPts val="0"/>
              </a:spcAft>
              <a:buClr>
                <a:schemeClr val="dk1"/>
              </a:buClr>
              <a:buSzPct val="100000"/>
              <a:buChar char="•"/>
            </a:pPr>
            <a:r>
              <a:rPr lang="en-US"/>
              <a:t>X_set, y_set = sc.inverse_transform(X_train), y_train</a:t>
            </a:r>
            <a:endParaRPr/>
          </a:p>
          <a:p>
            <a:pPr indent="-228600" lvl="0" marL="228600" rtl="0" algn="l">
              <a:lnSpc>
                <a:spcPct val="90000"/>
              </a:lnSpc>
              <a:spcBef>
                <a:spcPts val="1000"/>
              </a:spcBef>
              <a:spcAft>
                <a:spcPts val="0"/>
              </a:spcAft>
              <a:buClr>
                <a:schemeClr val="dk1"/>
              </a:buClr>
              <a:buSzPct val="100000"/>
              <a:buChar char="•"/>
            </a:pPr>
            <a:r>
              <a:rPr lang="en-US"/>
              <a:t>X1, X2 = np.meshgrid(np.arange(start = X_set[:, 0].min() - 10, stop = X_set[:, 0].max() + 10, step = 1),</a:t>
            </a:r>
            <a:endParaRPr/>
          </a:p>
          <a:p>
            <a:pPr indent="-228600" lvl="0" marL="228600" rtl="0" algn="l">
              <a:lnSpc>
                <a:spcPct val="90000"/>
              </a:lnSpc>
              <a:spcBef>
                <a:spcPts val="1000"/>
              </a:spcBef>
              <a:spcAft>
                <a:spcPts val="0"/>
              </a:spcAft>
              <a:buClr>
                <a:schemeClr val="dk1"/>
              </a:buClr>
              <a:buSzPct val="100000"/>
              <a:buChar char="•"/>
            </a:pPr>
            <a:r>
              <a:rPr lang="en-US"/>
              <a:t>                     np.arange(start = X_set[:, 1].min() - 1000, stop = X_set[:, 1].max() + 1000, step = 1))</a:t>
            </a:r>
            <a:endParaRPr/>
          </a:p>
          <a:p>
            <a:pPr indent="-228600" lvl="0" marL="228600" rtl="0" algn="l">
              <a:lnSpc>
                <a:spcPct val="90000"/>
              </a:lnSpc>
              <a:spcBef>
                <a:spcPts val="1000"/>
              </a:spcBef>
              <a:spcAft>
                <a:spcPts val="0"/>
              </a:spcAft>
              <a:buClr>
                <a:schemeClr val="dk1"/>
              </a:buClr>
              <a:buSzPct val="100000"/>
              <a:buChar char="•"/>
            </a:pPr>
            <a:r>
              <a:rPr lang="en-US"/>
              <a:t>plt.contourf(X1, X2, classifier.predict(sc.transform(np.array([X1.ravel(), X2.ravel()]).T)).reshape(X1.shape),</a:t>
            </a:r>
            <a:endParaRPr/>
          </a:p>
          <a:p>
            <a:pPr indent="-228600" lvl="0" marL="228600" rtl="0" algn="l">
              <a:lnSpc>
                <a:spcPct val="90000"/>
              </a:lnSpc>
              <a:spcBef>
                <a:spcPts val="1000"/>
              </a:spcBef>
              <a:spcAft>
                <a:spcPts val="0"/>
              </a:spcAft>
              <a:buClr>
                <a:schemeClr val="dk1"/>
              </a:buClr>
              <a:buSzPct val="100000"/>
              <a:buChar char="•"/>
            </a:pPr>
            <a:r>
              <a:rPr lang="en-US"/>
              <a:t>             alpha = 0.75, cmap = ListedColormap(('red', 'green')))</a:t>
            </a:r>
            <a:endParaRPr/>
          </a:p>
          <a:p>
            <a:pPr indent="-228600" lvl="0" marL="228600" rtl="0" algn="l">
              <a:lnSpc>
                <a:spcPct val="90000"/>
              </a:lnSpc>
              <a:spcBef>
                <a:spcPts val="1000"/>
              </a:spcBef>
              <a:spcAft>
                <a:spcPts val="0"/>
              </a:spcAft>
              <a:buClr>
                <a:schemeClr val="dk1"/>
              </a:buClr>
              <a:buSzPct val="100000"/>
              <a:buChar char="•"/>
            </a:pPr>
            <a:r>
              <a:rPr lang="en-US"/>
              <a:t>plt.xlim(X1.min(), X1.max())</a:t>
            </a:r>
            <a:endParaRPr/>
          </a:p>
          <a:p>
            <a:pPr indent="-228600" lvl="0" marL="228600" rtl="0" algn="l">
              <a:lnSpc>
                <a:spcPct val="90000"/>
              </a:lnSpc>
              <a:spcBef>
                <a:spcPts val="1000"/>
              </a:spcBef>
              <a:spcAft>
                <a:spcPts val="0"/>
              </a:spcAft>
              <a:buClr>
                <a:schemeClr val="dk1"/>
              </a:buClr>
              <a:buSzPct val="100000"/>
              <a:buChar char="•"/>
            </a:pPr>
            <a:r>
              <a:rPr lang="en-US"/>
              <a:t>plt.ylim(X2.min(), X2.max())</a:t>
            </a:r>
            <a:endParaRPr/>
          </a:p>
          <a:p>
            <a:pPr indent="-228600" lvl="0" marL="228600" rtl="0" algn="l">
              <a:lnSpc>
                <a:spcPct val="90000"/>
              </a:lnSpc>
              <a:spcBef>
                <a:spcPts val="1000"/>
              </a:spcBef>
              <a:spcAft>
                <a:spcPts val="0"/>
              </a:spcAft>
              <a:buClr>
                <a:schemeClr val="dk1"/>
              </a:buClr>
              <a:buSzPct val="100000"/>
              <a:buChar char="•"/>
            </a:pPr>
            <a:r>
              <a:rPr lang="en-US"/>
              <a:t>for i, j in enumerate(np.unique(y_set)):</a:t>
            </a:r>
            <a:endParaRPr/>
          </a:p>
          <a:p>
            <a:pPr indent="-228600" lvl="0" marL="228600" rtl="0" algn="l">
              <a:lnSpc>
                <a:spcPct val="90000"/>
              </a:lnSpc>
              <a:spcBef>
                <a:spcPts val="1000"/>
              </a:spcBef>
              <a:spcAft>
                <a:spcPts val="0"/>
              </a:spcAft>
              <a:buClr>
                <a:schemeClr val="dk1"/>
              </a:buClr>
              <a:buSzPct val="100000"/>
              <a:buChar char="•"/>
            </a:pPr>
            <a:r>
              <a:rPr lang="en-US"/>
              <a:t>    plt.scatter(X_set[y_set == j, 0], X_set[y_set == j, 1], c = ListedColormap(('red', 'green'))(i), label = j)</a:t>
            </a:r>
            <a:endParaRPr/>
          </a:p>
          <a:p>
            <a:pPr indent="-228600" lvl="0" marL="228600" rtl="0" algn="l">
              <a:lnSpc>
                <a:spcPct val="90000"/>
              </a:lnSpc>
              <a:spcBef>
                <a:spcPts val="1000"/>
              </a:spcBef>
              <a:spcAft>
                <a:spcPts val="0"/>
              </a:spcAft>
              <a:buClr>
                <a:schemeClr val="dk1"/>
              </a:buClr>
              <a:buSzPct val="100000"/>
              <a:buChar char="•"/>
            </a:pPr>
            <a:r>
              <a:rPr lang="en-US"/>
              <a:t>plt.title('K-NN (Training set)')</a:t>
            </a:r>
            <a:endParaRPr/>
          </a:p>
          <a:p>
            <a:pPr indent="-228600" lvl="0" marL="228600" rtl="0" algn="l">
              <a:lnSpc>
                <a:spcPct val="90000"/>
              </a:lnSpc>
              <a:spcBef>
                <a:spcPts val="1000"/>
              </a:spcBef>
              <a:spcAft>
                <a:spcPts val="0"/>
              </a:spcAft>
              <a:buClr>
                <a:schemeClr val="dk1"/>
              </a:buClr>
              <a:buSzPct val="100000"/>
              <a:buChar char="•"/>
            </a:pPr>
            <a:r>
              <a:rPr lang="en-US"/>
              <a:t>plt.xlabel('Age')</a:t>
            </a:r>
            <a:endParaRPr/>
          </a:p>
          <a:p>
            <a:pPr indent="-228600" lvl="0" marL="228600" rtl="0" algn="l">
              <a:lnSpc>
                <a:spcPct val="90000"/>
              </a:lnSpc>
              <a:spcBef>
                <a:spcPts val="1000"/>
              </a:spcBef>
              <a:spcAft>
                <a:spcPts val="0"/>
              </a:spcAft>
              <a:buClr>
                <a:schemeClr val="dk1"/>
              </a:buClr>
              <a:buSzPct val="100000"/>
              <a:buChar char="•"/>
            </a:pPr>
            <a:r>
              <a:rPr lang="en-US"/>
              <a:t>plt.ylabel('Estimated Salary')</a:t>
            </a:r>
            <a:endParaRPr/>
          </a:p>
          <a:p>
            <a:pPr indent="-228600" lvl="0" marL="228600" rtl="0" algn="l">
              <a:lnSpc>
                <a:spcPct val="90000"/>
              </a:lnSpc>
              <a:spcBef>
                <a:spcPts val="1000"/>
              </a:spcBef>
              <a:spcAft>
                <a:spcPts val="0"/>
              </a:spcAft>
              <a:buClr>
                <a:schemeClr val="dk1"/>
              </a:buClr>
              <a:buSzPct val="100000"/>
              <a:buChar char="•"/>
            </a:pPr>
            <a:r>
              <a:rPr lang="en-US"/>
              <a:t>plt.legend()</a:t>
            </a:r>
            <a:endParaRPr/>
          </a:p>
          <a:p>
            <a:pPr indent="-228600" lvl="0" marL="228600" rtl="0" algn="l">
              <a:lnSpc>
                <a:spcPct val="90000"/>
              </a:lnSpc>
              <a:spcBef>
                <a:spcPts val="1000"/>
              </a:spcBef>
              <a:spcAft>
                <a:spcPts val="0"/>
              </a:spcAft>
              <a:buClr>
                <a:schemeClr val="dk1"/>
              </a:buClr>
              <a:buSzPct val="100000"/>
              <a:buChar char="•"/>
            </a:pPr>
            <a:r>
              <a:rPr lang="en-US"/>
              <a:t>plt.show()</a:t>
            </a:r>
            <a:endParaRPr/>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Output</a:t>
            </a:r>
            <a:endParaRPr/>
          </a:p>
        </p:txBody>
      </p:sp>
      <p:pic>
        <p:nvPicPr>
          <p:cNvPr id="542" name="Google Shape;542;p33"/>
          <p:cNvPicPr preferRelativeResize="0"/>
          <p:nvPr/>
        </p:nvPicPr>
        <p:blipFill rotWithShape="1">
          <a:blip r:embed="rId3">
            <a:alphaModFix/>
          </a:blip>
          <a:srcRect b="0" l="0" r="0" t="0"/>
          <a:stretch/>
        </p:blipFill>
        <p:spPr>
          <a:xfrm>
            <a:off x="1432561" y="2105024"/>
            <a:ext cx="6601778" cy="4509323"/>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Visualising the Test set results</a:t>
            </a:r>
            <a:br>
              <a:rPr lang="en-US"/>
            </a:br>
            <a:endParaRPr/>
          </a:p>
        </p:txBody>
      </p:sp>
      <p:sp>
        <p:nvSpPr>
          <p:cNvPr id="548" name="Google Shape;548;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228600" lvl="0" marL="228600" rtl="0" algn="l">
              <a:lnSpc>
                <a:spcPct val="90000"/>
              </a:lnSpc>
              <a:spcBef>
                <a:spcPts val="0"/>
              </a:spcBef>
              <a:spcAft>
                <a:spcPts val="0"/>
              </a:spcAft>
              <a:buClr>
                <a:schemeClr val="dk1"/>
              </a:buClr>
              <a:buSzPct val="100000"/>
              <a:buChar char="•"/>
            </a:pPr>
            <a:r>
              <a:rPr lang="en-US"/>
              <a:t>from matplotlib.colors import ListedColormap</a:t>
            </a:r>
            <a:endParaRPr/>
          </a:p>
          <a:p>
            <a:pPr indent="-228600" lvl="0" marL="228600" rtl="0" algn="l">
              <a:lnSpc>
                <a:spcPct val="90000"/>
              </a:lnSpc>
              <a:spcBef>
                <a:spcPts val="1000"/>
              </a:spcBef>
              <a:spcAft>
                <a:spcPts val="0"/>
              </a:spcAft>
              <a:buClr>
                <a:schemeClr val="dk1"/>
              </a:buClr>
              <a:buSzPct val="100000"/>
              <a:buChar char="•"/>
            </a:pPr>
            <a:r>
              <a:rPr lang="en-US"/>
              <a:t>X_set, y_set = sc.inverse_transform(X_test), y_test</a:t>
            </a:r>
            <a:endParaRPr/>
          </a:p>
          <a:p>
            <a:pPr indent="-228600" lvl="0" marL="228600" rtl="0" algn="l">
              <a:lnSpc>
                <a:spcPct val="90000"/>
              </a:lnSpc>
              <a:spcBef>
                <a:spcPts val="1000"/>
              </a:spcBef>
              <a:spcAft>
                <a:spcPts val="0"/>
              </a:spcAft>
              <a:buClr>
                <a:schemeClr val="dk1"/>
              </a:buClr>
              <a:buSzPct val="100000"/>
              <a:buChar char="•"/>
            </a:pPr>
            <a:r>
              <a:rPr lang="en-US"/>
              <a:t>X1, X2 = np.meshgrid(np.arange(start = X_set[:, 0].min() - 10, stop = X_set[:, 0].max() + 10, step = 1),</a:t>
            </a:r>
            <a:endParaRPr/>
          </a:p>
          <a:p>
            <a:pPr indent="-228600" lvl="0" marL="228600" rtl="0" algn="l">
              <a:lnSpc>
                <a:spcPct val="90000"/>
              </a:lnSpc>
              <a:spcBef>
                <a:spcPts val="1000"/>
              </a:spcBef>
              <a:spcAft>
                <a:spcPts val="0"/>
              </a:spcAft>
              <a:buClr>
                <a:schemeClr val="dk1"/>
              </a:buClr>
              <a:buSzPct val="100000"/>
              <a:buChar char="•"/>
            </a:pPr>
            <a:r>
              <a:rPr lang="en-US"/>
              <a:t>                     np.arange(start = X_set[:, 1].min() - 1000, stop = X_set[:, 1].max() + 1000, step = 1))</a:t>
            </a:r>
            <a:endParaRPr/>
          </a:p>
          <a:p>
            <a:pPr indent="-228600" lvl="0" marL="228600" rtl="0" algn="l">
              <a:lnSpc>
                <a:spcPct val="90000"/>
              </a:lnSpc>
              <a:spcBef>
                <a:spcPts val="1000"/>
              </a:spcBef>
              <a:spcAft>
                <a:spcPts val="0"/>
              </a:spcAft>
              <a:buClr>
                <a:schemeClr val="dk1"/>
              </a:buClr>
              <a:buSzPct val="100000"/>
              <a:buChar char="•"/>
            </a:pPr>
            <a:r>
              <a:rPr lang="en-US"/>
              <a:t>plt.contourf(X1, X2, classifier.predict(sc.transform(np.array([X1.ravel(), X2.ravel()]).T)).reshape(X1.shape),</a:t>
            </a:r>
            <a:endParaRPr/>
          </a:p>
          <a:p>
            <a:pPr indent="-228600" lvl="0" marL="228600" rtl="0" algn="l">
              <a:lnSpc>
                <a:spcPct val="90000"/>
              </a:lnSpc>
              <a:spcBef>
                <a:spcPts val="1000"/>
              </a:spcBef>
              <a:spcAft>
                <a:spcPts val="0"/>
              </a:spcAft>
              <a:buClr>
                <a:schemeClr val="dk1"/>
              </a:buClr>
              <a:buSzPct val="100000"/>
              <a:buChar char="•"/>
            </a:pPr>
            <a:r>
              <a:rPr lang="en-US"/>
              <a:t>             alpha = 0.75, cmap = ListedColormap(('red', 'green')))</a:t>
            </a:r>
            <a:endParaRPr/>
          </a:p>
          <a:p>
            <a:pPr indent="-228600" lvl="0" marL="228600" rtl="0" algn="l">
              <a:lnSpc>
                <a:spcPct val="90000"/>
              </a:lnSpc>
              <a:spcBef>
                <a:spcPts val="1000"/>
              </a:spcBef>
              <a:spcAft>
                <a:spcPts val="0"/>
              </a:spcAft>
              <a:buClr>
                <a:schemeClr val="dk1"/>
              </a:buClr>
              <a:buSzPct val="100000"/>
              <a:buChar char="•"/>
            </a:pPr>
            <a:r>
              <a:rPr lang="en-US"/>
              <a:t>plt.xlim(X1.min(), X1.max())</a:t>
            </a:r>
            <a:endParaRPr/>
          </a:p>
          <a:p>
            <a:pPr indent="-228600" lvl="0" marL="228600" rtl="0" algn="l">
              <a:lnSpc>
                <a:spcPct val="90000"/>
              </a:lnSpc>
              <a:spcBef>
                <a:spcPts val="1000"/>
              </a:spcBef>
              <a:spcAft>
                <a:spcPts val="0"/>
              </a:spcAft>
              <a:buClr>
                <a:schemeClr val="dk1"/>
              </a:buClr>
              <a:buSzPct val="100000"/>
              <a:buChar char="•"/>
            </a:pPr>
            <a:r>
              <a:rPr lang="en-US"/>
              <a:t>plt.ylim(X2.min(), X2.max())</a:t>
            </a:r>
            <a:endParaRPr/>
          </a:p>
          <a:p>
            <a:pPr indent="-228600" lvl="0" marL="228600" rtl="0" algn="l">
              <a:lnSpc>
                <a:spcPct val="90000"/>
              </a:lnSpc>
              <a:spcBef>
                <a:spcPts val="1000"/>
              </a:spcBef>
              <a:spcAft>
                <a:spcPts val="0"/>
              </a:spcAft>
              <a:buClr>
                <a:schemeClr val="dk1"/>
              </a:buClr>
              <a:buSzPct val="100000"/>
              <a:buChar char="•"/>
            </a:pPr>
            <a:r>
              <a:rPr lang="en-US"/>
              <a:t>for i, j in enumerate(np.unique(y_set)):</a:t>
            </a:r>
            <a:endParaRPr/>
          </a:p>
          <a:p>
            <a:pPr indent="-228600" lvl="0" marL="228600" rtl="0" algn="l">
              <a:lnSpc>
                <a:spcPct val="90000"/>
              </a:lnSpc>
              <a:spcBef>
                <a:spcPts val="1000"/>
              </a:spcBef>
              <a:spcAft>
                <a:spcPts val="0"/>
              </a:spcAft>
              <a:buClr>
                <a:schemeClr val="dk1"/>
              </a:buClr>
              <a:buSzPct val="100000"/>
              <a:buChar char="•"/>
            </a:pPr>
            <a:r>
              <a:rPr lang="en-US"/>
              <a:t>    plt.scatter(X_set[y_set == j, 0], X_set[y_set == j, 1], c = ListedColormap(('red', 'green'))(i), label = j)</a:t>
            </a:r>
            <a:endParaRPr/>
          </a:p>
          <a:p>
            <a:pPr indent="-228600" lvl="0" marL="228600" rtl="0" algn="l">
              <a:lnSpc>
                <a:spcPct val="90000"/>
              </a:lnSpc>
              <a:spcBef>
                <a:spcPts val="1000"/>
              </a:spcBef>
              <a:spcAft>
                <a:spcPts val="0"/>
              </a:spcAft>
              <a:buClr>
                <a:schemeClr val="dk1"/>
              </a:buClr>
              <a:buSzPct val="100000"/>
              <a:buChar char="•"/>
            </a:pPr>
            <a:r>
              <a:rPr lang="en-US"/>
              <a:t>plt.title('K-NN (Test set)')</a:t>
            </a:r>
            <a:endParaRPr/>
          </a:p>
          <a:p>
            <a:pPr indent="-228600" lvl="0" marL="228600" rtl="0" algn="l">
              <a:lnSpc>
                <a:spcPct val="90000"/>
              </a:lnSpc>
              <a:spcBef>
                <a:spcPts val="1000"/>
              </a:spcBef>
              <a:spcAft>
                <a:spcPts val="0"/>
              </a:spcAft>
              <a:buClr>
                <a:schemeClr val="dk1"/>
              </a:buClr>
              <a:buSzPct val="100000"/>
              <a:buChar char="•"/>
            </a:pPr>
            <a:r>
              <a:rPr lang="en-US"/>
              <a:t>plt.xlabel('Age')</a:t>
            </a:r>
            <a:endParaRPr/>
          </a:p>
          <a:p>
            <a:pPr indent="-228600" lvl="0" marL="228600" rtl="0" algn="l">
              <a:lnSpc>
                <a:spcPct val="90000"/>
              </a:lnSpc>
              <a:spcBef>
                <a:spcPts val="1000"/>
              </a:spcBef>
              <a:spcAft>
                <a:spcPts val="0"/>
              </a:spcAft>
              <a:buClr>
                <a:schemeClr val="dk1"/>
              </a:buClr>
              <a:buSzPct val="100000"/>
              <a:buChar char="•"/>
            </a:pPr>
            <a:r>
              <a:rPr lang="en-US"/>
              <a:t>plt.ylabel('Estimated Salary')</a:t>
            </a:r>
            <a:endParaRPr/>
          </a:p>
          <a:p>
            <a:pPr indent="-228600" lvl="0" marL="228600" rtl="0" algn="l">
              <a:lnSpc>
                <a:spcPct val="90000"/>
              </a:lnSpc>
              <a:spcBef>
                <a:spcPts val="1000"/>
              </a:spcBef>
              <a:spcAft>
                <a:spcPts val="0"/>
              </a:spcAft>
              <a:buClr>
                <a:schemeClr val="dk1"/>
              </a:buClr>
              <a:buSzPct val="100000"/>
              <a:buChar char="•"/>
            </a:pPr>
            <a:r>
              <a:rPr lang="en-US"/>
              <a:t>plt.legend()</a:t>
            </a:r>
            <a:endParaRPr/>
          </a:p>
          <a:p>
            <a:pPr indent="-228600" lvl="0" marL="228600" rtl="0" algn="l">
              <a:lnSpc>
                <a:spcPct val="90000"/>
              </a:lnSpc>
              <a:spcBef>
                <a:spcPts val="1000"/>
              </a:spcBef>
              <a:spcAft>
                <a:spcPts val="0"/>
              </a:spcAft>
              <a:buClr>
                <a:schemeClr val="dk1"/>
              </a:buClr>
              <a:buSzPct val="100000"/>
              <a:buChar char="•"/>
            </a:pPr>
            <a:r>
              <a:rPr lang="en-US"/>
              <a:t>plt.show()</a:t>
            </a:r>
            <a:endParaRPr/>
          </a:p>
          <a:p>
            <a:pPr indent="-13081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Output</a:t>
            </a:r>
            <a:endParaRPr/>
          </a:p>
        </p:txBody>
      </p:sp>
      <p:pic>
        <p:nvPicPr>
          <p:cNvPr id="554" name="Google Shape;554;p35"/>
          <p:cNvPicPr preferRelativeResize="0"/>
          <p:nvPr/>
        </p:nvPicPr>
        <p:blipFill rotWithShape="1">
          <a:blip r:embed="rId3">
            <a:alphaModFix/>
          </a:blip>
          <a:srcRect b="0" l="0" r="0" t="0"/>
          <a:stretch/>
        </p:blipFill>
        <p:spPr>
          <a:xfrm>
            <a:off x="2712721" y="2105025"/>
            <a:ext cx="5321618" cy="36349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2021-03-30T08:42:34Z</dcterms:created>
  <dc:creator>Lenovo</dc:creator>
</cp:coreProperties>
</file>