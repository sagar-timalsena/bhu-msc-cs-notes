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hBDC2QQymr1iHmcJE3iDwOIUkB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BCDFD2-04ED-435E-B8E2-6AA0E42AF1EF}" v="1" dt="2025-11-02T18:35:20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ari Gupta" userId="3b377422717859a0" providerId="LiveId" clId="{AC35B0E4-3BBD-4B2D-968D-78B61A52151B}"/>
    <pc:docChg chg="custSel addSld delSld modSld">
      <pc:chgData name="Manjari Gupta" userId="3b377422717859a0" providerId="LiveId" clId="{AC35B0E4-3BBD-4B2D-968D-78B61A52151B}" dt="2025-11-02T18:35:20.717" v="6"/>
      <pc:docMkLst>
        <pc:docMk/>
      </pc:docMkLst>
      <pc:sldChg chg="addSp delSp modSp mod">
        <pc:chgData name="Manjari Gupta" userId="3b377422717859a0" providerId="LiveId" clId="{AC35B0E4-3BBD-4B2D-968D-78B61A52151B}" dt="2025-11-02T18:34:58.635" v="4" actId="478"/>
        <pc:sldMkLst>
          <pc:docMk/>
          <pc:sldMk cId="0" sldId="256"/>
        </pc:sldMkLst>
        <pc:spChg chg="add del mod">
          <ac:chgData name="Manjari Gupta" userId="3b377422717859a0" providerId="LiveId" clId="{AC35B0E4-3BBD-4B2D-968D-78B61A52151B}" dt="2025-11-02T18:34:52.176" v="1" actId="478"/>
          <ac:spMkLst>
            <pc:docMk/>
            <pc:sldMk cId="0" sldId="256"/>
            <ac:spMk id="3" creationId="{2FC6D5D7-3314-E5EF-49C5-802EEFA6267E}"/>
          </ac:spMkLst>
        </pc:spChg>
        <pc:spChg chg="del">
          <ac:chgData name="Manjari Gupta" userId="3b377422717859a0" providerId="LiveId" clId="{AC35B0E4-3BBD-4B2D-968D-78B61A52151B}" dt="2025-11-02T18:34:49.002" v="0" actId="478"/>
          <ac:spMkLst>
            <pc:docMk/>
            <pc:sldMk cId="0" sldId="256"/>
            <ac:spMk id="60" creationId="{00000000-0000-0000-0000-000000000000}"/>
          </ac:spMkLst>
        </pc:spChg>
        <pc:spChg chg="mod">
          <ac:chgData name="Manjari Gupta" userId="3b377422717859a0" providerId="LiveId" clId="{AC35B0E4-3BBD-4B2D-968D-78B61A52151B}" dt="2025-11-02T18:34:56.433" v="3" actId="122"/>
          <ac:spMkLst>
            <pc:docMk/>
            <pc:sldMk cId="0" sldId="256"/>
            <ac:spMk id="61" creationId="{00000000-0000-0000-0000-000000000000}"/>
          </ac:spMkLst>
        </pc:spChg>
        <pc:spChg chg="del">
          <ac:chgData name="Manjari Gupta" userId="3b377422717859a0" providerId="LiveId" clId="{AC35B0E4-3BBD-4B2D-968D-78B61A52151B}" dt="2025-11-02T18:34:58.635" v="4" actId="478"/>
          <ac:spMkLst>
            <pc:docMk/>
            <pc:sldMk cId="0" sldId="256"/>
            <ac:spMk id="62" creationId="{00000000-0000-0000-0000-000000000000}"/>
          </ac:spMkLst>
        </pc:spChg>
      </pc:sldChg>
      <pc:sldChg chg="add del">
        <pc:chgData name="Manjari Gupta" userId="3b377422717859a0" providerId="LiveId" clId="{AC35B0E4-3BBD-4B2D-968D-78B61A52151B}" dt="2025-11-02T18:35:20.717" v="6"/>
        <pc:sldMkLst>
          <pc:docMk/>
          <pc:sldMk cId="0" sldId="262"/>
        </pc:sldMkLst>
      </pc:sldChg>
      <pc:sldChg chg="add">
        <pc:chgData name="Manjari Gupta" userId="3b377422717859a0" providerId="LiveId" clId="{AC35B0E4-3BBD-4B2D-968D-78B61A52151B}" dt="2025-11-02T18:35:20.717" v="6"/>
        <pc:sldMkLst>
          <pc:docMk/>
          <pc:sldMk cId="0" sldId="263"/>
        </pc:sldMkLst>
      </pc:sldChg>
      <pc:sldChg chg="add">
        <pc:chgData name="Manjari Gupta" userId="3b377422717859a0" providerId="LiveId" clId="{AC35B0E4-3BBD-4B2D-968D-78B61A52151B}" dt="2025-11-02T18:35:20.717" v="6"/>
        <pc:sldMkLst>
          <pc:docMk/>
          <pc:sldMk cId="0" sldId="264"/>
        </pc:sldMkLst>
      </pc:sldChg>
      <pc:sldChg chg="add">
        <pc:chgData name="Manjari Gupta" userId="3b377422717859a0" providerId="LiveId" clId="{AC35B0E4-3BBD-4B2D-968D-78B61A52151B}" dt="2025-11-02T18:35:20.717" v="6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" name="Google Shape;6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1350169" y="2226677"/>
            <a:ext cx="59898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>
                <a:solidFill>
                  <a:srgbClr val="FF0000"/>
                </a:solidFill>
              </a:rPr>
              <a:t>How to evaluate a prediction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1"/>
          </p:nvPr>
        </p:nvSpPr>
        <p:spPr>
          <a:xfrm>
            <a:off x="221567" y="1086730"/>
            <a:ext cx="7396200" cy="3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254000" lvl="0" indent="-23939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h(x) = y hat</a:t>
            </a:r>
            <a:endParaRPr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Y is the actual value</a:t>
            </a:r>
            <a:endParaRPr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Error if both are different</a:t>
            </a:r>
            <a:endParaRPr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To measure error</a:t>
            </a:r>
            <a:endParaRPr>
              <a:solidFill>
                <a:srgbClr val="0B5394"/>
              </a:solidFill>
            </a:endParaRPr>
          </a:p>
          <a:p>
            <a:pPr marL="558800" lvl="1" indent="-1968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1428"/>
              <a:buChar char="○"/>
            </a:pPr>
            <a:r>
              <a:rPr lang="en">
                <a:solidFill>
                  <a:srgbClr val="0B5394"/>
                </a:solidFill>
              </a:rPr>
              <a:t>Absolute error</a:t>
            </a:r>
            <a:endParaRPr>
              <a:solidFill>
                <a:srgbClr val="0B5394"/>
              </a:solidFill>
            </a:endParaRPr>
          </a:p>
          <a:p>
            <a:pPr marL="863600" lvl="2" indent="-16255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57142"/>
              <a:buChar char="■"/>
            </a:pPr>
            <a:r>
              <a:rPr lang="en">
                <a:solidFill>
                  <a:srgbClr val="0B5394"/>
                </a:solidFill>
              </a:rPr>
              <a:t>on a single training example |h(x)-y|</a:t>
            </a:r>
            <a:endParaRPr>
              <a:solidFill>
                <a:srgbClr val="0B5394"/>
              </a:solidFill>
            </a:endParaRPr>
          </a:p>
          <a:p>
            <a:pPr marL="863600" lvl="2" indent="-16255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57142"/>
              <a:buChar char="■"/>
            </a:pPr>
            <a:r>
              <a:rPr lang="en">
                <a:solidFill>
                  <a:srgbClr val="0B5394"/>
                </a:solidFill>
              </a:rPr>
              <a:t>On multiple training example 1/n </a:t>
            </a:r>
            <a:r>
              <a:rPr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∑</a:t>
            </a:r>
            <a:r>
              <a:rPr lang="en">
                <a:solidFill>
                  <a:srgbClr val="0B5394"/>
                </a:solidFill>
              </a:rPr>
              <a:t>|h(x)-y|</a:t>
            </a:r>
            <a:endParaRPr>
              <a:solidFill>
                <a:srgbClr val="0B5394"/>
              </a:solidFill>
            </a:endParaRPr>
          </a:p>
          <a:p>
            <a:pPr marL="558800" lvl="1" indent="-1968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1428"/>
              <a:buChar char="○"/>
            </a:pPr>
            <a:r>
              <a:rPr lang="en">
                <a:solidFill>
                  <a:srgbClr val="0B5394"/>
                </a:solidFill>
              </a:rPr>
              <a:t>Sum of squares error </a:t>
            </a:r>
            <a:endParaRPr>
              <a:solidFill>
                <a:srgbClr val="0B5394"/>
              </a:solidFill>
            </a:endParaRPr>
          </a:p>
          <a:p>
            <a:pPr marL="863600" lvl="2" indent="-16255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57142"/>
              <a:buChar char="■"/>
            </a:pPr>
            <a:r>
              <a:rPr lang="en">
                <a:solidFill>
                  <a:srgbClr val="0B5394"/>
                </a:solidFill>
              </a:rPr>
              <a:t>1/n </a:t>
            </a:r>
            <a:r>
              <a:rPr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∑ (</a:t>
            </a:r>
            <a:r>
              <a:rPr lang="en">
                <a:solidFill>
                  <a:srgbClr val="0B5394"/>
                </a:solidFill>
              </a:rPr>
              <a:t>h(x)-y)</a:t>
            </a:r>
            <a:r>
              <a:rPr lang="en" baseline="30000">
                <a:solidFill>
                  <a:srgbClr val="0B5394"/>
                </a:solidFill>
              </a:rPr>
              <a:t>2</a:t>
            </a:r>
            <a:endParaRPr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These absolute and sum of squares error are specially useful in case of regression</a:t>
            </a:r>
            <a:endParaRPr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For classification we look at the number of misclassifications </a:t>
            </a:r>
            <a:endParaRPr>
              <a:solidFill>
                <a:srgbClr val="0B5394"/>
              </a:solidFill>
            </a:endParaRPr>
          </a:p>
          <a:p>
            <a:pPr marL="558800" lvl="1" indent="-1968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1428"/>
              <a:buChar char="○"/>
            </a:pPr>
            <a:r>
              <a:rPr lang="en">
                <a:solidFill>
                  <a:srgbClr val="0B5394"/>
                </a:solidFill>
              </a:rPr>
              <a:t>1/n </a:t>
            </a:r>
            <a:r>
              <a:rPr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∑ δ (</a:t>
            </a:r>
            <a:r>
              <a:rPr lang="en">
                <a:solidFill>
                  <a:srgbClr val="0B5394"/>
                </a:solidFill>
              </a:rPr>
              <a:t>h(x), y) where </a:t>
            </a:r>
            <a:r>
              <a:rPr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(</a:t>
            </a:r>
            <a:r>
              <a:rPr lang="en">
                <a:solidFill>
                  <a:srgbClr val="0B5394"/>
                </a:solidFill>
              </a:rPr>
              <a:t>h(x), y) is 0 if h(x) and y are same and 1 if they are same</a:t>
            </a:r>
            <a:endParaRPr>
              <a:solidFill>
                <a:srgbClr val="0B5394"/>
              </a:solidFill>
            </a:endParaRPr>
          </a:p>
          <a:p>
            <a:pPr marL="558800" lvl="1" indent="-152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71428"/>
              <a:buNone/>
            </a:pPr>
            <a:endParaRPr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>
                <a:solidFill>
                  <a:srgbClr val="FF0000"/>
                </a:solidFill>
              </a:rPr>
              <a:t>Confusion matrix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394390" y="1059322"/>
            <a:ext cx="6447600" cy="2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lang="en">
                <a:solidFill>
                  <a:srgbClr val="0B5394"/>
                </a:solidFill>
              </a:rPr>
              <a:t>In case of classification problem it is helpful</a:t>
            </a:r>
            <a:endParaRPr>
              <a:solidFill>
                <a:srgbClr val="0B5394"/>
              </a:solidFill>
            </a:endParaRPr>
          </a:p>
          <a:p>
            <a:pPr marL="254000" lvl="0" indent="-2540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lang="en">
                <a:solidFill>
                  <a:srgbClr val="0B5394"/>
                </a:solidFill>
              </a:rPr>
              <a:t>For three class classification</a:t>
            </a:r>
            <a:endParaRPr>
              <a:solidFill>
                <a:srgbClr val="0B5394"/>
              </a:solidFill>
            </a:endParaRPr>
          </a:p>
          <a:p>
            <a:pPr marL="558800" lvl="1" indent="-215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ts val="1000"/>
              <a:buChar char="○"/>
            </a:pPr>
            <a:r>
              <a:rPr lang="en">
                <a:solidFill>
                  <a:srgbClr val="0B5394"/>
                </a:solidFill>
              </a:rPr>
              <a:t>3x3 matrix</a:t>
            </a:r>
            <a:endParaRPr>
              <a:solidFill>
                <a:srgbClr val="0B5394"/>
              </a:solidFill>
            </a:endParaRPr>
          </a:p>
          <a:p>
            <a:pPr marL="558800" lvl="1" indent="-215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ts val="1000"/>
              <a:buChar char="○"/>
            </a:pPr>
            <a:r>
              <a:rPr lang="en">
                <a:solidFill>
                  <a:srgbClr val="0B5394"/>
                </a:solidFill>
              </a:rPr>
              <a:t>Diagonal entries are where the learning algorithm is giving the correct results</a:t>
            </a:r>
            <a:endParaRPr>
              <a:solidFill>
                <a:srgbClr val="0B5394"/>
              </a:solidFill>
            </a:endParaRPr>
          </a:p>
          <a:p>
            <a:pPr marL="558800" lvl="1" indent="-215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ts val="1000"/>
              <a:buChar char="○"/>
            </a:pPr>
            <a:r>
              <a:rPr lang="en">
                <a:solidFill>
                  <a:srgbClr val="0B5394"/>
                </a:solidFill>
              </a:rPr>
              <a:t>Non-diagonal entries are where the learning algorithm is given the non correct results</a:t>
            </a:r>
            <a:endParaRPr>
              <a:solidFill>
                <a:srgbClr val="0B5394"/>
              </a:solidFill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0803" y="2505135"/>
            <a:ext cx="3271745" cy="21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>
                <a:solidFill>
                  <a:srgbClr val="FF0000"/>
                </a:solidFill>
              </a:rPr>
              <a:t>Other evaluation metrics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318087" y="1118381"/>
            <a:ext cx="6447600" cy="3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62500" lnSpcReduction="20000"/>
          </a:bodyPr>
          <a:lstStyle/>
          <a:p>
            <a:pPr marL="254000" lvl="0" indent="-2341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dirty="0">
              <a:solidFill>
                <a:srgbClr val="0B5394"/>
              </a:solidFill>
            </a:endParaRPr>
          </a:p>
          <a:p>
            <a:pPr marL="558800" lvl="1" indent="-196087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Char char="○"/>
            </a:pPr>
            <a:r>
              <a:rPr lang="en" sz="11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Correct examples out of all examples</a:t>
            </a:r>
            <a:endParaRPr sz="1100" dirty="0">
              <a:solidFill>
                <a:srgbClr val="0B5394"/>
              </a:solidFill>
            </a:endParaRPr>
          </a:p>
          <a:p>
            <a:pPr marL="558800" lvl="1" indent="-196087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Char char="○"/>
            </a:pPr>
            <a:r>
              <a:rPr lang="en" sz="11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(TP +TN)/ (TP+TN+FP+FN)</a:t>
            </a:r>
            <a:endParaRPr sz="1100" dirty="0">
              <a:solidFill>
                <a:srgbClr val="0B5394"/>
              </a:solidFill>
            </a:endParaRPr>
          </a:p>
          <a:p>
            <a:pPr marL="254000" lvl="0" indent="-234156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dirty="0">
              <a:solidFill>
                <a:srgbClr val="0B5394"/>
              </a:solidFill>
            </a:endParaRPr>
          </a:p>
          <a:p>
            <a:pPr marL="558800" lvl="1" indent="-196087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Char char="○"/>
            </a:pPr>
            <a:r>
              <a:rPr lang="en" sz="11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Accuracy of positive predictions</a:t>
            </a:r>
            <a:endParaRPr sz="1100" dirty="0">
              <a:solidFill>
                <a:srgbClr val="0B5394"/>
              </a:solidFill>
            </a:endParaRPr>
          </a:p>
          <a:p>
            <a:pPr marL="558800" lvl="1" indent="-196087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Char char="○"/>
            </a:pPr>
            <a:r>
              <a:rPr lang="en" sz="11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TP/(TP+FP)</a:t>
            </a:r>
            <a:endParaRPr sz="1100" dirty="0">
              <a:solidFill>
                <a:srgbClr val="0B5394"/>
              </a:solidFill>
            </a:endParaRPr>
          </a:p>
          <a:p>
            <a:pPr marL="558800" lvl="1" indent="-196087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Char char="○"/>
            </a:pPr>
            <a:r>
              <a:rPr lang="en" sz="11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 trivial way to have perfect precision is</a:t>
            </a:r>
            <a:endParaRPr sz="1100" dirty="0">
              <a:solidFill>
                <a:srgbClr val="0B5394"/>
              </a:solidFill>
            </a:endParaRPr>
          </a:p>
          <a:p>
            <a:pPr marL="863600" lvl="2" indent="-170656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8571"/>
              <a:buChar char="■"/>
            </a:pPr>
            <a:r>
              <a:rPr lang="en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To make one single positive prediction and ensure it is correct precision=(1/1=100%)</a:t>
            </a:r>
            <a:endParaRPr dirty="0">
              <a:solidFill>
                <a:srgbClr val="0B5394"/>
              </a:solidFill>
            </a:endParaRPr>
          </a:p>
          <a:p>
            <a:pPr marL="254000" lvl="0" indent="-242124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Char char="●"/>
            </a:pPr>
            <a:r>
              <a:rPr lang="en" sz="13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Recall/ Sensitivity/ true positive rate (TPR)</a:t>
            </a:r>
            <a:endParaRPr sz="1300" dirty="0">
              <a:solidFill>
                <a:srgbClr val="0B5394"/>
              </a:solidFill>
            </a:endParaRPr>
          </a:p>
          <a:p>
            <a:pPr marL="558800" lvl="1" indent="-20002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Font typeface="Arial"/>
              <a:buChar char="○"/>
            </a:pPr>
            <a:r>
              <a:rPr lang="en" sz="12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Ratio/proportion of positive instances that are correctly predicted by the classifier.</a:t>
            </a:r>
            <a:endParaRPr sz="12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lvl="1" indent="-20002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Font typeface="Arial"/>
              <a:buChar char="○"/>
            </a:pPr>
            <a:r>
              <a:rPr lang="en" sz="12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TP/ (TP+FN)= (TP/P)</a:t>
            </a:r>
            <a:endParaRPr sz="12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0" lvl="0" indent="-242124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Font typeface="Arial"/>
              <a:buChar char="●"/>
            </a:pPr>
            <a:r>
              <a:rPr lang="en" sz="13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Specificity/ True negative rate (TNR)</a:t>
            </a:r>
            <a:endParaRPr sz="13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lvl="1" indent="-20002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Char char="○"/>
            </a:pPr>
            <a:r>
              <a:rPr lang="en" sz="12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Ratio/</a:t>
            </a:r>
            <a:r>
              <a:rPr lang="en" sz="1200" i="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proportion of true negatives that are correctly predicted by the model</a:t>
            </a:r>
            <a:endParaRPr sz="12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lvl="1" indent="-20002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Char char="○"/>
            </a:pPr>
            <a:r>
              <a:rPr lang="en" sz="1200" i="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TN/(TN + FP)= (TN/N)</a:t>
            </a:r>
            <a:endParaRPr sz="12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0" lvl="0" indent="-242124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Font typeface="Arial"/>
              <a:buChar char="●"/>
            </a:pPr>
            <a:r>
              <a:rPr lang="en" sz="1300" dirty="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False Positive rate  (FPR)</a:t>
            </a:r>
            <a:endParaRPr sz="13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lvl="1" indent="-196087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Font typeface="Arial"/>
              <a:buChar char="○"/>
            </a:pPr>
            <a:r>
              <a:rPr lang="en" sz="1100" dirty="0">
                <a:solidFill>
                  <a:srgbClr val="0B539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Ratio/proportion of actual negative cases that are incorrectly predicted as positive by the classifier</a:t>
            </a:r>
            <a:endParaRPr sz="1100" dirty="0">
              <a:solidFill>
                <a:srgbClr val="0B539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58800" lvl="1" indent="-196087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100000"/>
              <a:buFont typeface="Arial"/>
              <a:buChar char="○"/>
            </a:pPr>
            <a:r>
              <a:rPr lang="en" sz="1100" dirty="0">
                <a:solidFill>
                  <a:srgbClr val="0B539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FP/ (FP + TN)= (FP/N)</a:t>
            </a:r>
            <a:endParaRPr sz="1100" dirty="0">
              <a:solidFill>
                <a:srgbClr val="0B5394"/>
              </a:solidFill>
            </a:endParaRPr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4499" y="371475"/>
            <a:ext cx="3221831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>
                <a:solidFill>
                  <a:srgbClr val="FF0000"/>
                </a:solidFill>
              </a:rPr>
              <a:t>Other evaluation metrics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254000" lvl="0" indent="-2446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F1 score</a:t>
            </a:r>
            <a:endParaRPr>
              <a:solidFill>
                <a:srgbClr val="0B5394"/>
              </a:solidFill>
            </a:endParaRPr>
          </a:p>
          <a:p>
            <a:pPr marL="558800" lvl="1" indent="-201611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1428"/>
              <a:buChar char="○"/>
            </a:pPr>
            <a:r>
              <a:rPr lang="en">
                <a:solidFill>
                  <a:srgbClr val="0B5394"/>
                </a:solidFill>
              </a:rPr>
              <a:t>Combines precision and recall to a simple way to compare two classifiers.</a:t>
            </a:r>
            <a:endParaRPr>
              <a:solidFill>
                <a:srgbClr val="0B5394"/>
              </a:solidFill>
            </a:endParaRPr>
          </a:p>
          <a:p>
            <a:pPr marL="558800" lvl="1" indent="-201611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1428"/>
              <a:buChar char="○"/>
            </a:pPr>
            <a:r>
              <a:rPr lang="en">
                <a:solidFill>
                  <a:srgbClr val="0B5394"/>
                </a:solidFill>
              </a:rPr>
              <a:t>Harmonic mean of precision and recall.</a:t>
            </a:r>
            <a:endParaRPr>
              <a:solidFill>
                <a:srgbClr val="0B5394"/>
              </a:solidFill>
            </a:endParaRPr>
          </a:p>
          <a:p>
            <a:pPr marL="558800" lvl="1" indent="-201611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1428"/>
              <a:buChar char="○"/>
            </a:pPr>
            <a:r>
              <a:rPr lang="en">
                <a:solidFill>
                  <a:srgbClr val="0B5394"/>
                </a:solidFill>
              </a:rPr>
              <a:t>favours classifiers that have similar precision and recall.</a:t>
            </a:r>
            <a:endParaRPr>
              <a:solidFill>
                <a:srgbClr val="0B5394"/>
              </a:solidFill>
            </a:endParaRPr>
          </a:p>
          <a:p>
            <a:pPr marL="254000" lvl="0" indent="-244632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Whereas the regular mean treats all values equally, the harmonic mean gives much more weight to low values.</a:t>
            </a:r>
            <a:endParaRPr>
              <a:solidFill>
                <a:srgbClr val="0B5394"/>
              </a:solidFill>
            </a:endParaRPr>
          </a:p>
          <a:p>
            <a:pPr marL="254000" lvl="0" indent="-244632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As a result, the classifier will only get high F1 score if both precision and recall are high.</a:t>
            </a:r>
            <a:endParaRPr>
              <a:solidFill>
                <a:srgbClr val="0B5394"/>
              </a:solidFill>
            </a:endParaRPr>
          </a:p>
          <a:p>
            <a:pPr marL="254000" lvl="0" indent="-244632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>
                <a:solidFill>
                  <a:srgbClr val="0B5394"/>
                </a:solidFill>
              </a:rPr>
              <a:t>F1= 2/((1/Precision)+(1/Recall))= 2. [(Precision.Recall)/(Precision+Recall)]</a:t>
            </a:r>
            <a:endParaRPr>
              <a:solidFill>
                <a:srgbClr val="0B5394"/>
              </a:solidFill>
            </a:endParaRPr>
          </a:p>
          <a:p>
            <a:pPr marL="254000" lvl="0" indent="-190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61110"/>
              <a:buNone/>
            </a:pPr>
            <a:endParaRPr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>
                <a:solidFill>
                  <a:srgbClr val="FF0000"/>
                </a:solidFill>
              </a:rPr>
              <a:t>Precision-Recall tradeoff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0000" lnSpcReduction="20000"/>
          </a:bodyPr>
          <a:lstStyle/>
          <a:p>
            <a:pPr marL="254000" lvl="0" indent="-23939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 dirty="0">
                <a:solidFill>
                  <a:srgbClr val="0B5394"/>
                </a:solidFill>
              </a:rPr>
              <a:t>F1 favours classifiers that have similar precision and recall.</a:t>
            </a:r>
            <a:endParaRPr dirty="0"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 dirty="0">
                <a:solidFill>
                  <a:srgbClr val="0B5394"/>
                </a:solidFill>
              </a:rPr>
              <a:t>Many times we don’t want both Precision and Recall to be high</a:t>
            </a:r>
            <a:endParaRPr dirty="0"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 dirty="0">
                <a:solidFill>
                  <a:srgbClr val="0B5394"/>
                </a:solidFill>
              </a:rPr>
              <a:t>Sometimes we mostly care about precision, and in other contexts we really care about recall.</a:t>
            </a:r>
            <a:endParaRPr dirty="0"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 dirty="0">
                <a:solidFill>
                  <a:srgbClr val="0B5394"/>
                </a:solidFill>
              </a:rPr>
              <a:t>Example: </a:t>
            </a:r>
            <a:endParaRPr dirty="0">
              <a:solidFill>
                <a:srgbClr val="0B5394"/>
              </a:solidFill>
            </a:endParaRPr>
          </a:p>
          <a:p>
            <a:pPr marL="558800" lvl="1" indent="-1968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1428"/>
              <a:buChar char="○"/>
            </a:pPr>
            <a:r>
              <a:rPr lang="en" dirty="0">
                <a:solidFill>
                  <a:srgbClr val="0B5394"/>
                </a:solidFill>
              </a:rPr>
              <a:t>classifier to detect videos that are safe for kids</a:t>
            </a:r>
            <a:endParaRPr dirty="0">
              <a:solidFill>
                <a:srgbClr val="0B5394"/>
              </a:solidFill>
            </a:endParaRPr>
          </a:p>
          <a:p>
            <a:pPr marL="863600" lvl="2" indent="-16255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57142"/>
              <a:buChar char="■"/>
            </a:pPr>
            <a:r>
              <a:rPr lang="en" dirty="0">
                <a:solidFill>
                  <a:srgbClr val="0B5394"/>
                </a:solidFill>
              </a:rPr>
              <a:t>We want a classifier with High precision and don’t want a classifier with high recall </a:t>
            </a:r>
            <a:r>
              <a:rPr lang="en" dirty="0" smtClean="0">
                <a:solidFill>
                  <a:srgbClr val="0B5394"/>
                </a:solidFill>
              </a:rPr>
              <a:t>(we want 0 False positives) (in this case positive is –safe video)</a:t>
            </a:r>
            <a:endParaRPr dirty="0">
              <a:solidFill>
                <a:srgbClr val="0B5394"/>
              </a:solidFill>
            </a:endParaRPr>
          </a:p>
          <a:p>
            <a:pPr marL="558800" lvl="1" indent="-1968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71428"/>
              <a:buChar char="○"/>
            </a:pPr>
            <a:r>
              <a:rPr lang="en" dirty="0">
                <a:solidFill>
                  <a:srgbClr val="0B5394"/>
                </a:solidFill>
              </a:rPr>
              <a:t>Classifier to detect shoplifters on surveillance images</a:t>
            </a:r>
            <a:endParaRPr dirty="0">
              <a:solidFill>
                <a:srgbClr val="0B5394"/>
              </a:solidFill>
            </a:endParaRPr>
          </a:p>
          <a:p>
            <a:pPr marL="863600" lvl="2" indent="-16255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57142"/>
              <a:buChar char="■"/>
            </a:pPr>
            <a:r>
              <a:rPr lang="en" dirty="0">
                <a:solidFill>
                  <a:srgbClr val="0B5394"/>
                </a:solidFill>
              </a:rPr>
              <a:t>Classifier with low precision (the security guard will get a few false alerts) but high recall (almost all shoplifters will get caught) would be </a:t>
            </a:r>
            <a:r>
              <a:rPr lang="en" dirty="0" smtClean="0">
                <a:solidFill>
                  <a:srgbClr val="0B5394"/>
                </a:solidFill>
              </a:rPr>
              <a:t>fine (We want 0 False negative)</a:t>
            </a:r>
            <a:endParaRPr dirty="0">
              <a:solidFill>
                <a:srgbClr val="0B5394"/>
              </a:solidFill>
            </a:endParaRPr>
          </a:p>
          <a:p>
            <a:pPr marL="254000" lvl="0" indent="-239395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ct val="61110"/>
              <a:buChar char="●"/>
            </a:pPr>
            <a:r>
              <a:rPr lang="en" dirty="0">
                <a:solidFill>
                  <a:srgbClr val="0B5394"/>
                </a:solidFill>
              </a:rPr>
              <a:t>Unfortunately, you can’t have it both ways: increasing one will reduce the other.</a:t>
            </a:r>
            <a:endParaRPr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2000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Receiver Operating Characteristic (ROC) curve</a:t>
            </a:r>
            <a:endParaRPr sz="3800">
              <a:solidFill>
                <a:srgbClr val="FF0000"/>
              </a:solidFill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body" idx="1"/>
          </p:nvPr>
        </p:nvSpPr>
        <p:spPr>
          <a:xfrm>
            <a:off x="507994" y="1059882"/>
            <a:ext cx="7893486" cy="3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603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ROC curve is generated by plotting the TPR (sensitivity or recall) against the FPR at various classification threshold settings</a:t>
            </a:r>
            <a:endParaRPr sz="15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Classification threshold</a:t>
            </a:r>
            <a:endParaRPr sz="15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685800" lvl="1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model usually assigns a probability score or a continuous value to each instance, indicating the likelihood of it belonging to one of the classes. </a:t>
            </a:r>
            <a:endParaRPr sz="14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685800" lvl="1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 make a binary decision, this continuous value needs to be converted into a discrete decision, typically by choosing a threshold.</a:t>
            </a:r>
            <a:endParaRPr sz="14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685800" lvl="1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example, if the threshold is set at 0.5, </a:t>
            </a:r>
            <a:endParaRPr sz="14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028700" lvl="2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■"/>
            </a:pPr>
            <a:r>
              <a:rPr lang="en" sz="14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any instance with a predicted probability above 0.5 would be classified as positive, and </a:t>
            </a:r>
            <a:endParaRPr sz="14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028700" lvl="2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■"/>
            </a:pPr>
            <a:r>
              <a:rPr lang="en" sz="14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any instance with a predicted probability below 0.5 would be classified as negative. </a:t>
            </a:r>
            <a:endParaRPr sz="14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685800" lvl="1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Adjusting this threshold affects the trade-off between the true positive rate (sensitivity) and the false positive rate (1-specificity) and consequently affects the shape of the ROC curve</a:t>
            </a:r>
            <a:endParaRPr sz="14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200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Receiver Operating Characteristic (ROC) curve</a:t>
            </a:r>
            <a:endParaRPr/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1000" y="1216838"/>
            <a:ext cx="3707569" cy="3430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2000">
                <a:solidFill>
                  <a:srgbClr val="FF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AUC </a:t>
            </a:r>
            <a:r>
              <a:rPr lang="en" sz="1700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(Area under the ROC Curve)</a:t>
            </a:r>
            <a:endParaRPr sz="3500">
              <a:solidFill>
                <a:srgbClr val="FF0000"/>
              </a:solidFill>
            </a:endParaRPr>
          </a:p>
        </p:txBody>
      </p:sp>
      <p:sp>
        <p:nvSpPr>
          <p:cNvPr id="83" name="Google Shape;83;p4"/>
          <p:cNvSpPr txBox="1">
            <a:spLocks noGrp="1"/>
          </p:cNvSpPr>
          <p:nvPr>
            <p:ph type="body" idx="1"/>
          </p:nvPr>
        </p:nvSpPr>
        <p:spPr>
          <a:xfrm>
            <a:off x="507994" y="1180932"/>
            <a:ext cx="6447600" cy="3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603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perfect classifier would have an ROC curve that passes through the top-left corner of the plot (TPR = 1, FPR = 0), indicating high sensitivity and specificity.</a:t>
            </a:r>
            <a:endParaRPr sz="1500">
              <a:solidFill>
                <a:srgbClr val="0B539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area under the ROC curve (AUC) is a commonly used metric to quantify the overall performance of the classifier. </a:t>
            </a:r>
            <a:endParaRPr sz="1500">
              <a:solidFill>
                <a:srgbClr val="0B539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AUC provides an aggregate measure of performance across all possible classification thresholds. </a:t>
            </a:r>
            <a:endParaRPr sz="15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AUC ranges in value from 0 to 1. </a:t>
            </a:r>
            <a:endParaRPr sz="1500">
              <a:solidFill>
                <a:srgbClr val="0B539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perfect classifier would have an AUC of 1</a:t>
            </a:r>
            <a:endParaRPr sz="1500">
              <a:solidFill>
                <a:srgbClr val="0B539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model whose predictions are 100% wrong has an AUC of 0.0</a:t>
            </a:r>
            <a:endParaRPr sz="1500">
              <a:solidFill>
                <a:srgbClr val="0B539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random classifier would have an AUC of 0.5. </a:t>
            </a:r>
            <a:endParaRPr sz="1500">
              <a:solidFill>
                <a:srgbClr val="0B539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B539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higher AUC indicates better overall performance of the classifier across all possible thresholds.</a:t>
            </a:r>
            <a:endParaRPr sz="1500">
              <a:solidFill>
                <a:srgbClr val="0B539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500">
              <a:solidFill>
                <a:srgbClr val="0B539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500"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9894" y="1562175"/>
            <a:ext cx="1959806" cy="1690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817</Words>
  <Application>Microsoft Office PowerPoint</Application>
  <PresentationFormat>On-screen Show (16:9)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Roboto</vt:lpstr>
      <vt:lpstr>Times New Roman</vt:lpstr>
      <vt:lpstr>Trebuchet MS</vt:lpstr>
      <vt:lpstr>Simple Light</vt:lpstr>
      <vt:lpstr>PowerPoint Presentation</vt:lpstr>
      <vt:lpstr>How to evaluate a prediction</vt:lpstr>
      <vt:lpstr>Confusion matrix</vt:lpstr>
      <vt:lpstr>Other evaluation metrics</vt:lpstr>
      <vt:lpstr>Other evaluation metrics</vt:lpstr>
      <vt:lpstr>Precision-Recall tradeoff</vt:lpstr>
      <vt:lpstr>Receiver Operating Characteristic (ROC) curve</vt:lpstr>
      <vt:lpstr>Receiver Operating Characteristic (ROC) curve</vt:lpstr>
      <vt:lpstr>AUC (Area under the ROC Curve)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3</cp:revision>
  <dcterms:modified xsi:type="dcterms:W3CDTF">2025-11-08T08:32:42Z</dcterms:modified>
</cp:coreProperties>
</file>