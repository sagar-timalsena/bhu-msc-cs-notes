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3" r:id="rId6"/>
    <p:sldId id="258" r:id="rId7"/>
    <p:sldId id="265" r:id="rId8"/>
    <p:sldId id="259" r:id="rId9"/>
    <p:sldId id="264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VqKAvFDWEk6wnQq3Znm9Q0CIG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16A6C-4ED9-4456-AF5F-FC310338A7EE}" v="29" dt="2025-11-10T17:59:01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-314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jari Gupta" userId="3b377422717859a0" providerId="LiveId" clId="{AC35B0E4-3BBD-4B2D-968D-78B61A52151B}"/>
    <pc:docChg chg="undo custSel addSld delSld modSld">
      <pc:chgData name="Manjari Gupta" userId="3b377422717859a0" providerId="LiveId" clId="{AC35B0E4-3BBD-4B2D-968D-78B61A52151B}" dt="2025-11-10T17:59:01.559" v="256"/>
      <pc:docMkLst>
        <pc:docMk/>
      </pc:docMkLst>
      <pc:sldChg chg="delSp modSp mod">
        <pc:chgData name="Manjari Gupta" userId="3b377422717859a0" providerId="LiveId" clId="{AC35B0E4-3BBD-4B2D-968D-78B61A52151B}" dt="2025-11-02T18:33:08.949" v="5" actId="478"/>
        <pc:sldMkLst>
          <pc:docMk/>
          <pc:sldMk cId="0" sldId="256"/>
        </pc:sldMkLst>
        <pc:spChg chg="mod">
          <ac:chgData name="Manjari Gupta" userId="3b377422717859a0" providerId="LiveId" clId="{AC35B0E4-3BBD-4B2D-968D-78B61A52151B}" dt="2025-11-02T18:33:02.700" v="3" actId="122"/>
          <ac:spMkLst>
            <pc:docMk/>
            <pc:sldMk cId="0" sldId="256"/>
            <ac:spMk id="93" creationId="{00000000-0000-0000-0000-000000000000}"/>
          </ac:spMkLst>
        </pc:spChg>
      </pc:sldChg>
      <pc:sldChg chg="addSp modSp del mod">
        <pc:chgData name="Manjari Gupta" userId="3b377422717859a0" providerId="LiveId" clId="{AC35B0E4-3BBD-4B2D-968D-78B61A52151B}" dt="2025-11-10T17:58:56.985" v="255" actId="2696"/>
        <pc:sldMkLst>
          <pc:docMk/>
          <pc:sldMk cId="0" sldId="258"/>
        </pc:sldMkLst>
        <pc:spChg chg="mod">
          <ac:chgData name="Manjari Gupta" userId="3b377422717859a0" providerId="LiveId" clId="{AC35B0E4-3BBD-4B2D-968D-78B61A52151B}" dt="2025-11-10T17:40:17.927" v="135" actId="20577"/>
          <ac:spMkLst>
            <pc:docMk/>
            <pc:sldMk cId="0" sldId="258"/>
            <ac:spMk id="106" creationId="{00000000-0000-0000-0000-000000000000}"/>
          </ac:spMkLst>
        </pc:spChg>
        <pc:picChg chg="add mod">
          <ac:chgData name="Manjari Gupta" userId="3b377422717859a0" providerId="LiveId" clId="{AC35B0E4-3BBD-4B2D-968D-78B61A52151B}" dt="2025-11-10T17:39:55.922" v="128" actId="1037"/>
          <ac:picMkLst>
            <pc:docMk/>
            <pc:sldMk cId="0" sldId="258"/>
            <ac:picMk id="3" creationId="{59370584-6A9B-FE04-AFF2-BB8C58080F14}"/>
          </ac:picMkLst>
        </pc:picChg>
      </pc:sldChg>
      <pc:sldChg chg="add">
        <pc:chgData name="Manjari Gupta" userId="3b377422717859a0" providerId="LiveId" clId="{AC35B0E4-3BBD-4B2D-968D-78B61A52151B}" dt="2025-11-10T17:59:01.559" v="256"/>
        <pc:sldMkLst>
          <pc:docMk/>
          <pc:sldMk cId="2145187907" sldId="258"/>
        </pc:sldMkLst>
      </pc:sldChg>
      <pc:sldChg chg="del">
        <pc:chgData name="Manjari Gupta" userId="3b377422717859a0" providerId="LiveId" clId="{AC35B0E4-3BBD-4B2D-968D-78B61A52151B}" dt="2025-11-10T17:58:56.985" v="255" actId="2696"/>
        <pc:sldMkLst>
          <pc:docMk/>
          <pc:sldMk cId="0" sldId="259"/>
        </pc:sldMkLst>
      </pc:sldChg>
      <pc:sldChg chg="add">
        <pc:chgData name="Manjari Gupta" userId="3b377422717859a0" providerId="LiveId" clId="{AC35B0E4-3BBD-4B2D-968D-78B61A52151B}" dt="2025-11-10T17:59:01.559" v="256"/>
        <pc:sldMkLst>
          <pc:docMk/>
          <pc:sldMk cId="4167983138" sldId="259"/>
        </pc:sldMkLst>
      </pc:sldChg>
      <pc:sldChg chg="addSp modSp mod">
        <pc:chgData name="Manjari Gupta" userId="3b377422717859a0" providerId="LiveId" clId="{AC35B0E4-3BBD-4B2D-968D-78B61A52151B}" dt="2025-11-10T17:45:05.469" v="137" actId="1036"/>
        <pc:sldMkLst>
          <pc:docMk/>
          <pc:sldMk cId="0" sldId="260"/>
        </pc:sldMkLst>
        <pc:picChg chg="add mod">
          <ac:chgData name="Manjari Gupta" userId="3b377422717859a0" providerId="LiveId" clId="{AC35B0E4-3BBD-4B2D-968D-78B61A52151B}" dt="2025-11-10T17:45:05.469" v="137" actId="1036"/>
          <ac:picMkLst>
            <pc:docMk/>
            <pc:sldMk cId="0" sldId="260"/>
            <ac:picMk id="3" creationId="{8DCA7D22-FE19-50A4-EB94-48D839F75C31}"/>
          </ac:picMkLst>
        </pc:picChg>
      </pc:sldChg>
      <pc:sldChg chg="addSp modSp mod">
        <pc:chgData name="Manjari Gupta" userId="3b377422717859a0" providerId="LiveId" clId="{AC35B0E4-3BBD-4B2D-968D-78B61A52151B}" dt="2025-11-10T17:50:01.388" v="218" actId="1038"/>
        <pc:sldMkLst>
          <pc:docMk/>
          <pc:sldMk cId="0" sldId="262"/>
        </pc:sldMkLst>
        <pc:spChg chg="mod">
          <ac:chgData name="Manjari Gupta" userId="3b377422717859a0" providerId="LiveId" clId="{AC35B0E4-3BBD-4B2D-968D-78B61A52151B}" dt="2025-11-10T17:49:42.366" v="178" actId="27636"/>
          <ac:spMkLst>
            <pc:docMk/>
            <pc:sldMk cId="0" sldId="262"/>
            <ac:spMk id="130" creationId="{00000000-0000-0000-0000-000000000000}"/>
          </ac:spMkLst>
        </pc:spChg>
        <pc:picChg chg="add mod">
          <ac:chgData name="Manjari Gupta" userId="3b377422717859a0" providerId="LiveId" clId="{AC35B0E4-3BBD-4B2D-968D-78B61A52151B}" dt="2025-11-10T17:49:49.677" v="179" actId="14100"/>
          <ac:picMkLst>
            <pc:docMk/>
            <pc:sldMk cId="0" sldId="262"/>
            <ac:picMk id="3" creationId="{61C102AB-67DD-AFDC-C560-3C5DBB92C60B}"/>
          </ac:picMkLst>
        </pc:picChg>
        <pc:picChg chg="add mod">
          <ac:chgData name="Manjari Gupta" userId="3b377422717859a0" providerId="LiveId" clId="{AC35B0E4-3BBD-4B2D-968D-78B61A52151B}" dt="2025-11-10T17:50:01.388" v="218" actId="1038"/>
          <ac:picMkLst>
            <pc:docMk/>
            <pc:sldMk cId="0" sldId="262"/>
            <ac:picMk id="5" creationId="{D914A54B-BB20-C89A-38DA-610598A3ED21}"/>
          </ac:picMkLst>
        </pc:picChg>
      </pc:sldChg>
      <pc:sldChg chg="modSp new mod">
        <pc:chgData name="Manjari Gupta" userId="3b377422717859a0" providerId="LiveId" clId="{AC35B0E4-3BBD-4B2D-968D-78B61A52151B}" dt="2025-11-10T17:56:33.478" v="225" actId="20577"/>
        <pc:sldMkLst>
          <pc:docMk/>
          <pc:sldMk cId="2564730553" sldId="263"/>
        </pc:sldMkLst>
        <pc:spChg chg="mod">
          <ac:chgData name="Manjari Gupta" userId="3b377422717859a0" providerId="LiveId" clId="{AC35B0E4-3BBD-4B2D-968D-78B61A52151B}" dt="2025-11-10T17:56:12.270" v="223"/>
          <ac:spMkLst>
            <pc:docMk/>
            <pc:sldMk cId="2564730553" sldId="263"/>
            <ac:spMk id="2" creationId="{3574F8DA-AAA3-A5E2-D245-3BB7B20C0804}"/>
          </ac:spMkLst>
        </pc:spChg>
        <pc:spChg chg="mod">
          <ac:chgData name="Manjari Gupta" userId="3b377422717859a0" providerId="LiveId" clId="{AC35B0E4-3BBD-4B2D-968D-78B61A52151B}" dt="2025-11-10T17:56:33.478" v="225" actId="20577"/>
          <ac:spMkLst>
            <pc:docMk/>
            <pc:sldMk cId="2564730553" sldId="263"/>
            <ac:spMk id="3" creationId="{E90B18A7-294D-91F1-4555-9C6033C745BB}"/>
          </ac:spMkLst>
        </pc:spChg>
      </pc:sldChg>
      <pc:sldChg chg="modSp new del mod">
        <pc:chgData name="Manjari Gupta" userId="3b377422717859a0" providerId="LiveId" clId="{AC35B0E4-3BBD-4B2D-968D-78B61A52151B}" dt="2025-11-10T17:58:56.985" v="255" actId="2696"/>
        <pc:sldMkLst>
          <pc:docMk/>
          <pc:sldMk cId="1040848509" sldId="264"/>
        </pc:sldMkLst>
        <pc:spChg chg="mod">
          <ac:chgData name="Manjari Gupta" userId="3b377422717859a0" providerId="LiveId" clId="{AC35B0E4-3BBD-4B2D-968D-78B61A52151B}" dt="2025-11-10T17:57:06.230" v="244" actId="6549"/>
          <ac:spMkLst>
            <pc:docMk/>
            <pc:sldMk cId="1040848509" sldId="264"/>
            <ac:spMk id="2" creationId="{22D77ED4-EE50-6465-5E7E-1702EE2BC1A5}"/>
          </ac:spMkLst>
        </pc:spChg>
        <pc:spChg chg="mod">
          <ac:chgData name="Manjari Gupta" userId="3b377422717859a0" providerId="LiveId" clId="{AC35B0E4-3BBD-4B2D-968D-78B61A52151B}" dt="2025-11-10T17:58:26.023" v="254" actId="20577"/>
          <ac:spMkLst>
            <pc:docMk/>
            <pc:sldMk cId="1040848509" sldId="264"/>
            <ac:spMk id="3" creationId="{BF752C16-CF9C-5F9B-F8A5-5D3BB23E3072}"/>
          </ac:spMkLst>
        </pc:spChg>
      </pc:sldChg>
      <pc:sldChg chg="add">
        <pc:chgData name="Manjari Gupta" userId="3b377422717859a0" providerId="LiveId" clId="{AC35B0E4-3BBD-4B2D-968D-78B61A52151B}" dt="2025-11-10T17:59:01.559" v="256"/>
        <pc:sldMkLst>
          <pc:docMk/>
          <pc:sldMk cId="1427520896" sldId="264"/>
        </pc:sldMkLst>
      </pc:sldChg>
      <pc:sldMasterChg chg="delSldLayout">
        <pc:chgData name="Manjari Gupta" userId="3b377422717859a0" providerId="LiveId" clId="{AC35B0E4-3BBD-4B2D-968D-78B61A52151B}" dt="2025-11-02T18:33:22.252" v="10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5c72c0c7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g315c72c0c7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5c72c0c7c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15c72c0c7c_0_16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93150" rIns="93150" bIns="93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93150" rIns="93150" bIns="93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93150" rIns="93150" bIns="93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93150" rIns="93150" bIns="93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14935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93150" rIns="93150" bIns="93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4529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93150" rIns="93150" bIns="931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5c72c0c7c_0_83"/>
          <p:cNvSpPr/>
          <p:nvPr/>
        </p:nvSpPr>
        <p:spPr>
          <a:xfrm>
            <a:off x="1174200" y="296890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sz="2800" b="0" i="0" u="none" strike="noStrike" cap="none" dirty="0">
              <a:solidFill>
                <a:srgbClr val="2F54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5c72c0c7c_0_1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-US"/>
              <a:t>Purpose of regularization</a:t>
            </a:r>
            <a:endParaRPr/>
          </a:p>
        </p:txBody>
      </p:sp>
      <p:sp>
        <p:nvSpPr>
          <p:cNvPr id="100" name="Google Shape;100;g315c72c0c7c_0_1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609584" lvl="0" indent="-4741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667">
                <a:solidFill>
                  <a:schemeClr val="dk1"/>
                </a:solidFill>
              </a:rPr>
              <a:t>To prevent overfitting by adding a penalty to the loss function used to optimize the model's coefficients</a:t>
            </a:r>
            <a:endParaRPr sz="2667">
              <a:solidFill>
                <a:schemeClr val="dk1"/>
              </a:solidFill>
            </a:endParaRPr>
          </a:p>
          <a:p>
            <a:pPr marL="1219169" lvl="1" indent="-4402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2133">
                <a:solidFill>
                  <a:schemeClr val="dk1"/>
                </a:solidFill>
              </a:rPr>
              <a:t>L1 regularization (Lasso)</a:t>
            </a:r>
            <a:endParaRPr sz="2133">
              <a:solidFill>
                <a:schemeClr val="dk1"/>
              </a:solidFill>
            </a:endParaRPr>
          </a:p>
          <a:p>
            <a:pPr marL="1219169" lvl="1" indent="-4402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2133">
                <a:solidFill>
                  <a:schemeClr val="dk1"/>
                </a:solidFill>
              </a:rPr>
              <a:t>L2 regularization (Ridge)</a:t>
            </a:r>
            <a:endParaRPr sz="2133">
              <a:solidFill>
                <a:schemeClr val="dk1"/>
              </a:solidFill>
            </a:endParaRPr>
          </a:p>
          <a:p>
            <a:pPr marL="1219169" lvl="1" indent="-4402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2133">
                <a:solidFill>
                  <a:schemeClr val="dk1"/>
                </a:solidFill>
              </a:rPr>
              <a:t>Elastic Net</a:t>
            </a:r>
            <a:endParaRPr sz="213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-US"/>
              <a:t>L1 Regularization (Lasso Regularization)</a:t>
            </a:r>
            <a:endParaRPr/>
          </a:p>
        </p:txBody>
      </p:sp>
      <p:sp>
        <p:nvSpPr>
          <p:cNvPr id="118" name="Google Shape;1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609585" lvl="0" indent="-4402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2133" dirty="0">
                <a:solidFill>
                  <a:schemeClr val="dk1"/>
                </a:solidFill>
              </a:rPr>
              <a:t>In L1 regularization, a penalty proportional to the </a:t>
            </a:r>
            <a:r>
              <a:rPr lang="en-US" sz="2133" b="1" dirty="0">
                <a:solidFill>
                  <a:schemeClr val="dk1"/>
                </a:solidFill>
              </a:rPr>
              <a:t>absolute</a:t>
            </a:r>
            <a:r>
              <a:rPr lang="en-US" sz="2133" dirty="0">
                <a:solidFill>
                  <a:schemeClr val="dk1"/>
                </a:solidFill>
              </a:rPr>
              <a:t> value of the magnitude of the coefficients is added to the loss function</a:t>
            </a:r>
            <a:endParaRPr sz="2133" dirty="0">
              <a:solidFill>
                <a:schemeClr val="dk1"/>
              </a:solidFill>
            </a:endParaRPr>
          </a:p>
          <a:p>
            <a:pPr marL="609585" lvl="0" indent="-4402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2133" dirty="0">
                <a:solidFill>
                  <a:schemeClr val="dk1"/>
                </a:solidFill>
              </a:rPr>
              <a:t>It performs both regularization and feature selection by driving some coefficients to zero</a:t>
            </a:r>
            <a:endParaRPr sz="3067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DCA7D22-FE19-50A4-EB94-48D839F75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312" y="2996540"/>
            <a:ext cx="5201376" cy="876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Calibri"/>
              <a:buNone/>
            </a:pPr>
            <a:r>
              <a:rPr lang="en-US"/>
              <a:t>L1 Regularization (Lasso Regularization)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86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000" b="1" dirty="0">
                <a:solidFill>
                  <a:schemeClr val="dk1"/>
                </a:solidFill>
              </a:rPr>
              <a:t>Effect</a:t>
            </a:r>
            <a:endParaRPr sz="2000" b="1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L1 regularization leads to </a:t>
            </a:r>
            <a:r>
              <a:rPr lang="en-US" sz="1733" b="1" dirty="0">
                <a:solidFill>
                  <a:schemeClr val="dk1"/>
                </a:solidFill>
              </a:rPr>
              <a:t>sparse</a:t>
            </a:r>
            <a:r>
              <a:rPr lang="en-US" sz="1733" dirty="0">
                <a:solidFill>
                  <a:schemeClr val="dk1"/>
                </a:solidFill>
              </a:rPr>
              <a:t> models, where some of the feature weights (coefficients) are </a:t>
            </a:r>
            <a:r>
              <a:rPr lang="en-US" sz="1733" b="1" dirty="0">
                <a:solidFill>
                  <a:schemeClr val="dk1"/>
                </a:solidFill>
              </a:rPr>
              <a:t>driven to zero</a:t>
            </a:r>
            <a:endParaRPr sz="1733" dirty="0">
              <a:solidFill>
                <a:schemeClr val="dk1"/>
              </a:solidFill>
            </a:endParaRPr>
          </a:p>
          <a:p>
            <a:pPr marL="1219170" lvl="1" indent="-414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733" dirty="0">
                <a:solidFill>
                  <a:schemeClr val="dk1"/>
                </a:solidFill>
              </a:rPr>
              <a:t>it selects only a subset of features, performing automatic </a:t>
            </a:r>
            <a:r>
              <a:rPr lang="en-US" sz="1733" b="1" dirty="0">
                <a:solidFill>
                  <a:schemeClr val="dk1"/>
                </a:solidFill>
              </a:rPr>
              <a:t>feature selection</a:t>
            </a:r>
            <a:endParaRPr sz="1733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It is useful when we expect </a:t>
            </a:r>
            <a:endParaRPr sz="1733" dirty="0">
              <a:solidFill>
                <a:schemeClr val="dk1"/>
              </a:solidFill>
            </a:endParaRPr>
          </a:p>
          <a:p>
            <a:pPr marL="1219170" lvl="1" indent="-414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733" dirty="0">
                <a:solidFill>
                  <a:schemeClr val="dk1"/>
                </a:solidFill>
              </a:rPr>
              <a:t>some of the features to be irrelevant, or </a:t>
            </a:r>
            <a:endParaRPr sz="1733" dirty="0">
              <a:solidFill>
                <a:schemeClr val="dk1"/>
              </a:solidFill>
            </a:endParaRPr>
          </a:p>
          <a:p>
            <a:pPr marL="1219170" lvl="1" indent="-4148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733" dirty="0">
                <a:solidFill>
                  <a:schemeClr val="dk1"/>
                </a:solidFill>
              </a:rPr>
              <a:t>the number of features is much larger than the number of data points</a:t>
            </a:r>
            <a:endParaRPr sz="1733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86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000" b="1" dirty="0">
                <a:solidFill>
                  <a:schemeClr val="dk1"/>
                </a:solidFill>
              </a:rPr>
              <a:t>Use Cases</a:t>
            </a:r>
            <a:endParaRPr sz="2000" b="1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Lasso is effective when the dataset contains irrelevant features and we want to </a:t>
            </a:r>
            <a:r>
              <a:rPr lang="en-US" sz="1733" b="1" dirty="0">
                <a:solidFill>
                  <a:schemeClr val="dk1"/>
                </a:solidFill>
              </a:rPr>
              <a:t>automatically perform feature selection</a:t>
            </a:r>
            <a:endParaRPr sz="1733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It works well in cases of high-dimensional data (many features) </a:t>
            </a:r>
            <a:endParaRPr sz="2667" baseline="-2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74F8DA-AAA3-A5E2-D245-3BB7B20C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L1 regularization does </a:t>
            </a:r>
            <a:r>
              <a:rPr lang="en-US" b="1" dirty="0"/>
              <a:t>not</a:t>
            </a:r>
            <a:r>
              <a:rPr lang="en-US" dirty="0"/>
              <a:t> help with multicollinearity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0B18A7-294D-91F1-4555-9C6033C74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tries to </a:t>
            </a:r>
            <a:r>
              <a:rPr lang="en-US" b="1" dirty="0"/>
              <a:t>select</a:t>
            </a:r>
            <a:r>
              <a:rPr lang="en-US" dirty="0"/>
              <a:t> features. </a:t>
            </a:r>
          </a:p>
          <a:p>
            <a:r>
              <a:rPr lang="en-US" dirty="0"/>
              <a:t>When two or more features are highly correlated, L1 sees them as redundant. </a:t>
            </a:r>
          </a:p>
          <a:p>
            <a:r>
              <a:rPr lang="en-US" dirty="0"/>
              <a:t>Instead of sharing weight among them, it tends to pick </a:t>
            </a:r>
            <a:r>
              <a:rPr lang="en-US" b="1" dirty="0"/>
              <a:t>one</a:t>
            </a:r>
            <a:r>
              <a:rPr lang="en-US" dirty="0"/>
              <a:t> feature and push the others to </a:t>
            </a:r>
            <a:r>
              <a:rPr lang="en-US" b="1" dirty="0"/>
              <a:t>zero</a:t>
            </a:r>
            <a:r>
              <a:rPr lang="en-US" dirty="0"/>
              <a:t>. </a:t>
            </a:r>
          </a:p>
          <a:p>
            <a:r>
              <a:rPr lang="en-US" dirty="0"/>
              <a:t>This behavior is unstable because small changes in the data can make L1 switch which feature it keeps.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6473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-US" dirty="0"/>
              <a:t>L2 Regularization (Ridge Regularization)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6" name="Google Shape;106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rmAutofit/>
              </a:bodyPr>
              <a:lstStyle/>
              <a:p>
                <a:pPr marL="609585" lvl="0" indent="-414855">
                  <a:buSzPts val="1300"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L2 regularization adds a penalty to a model for having large weight values</a:t>
                </a:r>
                <a:endParaRPr lang="en-US" sz="2000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609585" lvl="0" indent="-414855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Char char="●"/>
                </a:pPr>
                <a:r>
                  <a:rPr lang="en-US" sz="20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penalty proportional to the </a:t>
                </a:r>
                <a:r>
                  <a:rPr lang="en-US" sz="2000" b="1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square</a:t>
                </a:r>
                <a:r>
                  <a:rPr lang="en-US" sz="20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the magnitude of the coefficients is added to the loss function</a:t>
                </a:r>
              </a:p>
              <a:p>
                <a:pPr marL="609585" lvl="0" indent="-414855">
                  <a:buSzPts val="1300"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Models with extremely large coefficients tend to overfit. </a:t>
                </a:r>
              </a:p>
              <a:p>
                <a:pPr marL="609585" lvl="0" indent="-414855">
                  <a:buSzPts val="1300"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Ridge keeps the model weights small and smooth, </a:t>
                </a:r>
                <a:r>
                  <a:rPr lang="en-US" sz="20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thereby controlling the complexity of the model</a:t>
                </a:r>
              </a:p>
              <a:p>
                <a:pPr marL="609585" lvl="0" indent="-414855">
                  <a:buSzPts val="1300"/>
                </a:pPr>
                <a:endParaRPr lang="en-US" sz="1733" dirty="0"/>
              </a:p>
              <a:p>
                <a:pPr marL="609585" lvl="0" indent="-414855">
                  <a:buSzPts val="1300"/>
                </a:pPr>
                <a:endParaRPr lang="en-US" sz="1733" dirty="0">
                  <a:solidFill>
                    <a:schemeClr val="dk1"/>
                  </a:solidFill>
                </a:endParaRPr>
              </a:p>
              <a:p>
                <a:pPr marL="609585" lvl="0" indent="-414855">
                  <a:buSzPts val="1300"/>
                </a:pPr>
                <a:endParaRPr lang="en-US" sz="1733" dirty="0"/>
              </a:p>
              <a:p>
                <a:pPr marL="609585" lvl="0" indent="-414855">
                  <a:buSzPts val="1300"/>
                </a:pPr>
                <a:endParaRPr lang="en-US" sz="1733" dirty="0">
                  <a:solidFill>
                    <a:schemeClr val="dk1"/>
                  </a:solidFill>
                </a:endParaRPr>
              </a:p>
              <a:p>
                <a:pPr marL="609585" lvl="0" indent="-414855">
                  <a:buSzPts val="1300"/>
                </a:pPr>
                <a:endParaRPr lang="en-US" sz="1733" dirty="0"/>
              </a:p>
              <a:p>
                <a:pPr marL="609585" lvl="0" indent="-414855">
                  <a:buSzPts val="1300"/>
                </a:pPr>
                <a:endParaRPr lang="en-US" sz="1733" dirty="0">
                  <a:solidFill>
                    <a:schemeClr val="dk1"/>
                  </a:solidFill>
                </a:endParaRPr>
              </a:p>
              <a:p>
                <a:r>
                  <a:rPr lang="en-US" sz="2000" dirty="0"/>
                  <a:t>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sz="1600"/>
                        </m:ctrlPr>
                      </m:sSubPr>
                      <m:e>
                        <m:r>
                          <a:rPr lang="ar-AE" sz="1600" i="1"/>
                          <m:t>𝑤</m:t>
                        </m:r>
                      </m:e>
                      <m:sub>
                        <m:r>
                          <a:rPr lang="ar-AE" sz="1600" i="1"/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are the model weights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/>
                      <m:t>𝜆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is the regularization strength</a:t>
                </a:r>
              </a:p>
              <a:p>
                <a:pPr lvl="1"/>
                <a:r>
                  <a:rPr lang="en-US" sz="1600" dirty="0"/>
                  <a:t>Larger </a:t>
                </a:r>
                <a14:m>
                  <m:oMath xmlns:m="http://schemas.openxmlformats.org/officeDocument/2006/math">
                    <m:r>
                      <a:rPr lang="en-US" sz="1600" i="1"/>
                      <m:t>𝜆</m:t>
                    </m:r>
                  </m:oMath>
                </a14:m>
                <a:r>
                  <a:rPr lang="en-US" sz="1600" dirty="0"/>
                  <a:t> forces weights to shrink more</a:t>
                </a:r>
              </a:p>
              <a:p>
                <a:pPr marL="609585" lvl="0" indent="-414855">
                  <a:buSzPts val="1300"/>
                </a:pPr>
                <a:endParaRPr lang="en-US" sz="1733" dirty="0"/>
              </a:p>
              <a:p>
                <a:pPr marL="609585" lvl="0" indent="-414855">
                  <a:buSzPts val="1300"/>
                </a:pPr>
                <a:endParaRPr lang="en-US" sz="1733" dirty="0">
                  <a:solidFill>
                    <a:schemeClr val="dk1"/>
                  </a:solidFill>
                </a:endParaRPr>
              </a:p>
              <a:p>
                <a:pPr marL="1219170" lvl="0" indent="0">
                  <a:spcBef>
                    <a:spcPts val="1867"/>
                  </a:spcBef>
                  <a:spcAft>
                    <a:spcPts val="533"/>
                  </a:spcAft>
                  <a:buNone/>
                </a:pPr>
                <a:endParaRPr sz="2000" b="1" dirty="0">
                  <a:solidFill>
                    <a:schemeClr val="dk1"/>
                  </a:solidFill>
                </a:endParaRPr>
              </a:p>
            </p:txBody>
          </p:sp>
        </mc:Choice>
        <mc:Fallback>
          <p:sp>
            <p:nvSpPr>
              <p:cNvPr id="106" name="Google Shape;106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1536633"/>
                <a:ext cx="11360800" cy="4555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9370584-6A9B-FE04-AFF2-BB8C58080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023" y="3456092"/>
            <a:ext cx="516327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5187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very small example: one feature and one weight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want to find weight </a:t>
            </a:r>
            <a:r>
              <a:rPr lang="en-US" dirty="0" smtClean="0"/>
              <a:t>w </a:t>
            </a:r>
            <a:r>
              <a:rPr lang="en-US" dirty="0" smtClean="0"/>
              <a:t>that </a:t>
            </a:r>
            <a:r>
              <a:rPr lang="en-US" dirty="0" smtClean="0"/>
              <a:t>minimizes</a:t>
            </a:r>
          </a:p>
          <a:p>
            <a:r>
              <a:rPr lang="en-US" dirty="0" smtClean="0"/>
              <a:t>Loss(w)=(y−</a:t>
            </a:r>
            <a:r>
              <a:rPr lang="en-US" dirty="0" err="1" smtClean="0"/>
              <a:t>wx</a:t>
            </a:r>
            <a:r>
              <a:rPr lang="en-US" dirty="0" smtClean="0"/>
              <a:t>)</a:t>
            </a:r>
            <a:r>
              <a:rPr lang="en-US" baseline="30000" dirty="0" smtClean="0"/>
              <a:t>2</a:t>
            </a:r>
            <a:r>
              <a:rPr lang="en-US" dirty="0" smtClean="0"/>
              <a:t>+</a:t>
            </a:r>
            <a:r>
              <a:rPr lang="el-GR" dirty="0" smtClean="0"/>
              <a:t>λ</a:t>
            </a:r>
            <a:r>
              <a:rPr lang="en-US" dirty="0" smtClean="0"/>
              <a:t>w</a:t>
            </a:r>
            <a:r>
              <a:rPr lang="en-US" baseline="30000" dirty="0" smtClean="0"/>
              <a:t>2</a:t>
            </a:r>
          </a:p>
          <a:p>
            <a:endParaRPr lang="en-US" baseline="30000" dirty="0" smtClean="0"/>
          </a:p>
          <a:p>
            <a:endParaRPr lang="en-US" baseline="30000" dirty="0" smtClean="0"/>
          </a:p>
          <a:p>
            <a:endParaRPr lang="en-US" baseline="30000" dirty="0" smtClean="0"/>
          </a:p>
          <a:p>
            <a:endParaRPr lang="en-US" baseline="30000" dirty="0" smtClean="0"/>
          </a:p>
          <a:p>
            <a:endParaRPr lang="en-US" baseline="30000" dirty="0" smtClean="0"/>
          </a:p>
          <a:p>
            <a:r>
              <a:rPr lang="en-US" dirty="0" smtClean="0"/>
              <a:t>Setting it to zero gives</a:t>
            </a:r>
            <a:r>
              <a:rPr lang="en-US" dirty="0" smtClean="0"/>
              <a:t>:</a:t>
            </a:r>
          </a:p>
          <a:p>
            <a:endParaRPr lang="en-US" baseline="30000" dirty="0" smtClean="0"/>
          </a:p>
          <a:p>
            <a:endParaRPr lang="en-US" baseline="30000" dirty="0" smtClean="0"/>
          </a:p>
          <a:p>
            <a:r>
              <a:rPr lang="en-US" dirty="0" smtClean="0"/>
              <a:t>This number is never exactly zero unless </a:t>
            </a:r>
            <a:r>
              <a:rPr lang="en-US" dirty="0" smtClean="0"/>
              <a:t>y=0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The Ridge formula always produces a </a:t>
            </a:r>
            <a:r>
              <a:rPr lang="en-US" b="1" dirty="0" smtClean="0"/>
              <a:t>shrunk but nonzero</a:t>
            </a:r>
            <a:r>
              <a:rPr lang="en-US" dirty="0" smtClean="0"/>
              <a:t> value.</a:t>
            </a:r>
            <a:endParaRPr lang="en-US" baseline="30000" dirty="0" smtClean="0"/>
          </a:p>
          <a:p>
            <a:endParaRPr lang="en-US" baseline="30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0861" y="2686241"/>
            <a:ext cx="34575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36008" y="3616262"/>
            <a:ext cx="1066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Calibri"/>
              <a:buNone/>
            </a:pPr>
            <a:r>
              <a:rPr lang="en-US"/>
              <a:t>L2 Regularization (Ridge Regularization)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86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000" b="1" dirty="0">
                <a:solidFill>
                  <a:schemeClr val="dk1"/>
                </a:solidFill>
              </a:rPr>
              <a:t>Effect</a:t>
            </a:r>
            <a:endParaRPr sz="2000" b="1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L2 regularization tends to </a:t>
            </a:r>
            <a:r>
              <a:rPr lang="en-US" sz="1733" b="1" dirty="0">
                <a:solidFill>
                  <a:schemeClr val="dk1"/>
                </a:solidFill>
              </a:rPr>
              <a:t>shrink</a:t>
            </a:r>
            <a:r>
              <a:rPr lang="en-US" sz="1733" dirty="0">
                <a:solidFill>
                  <a:schemeClr val="dk1"/>
                </a:solidFill>
              </a:rPr>
              <a:t> the weights, but typically does not drive them to zero</a:t>
            </a:r>
            <a:endParaRPr sz="1733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It smoothens the model, reducing the risk of overfitting by reducing the impact of less important features</a:t>
            </a:r>
            <a:endParaRPr sz="1733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Works well in situations where many features contribute to the outcome</a:t>
            </a:r>
            <a:endParaRPr sz="1733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86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000" b="1" dirty="0">
                <a:solidFill>
                  <a:schemeClr val="dk1"/>
                </a:solidFill>
              </a:rPr>
              <a:t>Use Cases</a:t>
            </a:r>
            <a:endParaRPr sz="2000" b="1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Ridge regression is effective when the dataset has a high degree of multicollinearity (correlated input features)</a:t>
            </a:r>
            <a:endParaRPr sz="1733" dirty="0">
              <a:solidFill>
                <a:schemeClr val="dk1"/>
              </a:solidFill>
            </a:endParaRPr>
          </a:p>
          <a:p>
            <a:pPr marL="609585" lvl="0" indent="-4148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733" dirty="0">
                <a:solidFill>
                  <a:schemeClr val="dk1"/>
                </a:solidFill>
              </a:rPr>
              <a:t>Helps in cases where we expect most features to contribute in some way, but we want to avoid large coefficients</a:t>
            </a:r>
            <a:endParaRPr sz="1733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xmlns="" val="4167983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D77ED4-EE50-6465-5E7E-1702EE2B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L2 regularization help with multicollinearity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F752C16-CF9C-5F9B-F8A5-5D3BB23E3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two features are correlated</a:t>
            </a:r>
          </a:p>
          <a:p>
            <a:pPr lvl="1"/>
            <a:r>
              <a:rPr lang="en-US" dirty="0"/>
              <a:t>instead of trying to pick one feature or flip between </a:t>
            </a:r>
            <a:r>
              <a:rPr lang="en-US" dirty="0" smtClean="0"/>
              <a:t>them, </a:t>
            </a:r>
            <a:r>
              <a:rPr lang="en-US" dirty="0"/>
              <a:t>L2 spreads the weight across both.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27520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707"/>
              <a:buFont typeface="Calibri"/>
              <a:buNone/>
            </a:pPr>
            <a:r>
              <a:rPr lang="en-US"/>
              <a:t>Elastic Net Regularization</a:t>
            </a:r>
            <a:endParaRPr/>
          </a:p>
        </p:txBody>
      </p:sp>
      <p:sp>
        <p:nvSpPr>
          <p:cNvPr id="130" name="Google Shape;130;p6"/>
          <p:cNvSpPr txBox="1"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415600" y="1435033"/>
            <a:ext cx="11360800" cy="45552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>
              <a:buNone/>
            </a:pPr>
            <a:r>
              <a:rPr lang="en-IN" dirty="0">
                <a:noFill/>
              </a:rPr>
              <a:t>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1C102AB-67DD-AFDC-C560-3C5DBB92C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184" y="2743147"/>
            <a:ext cx="6552986" cy="689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914A54B-BB20-C89A-38DA-610598A3E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529" y="4151952"/>
            <a:ext cx="7191251" cy="595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411</Words>
  <Application>Microsoft Office PowerPoint</Application>
  <PresentationFormat>Custom</PresentationFormat>
  <Paragraphs>51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Purpose of regularization</vt:lpstr>
      <vt:lpstr>L1 Regularization (Lasso Regularization)</vt:lpstr>
      <vt:lpstr>L1 Regularization (Lasso Regularization) </vt:lpstr>
      <vt:lpstr>L1 regularization does not help with multicollinearity </vt:lpstr>
      <vt:lpstr>L2 Regularization (Ridge Regularization)</vt:lpstr>
      <vt:lpstr>A very small example: one feature and one weight</vt:lpstr>
      <vt:lpstr>L2 Regularization (Ridge Regularization) </vt:lpstr>
      <vt:lpstr>L2 regularization help with multicollinearity </vt:lpstr>
      <vt:lpstr>Elastic Net Regularization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Manjari Gupta</dc:creator>
  <cp:lastModifiedBy>Student</cp:lastModifiedBy>
  <cp:revision>2</cp:revision>
  <dcterms:created xsi:type="dcterms:W3CDTF">2021-03-27T15:09:21Z</dcterms:created>
  <dcterms:modified xsi:type="dcterms:W3CDTF">2025-11-11T05:38:29Z</dcterms:modified>
</cp:coreProperties>
</file>