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Trebuchet MS" pitchFamily="34" charset="0"/>
      <p:regular r:id="rId18"/>
      <p:bold r:id="rId19"/>
      <p:italic r:id="rId20"/>
      <p:boldItalic r:id="rId21"/>
    </p:embeddedFont>
    <p:embeddedFont>
      <p:font typeface="Lato" charset="0"/>
      <p:regular r:id="rId22"/>
      <p:bold r:id="rId23"/>
      <p:italic r:id="rId24"/>
      <p:boldItalic r:id="rId25"/>
    </p:embeddedFont>
    <p:embeddedFont>
      <p:font typeface="Calibri"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4" roundtripDataSignature="AMtx7mgn9m3Ypkq6/mA8640CExNBO6x/IA=="/>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78EC6E8E-6F0B-4602-9BB8-4EB90E122BEA}">
  <a:tblStyle styleId="{78EC6E8E-6F0B-4602-9BB8-4EB90E122BE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56" d="100"/>
          <a:sy n="156" d="100"/>
        </p:scale>
        <p:origin x="-3144" y="-96"/>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12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124"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12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2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12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6"/>
        <p:cNvGrpSpPr/>
        <p:nvPr/>
      </p:nvGrpSpPr>
      <p:grpSpPr>
        <a:xfrm>
          <a:off x="0" y="0"/>
          <a:ext cx="0" cy="0"/>
          <a:chOff x="0" y="0"/>
          <a:chExt cx="0" cy="0"/>
        </a:xfrm>
      </p:grpSpPr>
      <p:grpSp>
        <p:nvGrpSpPr>
          <p:cNvPr id="27" name="Google Shape;27;p59"/>
          <p:cNvGrpSpPr/>
          <p:nvPr/>
        </p:nvGrpSpPr>
        <p:grpSpPr>
          <a:xfrm>
            <a:off x="0" y="-8467"/>
            <a:ext cx="12192000" cy="6866467"/>
            <a:chOff x="0" y="-8467"/>
            <a:chExt cx="12192000" cy="6866467"/>
          </a:xfrm>
        </p:grpSpPr>
        <p:cxnSp>
          <p:nvCxnSpPr>
            <p:cNvPr id="28" name="Google Shape;28;p59"/>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29" name="Google Shape;29;p59"/>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30" name="Google Shape;30;p59"/>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31" name="Google Shape;31;p59"/>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2" name="Google Shape;32;p59"/>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59"/>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34" name="Google Shape;34;p59"/>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35" name="Google Shape;35;p59"/>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6" name="Google Shape;36;p59"/>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9"/>
            <p:cNvSpPr/>
            <p:nvPr/>
          </p:nvSpPr>
          <p:spPr>
            <a:xfrm rot="10800000">
              <a:off x="0" y="0"/>
              <a:ext cx="842596" cy="5666154"/>
            </a:xfrm>
            <a:prstGeom prst="triangle">
              <a:avLst>
                <a:gd name="adj" fmla="val 10000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59"/>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9"/>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40" name="Google Shape;40;p5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
        <p:cNvGrpSpPr/>
        <p:nvPr/>
      </p:nvGrpSpPr>
      <p:grpSpPr>
        <a:xfrm>
          <a:off x="0" y="0"/>
          <a:ext cx="0" cy="0"/>
          <a:chOff x="0" y="0"/>
          <a:chExt cx="0" cy="0"/>
        </a:xfrm>
      </p:grpSpPr>
      <p:sp>
        <p:nvSpPr>
          <p:cNvPr id="44" name="Google Shape;44;p6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0"/>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46" name="Google Shape;46;p6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61"/>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1"/>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52" name="Google Shape;52;p6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6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2"/>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8" name="Google Shape;58;p62"/>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9" name="Google Shape;59;p6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6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6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3"/>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5" name="Google Shape;65;p63"/>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6" name="Google Shape;66;p63"/>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7" name="Google Shape;67;p63"/>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8" name="Google Shape;68;p6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6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6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6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6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6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
        <p:cNvGrpSpPr/>
        <p:nvPr/>
      </p:nvGrpSpPr>
      <p:grpSpPr>
        <a:xfrm>
          <a:off x="0" y="0"/>
          <a:ext cx="0" cy="0"/>
          <a:chOff x="0" y="0"/>
          <a:chExt cx="0" cy="0"/>
        </a:xfrm>
      </p:grpSpPr>
      <p:sp>
        <p:nvSpPr>
          <p:cNvPr id="77" name="Google Shape;77;p6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
        <p:cNvGrpSpPr/>
        <p:nvPr/>
      </p:nvGrpSpPr>
      <p:grpSpPr>
        <a:xfrm>
          <a:off x="0" y="0"/>
          <a:ext cx="0" cy="0"/>
          <a:chOff x="0" y="0"/>
          <a:chExt cx="0" cy="0"/>
        </a:xfrm>
      </p:grpSpPr>
      <p:sp>
        <p:nvSpPr>
          <p:cNvPr id="81" name="Google Shape;81;p66"/>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6"/>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83" name="Google Shape;83;p66"/>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4" name="Google Shape;84;p6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6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7"/>
        <p:cNvGrpSpPr/>
        <p:nvPr/>
      </p:nvGrpSpPr>
      <p:grpSpPr>
        <a:xfrm>
          <a:off x="0" y="0"/>
          <a:ext cx="0" cy="0"/>
          <a:chOff x="0" y="0"/>
          <a:chExt cx="0" cy="0"/>
        </a:xfrm>
      </p:grpSpPr>
      <p:sp>
        <p:nvSpPr>
          <p:cNvPr id="88" name="Google Shape;88;p67"/>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7"/>
          <p:cNvSpPr>
            <a:spLocks noGrp="1"/>
          </p:cNvSpPr>
          <p:nvPr>
            <p:ph type="pic" idx="2"/>
          </p:nvPr>
        </p:nvSpPr>
        <p:spPr>
          <a:xfrm>
            <a:off x="677334" y="609600"/>
            <a:ext cx="8596668" cy="3845718"/>
          </a:xfrm>
          <a:prstGeom prst="rect">
            <a:avLst/>
          </a:prstGeom>
          <a:noFill/>
          <a:ln>
            <a:noFill/>
          </a:ln>
        </p:spPr>
      </p:sp>
      <p:sp>
        <p:nvSpPr>
          <p:cNvPr id="90" name="Google Shape;90;p67"/>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1" name="Google Shape;91;p6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6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6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4"/>
        <p:cNvGrpSpPr/>
        <p:nvPr/>
      </p:nvGrpSpPr>
      <p:grpSpPr>
        <a:xfrm>
          <a:off x="0" y="0"/>
          <a:ext cx="0" cy="0"/>
          <a:chOff x="0" y="0"/>
          <a:chExt cx="0" cy="0"/>
        </a:xfrm>
      </p:grpSpPr>
      <p:sp>
        <p:nvSpPr>
          <p:cNvPr id="95" name="Google Shape;95;p68"/>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68"/>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7" name="Google Shape;97;p6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6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6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0"/>
        <p:cNvGrpSpPr/>
        <p:nvPr/>
      </p:nvGrpSpPr>
      <p:grpSpPr>
        <a:xfrm>
          <a:off x="0" y="0"/>
          <a:ext cx="0" cy="0"/>
          <a:chOff x="0" y="0"/>
          <a:chExt cx="0" cy="0"/>
        </a:xfrm>
      </p:grpSpPr>
      <p:sp>
        <p:nvSpPr>
          <p:cNvPr id="101" name="Google Shape;101;p69"/>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69"/>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03" name="Google Shape;103;p69"/>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4" name="Google Shape;104;p6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6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6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07" name="Google Shape;107;p69"/>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
        <p:nvSpPr>
          <p:cNvPr id="108" name="Google Shape;108;p69"/>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sz="1800">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9"/>
        <p:cNvGrpSpPr/>
        <p:nvPr/>
      </p:nvGrpSpPr>
      <p:grpSpPr>
        <a:xfrm>
          <a:off x="0" y="0"/>
          <a:ext cx="0" cy="0"/>
          <a:chOff x="0" y="0"/>
          <a:chExt cx="0" cy="0"/>
        </a:xfrm>
      </p:grpSpPr>
      <p:sp>
        <p:nvSpPr>
          <p:cNvPr id="110" name="Google Shape;110;p70"/>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70"/>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2" name="Google Shape;112;p7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7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7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5"/>
        <p:cNvGrpSpPr/>
        <p:nvPr/>
      </p:nvGrpSpPr>
      <p:grpSpPr>
        <a:xfrm>
          <a:off x="0" y="0"/>
          <a:ext cx="0" cy="0"/>
          <a:chOff x="0" y="0"/>
          <a:chExt cx="0" cy="0"/>
        </a:xfrm>
      </p:grpSpPr>
      <p:sp>
        <p:nvSpPr>
          <p:cNvPr id="116" name="Google Shape;116;p71"/>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71"/>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8" name="Google Shape;118;p71"/>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9" name="Google Shape;119;p7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7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7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22" name="Google Shape;122;p71"/>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
        <p:nvSpPr>
          <p:cNvPr id="123" name="Google Shape;123;p71"/>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4"/>
        <p:cNvGrpSpPr/>
        <p:nvPr/>
      </p:nvGrpSpPr>
      <p:grpSpPr>
        <a:xfrm>
          <a:off x="0" y="0"/>
          <a:ext cx="0" cy="0"/>
          <a:chOff x="0" y="0"/>
          <a:chExt cx="0" cy="0"/>
        </a:xfrm>
      </p:grpSpPr>
      <p:sp>
        <p:nvSpPr>
          <p:cNvPr id="125" name="Google Shape;125;p72"/>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72"/>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7" name="Google Shape;127;p72"/>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8" name="Google Shape;128;p7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7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7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32" name="Google Shape;132;p7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73"/>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4" name="Google Shape;134;p7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7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7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7"/>
        <p:cNvGrpSpPr/>
        <p:nvPr/>
      </p:nvGrpSpPr>
      <p:grpSpPr>
        <a:xfrm>
          <a:off x="0" y="0"/>
          <a:ext cx="0" cy="0"/>
          <a:chOff x="0" y="0"/>
          <a:chExt cx="0" cy="0"/>
        </a:xfrm>
      </p:grpSpPr>
      <p:sp>
        <p:nvSpPr>
          <p:cNvPr id="138" name="Google Shape;138;p74"/>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74"/>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0" name="Google Shape;140;p7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7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7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58"/>
          <p:cNvGrpSpPr/>
          <p:nvPr/>
        </p:nvGrpSpPr>
        <p:grpSpPr>
          <a:xfrm>
            <a:off x="0" y="-8467"/>
            <a:ext cx="12192000" cy="6866467"/>
            <a:chOff x="0" y="-8467"/>
            <a:chExt cx="12192000" cy="6866467"/>
          </a:xfrm>
        </p:grpSpPr>
        <p:cxnSp>
          <p:nvCxnSpPr>
            <p:cNvPr id="11" name="Google Shape;11;p58"/>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12" name="Google Shape;12;p58"/>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13" name="Google Shape;13;p58"/>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4" name="Google Shape;14;p58"/>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58"/>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58"/>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17" name="Google Shape;17;p58"/>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18" name="Google Shape;18;p58"/>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9" name="Google Shape;19;p58"/>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58"/>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5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58"/>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5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5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5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analyticsvidhya.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accent1"/>
              </a:buClr>
              <a:buSzPts val="5400"/>
              <a:buFont typeface="Trebuchet MS"/>
              <a:buNone/>
            </a:pPr>
            <a:r>
              <a:rPr lang="en-US"/>
              <a:t>Machine Learning</a:t>
            </a:r>
            <a:endParaRPr/>
          </a:p>
        </p:txBody>
      </p:sp>
      <p:sp>
        <p:nvSpPr>
          <p:cNvPr id="148" name="Google Shape;148;p1"/>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44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Recommended Books</a:t>
            </a:r>
            <a:endParaRPr/>
          </a:p>
        </p:txBody>
      </p:sp>
      <p:sp>
        <p:nvSpPr>
          <p:cNvPr id="154" name="Google Shape;154;p2"/>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solidFill>
                  <a:schemeClr val="dk1"/>
                </a:solidFill>
                <a:latin typeface="Arial"/>
                <a:ea typeface="Arial"/>
                <a:cs typeface="Arial"/>
                <a:sym typeface="Arial"/>
              </a:rPr>
              <a:t>Machine learning by Tom Mitchell</a:t>
            </a:r>
            <a:endParaRPr/>
          </a:p>
          <a:p>
            <a:pPr marL="342900" lvl="0" indent="-342900" algn="l" rtl="0">
              <a:spcBef>
                <a:spcPts val="1000"/>
              </a:spcBef>
              <a:spcAft>
                <a:spcPts val="0"/>
              </a:spcAft>
              <a:buSzPts val="1440"/>
              <a:buChar char="►"/>
            </a:pPr>
            <a:r>
              <a:rPr lang="en-US" b="0">
                <a:solidFill>
                  <a:schemeClr val="dk1"/>
                </a:solidFill>
                <a:latin typeface="Arial"/>
                <a:ea typeface="Arial"/>
                <a:cs typeface="Arial"/>
                <a:sym typeface="Arial"/>
              </a:rPr>
              <a:t>Pattern Recognition and Machine Learning by Christopher Bishop</a:t>
            </a:r>
            <a:endParaRPr/>
          </a:p>
          <a:p>
            <a:pPr marL="342900" lvl="0" indent="-342900" algn="l" rtl="0">
              <a:spcBef>
                <a:spcPts val="1000"/>
              </a:spcBef>
              <a:spcAft>
                <a:spcPts val="0"/>
              </a:spcAft>
              <a:buSzPts val="1440"/>
              <a:buChar char="►"/>
            </a:pPr>
            <a:r>
              <a:rPr lang="en-US" b="0">
                <a:solidFill>
                  <a:schemeClr val="dk1"/>
                </a:solidFill>
                <a:latin typeface="Arial"/>
                <a:ea typeface="Arial"/>
                <a:cs typeface="Arial"/>
                <a:sym typeface="Arial"/>
              </a:rPr>
              <a:t>Machine Learning: A Probabilistic Perspective by Kevin P. Murph</a:t>
            </a:r>
            <a:r>
              <a:rPr lang="en-US">
                <a:solidFill>
                  <a:schemeClr val="dk1"/>
                </a:solidFill>
                <a:latin typeface="Arial"/>
                <a:ea typeface="Arial"/>
                <a:cs typeface="Arial"/>
                <a:sym typeface="Arial"/>
              </a:rPr>
              <a:t>y</a:t>
            </a:r>
            <a:endParaRPr>
              <a:solidFill>
                <a:schemeClr val="dk1"/>
              </a:solidFill>
              <a:latin typeface="Arial"/>
              <a:ea typeface="Arial"/>
              <a:cs typeface="Arial"/>
              <a:sym typeface="Arial"/>
            </a:endParaRPr>
          </a:p>
          <a:p>
            <a:pPr marL="342900" lvl="0" indent="-342900" algn="l" rtl="0">
              <a:spcBef>
                <a:spcPts val="1000"/>
              </a:spcBef>
              <a:spcAft>
                <a:spcPts val="0"/>
              </a:spcAft>
              <a:buSzPts val="1440"/>
              <a:buChar char="►"/>
            </a:pPr>
            <a:r>
              <a:rPr lang="en-US">
                <a:solidFill>
                  <a:schemeClr val="dk1"/>
                </a:solidFill>
                <a:latin typeface="Arial"/>
                <a:ea typeface="Arial"/>
                <a:cs typeface="Arial"/>
                <a:sym typeface="Arial"/>
              </a:rPr>
              <a:t>Hands-On Machine Learning with Scikit-Learn &amp; TensorFlow by Aurelien Geron</a:t>
            </a:r>
            <a:endParaRPr>
              <a:solidFill>
                <a:schemeClr val="dk1"/>
              </a:solidFill>
              <a:latin typeface="Arial"/>
              <a:ea typeface="Arial"/>
              <a:cs typeface="Arial"/>
              <a:sym typeface="Arial"/>
            </a:endParaRPr>
          </a:p>
          <a:p>
            <a:pPr marL="342900" lvl="0" indent="-342900" algn="l" rtl="0">
              <a:spcBef>
                <a:spcPts val="1000"/>
              </a:spcBef>
              <a:spcAft>
                <a:spcPts val="0"/>
              </a:spcAft>
              <a:buSzPts val="1440"/>
              <a:buChar char="►"/>
            </a:pPr>
            <a:r>
              <a:rPr lang="en-US">
                <a:solidFill>
                  <a:schemeClr val="dk1"/>
                </a:solidFill>
                <a:latin typeface="Arial"/>
                <a:ea typeface="Arial"/>
                <a:cs typeface="Arial"/>
                <a:sym typeface="Arial"/>
              </a:rPr>
              <a:t>Machine Learning by Saikat Dutt, S. Chandramouli, Amit kumar Das</a:t>
            </a: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Few ML projects </a:t>
            </a:r>
            <a:endParaRPr/>
          </a:p>
        </p:txBody>
      </p:sp>
      <p:sp>
        <p:nvSpPr>
          <p:cNvPr id="160" name="Google Shape;160;p5"/>
          <p:cNvSpPr txBox="1">
            <a:spLocks noGrp="1"/>
          </p:cNvSpPr>
          <p:nvPr>
            <p:ph type="body" idx="1"/>
          </p:nvPr>
        </p:nvSpPr>
        <p:spPr>
          <a:xfrm>
            <a:off x="677334" y="1406769"/>
            <a:ext cx="8596668" cy="463459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Giving a brain to your homemade robot</a:t>
            </a:r>
            <a:endParaRPr/>
          </a:p>
          <a:p>
            <a:pPr marL="742950" lvl="1" indent="-285750" algn="l" rtl="0">
              <a:spcBef>
                <a:spcPts val="1000"/>
              </a:spcBef>
              <a:spcAft>
                <a:spcPts val="0"/>
              </a:spcAft>
              <a:buSzPts val="1280"/>
              <a:buChar char="►"/>
            </a:pPr>
            <a:r>
              <a:rPr lang="en-US"/>
              <a:t>Make it recognize faces or learn to walk around.</a:t>
            </a:r>
            <a:endParaRPr/>
          </a:p>
          <a:p>
            <a:pPr marL="342900" lvl="0" indent="-342900" algn="l" rtl="0">
              <a:spcBef>
                <a:spcPts val="1000"/>
              </a:spcBef>
              <a:spcAft>
                <a:spcPts val="0"/>
              </a:spcAft>
              <a:buSzPts val="1440"/>
              <a:buChar char="►"/>
            </a:pPr>
            <a:r>
              <a:rPr lang="en-US"/>
              <a:t>if you have tons of data of a company like, You can unearth some hidden gems</a:t>
            </a:r>
            <a:endParaRPr/>
          </a:p>
          <a:p>
            <a:pPr marL="742950" lvl="1" indent="-285750" algn="l" rtl="0">
              <a:spcBef>
                <a:spcPts val="1000"/>
              </a:spcBef>
              <a:spcAft>
                <a:spcPts val="0"/>
              </a:spcAft>
              <a:buSzPts val="1280"/>
              <a:buChar char="►"/>
            </a:pPr>
            <a:r>
              <a:rPr lang="en-US"/>
              <a:t>User logs, financial data, production data, machine sensor data, hotline stats, HR reports etc. </a:t>
            </a:r>
            <a:endParaRPr/>
          </a:p>
          <a:p>
            <a:pPr marL="742950" lvl="1" indent="-285750" algn="l" rtl="0">
              <a:spcBef>
                <a:spcPts val="1000"/>
              </a:spcBef>
              <a:spcAft>
                <a:spcPts val="0"/>
              </a:spcAft>
              <a:buSzPts val="1280"/>
              <a:buChar char="►"/>
            </a:pPr>
            <a:r>
              <a:rPr lang="en-US"/>
              <a:t>Segment customers and find the best marketing strategy for each group</a:t>
            </a:r>
            <a:endParaRPr/>
          </a:p>
          <a:p>
            <a:pPr marL="742950" lvl="1" indent="-285750" algn="l" rtl="0">
              <a:spcBef>
                <a:spcPts val="1000"/>
              </a:spcBef>
              <a:spcAft>
                <a:spcPts val="0"/>
              </a:spcAft>
              <a:buSzPts val="1280"/>
              <a:buChar char="►"/>
            </a:pPr>
            <a:r>
              <a:rPr lang="en-US"/>
              <a:t>Recommend product for each client based on what similar client bought.</a:t>
            </a:r>
            <a:endParaRPr/>
          </a:p>
          <a:p>
            <a:pPr marL="742950" lvl="1" indent="-285750" algn="l" rtl="0">
              <a:spcBef>
                <a:spcPts val="1000"/>
              </a:spcBef>
              <a:spcAft>
                <a:spcPts val="0"/>
              </a:spcAft>
              <a:buSzPts val="1280"/>
              <a:buChar char="►"/>
            </a:pPr>
            <a:r>
              <a:rPr lang="en-US"/>
              <a:t>Detect which transactions are likely to be fraudulent</a:t>
            </a:r>
            <a:endParaRPr/>
          </a:p>
          <a:p>
            <a:pPr marL="742950" lvl="1" indent="-285750" algn="l" rtl="0">
              <a:spcBef>
                <a:spcPts val="1000"/>
              </a:spcBef>
              <a:spcAft>
                <a:spcPts val="0"/>
              </a:spcAft>
              <a:buSzPts val="1280"/>
              <a:buChar char="►"/>
            </a:pPr>
            <a:r>
              <a:rPr lang="en-US"/>
              <a:t>Predict next year’s revenue</a:t>
            </a:r>
            <a:endParaRPr/>
          </a:p>
          <a:p>
            <a:pPr marL="742950" lvl="1" indent="-285750" algn="l" rtl="0">
              <a:spcBef>
                <a:spcPts val="1000"/>
              </a:spcBef>
              <a:spcAft>
                <a:spcPts val="0"/>
              </a:spcAft>
              <a:buSzPts val="1280"/>
              <a:buChar char="►"/>
            </a:pPr>
            <a:r>
              <a:rPr lang="en-US"/>
              <a:t>And many more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6"/>
          <p:cNvSpPr txBox="1">
            <a:spLocks noGrp="1"/>
          </p:cNvSpPr>
          <p:nvPr>
            <p:ph type="title"/>
          </p:nvPr>
        </p:nvSpPr>
        <p:spPr>
          <a:xfrm>
            <a:off x="677334" y="609600"/>
            <a:ext cx="8596668" cy="81123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ML journey</a:t>
            </a:r>
            <a:endParaRPr/>
          </a:p>
        </p:txBody>
      </p:sp>
      <p:sp>
        <p:nvSpPr>
          <p:cNvPr id="166" name="Google Shape;166;p6"/>
          <p:cNvSpPr txBox="1">
            <a:spLocks noGrp="1"/>
          </p:cNvSpPr>
          <p:nvPr>
            <p:ph type="body" idx="1"/>
          </p:nvPr>
        </p:nvSpPr>
        <p:spPr>
          <a:xfrm>
            <a:off x="677334" y="1519311"/>
            <a:ext cx="8596668" cy="4522051"/>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When most people hear machine learning, they picture a robot</a:t>
            </a:r>
            <a:endParaRPr/>
          </a:p>
          <a:p>
            <a:pPr marL="342900" lvl="0" indent="-342900" algn="l" rtl="0">
              <a:spcBef>
                <a:spcPts val="1000"/>
              </a:spcBef>
              <a:spcAft>
                <a:spcPts val="0"/>
              </a:spcAft>
              <a:buSzPts val="1440"/>
              <a:buChar char="►"/>
            </a:pPr>
            <a:r>
              <a:rPr lang="en-US"/>
              <a:t>But ML is not just a futuristic fantasy, it’s already here.</a:t>
            </a:r>
            <a:endParaRPr/>
          </a:p>
          <a:p>
            <a:pPr marL="342900" lvl="0" indent="-342900" algn="l" rtl="0">
              <a:spcBef>
                <a:spcPts val="1000"/>
              </a:spcBef>
              <a:spcAft>
                <a:spcPts val="0"/>
              </a:spcAft>
              <a:buSzPts val="1440"/>
              <a:buChar char="►"/>
            </a:pPr>
            <a:r>
              <a:rPr lang="en-US"/>
              <a:t>In fact, it has been around for decades in some specialized applications, such as Optical Character Recognition (OCR)</a:t>
            </a:r>
            <a:endParaRPr/>
          </a:p>
          <a:p>
            <a:pPr marL="342900" lvl="0" indent="-342900" algn="l" rtl="0">
              <a:spcBef>
                <a:spcPts val="1000"/>
              </a:spcBef>
              <a:spcAft>
                <a:spcPts val="0"/>
              </a:spcAft>
              <a:buSzPts val="1440"/>
              <a:buChar char="►"/>
            </a:pPr>
            <a:r>
              <a:rPr lang="en-US"/>
              <a:t>First ML application that really became mainstream, improving the lives of hundreds of millions of people, in 1990s</a:t>
            </a:r>
            <a:endParaRPr/>
          </a:p>
          <a:p>
            <a:pPr marL="742950" lvl="1" indent="-285750" algn="l" rtl="0">
              <a:spcBef>
                <a:spcPts val="1000"/>
              </a:spcBef>
              <a:spcAft>
                <a:spcPts val="0"/>
              </a:spcAft>
              <a:buSzPts val="1280"/>
              <a:buChar char="►"/>
            </a:pPr>
            <a:r>
              <a:rPr lang="en-US"/>
              <a:t>Spam filter</a:t>
            </a:r>
            <a:endParaRPr/>
          </a:p>
          <a:p>
            <a:pPr marL="342900" lvl="0" indent="-342900" algn="l" rtl="0">
              <a:spcBef>
                <a:spcPts val="1000"/>
              </a:spcBef>
              <a:spcAft>
                <a:spcPts val="0"/>
              </a:spcAft>
              <a:buSzPts val="1440"/>
              <a:buChar char="►"/>
            </a:pPr>
            <a:r>
              <a:rPr lang="en-US"/>
              <a:t>It was followed by hundreds of ML applications that now quietly power hundreds of products and features that we use regularly,</a:t>
            </a:r>
            <a:endParaRPr/>
          </a:p>
          <a:p>
            <a:pPr marL="742950" lvl="1" indent="-285750" algn="l" rtl="0">
              <a:spcBef>
                <a:spcPts val="1000"/>
              </a:spcBef>
              <a:spcAft>
                <a:spcPts val="0"/>
              </a:spcAft>
              <a:buSzPts val="1280"/>
              <a:buChar char="►"/>
            </a:pPr>
            <a:r>
              <a:rPr lang="en-US"/>
              <a:t>from better recommendations to voice search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7"/>
          <p:cNvSpPr txBox="1">
            <a:spLocks noGrp="1"/>
          </p:cNvSpPr>
          <p:nvPr>
            <p:ph type="title"/>
          </p:nvPr>
        </p:nvSpPr>
        <p:spPr>
          <a:xfrm>
            <a:off x="677334" y="609600"/>
            <a:ext cx="8596668" cy="69869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Human Learning</a:t>
            </a:r>
            <a:endParaRPr/>
          </a:p>
        </p:txBody>
      </p:sp>
      <p:sp>
        <p:nvSpPr>
          <p:cNvPr id="172" name="Google Shape;172;p7"/>
          <p:cNvSpPr txBox="1">
            <a:spLocks noGrp="1"/>
          </p:cNvSpPr>
          <p:nvPr>
            <p:ph type="body" idx="1"/>
          </p:nvPr>
        </p:nvSpPr>
        <p:spPr>
          <a:xfrm>
            <a:off x="677334" y="1406769"/>
            <a:ext cx="8596668" cy="463459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Learning is typically referred to as the process of gaining information through observation</a:t>
            </a:r>
            <a:endParaRPr/>
          </a:p>
          <a:p>
            <a:pPr marL="342900" lvl="0" indent="-342900" algn="l" rtl="0">
              <a:spcBef>
                <a:spcPts val="1000"/>
              </a:spcBef>
              <a:spcAft>
                <a:spcPts val="0"/>
              </a:spcAft>
              <a:buSzPts val="1440"/>
              <a:buChar char="►"/>
            </a:pPr>
            <a:r>
              <a:rPr lang="en-US"/>
              <a:t>With more learning task can be performed more efficiently</a:t>
            </a:r>
            <a:endParaRPr/>
          </a:p>
          <a:p>
            <a:pPr marL="342900" lvl="0" indent="-342900" algn="l" rtl="0">
              <a:spcBef>
                <a:spcPts val="1000"/>
              </a:spcBef>
              <a:spcAft>
                <a:spcPts val="0"/>
              </a:spcAft>
              <a:buSzPts val="1440"/>
              <a:buChar char="►"/>
            </a:pPr>
            <a:r>
              <a:rPr lang="en-US"/>
              <a:t>Types of human learning</a:t>
            </a:r>
            <a:endParaRPr/>
          </a:p>
          <a:p>
            <a:pPr marL="742950" lvl="1" indent="-285750" algn="l" rtl="0">
              <a:spcBef>
                <a:spcPts val="1000"/>
              </a:spcBef>
              <a:spcAft>
                <a:spcPts val="0"/>
              </a:spcAft>
              <a:buSzPts val="1280"/>
              <a:buChar char="►"/>
            </a:pPr>
            <a:r>
              <a:rPr lang="en-US"/>
              <a:t>Learning under expert guidance</a:t>
            </a:r>
            <a:endParaRPr/>
          </a:p>
          <a:p>
            <a:pPr marL="742950" lvl="1" indent="-285750" algn="l" rtl="0">
              <a:spcBef>
                <a:spcPts val="1000"/>
              </a:spcBef>
              <a:spcAft>
                <a:spcPts val="0"/>
              </a:spcAft>
              <a:buSzPts val="1280"/>
              <a:buChar char="►"/>
            </a:pPr>
            <a:r>
              <a:rPr lang="en-US"/>
              <a:t>Learning guided by knowledge gained from experts</a:t>
            </a:r>
            <a:endParaRPr/>
          </a:p>
          <a:p>
            <a:pPr marL="742950" lvl="1" indent="-285750" algn="l" rtl="0">
              <a:spcBef>
                <a:spcPts val="1000"/>
              </a:spcBef>
              <a:spcAft>
                <a:spcPts val="0"/>
              </a:spcAft>
              <a:buSzPts val="1280"/>
              <a:buChar char="►"/>
            </a:pPr>
            <a:r>
              <a:rPr lang="en-US"/>
              <a:t>Learning by self</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Machine learning</a:t>
            </a:r>
            <a:endParaRPr/>
          </a:p>
        </p:txBody>
      </p:sp>
      <p:sp>
        <p:nvSpPr>
          <p:cNvPr id="178" name="Google Shape;178;p8"/>
          <p:cNvSpPr txBox="1">
            <a:spLocks noGrp="1"/>
          </p:cNvSpPr>
          <p:nvPr>
            <p:ph type="body" idx="1"/>
          </p:nvPr>
        </p:nvSpPr>
        <p:spPr>
          <a:xfrm>
            <a:off x="677334" y="1463041"/>
            <a:ext cx="8596668" cy="457832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Is the science (and art) of programming computers so they can learn from data.</a:t>
            </a:r>
            <a:endParaRPr/>
          </a:p>
          <a:p>
            <a:pPr marL="342900" lvl="0" indent="-342900" algn="l" rtl="0">
              <a:spcBef>
                <a:spcPts val="1000"/>
              </a:spcBef>
              <a:spcAft>
                <a:spcPts val="0"/>
              </a:spcAft>
              <a:buSzPts val="1440"/>
              <a:buChar char="►"/>
            </a:pPr>
            <a:r>
              <a:rPr lang="en-US"/>
              <a:t>Definitions</a:t>
            </a:r>
            <a:endParaRPr/>
          </a:p>
          <a:p>
            <a:pPr marL="742950" lvl="1" indent="-285750" algn="l" rtl="0">
              <a:spcBef>
                <a:spcPts val="1000"/>
              </a:spcBef>
              <a:spcAft>
                <a:spcPts val="0"/>
              </a:spcAft>
              <a:buSzPts val="1280"/>
              <a:buChar char="►"/>
            </a:pPr>
            <a:r>
              <a:rPr lang="en-US"/>
              <a:t>Is the field of study that gives computers the ability to learn without being explicitly programmed- Arthur Samuel, 1959</a:t>
            </a:r>
            <a:endParaRPr/>
          </a:p>
          <a:p>
            <a:pPr marL="742950" lvl="1" indent="-285750" algn="l" rtl="0">
              <a:spcBef>
                <a:spcPts val="1000"/>
              </a:spcBef>
              <a:spcAft>
                <a:spcPts val="0"/>
              </a:spcAft>
              <a:buSzPts val="1280"/>
              <a:buChar char="►"/>
            </a:pPr>
            <a:r>
              <a:rPr lang="en-US"/>
              <a:t>A computer program is said to learn from experience E with respect to some task T and some performance measure P, if its performance on T, as measured by P, improves with experience E- Tom Mitchell, 1997</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9"/>
          <p:cNvSpPr txBox="1">
            <a:spLocks noGrp="1"/>
          </p:cNvSpPr>
          <p:nvPr>
            <p:ph type="title"/>
          </p:nvPr>
        </p:nvSpPr>
        <p:spPr>
          <a:xfrm>
            <a:off x="605334" y="609600"/>
            <a:ext cx="8596800" cy="132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700">
                <a:solidFill>
                  <a:srgbClr val="3F3F3F"/>
                </a:solidFill>
              </a:rPr>
              <a:t>Spam filter</a:t>
            </a:r>
            <a:endParaRPr sz="4500"/>
          </a:p>
        </p:txBody>
      </p:sp>
      <p:sp>
        <p:nvSpPr>
          <p:cNvPr id="184" name="Google Shape;184;p9"/>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Example spam filter- a learning program </a:t>
            </a:r>
            <a:endParaRPr/>
          </a:p>
          <a:p>
            <a:pPr marL="742950" lvl="1" indent="-285750" algn="l" rtl="0">
              <a:spcBef>
                <a:spcPts val="1000"/>
              </a:spcBef>
              <a:spcAft>
                <a:spcPts val="0"/>
              </a:spcAft>
              <a:buSzPts val="1280"/>
              <a:buChar char="►"/>
            </a:pPr>
            <a:r>
              <a:rPr lang="en-US"/>
              <a:t>Learn to flag spam given (training set) examples of spam and regular/ham emails. </a:t>
            </a:r>
            <a:endParaRPr/>
          </a:p>
          <a:p>
            <a:pPr marL="742950" lvl="1" indent="-285750" algn="l" rtl="0">
              <a:spcBef>
                <a:spcPts val="1000"/>
              </a:spcBef>
              <a:spcAft>
                <a:spcPts val="0"/>
              </a:spcAft>
              <a:buSzPts val="1280"/>
              <a:buChar char="►"/>
            </a:pPr>
            <a:r>
              <a:rPr lang="en-US"/>
              <a:t>Each training example is called a training instance (or sample)</a:t>
            </a:r>
            <a:endParaRPr/>
          </a:p>
          <a:p>
            <a:pPr marL="742950" lvl="1" indent="-285750" algn="l" rtl="0">
              <a:spcBef>
                <a:spcPts val="1000"/>
              </a:spcBef>
              <a:spcAft>
                <a:spcPts val="0"/>
              </a:spcAft>
              <a:buSzPts val="1280"/>
              <a:buChar char="►"/>
            </a:pPr>
            <a:r>
              <a:rPr lang="en-US"/>
              <a:t>Task T- to flag spam for new emails</a:t>
            </a:r>
            <a:endParaRPr/>
          </a:p>
          <a:p>
            <a:pPr marL="742950" lvl="1" indent="-285750" algn="l" rtl="0">
              <a:spcBef>
                <a:spcPts val="1000"/>
              </a:spcBef>
              <a:spcAft>
                <a:spcPts val="0"/>
              </a:spcAft>
              <a:buSzPts val="1280"/>
              <a:buChar char="►"/>
            </a:pPr>
            <a:r>
              <a:rPr lang="en-US"/>
              <a:t>Experience E- training data</a:t>
            </a:r>
            <a:endParaRPr/>
          </a:p>
          <a:p>
            <a:pPr marL="742950" lvl="1" indent="-285750" algn="l" rtl="0">
              <a:spcBef>
                <a:spcPts val="1000"/>
              </a:spcBef>
              <a:spcAft>
                <a:spcPts val="0"/>
              </a:spcAft>
              <a:buSzPts val="1280"/>
              <a:buChar char="►"/>
            </a:pPr>
            <a:r>
              <a:rPr lang="en-US"/>
              <a:t>Performance measure P- needs to be defined, for e.g., ratio of correctly classified emails- accuracy</a:t>
            </a:r>
            <a:endParaRPr/>
          </a:p>
          <a:p>
            <a:pPr marL="342900" lvl="0" indent="-251459" algn="l" rtl="0">
              <a:spcBef>
                <a:spcPts val="1000"/>
              </a:spcBef>
              <a:spcAft>
                <a:spcPts val="0"/>
              </a:spcAft>
              <a:buSzPts val="144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endParaRPr/>
          </a:p>
        </p:txBody>
      </p:sp>
      <p:sp>
        <p:nvSpPr>
          <p:cNvPr id="190" name="Google Shape;190;p10"/>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solidFill>
                  <a:srgbClr val="222222"/>
                </a:solidFill>
                <a:latin typeface="Lato"/>
                <a:ea typeface="Lato"/>
                <a:cs typeface="Lato"/>
                <a:sym typeface="Lato"/>
              </a:rPr>
              <a:t>O</a:t>
            </a:r>
            <a:r>
              <a:rPr lang="en-US" b="0" i="0">
                <a:solidFill>
                  <a:srgbClr val="222222"/>
                </a:solidFill>
                <a:latin typeface="Lato"/>
                <a:ea typeface="Lato"/>
                <a:cs typeface="Lato"/>
                <a:sym typeface="Lato"/>
              </a:rPr>
              <a:t>ur initial approach would be to identify ‘spam’ and ‘not spam’ emails using following criteria. </a:t>
            </a:r>
            <a:endParaRPr/>
          </a:p>
          <a:p>
            <a:pPr marL="800100" lvl="0" indent="-342900" algn="just" rtl="0">
              <a:spcBef>
                <a:spcPts val="1000"/>
              </a:spcBef>
              <a:spcAft>
                <a:spcPts val="0"/>
              </a:spcAft>
              <a:buSzPts val="1440"/>
              <a:buFont typeface="Trebuchet MS"/>
              <a:buAutoNum type="arabicPeriod"/>
            </a:pPr>
            <a:r>
              <a:rPr lang="en-US" b="0" i="0">
                <a:solidFill>
                  <a:srgbClr val="222222"/>
                </a:solidFill>
                <a:latin typeface="Lato"/>
                <a:ea typeface="Lato"/>
                <a:cs typeface="Lato"/>
                <a:sym typeface="Lato"/>
              </a:rPr>
              <a:t>Email has only one image file (promotional image), It’s a SPAM</a:t>
            </a:r>
            <a:endParaRPr/>
          </a:p>
          <a:p>
            <a:pPr marL="800100" lvl="0" indent="-342900" algn="just" rtl="0">
              <a:spcBef>
                <a:spcPts val="1000"/>
              </a:spcBef>
              <a:spcAft>
                <a:spcPts val="0"/>
              </a:spcAft>
              <a:buSzPts val="1440"/>
              <a:buFont typeface="Trebuchet MS"/>
              <a:buAutoNum type="arabicPeriod"/>
            </a:pPr>
            <a:r>
              <a:rPr lang="en-US" b="0" i="0">
                <a:solidFill>
                  <a:srgbClr val="222222"/>
                </a:solidFill>
                <a:latin typeface="Lato"/>
                <a:ea typeface="Lato"/>
                <a:cs typeface="Lato"/>
                <a:sym typeface="Lato"/>
              </a:rPr>
              <a:t>Email has only link(s), It’s a SPAM</a:t>
            </a:r>
            <a:endParaRPr/>
          </a:p>
          <a:p>
            <a:pPr marL="800100" lvl="0" indent="-342900" algn="just" rtl="0">
              <a:spcBef>
                <a:spcPts val="1000"/>
              </a:spcBef>
              <a:spcAft>
                <a:spcPts val="0"/>
              </a:spcAft>
              <a:buSzPts val="1440"/>
              <a:buFont typeface="Trebuchet MS"/>
              <a:buAutoNum type="arabicPeriod"/>
            </a:pPr>
            <a:r>
              <a:rPr lang="en-US" b="0" i="0">
                <a:solidFill>
                  <a:srgbClr val="222222"/>
                </a:solidFill>
                <a:latin typeface="Lato"/>
                <a:ea typeface="Lato"/>
                <a:cs typeface="Lato"/>
                <a:sym typeface="Lato"/>
              </a:rPr>
              <a:t>Email body consist of sentence like “You won a prize money of $ xxxxxx”, It’s a SPAM</a:t>
            </a:r>
            <a:endParaRPr/>
          </a:p>
          <a:p>
            <a:pPr marL="800100" lvl="0" indent="-342900" algn="just" rtl="0">
              <a:spcBef>
                <a:spcPts val="1000"/>
              </a:spcBef>
              <a:spcAft>
                <a:spcPts val="0"/>
              </a:spcAft>
              <a:buSzPts val="1440"/>
              <a:buFont typeface="Trebuchet MS"/>
              <a:buAutoNum type="arabicPeriod"/>
            </a:pPr>
            <a:r>
              <a:rPr lang="en-US" b="0" i="0">
                <a:solidFill>
                  <a:srgbClr val="222222"/>
                </a:solidFill>
                <a:latin typeface="Lato"/>
                <a:ea typeface="Lato"/>
                <a:cs typeface="Lato"/>
                <a:sym typeface="Lato"/>
              </a:rPr>
              <a:t>Email from our official domain “</a:t>
            </a:r>
            <a:r>
              <a:rPr lang="en-US" b="0" i="0" u="sng" strike="noStrike">
                <a:solidFill>
                  <a:srgbClr val="007BFF"/>
                </a:solidFill>
                <a:latin typeface="Lato"/>
                <a:ea typeface="Lato"/>
                <a:cs typeface="Lato"/>
                <a:sym typeface="Lato"/>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Analyticsvidhya.com</a:t>
            </a:r>
            <a:r>
              <a:rPr lang="en-US" b="0" i="0">
                <a:solidFill>
                  <a:srgbClr val="222222"/>
                </a:solidFill>
                <a:latin typeface="Lato"/>
                <a:ea typeface="Lato"/>
                <a:cs typeface="Lato"/>
                <a:sym typeface="Lato"/>
              </a:rPr>
              <a:t>” , Not a SPAM</a:t>
            </a:r>
            <a:endParaRPr/>
          </a:p>
          <a:p>
            <a:pPr marL="800100" lvl="0" indent="-342900" algn="just" rtl="0">
              <a:spcBef>
                <a:spcPts val="1000"/>
              </a:spcBef>
              <a:spcAft>
                <a:spcPts val="0"/>
              </a:spcAft>
              <a:buSzPts val="1440"/>
              <a:buFont typeface="Trebuchet MS"/>
              <a:buAutoNum type="arabicPeriod"/>
            </a:pPr>
            <a:r>
              <a:rPr lang="en-US" b="0" i="0">
                <a:solidFill>
                  <a:srgbClr val="222222"/>
                </a:solidFill>
                <a:latin typeface="Lato"/>
                <a:ea typeface="Lato"/>
                <a:cs typeface="Lato"/>
                <a:sym typeface="Lato"/>
              </a:rPr>
              <a:t>Email from known source, Not a SPAM</a:t>
            </a:r>
            <a:endParaRPr/>
          </a:p>
          <a:p>
            <a:pPr marL="0" lvl="0" indent="0" algn="l" rtl="0">
              <a:spcBef>
                <a:spcPts val="1000"/>
              </a:spcBef>
              <a:spcAft>
                <a:spcPts val="0"/>
              </a:spcAft>
              <a:buSzPts val="144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Why Machine Learning?</a:t>
            </a:r>
            <a:endParaRPr/>
          </a:p>
        </p:txBody>
      </p:sp>
      <p:sp>
        <p:nvSpPr>
          <p:cNvPr id="196" name="Google Shape;196;p11"/>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In the early days of “intelligent” applications, many systems used handcoded rules of “if ” and “else” decisions to process data or adjust to user input.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2"/>
          <p:cNvSpPr txBox="1">
            <a:spLocks noGrp="1"/>
          </p:cNvSpPr>
          <p:nvPr>
            <p:ph type="title"/>
          </p:nvPr>
        </p:nvSpPr>
        <p:spPr>
          <a:xfrm>
            <a:off x="677334" y="609600"/>
            <a:ext cx="8596668" cy="65649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Why use machine learning?</a:t>
            </a:r>
            <a:endParaRPr/>
          </a:p>
        </p:txBody>
      </p:sp>
      <p:sp>
        <p:nvSpPr>
          <p:cNvPr id="202" name="Google Shape;202;p12"/>
          <p:cNvSpPr txBox="1">
            <a:spLocks noGrp="1"/>
          </p:cNvSpPr>
          <p:nvPr>
            <p:ph type="body" idx="1"/>
          </p:nvPr>
        </p:nvSpPr>
        <p:spPr>
          <a:xfrm>
            <a:off x="677334" y="1378633"/>
            <a:ext cx="8596668" cy="4662729"/>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Consider spam filter program using traditional programming technique</a:t>
            </a:r>
            <a:endParaRPr/>
          </a:p>
          <a:p>
            <a:pPr marL="342900" lvl="0" indent="-342900" algn="l" rtl="0">
              <a:spcBef>
                <a:spcPts val="1000"/>
              </a:spcBef>
              <a:spcAft>
                <a:spcPts val="0"/>
              </a:spcAft>
              <a:buSzPts val="1440"/>
              <a:buChar char="►"/>
            </a:pPr>
            <a:r>
              <a:rPr lang="en-US"/>
              <a:t>Steps:</a:t>
            </a:r>
            <a:endParaRPr/>
          </a:p>
          <a:p>
            <a:pPr marL="742950" lvl="1" indent="-285750" algn="l" rtl="0">
              <a:spcBef>
                <a:spcPts val="1000"/>
              </a:spcBef>
              <a:spcAft>
                <a:spcPts val="0"/>
              </a:spcAft>
              <a:buSzPts val="1280"/>
              <a:buChar char="►"/>
            </a:pPr>
            <a:r>
              <a:rPr lang="en-US"/>
              <a:t>1. what spam typically looks like?</a:t>
            </a:r>
            <a:endParaRPr/>
          </a:p>
          <a:p>
            <a:pPr marL="1143000" lvl="2" indent="-228600" algn="l" rtl="0">
              <a:spcBef>
                <a:spcPts val="1000"/>
              </a:spcBef>
              <a:spcAft>
                <a:spcPts val="0"/>
              </a:spcAft>
              <a:buSzPts val="1120"/>
              <a:buChar char="►"/>
            </a:pPr>
            <a:r>
              <a:rPr lang="en-US"/>
              <a:t>Notice some words or phrases (“4U”, “credit cards”, “free” and “amazing”) tend to come up a lot in the subject</a:t>
            </a:r>
            <a:endParaRPr/>
          </a:p>
          <a:p>
            <a:pPr marL="1143000" lvl="2" indent="-228600" algn="l" rtl="0">
              <a:spcBef>
                <a:spcPts val="1000"/>
              </a:spcBef>
              <a:spcAft>
                <a:spcPts val="0"/>
              </a:spcAft>
              <a:buSzPts val="1120"/>
              <a:buChar char="►"/>
            </a:pPr>
            <a:r>
              <a:rPr lang="en-US"/>
              <a:t>Similarly a few other patterns in the sender’s name, email’s body and so on</a:t>
            </a:r>
            <a:endParaRPr/>
          </a:p>
          <a:p>
            <a:pPr marL="742950" lvl="1" indent="-285750" algn="l" rtl="0">
              <a:spcBef>
                <a:spcPts val="1000"/>
              </a:spcBef>
              <a:spcAft>
                <a:spcPts val="0"/>
              </a:spcAft>
              <a:buSzPts val="1280"/>
              <a:buChar char="►"/>
            </a:pPr>
            <a:r>
              <a:rPr lang="en-US"/>
              <a:t>2. write a detection algorithm for each of the patterns that you noticed </a:t>
            </a:r>
            <a:endParaRPr/>
          </a:p>
          <a:p>
            <a:pPr marL="1143000" lvl="2" indent="-228600" algn="l" rtl="0">
              <a:spcBef>
                <a:spcPts val="1000"/>
              </a:spcBef>
              <a:spcAft>
                <a:spcPts val="0"/>
              </a:spcAft>
              <a:buSzPts val="1120"/>
              <a:buChar char="►"/>
            </a:pPr>
            <a:r>
              <a:rPr lang="en-US"/>
              <a:t>The program would flag emails as spam if a number of these patterns are detected</a:t>
            </a:r>
            <a:endParaRPr/>
          </a:p>
          <a:p>
            <a:pPr marL="742950" lvl="1" indent="-285750" algn="l" rtl="0">
              <a:spcBef>
                <a:spcPts val="1000"/>
              </a:spcBef>
              <a:spcAft>
                <a:spcPts val="0"/>
              </a:spcAft>
              <a:buSzPts val="1280"/>
              <a:buChar char="►"/>
            </a:pPr>
            <a:r>
              <a:rPr lang="en-US"/>
              <a:t>3. test your program, and repeat steps 1 and 2 until it is good enough</a:t>
            </a:r>
            <a:endParaRPr/>
          </a:p>
          <a:p>
            <a:pPr marL="342900" lvl="0" indent="-342900" algn="l" rtl="0">
              <a:spcBef>
                <a:spcPts val="1000"/>
              </a:spcBef>
              <a:spcAft>
                <a:spcPts val="0"/>
              </a:spcAft>
              <a:buSzPts val="1440"/>
              <a:buChar char="►"/>
            </a:pPr>
            <a:r>
              <a:rPr lang="en-US"/>
              <a:t>Limitations:</a:t>
            </a:r>
            <a:endParaRPr/>
          </a:p>
          <a:p>
            <a:pPr marL="742950" lvl="1" indent="-285750" algn="l" rtl="0">
              <a:spcBef>
                <a:spcPts val="1000"/>
              </a:spcBef>
              <a:spcAft>
                <a:spcPts val="0"/>
              </a:spcAft>
              <a:buSzPts val="1280"/>
              <a:buChar char="►"/>
            </a:pPr>
            <a:r>
              <a:rPr lang="en-US"/>
              <a:t>Since the problem is not trivial, the program will become a long list of complex rules</a:t>
            </a:r>
            <a:endParaRPr/>
          </a:p>
          <a:p>
            <a:pPr marL="1143000" lvl="2" indent="-228600" algn="l" rtl="0">
              <a:spcBef>
                <a:spcPts val="1000"/>
              </a:spcBef>
              <a:spcAft>
                <a:spcPts val="0"/>
              </a:spcAft>
              <a:buSzPts val="1120"/>
              <a:buChar char="►"/>
            </a:pPr>
            <a:r>
              <a:rPr lang="en-US"/>
              <a:t>pretty hard to maintain</a:t>
            </a:r>
            <a:endParaRPr/>
          </a:p>
          <a:p>
            <a:pPr marL="457200" lvl="1" indent="0" algn="l" rtl="0">
              <a:spcBef>
                <a:spcPts val="1000"/>
              </a:spcBef>
              <a:spcAft>
                <a:spcPts val="0"/>
              </a:spcAft>
              <a:buSzPts val="128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Spam filter based on machine learning techniques</a:t>
            </a:r>
            <a:endParaRPr/>
          </a:p>
        </p:txBody>
      </p:sp>
      <p:sp>
        <p:nvSpPr>
          <p:cNvPr id="208" name="Google Shape;208;p13"/>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Automatically learns which words and phrases are good predictors of spam by detecting </a:t>
            </a:r>
            <a:endParaRPr/>
          </a:p>
          <a:p>
            <a:pPr marL="742950" lvl="1" indent="-285750" algn="l" rtl="0">
              <a:spcBef>
                <a:spcPts val="1000"/>
              </a:spcBef>
              <a:spcAft>
                <a:spcPts val="0"/>
              </a:spcAft>
              <a:buSzPts val="1280"/>
              <a:buChar char="►"/>
            </a:pPr>
            <a:r>
              <a:rPr lang="en-US"/>
              <a:t>unusually frequent patterns of words in the spam examples compared to the ham examples.</a:t>
            </a:r>
            <a:endParaRPr/>
          </a:p>
          <a:p>
            <a:pPr marL="342900" lvl="0" indent="-342900" algn="l" rtl="0">
              <a:spcBef>
                <a:spcPts val="1000"/>
              </a:spcBef>
              <a:spcAft>
                <a:spcPts val="0"/>
              </a:spcAft>
              <a:buSzPts val="1440"/>
              <a:buChar char="►"/>
            </a:pPr>
            <a:r>
              <a:rPr lang="en-US"/>
              <a:t>The program is</a:t>
            </a:r>
            <a:endParaRPr/>
          </a:p>
          <a:p>
            <a:pPr marL="742950" lvl="1" indent="-285750" algn="l" rtl="0">
              <a:spcBef>
                <a:spcPts val="1000"/>
              </a:spcBef>
              <a:spcAft>
                <a:spcPts val="0"/>
              </a:spcAft>
              <a:buSzPts val="1280"/>
              <a:buChar char="►"/>
            </a:pPr>
            <a:r>
              <a:rPr lang="en-US"/>
              <a:t>Much shorter</a:t>
            </a:r>
            <a:endParaRPr/>
          </a:p>
          <a:p>
            <a:pPr marL="742950" lvl="1" indent="-285750" algn="l" rtl="0">
              <a:spcBef>
                <a:spcPts val="1000"/>
              </a:spcBef>
              <a:spcAft>
                <a:spcPts val="0"/>
              </a:spcAft>
              <a:buSzPts val="1280"/>
              <a:buChar char="►"/>
            </a:pPr>
            <a:r>
              <a:rPr lang="en-US"/>
              <a:t>Easier to maintain</a:t>
            </a:r>
            <a:endParaRPr/>
          </a:p>
          <a:p>
            <a:pPr marL="742950" lvl="1" indent="-285750" algn="l" rtl="0">
              <a:spcBef>
                <a:spcPts val="1000"/>
              </a:spcBef>
              <a:spcAft>
                <a:spcPts val="0"/>
              </a:spcAft>
              <a:buSzPts val="1280"/>
              <a:buChar char="►"/>
            </a:pPr>
            <a:r>
              <a:rPr lang="en-US"/>
              <a:t>And most likely more accurate</a:t>
            </a:r>
            <a:endParaRPr/>
          </a:p>
          <a:p>
            <a:pPr marL="342900" lvl="0" indent="-251459" algn="l" rtl="0">
              <a:spcBef>
                <a:spcPts val="1000"/>
              </a:spcBef>
              <a:spcAft>
                <a:spcPts val="0"/>
              </a:spcAft>
              <a:buSzPts val="1440"/>
              <a:buNone/>
            </a:pPr>
            <a:endParaRPr/>
          </a:p>
          <a:p>
            <a:pPr marL="342900" lvl="0" indent="-251459" algn="l" rtl="0">
              <a:spcBef>
                <a:spcPts val="1000"/>
              </a:spcBef>
              <a:spcAft>
                <a:spcPts val="0"/>
              </a:spcAft>
              <a:buSzPts val="144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4"/>
          <p:cNvSpPr txBox="1">
            <a:spLocks noGrp="1"/>
          </p:cNvSpPr>
          <p:nvPr>
            <p:ph type="title"/>
          </p:nvPr>
        </p:nvSpPr>
        <p:spPr>
          <a:xfrm>
            <a:off x="677334" y="609600"/>
            <a:ext cx="8596668" cy="105038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One more problem…</a:t>
            </a:r>
            <a:endParaRPr/>
          </a:p>
        </p:txBody>
      </p:sp>
      <p:sp>
        <p:nvSpPr>
          <p:cNvPr id="214" name="Google Shape;214;p14"/>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If spammers keep working around the spam filter program, the programmer will need to keep writing new rules forever.</a:t>
            </a:r>
            <a:endParaRPr/>
          </a:p>
          <a:p>
            <a:pPr marL="342900" lvl="0" indent="-342900" algn="l" rtl="0">
              <a:spcBef>
                <a:spcPts val="1000"/>
              </a:spcBef>
              <a:spcAft>
                <a:spcPts val="0"/>
              </a:spcAft>
              <a:buSzPts val="1440"/>
              <a:buChar char="►"/>
            </a:pPr>
            <a:r>
              <a:rPr lang="en-US"/>
              <a:t>In contrast, a spam filter based on learns what is now become unusually frequent in spam flagged by users, and ML techniques automatically  it starts flagging them without the programmer’s intervention.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5"/>
          <p:cNvSpPr txBox="1">
            <a:spLocks noGrp="1"/>
          </p:cNvSpPr>
          <p:nvPr>
            <p:ph type="title"/>
          </p:nvPr>
        </p:nvSpPr>
        <p:spPr>
          <a:xfrm>
            <a:off x="677334" y="609600"/>
            <a:ext cx="8596668" cy="79716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ML is useful when</a:t>
            </a:r>
            <a:endParaRPr/>
          </a:p>
        </p:txBody>
      </p:sp>
      <p:sp>
        <p:nvSpPr>
          <p:cNvPr id="220" name="Google Shape;220;p15"/>
          <p:cNvSpPr txBox="1">
            <a:spLocks noGrp="1"/>
          </p:cNvSpPr>
          <p:nvPr>
            <p:ph type="body" idx="1"/>
          </p:nvPr>
        </p:nvSpPr>
        <p:spPr>
          <a:xfrm>
            <a:off x="677334" y="1519311"/>
            <a:ext cx="8596668" cy="4522051"/>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Problem is too complex for traditional approaches or have no known algorithm</a:t>
            </a:r>
            <a:endParaRPr/>
          </a:p>
          <a:p>
            <a:pPr marL="342900" lvl="0" indent="-342900" algn="l" rtl="0">
              <a:spcBef>
                <a:spcPts val="1000"/>
              </a:spcBef>
              <a:spcAft>
                <a:spcPts val="0"/>
              </a:spcAft>
              <a:buSzPts val="1440"/>
              <a:buChar char="►"/>
            </a:pPr>
            <a:r>
              <a:rPr lang="en-US"/>
              <a:t>E.g. speech recognition</a:t>
            </a:r>
            <a:endParaRPr/>
          </a:p>
          <a:p>
            <a:pPr marL="742950" lvl="1" indent="-285750" algn="l" rtl="0">
              <a:spcBef>
                <a:spcPts val="1000"/>
              </a:spcBef>
              <a:spcAft>
                <a:spcPts val="0"/>
              </a:spcAft>
              <a:buSzPts val="1280"/>
              <a:buChar char="►"/>
            </a:pPr>
            <a:r>
              <a:rPr lang="en-US"/>
              <a:t>We want a simple program capable of distinguishing the words “one” and “two”</a:t>
            </a:r>
            <a:endParaRPr/>
          </a:p>
          <a:p>
            <a:pPr marL="1143000" lvl="2" indent="-228600" algn="l" rtl="0">
              <a:spcBef>
                <a:spcPts val="1000"/>
              </a:spcBef>
              <a:spcAft>
                <a:spcPts val="0"/>
              </a:spcAft>
              <a:buSzPts val="1120"/>
              <a:buChar char="►"/>
            </a:pPr>
            <a:r>
              <a:rPr lang="en-US"/>
              <a:t>One can notice that the word “two” starts with a high-pitch sound (“T”), </a:t>
            </a:r>
            <a:endParaRPr/>
          </a:p>
          <a:p>
            <a:pPr marL="1143000" lvl="2" indent="-228600" algn="l" rtl="0">
              <a:spcBef>
                <a:spcPts val="1000"/>
              </a:spcBef>
              <a:spcAft>
                <a:spcPts val="0"/>
              </a:spcAft>
              <a:buSzPts val="1120"/>
              <a:buChar char="►"/>
            </a:pPr>
            <a:r>
              <a:rPr lang="en-US"/>
              <a:t>so one can hardcode an algorithm that measures high-pitch sound intensity and use that to distinguish “one” and “two”.</a:t>
            </a:r>
            <a:endParaRPr/>
          </a:p>
          <a:p>
            <a:pPr marL="742950" lvl="1" indent="-285750" algn="l" rtl="0">
              <a:spcBef>
                <a:spcPts val="1000"/>
              </a:spcBef>
              <a:spcAft>
                <a:spcPts val="0"/>
              </a:spcAft>
              <a:buSzPts val="1280"/>
              <a:buChar char="►"/>
            </a:pPr>
            <a:r>
              <a:rPr lang="en-US"/>
              <a:t>Obviously this technique will not scale to thousands of words spoken by millions of very different people in noisy environment and in dozens of languages.</a:t>
            </a:r>
            <a:endParaRPr/>
          </a:p>
          <a:p>
            <a:pPr marL="742950" lvl="1" indent="-285750" algn="l" rtl="0">
              <a:spcBef>
                <a:spcPts val="1000"/>
              </a:spcBef>
              <a:spcAft>
                <a:spcPts val="0"/>
              </a:spcAft>
              <a:buSzPts val="1280"/>
              <a:buChar char="►"/>
            </a:pPr>
            <a:r>
              <a:rPr lang="en-US"/>
              <a:t>Solution: write an algorithm that learns by itself, given many example recordings for each word.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6"/>
          <p:cNvSpPr txBox="1">
            <a:spLocks noGrp="1"/>
          </p:cNvSpPr>
          <p:nvPr>
            <p:ph type="title"/>
          </p:nvPr>
        </p:nvSpPr>
        <p:spPr>
          <a:xfrm>
            <a:off x="677334" y="609600"/>
            <a:ext cx="8596668" cy="797169"/>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ML can help humans learn</a:t>
            </a:r>
            <a:endParaRPr/>
          </a:p>
        </p:txBody>
      </p:sp>
      <p:sp>
        <p:nvSpPr>
          <p:cNvPr id="227" name="Google Shape;227;p16"/>
          <p:cNvSpPr txBox="1">
            <a:spLocks noGrp="1"/>
          </p:cNvSpPr>
          <p:nvPr>
            <p:ph type="body" idx="1"/>
          </p:nvPr>
        </p:nvSpPr>
        <p:spPr>
          <a:xfrm>
            <a:off x="677334" y="1406769"/>
            <a:ext cx="8596668" cy="463459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ML algorithms can be inspected to see what they have learned</a:t>
            </a:r>
            <a:endParaRPr/>
          </a:p>
          <a:p>
            <a:pPr marL="742950" lvl="1" indent="-285750" algn="l" rtl="0">
              <a:spcBef>
                <a:spcPts val="1000"/>
              </a:spcBef>
              <a:spcAft>
                <a:spcPts val="0"/>
              </a:spcAft>
              <a:buSzPts val="1280"/>
              <a:buChar char="►"/>
            </a:pPr>
            <a:r>
              <a:rPr lang="en-US"/>
              <a:t>Although for some algorithms this can be tricky</a:t>
            </a:r>
            <a:endParaRPr/>
          </a:p>
          <a:p>
            <a:pPr marL="742950" lvl="1" indent="-285750" algn="l" rtl="0">
              <a:spcBef>
                <a:spcPts val="1000"/>
              </a:spcBef>
              <a:spcAft>
                <a:spcPts val="0"/>
              </a:spcAft>
              <a:buSzPts val="1280"/>
              <a:buChar char="►"/>
            </a:pPr>
            <a:r>
              <a:rPr lang="en-US"/>
              <a:t>For instance, once the spam filter has been trained on enough spam, it can easily be inspected to reveal the list of words and phrases that it believes are the best predictors of spam.</a:t>
            </a:r>
            <a:endParaRPr/>
          </a:p>
          <a:p>
            <a:pPr marL="742950" lvl="1" indent="-285750" algn="l" rtl="0">
              <a:spcBef>
                <a:spcPts val="1000"/>
              </a:spcBef>
              <a:spcAft>
                <a:spcPts val="0"/>
              </a:spcAft>
              <a:buSzPts val="1280"/>
              <a:buChar char="►"/>
            </a:pPr>
            <a:r>
              <a:rPr lang="en-US"/>
              <a:t>Sometimes this will reveal unsuspected correlations or new trends, and thereby lead to a better understanding of the problem</a:t>
            </a:r>
            <a:endParaRPr/>
          </a:p>
          <a:p>
            <a:pPr marL="342900" lvl="0" indent="-342900" algn="l" rtl="0">
              <a:spcBef>
                <a:spcPts val="1000"/>
              </a:spcBef>
              <a:spcAft>
                <a:spcPts val="0"/>
              </a:spcAft>
              <a:buSzPts val="1440"/>
              <a:buChar char="►"/>
            </a:pPr>
            <a:r>
              <a:rPr lang="en-US"/>
              <a:t>Applying ML techniques to dig into large amount of data can help discover patterns that were not immediately apparent: data mining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7"/>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Learning by example</a:t>
            </a:r>
            <a:endParaRPr/>
          </a:p>
        </p:txBody>
      </p:sp>
      <p:sp>
        <p:nvSpPr>
          <p:cNvPr id="233" name="Google Shape;233;p17"/>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Look at some data</a:t>
            </a:r>
            <a:endParaRPr/>
          </a:p>
          <a:p>
            <a:pPr marL="342900" lvl="0" indent="-342900" algn="l" rtl="0">
              <a:spcBef>
                <a:spcPts val="1000"/>
              </a:spcBef>
              <a:spcAft>
                <a:spcPts val="0"/>
              </a:spcAft>
              <a:buSzPts val="1440"/>
              <a:buChar char="►"/>
            </a:pPr>
            <a:r>
              <a:rPr lang="en-US"/>
              <a:t>Guess at a general scientific hypothesis that could explain/represent the data</a:t>
            </a:r>
            <a:endParaRPr/>
          </a:p>
          <a:p>
            <a:pPr marL="342900" lvl="0" indent="-342900" algn="l" rtl="0">
              <a:spcBef>
                <a:spcPts val="1000"/>
              </a:spcBef>
              <a:spcAft>
                <a:spcPts val="0"/>
              </a:spcAft>
              <a:buSzPts val="1440"/>
              <a:buChar char="►"/>
            </a:pPr>
            <a:r>
              <a:rPr lang="en-US"/>
              <a:t>Make statements/predictions on test data based on this hypothesis</a:t>
            </a:r>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932</Words>
  <PresentationFormat>Custom</PresentationFormat>
  <Paragraphs>93</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Trebuchet MS</vt:lpstr>
      <vt:lpstr>Noto Sans Symbols</vt:lpstr>
      <vt:lpstr>Lato</vt:lpstr>
      <vt:lpstr>Calibri</vt:lpstr>
      <vt:lpstr>Facet</vt:lpstr>
      <vt:lpstr>Machine Learning</vt:lpstr>
      <vt:lpstr>Recommended Books</vt:lpstr>
      <vt:lpstr>Few ML projects </vt:lpstr>
      <vt:lpstr>ML journey</vt:lpstr>
      <vt:lpstr>Human Learning</vt:lpstr>
      <vt:lpstr>Machine learning</vt:lpstr>
      <vt:lpstr>Spam filter</vt:lpstr>
      <vt:lpstr>Slide 8</vt:lpstr>
      <vt:lpstr>Why Machine Learning?</vt:lpstr>
      <vt:lpstr>Why use machine learning?</vt:lpstr>
      <vt:lpstr>Spam filter based on machine learning techniques</vt:lpstr>
      <vt:lpstr>One more problem…</vt:lpstr>
      <vt:lpstr>ML is useful when</vt:lpstr>
      <vt:lpstr>ML can help humans learn</vt:lpstr>
      <vt:lpstr>Learning by example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hpp</dc:creator>
  <cp:lastModifiedBy>Student</cp:lastModifiedBy>
  <cp:revision>4</cp:revision>
  <dcterms:created xsi:type="dcterms:W3CDTF">2021-02-23T02:12:11Z</dcterms:created>
  <dcterms:modified xsi:type="dcterms:W3CDTF">2025-07-19T12:32:10Z</dcterms:modified>
</cp:coreProperties>
</file>